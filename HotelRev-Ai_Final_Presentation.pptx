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1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11480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474720" cy="3474720"/>
          </a:xfrm>
          <a:prstGeom prst="ellipse">
            <a:avLst/>
          </a:prstGeom>
          <a:solidFill>
            <a:srgbClr val="7B2FBE">
              <a:alpha val="18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97280"/>
            <a:ext cx="2194560" cy="2194560"/>
          </a:xfrm>
          <a:prstGeom prst="ellipse">
            <a:avLst/>
          </a:prstGeom>
          <a:solidFill>
            <a:srgbClr val="E879F9">
              <a:alpha val="25000"/>
            </a:srgbClr>
          </a:solidFill>
          <a:ln w="12700">
            <a:solidFill>
              <a:srgbClr val="E879F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777240"/>
            <a:ext cx="411480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77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INFOSYS SPRINGBOARD VIRTUAL INTERNSHIP 6.0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HotelRevAI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084FC"/>
                </a:solidFill>
              </a:rPr>
              <a:t>AI Driven Revenue Analysis for Hotels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5029200" cy="2743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07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CA"/>
                </a:solidFill>
              </a:rPr>
              <a:t>Mentor: </a:t>
            </a:r>
            <a:r>
              <a:rPr lang="en-US" sz="1100" dirty="0">
                <a:solidFill>
                  <a:srgbClr val="E8E0F7"/>
                </a:solidFill>
              </a:rPr>
              <a:t>Selciya  </a:t>
            </a:r>
            <a:r>
              <a:rPr lang="en-US" sz="1100" dirty="0">
                <a:solidFill>
                  <a:srgbClr val="3B1F6A"/>
                </a:solidFill>
              </a:rPr>
              <a:t>  |  </a:t>
            </a:r>
            <a:r>
              <a:rPr lang="en-US" sz="1100" dirty="0">
                <a:solidFill>
                  <a:srgbClr val="E8E0F7"/>
                </a:solidFill>
              </a:rPr>
              <a:t>Batch 13 · Group 2 · Team 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CA"/>
                </a:solidFill>
              </a:rPr>
              <a:t>Duration: </a:t>
            </a:r>
            <a:r>
              <a:rPr lang="en-US" sz="1100" dirty="0">
                <a:solidFill>
                  <a:srgbClr val="E8E0F7"/>
                </a:solidFill>
              </a:rPr>
              <a:t>8 Weeks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2286000" cy="23774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2286000" cy="2377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0F7"/>
                </a:solidFill>
              </a:rPr>
              <a:t>1.  Chelikani Harshal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904488"/>
            <a:ext cx="2286000" cy="23774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04488"/>
            <a:ext cx="2286000" cy="2377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F7"/>
                </a:solidFill>
              </a:rPr>
              <a:t>2.  Satbir Singh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97096"/>
            <a:ext cx="2286000" cy="23774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97096"/>
            <a:ext cx="2286000" cy="2377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F7"/>
                </a:solidFill>
              </a:rPr>
              <a:t>3.  Arun Kumar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3611880"/>
            <a:ext cx="2286000" cy="23774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611880"/>
            <a:ext cx="2286000" cy="2377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F7"/>
                </a:solidFill>
              </a:rPr>
              <a:t>4.  N. Akhila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3904488"/>
            <a:ext cx="2286000" cy="23774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904488"/>
            <a:ext cx="2286000" cy="2377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F7"/>
                </a:solidFill>
              </a:rPr>
              <a:t>5.  G. Srilakshmi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82880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PROJECT OVERVIEW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029200" cy="356616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5720" cy="356616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0F7"/>
                </a:solidFill>
              </a:rPr>
              <a:t>HotelRevAI is an interactive, AI-driven revenue analysis system for the hotel industry built on Microsoft Power BI. It transforms 1,17,430 raw booking records into actionable business intelligence through 5 fully interactive dashboards.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201168" cy="2011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Load, clean &amp; preprocess 1,17,430 hotel booking records using Power Query Editor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201168" cy="2011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77240" y="26883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Build 13 DAX measures: Revenue, ADR, RevPAR, Occupancy %, Cancellation Rate &amp; more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201168" cy="2011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45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Design 5 interactive dashboards covering Revenue, Occupancy, Guests, Cancellation &amp; Strategy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201168" cy="2011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66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35295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Empower hotel GMs &amp; Revenue Managers with faster, data-driven decisions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986784"/>
            <a:ext cx="201168" cy="2011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77240" y="3950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Replace manual Excel reporting with a single, filterable BI system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1188720"/>
            <a:ext cx="3246120" cy="78638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1188720"/>
            <a:ext cx="324612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280160"/>
            <a:ext cx="3246120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1,17,430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1660550"/>
            <a:ext cx="3246120" cy="29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Records Processed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2084832"/>
            <a:ext cx="3246120" cy="78638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2084832"/>
            <a:ext cx="324612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176272"/>
            <a:ext cx="3246120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2556662"/>
            <a:ext cx="3246120" cy="29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Dashboards Built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980944"/>
            <a:ext cx="3246120" cy="78638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2980944"/>
            <a:ext cx="324612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072384"/>
            <a:ext cx="3246120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577840" y="3452774"/>
            <a:ext cx="3246120" cy="29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DAX Measures Created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77840" y="3877056"/>
            <a:ext cx="3246120" cy="78638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3877056"/>
            <a:ext cx="324612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968496"/>
            <a:ext cx="3246120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32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77840" y="4348886"/>
            <a:ext cx="3246120" cy="29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Columns in Final Dataset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64592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TECH STACK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Used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141732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265176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0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</a:rPr>
              <a:t>Microsoft Power BI Desktop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Primary dashboard development &amp; reporting tool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141732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90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</a:rPr>
              <a:t>Power Query Editor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Data cleaning, transformation &amp; preprocessing layer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651760" cy="141732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325880"/>
            <a:ext cx="265176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490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</a:rPr>
              <a:t>DAX (Data Analysis Expressions)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Business metric calculations &amp; KPI measures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3063240"/>
            <a:ext cx="2651760" cy="141732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3063240"/>
            <a:ext cx="265176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32278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9164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</a:rPr>
              <a:t>M Language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Custom column formulas within Power Query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26280" y="3063240"/>
            <a:ext cx="2651760" cy="141732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063240"/>
            <a:ext cx="265176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2278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1772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</a:rPr>
              <a:t>Microsoft Excel (.xlsx)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Source data format — hotel_booking_main.xlsx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65960" cy="80467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196596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19659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1,19,390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671523"/>
            <a:ext cx="196596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Raw Records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80467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188720"/>
            <a:ext cx="196596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80160"/>
            <a:ext cx="19659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1,17,430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1671523"/>
            <a:ext cx="196596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Clean Records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1965960" cy="80467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188720"/>
            <a:ext cx="196596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80160"/>
            <a:ext cx="19659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36 → 32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1671523"/>
            <a:ext cx="196596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Columns (after cleaning)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1965960" cy="80467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188720"/>
            <a:ext cx="196596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280160"/>
            <a:ext cx="19659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2015–2017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1671523"/>
            <a:ext cx="196596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Data Period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148840"/>
            <a:ext cx="4206240" cy="260604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Data Cleaning Steps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33472"/>
            <a:ext cx="164592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33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Enabled column profiling across all rows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164592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71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3232" y="2953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Replaced nulls in country, agent &amp; company columns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310128"/>
            <a:ext cx="164592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10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Removed 6 irrelevant/personal data columns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648456"/>
            <a:ext cx="164592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3232" y="3630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Filtered out rows where ADR = 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986784"/>
            <a:ext cx="164592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867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3232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Corrected data types for all 32 columns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325112"/>
            <a:ext cx="164592" cy="1645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3251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3232" y="4306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0F7"/>
                </a:solidFill>
              </a:rPr>
              <a:t>Created 4 custom columns via M language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148840"/>
            <a:ext cx="4114800" cy="260604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212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Custom Columns Created (M Language)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2651760"/>
            <a:ext cx="3794760" cy="438912"/>
          </a:xfrm>
          <a:prstGeom prst="rect">
            <a:avLst/>
          </a:prstGeom>
          <a:solidFill>
            <a:srgbClr val="12082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651760"/>
            <a:ext cx="45720" cy="43891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26517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total_nights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83480" y="28620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8BCA"/>
                </a:solidFill>
              </a:rPr>
              <a:t>Sum of weekend + weekday nights stayed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3154680"/>
            <a:ext cx="3794760" cy="438912"/>
          </a:xfrm>
          <a:prstGeom prst="rect">
            <a:avLst/>
          </a:prstGeom>
          <a:solidFill>
            <a:srgbClr val="12082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3154680"/>
            <a:ext cx="45720" cy="43891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1546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guest_type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83480" y="33649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8BCA"/>
                </a:solidFill>
              </a:rPr>
              <a:t>Couple/Group, Family, or Solo classification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46320" y="3657600"/>
            <a:ext cx="3794760" cy="438912"/>
          </a:xfrm>
          <a:prstGeom prst="rect">
            <a:avLst/>
          </a:prstGeom>
          <a:solidFill>
            <a:srgbClr val="12082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3657600"/>
            <a:ext cx="45720" cy="43891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3657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83480" y="3867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8BCA"/>
                </a:solidFill>
              </a:rPr>
              <a:t>Autumn / Spring / Summer / Winter mapping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46320" y="4160520"/>
            <a:ext cx="3794760" cy="438912"/>
          </a:xfrm>
          <a:prstGeom prst="rect">
            <a:avLst/>
          </a:prstGeom>
          <a:solidFill>
            <a:srgbClr val="12082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0" y="4160520"/>
            <a:ext cx="45720" cy="43891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41605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98348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8BCA"/>
                </a:solidFill>
              </a:rPr>
              <a:t>ADR × total_nights (calculated revenue)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55448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APPROACH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Methodology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331720" y="2011680"/>
            <a:ext cx="164592" cy="54864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011680" cy="356616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201168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32588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7B2FBE"/>
                </a:solidFill>
              </a:rPr>
              <a:t>Phase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Orientation &amp; Data Loading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78BCA"/>
                </a:solidFill>
              </a:rPr>
              <a:t>[ Weeks 1–2 ]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1463040" cy="2743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Studied the hotel_booking_main.xlsx dataset with 36 columns &amp; 1,19,390 rows. Loaded data into Power BI using Excel connector. Explored column definitions and data quality.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2011680"/>
            <a:ext cx="164592" cy="54864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1143000"/>
            <a:ext cx="2011680" cy="356616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96312" y="1143000"/>
            <a:ext cx="2011680" cy="54864"/>
          </a:xfrm>
          <a:prstGeom prst="rect">
            <a:avLst/>
          </a:prstGeom>
          <a:solidFill>
            <a:srgbClr val="8B31D1"/>
          </a:solidFill>
          <a:ln w="12700">
            <a:solidFill>
              <a:srgbClr val="8B31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27832" y="1325880"/>
            <a:ext cx="548640" cy="548640"/>
          </a:xfrm>
          <a:prstGeom prst="ellipse">
            <a:avLst/>
          </a:prstGeom>
          <a:solidFill>
            <a:srgbClr val="8B31D1"/>
          </a:solidFill>
          <a:ln w="12700">
            <a:solidFill>
              <a:srgbClr val="8B31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96312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8B31D1"/>
                </a:solidFill>
              </a:rPr>
              <a:t>Phase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87752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Transformation &amp; Modelling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96312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78BCA"/>
                </a:solidFill>
              </a:rPr>
              <a:t>[ Weeks 3–4 ]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70632" y="2971800"/>
            <a:ext cx="1463040" cy="2743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Used Power Query Editor for cleaning. Handled nulls, removed 6 columns, corrected types, filtered ADR=0. Created 4 custom columns using M language formulas.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84264" y="2011680"/>
            <a:ext cx="164592" cy="54864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72584" y="1143000"/>
            <a:ext cx="2011680" cy="356616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2584" y="114300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1325880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0410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72584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A855F7"/>
                </a:solidFill>
              </a:rPr>
              <a:t>Phase 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64024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DAX &amp; Business Metrics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72584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78BCA"/>
                </a:solidFill>
              </a:rPr>
              <a:t>[ Week 5 ]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46904" y="2971800"/>
            <a:ext cx="1463040" cy="2743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Created 13 DAX measures: Total Revenue, ADR, RevPAR, Occupancy %, Cancellation Rate, No Show Count, Repeat Guest %, Revenue per Booking &amp; more.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48856" y="1143000"/>
            <a:ext cx="2011680" cy="356616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8856" y="1143000"/>
            <a:ext cx="2011680" cy="54864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0376" y="1325880"/>
            <a:ext cx="548640" cy="5486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037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48856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879F9"/>
                </a:solidFill>
              </a:rPr>
              <a:t>Phase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40296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Visualization &amp; Storytelling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48856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78BCA"/>
                </a:solidFill>
              </a:rPr>
              <a:t>[ Weeks 6–8 ]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23176" y="2971800"/>
            <a:ext cx="1463040" cy="2743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30632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Designed 5 interactive dashboards with KPI cards, multi-chart layouts, cross-filtering slicers, and a consistent dark purple visual theme.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92024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BUSINESS METRICS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DAX Measures &amp; KPIs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1664208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9F9"/>
                </a:solidFill>
              </a:rPr>
              <a:t>$42.72M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SUM(revenue)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02536" y="1188720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02536" y="1188720"/>
            <a:ext cx="1664208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2536" y="12801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2FBE"/>
                </a:solidFill>
              </a:rPr>
              <a:t>119.39K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02536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Bookings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02536" y="173736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730752" y="1188720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1188720"/>
            <a:ext cx="1664208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12801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4FC"/>
                </a:solidFill>
              </a:rPr>
              <a:t>$101.83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30752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Avg Daily Rate (ADR)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30752" y="173736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AVERAGE(adr)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58968" y="1188720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58968" y="1188720"/>
            <a:ext cx="166420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8968" y="12801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64.11%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RevPAR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8968" y="173736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/ Capacity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187184" y="1188720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1188720"/>
            <a:ext cx="1664208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87184" y="12801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</a:rPr>
              <a:t>62.96%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87184" y="1572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Occupancy 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87184" y="173736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Checked-Out / Total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" y="1993392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1993392"/>
            <a:ext cx="1664208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0848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7171"/>
                </a:solidFill>
              </a:rPr>
              <a:t>37.04%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74320" y="23774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Cancellation Rate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2542032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 / Total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002536" y="1993392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02536" y="1993392"/>
            <a:ext cx="1664208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02536" y="20848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4FC"/>
                </a:solidFill>
              </a:rPr>
              <a:t>104 days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002536" y="23774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Avg Lead Time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002536" y="2542032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AVERAGE(lead_time)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30752" y="1993392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30752" y="1993392"/>
            <a:ext cx="1664208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20848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2FBE"/>
                </a:solidFill>
              </a:rPr>
              <a:t>409.26K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730752" y="23774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Nights Stayed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30752" y="2542032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SUM(total_nights)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58968" y="1993392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58968" y="1993392"/>
            <a:ext cx="1664208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58968" y="20848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</a:rPr>
              <a:t>3.19%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58968" y="23774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Repeat Guest 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58968" y="2542032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/ Total × 100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187184" y="1993392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87184" y="1993392"/>
            <a:ext cx="1664208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7184" y="20848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7171"/>
                </a:solidFill>
              </a:rPr>
              <a:t>1.21K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87184" y="23774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 Show Count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87184" y="2542032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COUNTROWS(no-show)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74320" y="2798064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2798064"/>
            <a:ext cx="1664208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28895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7171"/>
                </a:solidFill>
              </a:rPr>
              <a:t>44.22K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274320" y="31821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Cancelled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74320" y="3346704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COUNTROWS(cancelled)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002536" y="2798064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02536" y="2798064"/>
            <a:ext cx="166420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02536" y="28895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$0.36K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002536" y="31821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Revenue per Booking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002536" y="3346704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/ Bookings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730752" y="2798064"/>
            <a:ext cx="1664208" cy="713232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30752" y="2798064"/>
            <a:ext cx="1664208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0752" y="28895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9F9"/>
                </a:solidFill>
              </a:rPr>
              <a:t>0.57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730752" y="31821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Avg Special Requests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730752" y="3346704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A78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AVERAGE(special_req)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DASHBOARD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&amp; Booking Performance</a:t>
            </a:r>
            <a:endParaRPr lang="en-US" sz="2400" dirty="0"/>
          </a:p>
        </p:txBody>
      </p:sp>
      <p:pic>
        <p:nvPicPr>
          <p:cNvPr id="6" name="Image 0" descr="/mnt/user-data/uploads/1774436434935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78992"/>
            <a:ext cx="53949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078992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7880" y="1078992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170432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$42.72M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97880" y="1441094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97880" y="1783080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1783080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1874520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62.96%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97880" y="2145182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Occupancy %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97880" y="2487168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2487168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578608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$101.83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97880" y="2849270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Avg Daily Rate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97880" y="3191256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3191256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282696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37.04%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897880" y="3553358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Cancellation Rate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97880" y="3913632"/>
            <a:ext cx="2926080" cy="64008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97880" y="3913632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4133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Total Revenue: $42.72M across 119.39K bookings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Online TA dominates booking channels at 82% share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August records highest revenue; January shows the lowest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City Hotel drives higher booking volumes overall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DASHBOARD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Occupancy &amp; Revenue Analysis</a:t>
            </a:r>
            <a:endParaRPr lang="en-US" sz="2400" dirty="0"/>
          </a:p>
        </p:txBody>
      </p:sp>
      <p:pic>
        <p:nvPicPr>
          <p:cNvPr id="6" name="Image 0" descr="/mnt/user-data/uploads/1774436441175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78992"/>
            <a:ext cx="53949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078992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7880" y="1078992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170432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409.26K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97880" y="1441094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Total Nights Stayed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97880" y="1783080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1783080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1874520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64.11%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97880" y="2145182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RevPAR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97880" y="2487168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2487168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578608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$101.83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97880" y="2849270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ADR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97880" y="3191256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3191256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282696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62.96%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897880" y="3553358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Occupancy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97880" y="3913632"/>
            <a:ext cx="2926080" cy="64008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97880" y="3913632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4133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Resort Hotel occupancy peaks during summer months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Weekend stays consistently outperform weekday stays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RevPAR trend follows ADR closely across all months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DASHBOARD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Guest Analysis &amp; Segmentation</a:t>
            </a:r>
            <a:endParaRPr lang="en-US" sz="2400" dirty="0"/>
          </a:p>
        </p:txBody>
      </p:sp>
      <p:pic>
        <p:nvPicPr>
          <p:cNvPr id="6" name="Image 0" descr="/mnt/user-data/uploads/1774436447567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78992"/>
            <a:ext cx="53949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078992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7880" y="1078992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170432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119.39K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97880" y="1441094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Total Guests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97880" y="1783080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1783080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1874520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57.14%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97880" y="2145182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Avg Special Requests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97880" y="2487168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2487168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578608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104 days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97880" y="2849270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Avg Lead 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97880" y="3191256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3191256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282696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3.19%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897880" y="3553358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Repeat Guest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97880" y="3913632"/>
            <a:ext cx="2926080" cy="64008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97880" y="3913632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4133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Transient guests form the largest booking segment (74%+)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Portugal (PRT) is the #1 source country by total bookings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Couple/Group guests have the longest avg lead time of ~$104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BB (Bed &amp; Breakfast) is the most popular meal plan at 77%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DASHBOARD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Cancellation &amp; Forecasting Trends</a:t>
            </a:r>
            <a:endParaRPr lang="en-US" sz="2400" dirty="0"/>
          </a:p>
        </p:txBody>
      </p:sp>
      <p:pic>
        <p:nvPicPr>
          <p:cNvPr id="6" name="Image 0" descr="/mnt/user-data/uploads/1774436453031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78992"/>
            <a:ext cx="53949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078992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7880" y="1078992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170432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37.04%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97880" y="1441094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Cancellation Rate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97880" y="1783080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1783080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1874520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44.22K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97880" y="2145182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Total Cancelled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97880" y="2487168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2487168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578608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1.21K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97880" y="2849270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No Show Count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97880" y="3191256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3191256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282696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0.10K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897880" y="3553358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Avg Lead 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97880" y="3913632"/>
            <a:ext cx="2926080" cy="64008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97880" y="3913632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4133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Overall cancellation rate stands at 37.04% — 44.22K bookings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City Hotel cancellation rate (41.73%) far exceeds Resort Hotel (27.76%)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Guests with no deposit account for the most cancellations (~$30K)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Short lead-time bookings (0–7 days) show the lowest cancellations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DASHBOARD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Strategy &amp; Pricing Insights</a:t>
            </a:r>
            <a:endParaRPr lang="en-US" sz="2400" dirty="0"/>
          </a:p>
        </p:txBody>
      </p:sp>
      <p:pic>
        <p:nvPicPr>
          <p:cNvPr id="6" name="Image 0" descr="/mnt/user-data/uploads/1774436462315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78992"/>
            <a:ext cx="53949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078992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7880" y="1078992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170432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$42.72M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97880" y="1441094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97880" y="1783080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1783080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1874520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64.11%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97880" y="2145182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RevPAR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97880" y="2487168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2487168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578608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$101.83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97880" y="2849270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Avg Daily Rate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97880" y="3191256"/>
            <a:ext cx="2926080" cy="603504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3191256"/>
            <a:ext cx="292608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282696"/>
            <a:ext cx="292608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$0.36K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897880" y="3553358"/>
            <a:ext cx="292608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8BCA"/>
                </a:solidFill>
              </a:rPr>
              <a:t>Revenue/Booking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97880" y="3913632"/>
            <a:ext cx="2926080" cy="64008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97880" y="3913632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4133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Room Type H commands the highest ADR across all seasons ($656)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Portugal drives the highest total revenue among all source countries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Online TA is the top revenue-generating market segment</a:t>
            </a:r>
            <a:endParaRPr lang="en-US" sz="7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" dirty="0">
                <a:solidFill>
                  <a:srgbClr val="E8E0F7"/>
                </a:solidFill>
              </a:rPr>
              <a:t>BB meal plan accounts for 72.97% of all meal plan revenue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37160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INSIGHTS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Business Insights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97480" cy="1664208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26974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</a:rPr>
              <a:t>Revenue Seasonality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0574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0F7"/>
                </a:solidFill>
              </a:rPr>
              <a:t>August–September peak generates maximum revenue. January–February are the weakest months. Dynamic pricing in off-peak months can reduce revenue dip.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18688" y="1280160"/>
            <a:ext cx="2697480" cy="1664208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280160"/>
            <a:ext cx="26974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389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0128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</a:rPr>
              <a:t>Hotel Type Gap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28416" y="20574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0F7"/>
                </a:solidFill>
              </a:rPr>
              <a:t>City Hotel cancellation rate (41.73%) is significantly higher than Resort Hotel (27.76%). Non-refundable deposit policies can plug this leakage.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17336" y="1280160"/>
            <a:ext cx="2697480" cy="1664208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1280160"/>
            <a:ext cx="26974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389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08776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</a:rPr>
              <a:t>Top Source Markets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27064" y="20574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0F7"/>
                </a:solidFill>
              </a:rPr>
              <a:t>Portugal (PRT), Great Britain (GBR), and France (FRA) are the top 3 revenue-generating countries. Targeted campaigns in these markets can yield higher ROI.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2697480" cy="1664208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08960"/>
            <a:ext cx="26974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186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🛏️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" y="3584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</a:rPr>
              <a:t>Room Type Pricing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38862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0F7"/>
                </a:solidFill>
              </a:rPr>
              <a:t>Room Type H commands the highest ADR ($656+) in all seasons. Prioritising availability of premium room types during peak periods maximizes RevPAR.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18688" y="3108960"/>
            <a:ext cx="2697480" cy="1664208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3108960"/>
            <a:ext cx="26974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32186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10128" y="3584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</a:rPr>
              <a:t>Lead Time &amp; Cancellations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28416" y="38862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0F7"/>
                </a:solidFill>
              </a:rPr>
              <a:t>Bookings made 0–7 days in advance have the lowest cancellation rates. Last-minute deals for high-demand periods can convert hesitant guests.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17336" y="3108960"/>
            <a:ext cx="2697480" cy="1664208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17336" y="3108960"/>
            <a:ext cx="26974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32186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08776" y="3584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</a:rPr>
              <a:t>Channel Dominance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27064" y="38862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0F7"/>
                </a:solidFill>
              </a:rPr>
              <a:t>Online Travel Agents (OTA) drive 82% of bookings and the highest revenue share. Investing in OTA visibility and reviews is critical for growth.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37160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TIMELINE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78705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8-Week Project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633472"/>
            <a:ext cx="8046720" cy="457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23744"/>
            <a:ext cx="228600" cy="2286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Dataset study &amp; domain understanding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27432" cy="18288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90472" y="2523744"/>
            <a:ext cx="228600" cy="2286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2761488"/>
            <a:ext cx="27432" cy="16459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2944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8992" y="316382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Power BI setup, data loading &amp; null handling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23744" y="2523744"/>
            <a:ext cx="228600" cy="2286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7984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12264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Power Query transformations &amp; custom columns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33472" y="2359152"/>
            <a:ext cx="27432" cy="18288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1005840"/>
            <a:ext cx="1143000" cy="201168"/>
          </a:xfrm>
          <a:prstGeom prst="rect">
            <a:avLst/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10058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2082A"/>
                </a:solidFill>
              </a:rPr>
              <a:t>★ Prototype Draft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557016" y="2523744"/>
            <a:ext cx="228600" cy="2286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66744" y="2761488"/>
            <a:ext cx="27432" cy="16459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2944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45536" y="316382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13 DAX measures &amp; KPI development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90288" y="2523744"/>
            <a:ext cx="228600" cy="2286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78808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Dashboards 1 &amp; 2 built and reviewed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0016" y="2359152"/>
            <a:ext cx="27432" cy="18288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24528" y="1005840"/>
            <a:ext cx="1143000" cy="201168"/>
          </a:xfrm>
          <a:prstGeom prst="rect">
            <a:avLst/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10058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2082A"/>
                </a:solidFill>
              </a:rPr>
              <a:t>★ Mid-Term Review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623560" y="2523744"/>
            <a:ext cx="228600" cy="2286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33288" y="2761488"/>
            <a:ext cx="27432" cy="16459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944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2080" y="316382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Dashboards 3 &amp; 4 with map &amp; forecast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656832" y="2523744"/>
            <a:ext cx="228600" cy="2286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45352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Dashboard 5 &amp; business insights derived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66560" y="2359152"/>
            <a:ext cx="27432" cy="18288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0104" y="2523744"/>
            <a:ext cx="228600" cy="2286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99832" y="2761488"/>
            <a:ext cx="27432" cy="16459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24344" y="2944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</a:rPr>
              <a:t>Week 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78624" y="316382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0F7"/>
                </a:solidFill>
              </a:rPr>
              <a:t>Final documentation &amp; completion report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324344" y="4059936"/>
            <a:ext cx="1143000" cy="201168"/>
          </a:xfrm>
          <a:prstGeom prst="rect">
            <a:avLst/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40599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2082A"/>
                </a:solidFill>
              </a:rPr>
              <a:t>★ Final Submission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IMPACT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Real-World 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352044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84FC"/>
                </a:solidFill>
              </a:rPr>
              <a:t>BEFORE  vs  AFTER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1691640" cy="420624"/>
          </a:xfrm>
          <a:prstGeom prst="rect">
            <a:avLst/>
          </a:prstGeom>
          <a:solidFill>
            <a:srgbClr val="3B0A0A"/>
          </a:solidFill>
          <a:ln w="12700">
            <a:solidFill>
              <a:srgbClr val="6B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27632"/>
            <a:ext cx="16916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 Static Excel Reports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1627632"/>
            <a:ext cx="1920240" cy="420624"/>
          </a:xfrm>
          <a:prstGeom prst="rect">
            <a:avLst/>
          </a:prstGeom>
          <a:solidFill>
            <a:srgbClr val="0A2818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627632"/>
            <a:ext cx="19202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✓  5 Interactive Dashboards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1691640" cy="420624"/>
          </a:xfrm>
          <a:prstGeom prst="rect">
            <a:avLst/>
          </a:prstGeom>
          <a:solidFill>
            <a:srgbClr val="3B0A0A"/>
          </a:solidFill>
          <a:ln w="12700">
            <a:solidFill>
              <a:srgbClr val="6B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57984"/>
            <a:ext cx="16916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 Hours of manual data prep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2157984"/>
            <a:ext cx="1920240" cy="420624"/>
          </a:xfrm>
          <a:prstGeom prst="rect">
            <a:avLst/>
          </a:prstGeom>
          <a:solidFill>
            <a:srgbClr val="0A2818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157984"/>
            <a:ext cx="19202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✓  Instant cross-filtered views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688336"/>
            <a:ext cx="1691640" cy="420624"/>
          </a:xfrm>
          <a:prstGeom prst="rect">
            <a:avLst/>
          </a:prstGeom>
          <a:solidFill>
            <a:srgbClr val="3B0A0A"/>
          </a:solidFill>
          <a:ln w="12700">
            <a:solidFill>
              <a:srgbClr val="6B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88336"/>
            <a:ext cx="16916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 Siloed metric tracking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0" y="2688336"/>
            <a:ext cx="1920240" cy="420624"/>
          </a:xfrm>
          <a:prstGeom prst="rect">
            <a:avLst/>
          </a:prstGeom>
          <a:solidFill>
            <a:srgbClr val="0A2818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688336"/>
            <a:ext cx="19202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✓  All KPIs in one system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1691640" cy="420624"/>
          </a:xfrm>
          <a:prstGeom prst="rect">
            <a:avLst/>
          </a:prstGeom>
          <a:solidFill>
            <a:srgbClr val="3B0A0A"/>
          </a:solidFill>
          <a:ln w="12700">
            <a:solidFill>
              <a:srgbClr val="6B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18688"/>
            <a:ext cx="16916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 Delayed decision making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3218688"/>
            <a:ext cx="1920240" cy="420624"/>
          </a:xfrm>
          <a:prstGeom prst="rect">
            <a:avLst/>
          </a:prstGeom>
          <a:solidFill>
            <a:srgbClr val="0A2818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218688"/>
            <a:ext cx="19202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✓  Real-time business answers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1691640" cy="420624"/>
          </a:xfrm>
          <a:prstGeom prst="rect">
            <a:avLst/>
          </a:prstGeom>
          <a:solidFill>
            <a:srgbClr val="3B0A0A"/>
          </a:solidFill>
          <a:ln w="12700">
            <a:solidFill>
              <a:srgbClr val="6B1B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49040"/>
            <a:ext cx="16916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 No forecasting capability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0" y="3749040"/>
            <a:ext cx="1920240" cy="420624"/>
          </a:xfrm>
          <a:prstGeom prst="rect">
            <a:avLst/>
          </a:prstGeom>
          <a:solidFill>
            <a:srgbClr val="0A2818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749040"/>
            <a:ext cx="192024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✓  Booking forecast trend line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26280" y="1188720"/>
            <a:ext cx="4297680" cy="3520440"/>
          </a:xfrm>
          <a:prstGeom prst="rect">
            <a:avLst/>
          </a:prstGeom>
          <a:solidFill>
            <a:srgbClr val="2A1055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</a:rPr>
              <a:t>Business Questions Now Answered Instantly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691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691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082A"/>
                </a:solidFill>
              </a:rPr>
              <a:t>?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0" y="1673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Which months have the highest cancellation rates and why?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16712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167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082A"/>
                </a:solidFill>
              </a:rPr>
              <a:t>?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3776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Which room types and seasons generate the highest ADR?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64261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642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082A"/>
                </a:solidFill>
              </a:rPr>
              <a:t>?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3776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Which countries send the most valuable guests?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11810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118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082A"/>
                </a:solidFill>
              </a:rPr>
              <a:t>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3776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How does City Hotel compare to Resort Hotel performance?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5935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593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082A"/>
                </a:solidFill>
              </a:rPr>
              <a:t>?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37760" y="3575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What is the forecasted booking trend for the next 30 days?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40690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082A"/>
                </a:solidFill>
              </a:rPr>
              <a:t>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3776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F7"/>
                </a:solidFill>
              </a:rPr>
              <a:t>Which booking channel drives the most revenue?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78BCA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07013" y="-708660"/>
            <a:ext cx="3200400" cy="3200400"/>
          </a:xfrm>
          <a:prstGeom prst="ellipse">
            <a:avLst/>
          </a:prstGeom>
          <a:solidFill>
            <a:srgbClr val="E879F9">
              <a:alpha val="15000"/>
            </a:srgbClr>
          </a:solidFill>
          <a:ln w="12700">
            <a:solidFill>
              <a:srgbClr val="E879F9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979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1678478"/>
            <a:ext cx="2743200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1563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084FC"/>
                </a:solidFill>
              </a:rPr>
              <a:t>HotelRevAI — AI Driven Revenue Analysis for Hotels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0" y="2434590"/>
            <a:ext cx="6400800" cy="594360"/>
          </a:xfrm>
          <a:prstGeom prst="rect">
            <a:avLst/>
          </a:prstGeom>
          <a:solidFill>
            <a:srgbClr val="2A105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43459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CA"/>
                </a:solidFill>
              </a:rPr>
              <a:t>Mentor: </a:t>
            </a:r>
            <a:r>
              <a:rPr lang="en-US" sz="1000" dirty="0">
                <a:solidFill>
                  <a:srgbClr val="FFFFFF"/>
                </a:solidFill>
              </a:rPr>
              <a:t>Selciya  </a:t>
            </a:r>
            <a:r>
              <a:rPr lang="en-US" sz="1000" dirty="0">
                <a:solidFill>
                  <a:srgbClr val="3B1F6A"/>
                </a:solidFill>
              </a:rPr>
              <a:t>  |  </a:t>
            </a:r>
            <a:r>
              <a:rPr lang="en-US" sz="1000" dirty="0">
                <a:solidFill>
                  <a:srgbClr val="FFFFFF"/>
                </a:solidFill>
              </a:rPr>
              <a:t>Infosys Springboard Virtual Internship 6.0  </a:t>
            </a:r>
            <a:r>
              <a:rPr lang="en-US" sz="1000" dirty="0">
                <a:solidFill>
                  <a:srgbClr val="3B1F6A"/>
                </a:solidFill>
              </a:rPr>
              <a:t>  |  </a:t>
            </a:r>
            <a:r>
              <a:rPr lang="en-US" sz="1000" dirty="0">
                <a:solidFill>
                  <a:srgbClr val="FFFFFF"/>
                </a:solidFill>
              </a:rPr>
              <a:t>Batch 13, Group 2, Team 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983480"/>
            <a:ext cx="7772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78BCA"/>
                </a:solidFill>
              </a:rPr>
              <a:t>HotelRevAI  |  Infosys Springboard Internship  |  Batch 13 – Group 2, Team 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1605</Words>
  <Application>Microsoft Office PowerPoint</Application>
  <PresentationFormat>On-screen Show (16:9)</PresentationFormat>
  <Paragraphs>330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HotelRevAI - AI Driven Revenue Analysis for Hotels</dc:title>
  <dc:subject>PptxGenJS Presentation</dc:subject>
  <dc:creator>Infosys Springboard Internship Batch 13</dc:creator>
  <cp:lastModifiedBy>Harshal Chelikani</cp:lastModifiedBy>
  <cp:revision>2</cp:revision>
  <dcterms:created xsi:type="dcterms:W3CDTF">2026-03-25T11:04:30Z</dcterms:created>
  <dcterms:modified xsi:type="dcterms:W3CDTF">2026-03-25T11:18:47Z</dcterms:modified>
</cp:coreProperties>
</file>