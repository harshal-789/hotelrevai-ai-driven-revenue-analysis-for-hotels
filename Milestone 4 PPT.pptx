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0" r:id="rId3"/>
    <p:sldId id="271" r:id="rId4"/>
    <p:sldId id="272" r:id="rId5"/>
    <p:sldId id="266" r:id="rId6"/>
    <p:sldId id="257" r:id="rId7"/>
    <p:sldId id="258" r:id="rId8"/>
    <p:sldId id="259" r:id="rId9"/>
    <p:sldId id="260" r:id="rId10"/>
    <p:sldId id="261" r:id="rId11"/>
    <p:sldId id="262" r:id="rId12"/>
    <p:sldId id="263" r:id="rId13"/>
    <p:sldId id="264" r:id="rId14"/>
    <p:sldId id="269" r:id="rId15"/>
    <p:sldId id="265" r:id="rId16"/>
    <p:sldId id="267" r:id="rId17"/>
    <p:sldId id="273"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87" d="100"/>
          <a:sy n="87" d="100"/>
        </p:scale>
        <p:origin x="2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3/10/2026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3/10/2026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3/10/2026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3/10/2026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3/10/2026</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utpaqp.edu.pe/explore/religious-birthday-thank-you-messages" TargetMode="External"/><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562E7-9290-542D-46D1-C64E2C37E249}"/>
              </a:ext>
            </a:extLst>
          </p:cNvPr>
          <p:cNvSpPr>
            <a:spLocks noGrp="1"/>
          </p:cNvSpPr>
          <p:nvPr>
            <p:ph type="ctrTitle"/>
          </p:nvPr>
        </p:nvSpPr>
        <p:spPr/>
        <p:txBody>
          <a:bodyPr/>
          <a:lstStyle/>
          <a:p>
            <a:r>
              <a:rPr lang="en-US" dirty="0"/>
              <a:t>Revai – AI DRIVEN REVENUE ANALYSIS FOR HOTELS </a:t>
            </a:r>
            <a:endParaRPr lang="en-IN" dirty="0"/>
          </a:p>
        </p:txBody>
      </p:sp>
      <p:sp>
        <p:nvSpPr>
          <p:cNvPr id="3" name="Subtitle 2">
            <a:extLst>
              <a:ext uri="{FF2B5EF4-FFF2-40B4-BE49-F238E27FC236}">
                <a16:creationId xmlns:a16="http://schemas.microsoft.com/office/drawing/2014/main" id="{45584E9C-E806-E3EE-423E-BD5B0CC8EFBB}"/>
              </a:ext>
            </a:extLst>
          </p:cNvPr>
          <p:cNvSpPr>
            <a:spLocks noGrp="1"/>
          </p:cNvSpPr>
          <p:nvPr>
            <p:ph type="subTitle" idx="1"/>
          </p:nvPr>
        </p:nvSpPr>
        <p:spPr/>
        <p:txBody>
          <a:bodyPr/>
          <a:lstStyle/>
          <a:p>
            <a:pPr algn="ctr"/>
            <a:r>
              <a:rPr lang="en-US" dirty="0"/>
              <a:t>Milestone - 4</a:t>
            </a:r>
            <a:endParaRPr lang="en-IN" dirty="0"/>
          </a:p>
        </p:txBody>
      </p:sp>
      <p:sp>
        <p:nvSpPr>
          <p:cNvPr id="4" name="TextBox 3">
            <a:extLst>
              <a:ext uri="{FF2B5EF4-FFF2-40B4-BE49-F238E27FC236}">
                <a16:creationId xmlns:a16="http://schemas.microsoft.com/office/drawing/2014/main" id="{E4CB03AE-DDAD-5FA1-28F8-2E5FB56F46FA}"/>
              </a:ext>
            </a:extLst>
          </p:cNvPr>
          <p:cNvSpPr txBox="1"/>
          <p:nvPr/>
        </p:nvSpPr>
        <p:spPr>
          <a:xfrm>
            <a:off x="2688248" y="3633783"/>
            <a:ext cx="6815504" cy="2246769"/>
          </a:xfrm>
          <a:prstGeom prst="rect">
            <a:avLst/>
          </a:prstGeom>
          <a:noFill/>
          <a:ln w="19050">
            <a:solidFill>
              <a:schemeClr val="accent1">
                <a:lumMod val="10000"/>
                <a:lumOff val="90000"/>
              </a:schemeClr>
            </a:solidFill>
            <a:prstDash val="dashDot"/>
          </a:ln>
        </p:spPr>
        <p:txBody>
          <a:bodyPr wrap="square" rtlCol="0">
            <a:spAutoFit/>
          </a:bodyPr>
          <a:lstStyle/>
          <a:p>
            <a:pPr algn="ctr"/>
            <a:r>
              <a:rPr lang="en-US" sz="2000" dirty="0">
                <a:solidFill>
                  <a:schemeClr val="bg1"/>
                </a:solidFill>
              </a:rPr>
              <a:t>Team – D</a:t>
            </a:r>
          </a:p>
          <a:p>
            <a:endParaRPr lang="en-US" sz="2000" dirty="0">
              <a:solidFill>
                <a:schemeClr val="bg1"/>
              </a:solidFill>
            </a:endParaRPr>
          </a:p>
          <a:p>
            <a:pPr marL="285750" indent="-285750">
              <a:buFont typeface="Wingdings" panose="05000000000000000000" pitchFamily="2" charset="2"/>
              <a:buChar char="Ø"/>
            </a:pPr>
            <a:r>
              <a:rPr lang="en-US" sz="2000" dirty="0">
                <a:solidFill>
                  <a:schemeClr val="bg1"/>
                </a:solidFill>
              </a:rPr>
              <a:t>Arun Kumar V</a:t>
            </a:r>
          </a:p>
          <a:p>
            <a:pPr marL="285750" indent="-285750">
              <a:buFont typeface="Wingdings" panose="05000000000000000000" pitchFamily="2" charset="2"/>
              <a:buChar char="Ø"/>
            </a:pPr>
            <a:r>
              <a:rPr lang="en-US" sz="2000" dirty="0">
                <a:solidFill>
                  <a:schemeClr val="bg1"/>
                </a:solidFill>
              </a:rPr>
              <a:t>Satbir Singh</a:t>
            </a:r>
          </a:p>
          <a:p>
            <a:pPr marL="285750" indent="-285750">
              <a:buFont typeface="Wingdings" panose="05000000000000000000" pitchFamily="2" charset="2"/>
              <a:buChar char="Ø"/>
            </a:pPr>
            <a:r>
              <a:rPr lang="en-US" sz="2000" dirty="0">
                <a:solidFill>
                  <a:schemeClr val="bg1"/>
                </a:solidFill>
              </a:rPr>
              <a:t>Chelikani Harshal</a:t>
            </a:r>
          </a:p>
          <a:p>
            <a:pPr marL="285750" indent="-285750">
              <a:buFont typeface="Wingdings" panose="05000000000000000000" pitchFamily="2" charset="2"/>
              <a:buChar char="Ø"/>
            </a:pPr>
            <a:r>
              <a:rPr lang="en-US" sz="2000" dirty="0">
                <a:solidFill>
                  <a:schemeClr val="bg1"/>
                </a:solidFill>
              </a:rPr>
              <a:t>N. Akhila</a:t>
            </a:r>
          </a:p>
          <a:p>
            <a:pPr marL="285750" indent="-285750">
              <a:buFont typeface="Wingdings" panose="05000000000000000000" pitchFamily="2" charset="2"/>
              <a:buChar char="Ø"/>
            </a:pPr>
            <a:r>
              <a:rPr lang="fi-FI" sz="2000" dirty="0">
                <a:solidFill>
                  <a:schemeClr val="bg1"/>
                </a:solidFill>
              </a:rPr>
              <a:t>Srilakshmi</a:t>
            </a:r>
            <a:endParaRPr lang="en-US" sz="2000" dirty="0">
              <a:solidFill>
                <a:schemeClr val="bg1"/>
              </a:solidFill>
            </a:endParaRPr>
          </a:p>
        </p:txBody>
      </p:sp>
    </p:spTree>
    <p:extLst>
      <p:ext uri="{BB962C8B-B14F-4D97-AF65-F5344CB8AC3E}">
        <p14:creationId xmlns:p14="http://schemas.microsoft.com/office/powerpoint/2010/main" val="1465364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368D-136E-1642-5E01-90C7920ECCA3}"/>
              </a:ext>
            </a:extLst>
          </p:cNvPr>
          <p:cNvSpPr>
            <a:spLocks noGrp="1"/>
          </p:cNvSpPr>
          <p:nvPr>
            <p:ph type="title"/>
          </p:nvPr>
        </p:nvSpPr>
        <p:spPr/>
        <p:txBody>
          <a:bodyPr/>
          <a:lstStyle/>
          <a:p>
            <a:r>
              <a:rPr lang="en-US" dirty="0"/>
              <a:t>Abstract</a:t>
            </a:r>
            <a:endParaRPr lang="en-IN" dirty="0"/>
          </a:p>
        </p:txBody>
      </p:sp>
      <p:sp>
        <p:nvSpPr>
          <p:cNvPr id="3" name="TextBox 2">
            <a:extLst>
              <a:ext uri="{FF2B5EF4-FFF2-40B4-BE49-F238E27FC236}">
                <a16:creationId xmlns:a16="http://schemas.microsoft.com/office/drawing/2014/main" id="{9F2CB1F3-5C1B-0837-B736-DDADA7546C6F}"/>
              </a:ext>
            </a:extLst>
          </p:cNvPr>
          <p:cNvSpPr txBox="1"/>
          <p:nvPr/>
        </p:nvSpPr>
        <p:spPr>
          <a:xfrm>
            <a:off x="465993" y="2567354"/>
            <a:ext cx="11139518" cy="1754326"/>
          </a:xfrm>
          <a:prstGeom prst="rect">
            <a:avLst/>
          </a:prstGeom>
          <a:noFill/>
        </p:spPr>
        <p:txBody>
          <a:bodyPr wrap="square" rtlCol="0">
            <a:spAutoFit/>
          </a:bodyPr>
          <a:lstStyle/>
          <a:p>
            <a:pPr algn="just"/>
            <a:r>
              <a:rPr lang="en-US" b="1" dirty="0"/>
              <a:t>Revai</a:t>
            </a:r>
            <a:r>
              <a:rPr lang="en-US" dirty="0"/>
              <a:t> is an AI-driven revenue analysis system designed for the hospitality industry. This project leverages a 4-year hotel booking dataset (2014–2017) to uncover actionable business insights through data preprocessing, advanced DAX metrics, and interactive Power BI dashboards. The system analyzes key performance indicators including revenue, cancellation rates, booking behavior, and customer segmentation across City and Resort hotel types. By transforming raw transactional data into structured intelligence, Revai empowers hotel management to make data-driven decisions that optimize revenue, reduce cancellations, and improve operational efficiency.</a:t>
            </a:r>
            <a:endParaRPr lang="en-IN" dirty="0"/>
          </a:p>
        </p:txBody>
      </p:sp>
    </p:spTree>
    <p:extLst>
      <p:ext uri="{BB962C8B-B14F-4D97-AF65-F5344CB8AC3E}">
        <p14:creationId xmlns:p14="http://schemas.microsoft.com/office/powerpoint/2010/main" val="1026000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FCEA3-3D8B-1318-AA86-62F56C0766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1405F7-77CB-AA13-A3F7-F22205E02339}"/>
              </a:ext>
            </a:extLst>
          </p:cNvPr>
          <p:cNvSpPr>
            <a:spLocks noGrp="1"/>
          </p:cNvSpPr>
          <p:nvPr>
            <p:ph type="title"/>
          </p:nvPr>
        </p:nvSpPr>
        <p:spPr/>
        <p:txBody>
          <a:bodyPr/>
          <a:lstStyle/>
          <a:p>
            <a:r>
              <a:rPr lang="en-US" dirty="0"/>
              <a:t>INTRODUCTION</a:t>
            </a:r>
            <a:endParaRPr lang="en-IN" dirty="0"/>
          </a:p>
        </p:txBody>
      </p:sp>
      <p:sp>
        <p:nvSpPr>
          <p:cNvPr id="3" name="TextBox 2">
            <a:extLst>
              <a:ext uri="{FF2B5EF4-FFF2-40B4-BE49-F238E27FC236}">
                <a16:creationId xmlns:a16="http://schemas.microsoft.com/office/drawing/2014/main" id="{B75D0987-796D-A45C-BB3F-9A56C3F54827}"/>
              </a:ext>
            </a:extLst>
          </p:cNvPr>
          <p:cNvSpPr txBox="1"/>
          <p:nvPr/>
        </p:nvSpPr>
        <p:spPr>
          <a:xfrm>
            <a:off x="465993" y="2567354"/>
            <a:ext cx="11139518"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hotel industry operates in a highly dynamic environment where revenue management and customer behavior play a critical role in profitability. </a:t>
            </a:r>
          </a:p>
          <a:p>
            <a:pPr marL="285750" indent="-285750" algn="just">
              <a:buFont typeface="Arial" panose="020B0604020202020204" pitchFamily="34" charset="0"/>
              <a:buChar char="•"/>
            </a:pPr>
            <a:r>
              <a:rPr lang="en-US" dirty="0"/>
              <a:t>Traditional approaches to booking analysis often fall short in providing real-time, granular insights. </a:t>
            </a:r>
          </a:p>
          <a:p>
            <a:pPr marL="285750" indent="-285750" algn="just">
              <a:buFont typeface="Arial" panose="020B0604020202020204" pitchFamily="34" charset="0"/>
              <a:buChar char="•"/>
            </a:pPr>
            <a:r>
              <a:rPr lang="en-US" b="1" dirty="0"/>
              <a:t>Revai</a:t>
            </a:r>
            <a:r>
              <a:rPr lang="en-US" dirty="0"/>
              <a:t> addresses this gap by building an end-to-end analytical pipeline — from raw data ingestion and cleaning to KPI modeling and dashboard visualization.</a:t>
            </a:r>
          </a:p>
          <a:p>
            <a:pPr marL="285750" indent="-285750" algn="just">
              <a:buFont typeface="Arial" panose="020B0604020202020204" pitchFamily="34" charset="0"/>
              <a:buChar char="•"/>
            </a:pPr>
            <a:r>
              <a:rPr lang="en-US" dirty="0"/>
              <a:t>Using Power BI and DAX, this project translates complex booking-level data into five interactive dashboards covering revenue trends, booking behavior, customer segmentation, predictive cancellation risk, and cancellation patterns — enabling strategic, informed decision-making for hotel management teams.</a:t>
            </a:r>
            <a:endParaRPr lang="en-IN" dirty="0"/>
          </a:p>
        </p:txBody>
      </p:sp>
    </p:spTree>
    <p:extLst>
      <p:ext uri="{BB962C8B-B14F-4D97-AF65-F5344CB8AC3E}">
        <p14:creationId xmlns:p14="http://schemas.microsoft.com/office/powerpoint/2010/main" val="329033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2700-FDF9-FFAC-5337-ECA39D286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7CB0A-A339-72D8-AA41-084A7E6144BF}"/>
              </a:ext>
            </a:extLst>
          </p:cNvPr>
          <p:cNvSpPr>
            <a:spLocks noGrp="1"/>
          </p:cNvSpPr>
          <p:nvPr>
            <p:ph type="title"/>
          </p:nvPr>
        </p:nvSpPr>
        <p:spPr/>
        <p:txBody>
          <a:bodyPr/>
          <a:lstStyle/>
          <a:p>
            <a:r>
              <a:rPr lang="en-US" dirty="0"/>
              <a:t>PROBLEM STATEMENT</a:t>
            </a:r>
            <a:endParaRPr lang="en-IN" dirty="0"/>
          </a:p>
        </p:txBody>
      </p:sp>
      <p:sp>
        <p:nvSpPr>
          <p:cNvPr id="3" name="TextBox 2">
            <a:extLst>
              <a:ext uri="{FF2B5EF4-FFF2-40B4-BE49-F238E27FC236}">
                <a16:creationId xmlns:a16="http://schemas.microsoft.com/office/drawing/2014/main" id="{239D7408-3C32-B4E1-1A1E-26BD79AB8593}"/>
              </a:ext>
            </a:extLst>
          </p:cNvPr>
          <p:cNvSpPr txBox="1"/>
          <p:nvPr/>
        </p:nvSpPr>
        <p:spPr>
          <a:xfrm>
            <a:off x="465993" y="2567354"/>
            <a:ext cx="11139518" cy="3139321"/>
          </a:xfrm>
          <a:prstGeom prst="rect">
            <a:avLst/>
          </a:prstGeom>
          <a:noFill/>
        </p:spPr>
        <p:txBody>
          <a:bodyPr wrap="square" rtlCol="0">
            <a:spAutoFit/>
          </a:bodyPr>
          <a:lstStyle/>
          <a:p>
            <a:r>
              <a:rPr lang="en-US" dirty="0"/>
              <a:t>Hotels generate vast amounts of booking data but often lack the tools to convert this data into meaningful revenue insights. Key challenges include:</a:t>
            </a:r>
          </a:p>
          <a:p>
            <a:endParaRPr lang="en-US" dirty="0"/>
          </a:p>
          <a:p>
            <a:pPr marL="285750" indent="-285750">
              <a:buFont typeface="Arial" panose="020B0604020202020204" pitchFamily="34" charset="0"/>
              <a:buChar char="•"/>
            </a:pPr>
            <a:r>
              <a:rPr lang="en-US" b="1" dirty="0"/>
              <a:t>High cancellation rates</a:t>
            </a:r>
            <a:r>
              <a:rPr lang="en-US" dirty="0"/>
              <a:t> leading to revenue leakage and poor demand forecasting</a:t>
            </a:r>
          </a:p>
          <a:p>
            <a:pPr marL="285750" indent="-285750">
              <a:buFont typeface="Arial" panose="020B0604020202020204" pitchFamily="34" charset="0"/>
              <a:buChar char="•"/>
            </a:pPr>
            <a:r>
              <a:rPr lang="en-US" b="1" dirty="0"/>
              <a:t>Lack of visibility</a:t>
            </a:r>
            <a:r>
              <a:rPr lang="en-US" dirty="0"/>
              <a:t> into which market segments and customer types drive the most revenue</a:t>
            </a:r>
          </a:p>
          <a:p>
            <a:pPr marL="285750" indent="-285750">
              <a:buFont typeface="Arial" panose="020B0604020202020204" pitchFamily="34" charset="0"/>
              <a:buChar char="•"/>
            </a:pPr>
            <a:r>
              <a:rPr lang="en-US" b="1" dirty="0"/>
              <a:t>Inability to identify pricing inefficiencies</a:t>
            </a:r>
            <a:r>
              <a:rPr lang="en-US" dirty="0"/>
              <a:t> due to fragmented ADR (Average Daily Rate) analysis</a:t>
            </a:r>
          </a:p>
          <a:p>
            <a:pPr marL="285750" indent="-285750">
              <a:buFont typeface="Arial" panose="020B0604020202020204" pitchFamily="34" charset="0"/>
              <a:buChar char="•"/>
            </a:pPr>
            <a:r>
              <a:rPr lang="en-US" b="1" dirty="0"/>
              <a:t>No predictive framework</a:t>
            </a:r>
            <a:r>
              <a:rPr lang="en-US" dirty="0"/>
              <a:t> to proactively assess cancellation risk before it impacts occupancy</a:t>
            </a:r>
          </a:p>
          <a:p>
            <a:pPr marL="285750" indent="-285750">
              <a:buFont typeface="Arial" panose="020B0604020202020204" pitchFamily="34" charset="0"/>
              <a:buChar char="•"/>
            </a:pPr>
            <a:r>
              <a:rPr lang="en-US" b="1" dirty="0"/>
              <a:t>Limited understanding</a:t>
            </a:r>
            <a:r>
              <a:rPr lang="en-US" dirty="0"/>
              <a:t> of customer behavior patterns across geographies and booking channels</a:t>
            </a:r>
          </a:p>
          <a:p>
            <a:endParaRPr lang="en-US" dirty="0"/>
          </a:p>
          <a:p>
            <a:r>
              <a:rPr lang="en-US" b="1" dirty="0"/>
              <a:t>Revai</a:t>
            </a:r>
            <a:r>
              <a:rPr lang="en-US" dirty="0"/>
              <a:t> solves these challenges by delivering a structured, KPI-driven analytics platform that provides hotel stakeholders with clear, actionable insights from historical booking data.</a:t>
            </a:r>
          </a:p>
        </p:txBody>
      </p:sp>
    </p:spTree>
    <p:extLst>
      <p:ext uri="{BB962C8B-B14F-4D97-AF65-F5344CB8AC3E}">
        <p14:creationId xmlns:p14="http://schemas.microsoft.com/office/powerpoint/2010/main" val="1546259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C2105-8923-1A87-2BAC-9907317C8820}"/>
              </a:ext>
            </a:extLst>
          </p:cNvPr>
          <p:cNvSpPr>
            <a:spLocks noGrp="1"/>
          </p:cNvSpPr>
          <p:nvPr>
            <p:ph type="title"/>
          </p:nvPr>
        </p:nvSpPr>
        <p:spPr/>
        <p:txBody>
          <a:bodyPr/>
          <a:lstStyle/>
          <a:p>
            <a:r>
              <a:rPr lang="en-US" dirty="0"/>
              <a:t>Project  work flow</a:t>
            </a:r>
            <a:endParaRPr lang="en-IN" dirty="0"/>
          </a:p>
        </p:txBody>
      </p:sp>
      <p:sp>
        <p:nvSpPr>
          <p:cNvPr id="4" name="TextBox 3">
            <a:extLst>
              <a:ext uri="{FF2B5EF4-FFF2-40B4-BE49-F238E27FC236}">
                <a16:creationId xmlns:a16="http://schemas.microsoft.com/office/drawing/2014/main" id="{64D1FAE5-E305-1B8D-24D3-342C55121E9F}"/>
              </a:ext>
            </a:extLst>
          </p:cNvPr>
          <p:cNvSpPr txBox="1"/>
          <p:nvPr/>
        </p:nvSpPr>
        <p:spPr>
          <a:xfrm>
            <a:off x="3924551" y="2342690"/>
            <a:ext cx="4332301" cy="3785652"/>
          </a:xfrm>
          <a:prstGeom prst="rect">
            <a:avLst/>
          </a:prstGeom>
          <a:noFill/>
        </p:spPr>
        <p:txBody>
          <a:bodyPr wrap="square">
            <a:spAutoFit/>
          </a:bodyPr>
          <a:lstStyle/>
          <a:p>
            <a:pPr>
              <a:buNone/>
            </a:pPr>
            <a:r>
              <a:rPr lang="en-IN" sz="2400" b="1" dirty="0"/>
              <a:t>💼 Work Flow of the Project </a:t>
            </a:r>
          </a:p>
          <a:p>
            <a:pPr>
              <a:buNone/>
            </a:pPr>
            <a:r>
              <a:rPr lang="en-IN" sz="2400" dirty="0"/>
              <a:t>Raw Booking Data</a:t>
            </a:r>
            <a:br>
              <a:rPr lang="en-IN" sz="2400" dirty="0"/>
            </a:br>
            <a:r>
              <a:rPr lang="en-IN" sz="2400" dirty="0"/>
              <a:t>⬇</a:t>
            </a:r>
            <a:br>
              <a:rPr lang="en-IN" sz="2400" dirty="0"/>
            </a:br>
            <a:r>
              <a:rPr lang="en-IN" sz="2400" dirty="0"/>
              <a:t>Cleaned &amp; Modelled Data</a:t>
            </a:r>
            <a:br>
              <a:rPr lang="en-IN" sz="2400" dirty="0"/>
            </a:br>
            <a:r>
              <a:rPr lang="en-IN" sz="2400" dirty="0"/>
              <a:t>⬇</a:t>
            </a:r>
            <a:br>
              <a:rPr lang="en-IN" sz="2400" dirty="0"/>
            </a:br>
            <a:r>
              <a:rPr lang="en-IN" sz="2400" dirty="0"/>
              <a:t>KPI-Based Analysis</a:t>
            </a:r>
            <a:br>
              <a:rPr lang="en-IN" sz="2400" dirty="0"/>
            </a:br>
            <a:r>
              <a:rPr lang="en-IN" sz="2400" dirty="0"/>
              <a:t>⬇</a:t>
            </a:r>
            <a:br>
              <a:rPr lang="en-IN" sz="2400" dirty="0"/>
            </a:br>
            <a:r>
              <a:rPr lang="en-IN" sz="2400" dirty="0"/>
              <a:t>Interactive Dashboards</a:t>
            </a:r>
            <a:br>
              <a:rPr lang="en-IN" sz="2400" dirty="0"/>
            </a:br>
            <a:r>
              <a:rPr lang="en-IN" sz="2400" dirty="0"/>
              <a:t>⬇</a:t>
            </a:r>
            <a:br>
              <a:rPr lang="en-IN" sz="2400" dirty="0"/>
            </a:br>
            <a:r>
              <a:rPr lang="en-IN" sz="2400" dirty="0"/>
              <a:t>Actionable Business Insights</a:t>
            </a:r>
          </a:p>
        </p:txBody>
      </p:sp>
    </p:spTree>
    <p:extLst>
      <p:ext uri="{BB962C8B-B14F-4D97-AF65-F5344CB8AC3E}">
        <p14:creationId xmlns:p14="http://schemas.microsoft.com/office/powerpoint/2010/main" val="674530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6AC8B-BE23-F192-0DA2-CA1A72AD838A}"/>
              </a:ext>
            </a:extLst>
          </p:cNvPr>
          <p:cNvSpPr>
            <a:spLocks noGrp="1"/>
          </p:cNvSpPr>
          <p:nvPr>
            <p:ph type="title"/>
          </p:nvPr>
        </p:nvSpPr>
        <p:spPr/>
        <p:txBody>
          <a:bodyPr/>
          <a:lstStyle/>
          <a:p>
            <a:r>
              <a:rPr lang="en-US" dirty="0"/>
              <a:t>ABOUT THE DATASET</a:t>
            </a:r>
            <a:endParaRPr lang="en-IN" dirty="0"/>
          </a:p>
        </p:txBody>
      </p:sp>
      <p:sp>
        <p:nvSpPr>
          <p:cNvPr id="3" name="TextBox 2">
            <a:extLst>
              <a:ext uri="{FF2B5EF4-FFF2-40B4-BE49-F238E27FC236}">
                <a16:creationId xmlns:a16="http://schemas.microsoft.com/office/drawing/2014/main" id="{17CC7E03-F1FD-776B-18AD-86F9419D0CCB}"/>
              </a:ext>
            </a:extLst>
          </p:cNvPr>
          <p:cNvSpPr txBox="1"/>
          <p:nvPr/>
        </p:nvSpPr>
        <p:spPr>
          <a:xfrm>
            <a:off x="448408" y="2382715"/>
            <a:ext cx="11157102" cy="3970318"/>
          </a:xfrm>
          <a:prstGeom prst="rect">
            <a:avLst/>
          </a:prstGeom>
          <a:noFill/>
        </p:spPr>
        <p:txBody>
          <a:bodyPr wrap="square" rtlCol="0">
            <a:spAutoFit/>
          </a:bodyPr>
          <a:lstStyle/>
          <a:p>
            <a:pPr algn="ctr"/>
            <a:r>
              <a:rPr lang="en-US" dirty="0"/>
              <a:t>The dataset used is a 4-year </a:t>
            </a:r>
            <a:r>
              <a:rPr lang="en-US" b="1" dirty="0"/>
              <a:t>Hotel Booking Dataset</a:t>
            </a:r>
            <a:r>
              <a:rPr lang="en-US" dirty="0"/>
              <a:t>, containing booking-level information from </a:t>
            </a:r>
            <a:r>
              <a:rPr lang="en-US" b="1" dirty="0"/>
              <a:t>2014-2017</a:t>
            </a:r>
            <a:r>
              <a:rPr lang="en-US" dirty="0"/>
              <a:t> such as:</a:t>
            </a:r>
          </a:p>
          <a:p>
            <a:pPr algn="ctr"/>
            <a:endParaRPr lang="en-US" dirty="0"/>
          </a:p>
          <a:p>
            <a:pPr marL="285750" indent="-285750">
              <a:buFont typeface="Arial" panose="020B0604020202020204" pitchFamily="34" charset="0"/>
              <a:buChar char="•"/>
            </a:pPr>
            <a:r>
              <a:rPr lang="en-US" dirty="0"/>
              <a:t>Hotel type (City / Resort)</a:t>
            </a:r>
          </a:p>
          <a:p>
            <a:pPr marL="285750" indent="-285750">
              <a:buFont typeface="Arial" panose="020B0604020202020204" pitchFamily="34" charset="0"/>
              <a:buChar char="•"/>
            </a:pPr>
            <a:r>
              <a:rPr lang="en-US" dirty="0"/>
              <a:t>Market segment</a:t>
            </a:r>
          </a:p>
          <a:p>
            <a:pPr marL="285750" indent="-285750">
              <a:buFont typeface="Arial" panose="020B0604020202020204" pitchFamily="34" charset="0"/>
              <a:buChar char="•"/>
            </a:pPr>
            <a:r>
              <a:rPr lang="en-US" dirty="0"/>
              <a:t>Distribution channel</a:t>
            </a:r>
          </a:p>
          <a:p>
            <a:pPr marL="285750" indent="-285750">
              <a:buFont typeface="Arial" panose="020B0604020202020204" pitchFamily="34" charset="0"/>
              <a:buChar char="•"/>
            </a:pPr>
            <a:r>
              <a:rPr lang="en-US" dirty="0"/>
              <a:t>Guest details (Adults, Children, Babies)</a:t>
            </a:r>
          </a:p>
          <a:p>
            <a:pPr marL="285750" indent="-285750">
              <a:buFont typeface="Arial" panose="020B0604020202020204" pitchFamily="34" charset="0"/>
              <a:buChar char="•"/>
            </a:pPr>
            <a:r>
              <a:rPr lang="en-US" dirty="0"/>
              <a:t>Stay details (Weekday &amp; Weekend nights)</a:t>
            </a:r>
          </a:p>
          <a:p>
            <a:pPr marL="285750" indent="-285750">
              <a:buFont typeface="Arial" panose="020B0604020202020204" pitchFamily="34" charset="0"/>
              <a:buChar char="•"/>
            </a:pPr>
            <a:r>
              <a:rPr lang="en-US" dirty="0"/>
              <a:t>ADR (Average Daily Rate)</a:t>
            </a:r>
          </a:p>
          <a:p>
            <a:pPr marL="285750" indent="-285750">
              <a:buFont typeface="Arial" panose="020B0604020202020204" pitchFamily="34" charset="0"/>
              <a:buChar char="•"/>
            </a:pPr>
            <a:r>
              <a:rPr lang="en-US" dirty="0"/>
              <a:t>Cancellation flag</a:t>
            </a:r>
          </a:p>
          <a:p>
            <a:pPr marL="285750" indent="-285750">
              <a:buFont typeface="Arial" panose="020B0604020202020204" pitchFamily="34" charset="0"/>
              <a:buChar char="•"/>
            </a:pPr>
            <a:r>
              <a:rPr lang="en-US" dirty="0"/>
              <a:t>Arrival date information</a:t>
            </a:r>
          </a:p>
          <a:p>
            <a:pPr marL="285750" indent="-285750">
              <a:buFont typeface="Arial" panose="020B0604020202020204" pitchFamily="34" charset="0"/>
              <a:buChar char="•"/>
            </a:pPr>
            <a:r>
              <a:rPr lang="en-US" dirty="0"/>
              <a:t>Country, customer type, and other booking attributes</a:t>
            </a:r>
          </a:p>
          <a:p>
            <a:endParaRPr lang="en-US" dirty="0"/>
          </a:p>
          <a:p>
            <a:r>
              <a:rPr lang="en-US" dirty="0"/>
              <a:t>The dataset consists of booking-level transactional records, which makes it ideal for KPI-driven analysis.</a:t>
            </a:r>
          </a:p>
          <a:p>
            <a:endParaRPr lang="en-IN" dirty="0"/>
          </a:p>
        </p:txBody>
      </p:sp>
    </p:spTree>
    <p:extLst>
      <p:ext uri="{BB962C8B-B14F-4D97-AF65-F5344CB8AC3E}">
        <p14:creationId xmlns:p14="http://schemas.microsoft.com/office/powerpoint/2010/main" val="2380631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289F8-71BD-280A-C6BC-D126767DA42F}"/>
              </a:ext>
            </a:extLst>
          </p:cNvPr>
          <p:cNvSpPr>
            <a:spLocks noGrp="1"/>
          </p:cNvSpPr>
          <p:nvPr>
            <p:ph type="title"/>
          </p:nvPr>
        </p:nvSpPr>
        <p:spPr/>
        <p:txBody>
          <a:bodyPr/>
          <a:lstStyle/>
          <a:p>
            <a:r>
              <a:rPr lang="en-US" dirty="0"/>
              <a:t>DATA PREPROCESSING</a:t>
            </a:r>
            <a:endParaRPr lang="en-IN" dirty="0"/>
          </a:p>
        </p:txBody>
      </p:sp>
      <p:sp>
        <p:nvSpPr>
          <p:cNvPr id="3" name="TextBox 2">
            <a:extLst>
              <a:ext uri="{FF2B5EF4-FFF2-40B4-BE49-F238E27FC236}">
                <a16:creationId xmlns:a16="http://schemas.microsoft.com/office/drawing/2014/main" id="{E799CF64-053C-6D21-9B62-621BF35961C1}"/>
              </a:ext>
            </a:extLst>
          </p:cNvPr>
          <p:cNvSpPr txBox="1"/>
          <p:nvPr/>
        </p:nvSpPr>
        <p:spPr>
          <a:xfrm>
            <a:off x="463625" y="1872761"/>
            <a:ext cx="11254154" cy="4377224"/>
          </a:xfrm>
          <a:prstGeom prst="rect">
            <a:avLst/>
          </a:prstGeom>
          <a:noFill/>
        </p:spPr>
        <p:txBody>
          <a:bodyPr wrap="square" rtlCol="0">
            <a:spAutoFit/>
          </a:bodyPr>
          <a:lstStyle/>
          <a:p>
            <a:pPr algn="ctr"/>
            <a:r>
              <a:rPr lang="en-US" sz="2400" dirty="0"/>
              <a:t>Before analysis, data cleaning and transformation were performed in </a:t>
            </a:r>
            <a:r>
              <a:rPr lang="en-US" sz="2400" b="1" dirty="0"/>
              <a:t>Power Query Editor</a:t>
            </a:r>
            <a:r>
              <a:rPr lang="en-US" sz="2400" dirty="0"/>
              <a:t>.</a:t>
            </a:r>
          </a:p>
          <a:p>
            <a:pPr algn="ctr"/>
            <a:endParaRPr lang="en-US" sz="2400" dirty="0"/>
          </a:p>
          <a:p>
            <a:pPr marL="457200" indent="-457200">
              <a:lnSpc>
                <a:spcPct val="150000"/>
              </a:lnSpc>
              <a:buAutoNum type="arabicPeriod"/>
            </a:pPr>
            <a:r>
              <a:rPr lang="en-US" sz="2000" b="1" dirty="0"/>
              <a:t>Removed unnecessary columns</a:t>
            </a:r>
          </a:p>
          <a:p>
            <a:pPr marL="457200" indent="-457200">
              <a:lnSpc>
                <a:spcPct val="150000"/>
              </a:lnSpc>
              <a:buAutoNum type="arabicPeriod"/>
            </a:pPr>
            <a:r>
              <a:rPr lang="en-US" sz="2000" b="1" dirty="0"/>
              <a:t>Handled missing values</a:t>
            </a:r>
          </a:p>
          <a:p>
            <a:pPr marL="457200" indent="-457200">
              <a:lnSpc>
                <a:spcPct val="150000"/>
              </a:lnSpc>
              <a:buAutoNum type="arabicPeriod"/>
            </a:pPr>
            <a:r>
              <a:rPr lang="en-US" sz="2000" b="1" dirty="0"/>
              <a:t>Removed duplicate records</a:t>
            </a:r>
          </a:p>
          <a:p>
            <a:pPr marL="457200" indent="-457200">
              <a:lnSpc>
                <a:spcPct val="150000"/>
              </a:lnSpc>
              <a:buAutoNum type="arabicPeriod"/>
            </a:pPr>
            <a:r>
              <a:rPr lang="en-US" sz="2000" b="1" dirty="0"/>
              <a:t>Corrected data types</a:t>
            </a:r>
          </a:p>
          <a:p>
            <a:pPr lvl="2">
              <a:lnSpc>
                <a:spcPct val="150000"/>
              </a:lnSpc>
            </a:pPr>
            <a:r>
              <a:rPr lang="en-US" sz="2000" dirty="0"/>
              <a:t>Date fields → Date format</a:t>
            </a:r>
          </a:p>
          <a:p>
            <a:pPr lvl="2">
              <a:lnSpc>
                <a:spcPct val="150000"/>
              </a:lnSpc>
            </a:pPr>
            <a:r>
              <a:rPr lang="en-US" sz="2000" dirty="0"/>
              <a:t>Numeric fields → Whole / Decimal numbers</a:t>
            </a:r>
          </a:p>
          <a:p>
            <a:pPr lvl="2">
              <a:lnSpc>
                <a:spcPct val="150000"/>
              </a:lnSpc>
            </a:pPr>
            <a:r>
              <a:rPr lang="en-US" sz="2000" dirty="0"/>
              <a:t>Categorical fields → Text</a:t>
            </a:r>
          </a:p>
        </p:txBody>
      </p:sp>
      <p:sp>
        <p:nvSpPr>
          <p:cNvPr id="5" name="TextBox 4">
            <a:extLst>
              <a:ext uri="{FF2B5EF4-FFF2-40B4-BE49-F238E27FC236}">
                <a16:creationId xmlns:a16="http://schemas.microsoft.com/office/drawing/2014/main" id="{7BC83CB1-A417-DD4B-03BA-BD2635AD3497}"/>
              </a:ext>
            </a:extLst>
          </p:cNvPr>
          <p:cNvSpPr txBox="1"/>
          <p:nvPr/>
        </p:nvSpPr>
        <p:spPr>
          <a:xfrm>
            <a:off x="7040302" y="2984911"/>
            <a:ext cx="4349186" cy="2346412"/>
          </a:xfrm>
          <a:prstGeom prst="rect">
            <a:avLst/>
          </a:prstGeom>
          <a:noFill/>
        </p:spPr>
        <p:txBody>
          <a:bodyPr wrap="square">
            <a:spAutoFit/>
          </a:bodyPr>
          <a:lstStyle/>
          <a:p>
            <a:pPr>
              <a:lnSpc>
                <a:spcPct val="150000"/>
              </a:lnSpc>
            </a:pPr>
            <a:r>
              <a:rPr lang="en-US" sz="2000" b="1" dirty="0"/>
              <a:t>5. Standardized categorical values</a:t>
            </a:r>
          </a:p>
          <a:p>
            <a:pPr>
              <a:lnSpc>
                <a:spcPct val="150000"/>
              </a:lnSpc>
            </a:pPr>
            <a:r>
              <a:rPr lang="en-US" sz="2000" dirty="0"/>
              <a:t>Ensured consistency across fields like:</a:t>
            </a:r>
          </a:p>
          <a:p>
            <a:pPr marL="342900" indent="-342900">
              <a:lnSpc>
                <a:spcPct val="150000"/>
              </a:lnSpc>
              <a:buFont typeface="Arial" panose="020B0604020202020204" pitchFamily="34" charset="0"/>
              <a:buChar char="•"/>
            </a:pPr>
            <a:r>
              <a:rPr lang="en-US" sz="2000" dirty="0"/>
              <a:t>Market Segment</a:t>
            </a:r>
          </a:p>
          <a:p>
            <a:pPr marL="342900" indent="-342900">
              <a:lnSpc>
                <a:spcPct val="150000"/>
              </a:lnSpc>
              <a:buFont typeface="Arial" panose="020B0604020202020204" pitchFamily="34" charset="0"/>
              <a:buChar char="•"/>
            </a:pPr>
            <a:r>
              <a:rPr lang="en-US" sz="2000" dirty="0"/>
              <a:t>Distribution Channel</a:t>
            </a:r>
          </a:p>
          <a:p>
            <a:pPr marL="342900" indent="-342900">
              <a:lnSpc>
                <a:spcPct val="150000"/>
              </a:lnSpc>
              <a:buFont typeface="Arial" panose="020B0604020202020204" pitchFamily="34" charset="0"/>
              <a:buChar char="•"/>
            </a:pPr>
            <a:r>
              <a:rPr lang="en-US" sz="2000" dirty="0"/>
              <a:t>Customer Type</a:t>
            </a:r>
          </a:p>
        </p:txBody>
      </p:sp>
      <p:cxnSp>
        <p:nvCxnSpPr>
          <p:cNvPr id="7" name="Straight Connector 6">
            <a:extLst>
              <a:ext uri="{FF2B5EF4-FFF2-40B4-BE49-F238E27FC236}">
                <a16:creationId xmlns:a16="http://schemas.microsoft.com/office/drawing/2014/main" id="{02DD872E-1F59-1F29-66D2-9C63BA53AE23}"/>
              </a:ext>
            </a:extLst>
          </p:cNvPr>
          <p:cNvCxnSpPr>
            <a:cxnSpLocks/>
          </p:cNvCxnSpPr>
          <p:nvPr/>
        </p:nvCxnSpPr>
        <p:spPr>
          <a:xfrm>
            <a:off x="6447099" y="2984911"/>
            <a:ext cx="0" cy="34043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107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61FFB-DA2D-6B76-7DB7-0E8498D12496}"/>
              </a:ext>
            </a:extLst>
          </p:cNvPr>
          <p:cNvSpPr>
            <a:spLocks noGrp="1"/>
          </p:cNvSpPr>
          <p:nvPr>
            <p:ph type="title"/>
          </p:nvPr>
        </p:nvSpPr>
        <p:spPr/>
        <p:txBody>
          <a:bodyPr/>
          <a:lstStyle/>
          <a:p>
            <a:r>
              <a:rPr lang="en-US" dirty="0"/>
              <a:t>DATA MODELING</a:t>
            </a:r>
            <a:endParaRPr lang="en-IN" dirty="0"/>
          </a:p>
        </p:txBody>
      </p:sp>
      <p:sp>
        <p:nvSpPr>
          <p:cNvPr id="3" name="TextBox 2">
            <a:extLst>
              <a:ext uri="{FF2B5EF4-FFF2-40B4-BE49-F238E27FC236}">
                <a16:creationId xmlns:a16="http://schemas.microsoft.com/office/drawing/2014/main" id="{F62B742B-473D-5316-9E82-FB9694C788CF}"/>
              </a:ext>
            </a:extLst>
          </p:cNvPr>
          <p:cNvSpPr txBox="1"/>
          <p:nvPr/>
        </p:nvSpPr>
        <p:spPr>
          <a:xfrm>
            <a:off x="512150" y="2426678"/>
            <a:ext cx="11157103" cy="3477875"/>
          </a:xfrm>
          <a:prstGeom prst="rect">
            <a:avLst/>
          </a:prstGeom>
          <a:noFill/>
        </p:spPr>
        <p:txBody>
          <a:bodyPr wrap="square" rtlCol="0">
            <a:spAutoFit/>
          </a:bodyPr>
          <a:lstStyle/>
          <a:p>
            <a:pPr algn="ctr"/>
            <a:r>
              <a:rPr lang="en-US" sz="2000" dirty="0"/>
              <a:t>To enrich the dataset, new calculated columns were created:</a:t>
            </a:r>
          </a:p>
          <a:p>
            <a:endParaRPr lang="en-US" sz="2000" dirty="0"/>
          </a:p>
          <a:p>
            <a:r>
              <a:rPr lang="en-US" sz="2000" b="1" dirty="0"/>
              <a:t>🔹 Total Stay</a:t>
            </a:r>
          </a:p>
          <a:p>
            <a:r>
              <a:rPr lang="en-US" sz="2000" dirty="0"/>
              <a:t>Total Stay = Weekend Nights + Weekday Nights</a:t>
            </a:r>
          </a:p>
          <a:p>
            <a:endParaRPr lang="en-IN" sz="2000" dirty="0"/>
          </a:p>
          <a:p>
            <a:r>
              <a:rPr lang="en-US" sz="2000" b="1" dirty="0"/>
              <a:t>🔹 Total Guests</a:t>
            </a:r>
          </a:p>
          <a:p>
            <a:r>
              <a:rPr lang="en-US" sz="2000" dirty="0"/>
              <a:t>Total Guests = Adults + Children + Babies</a:t>
            </a:r>
          </a:p>
          <a:p>
            <a:endParaRPr lang="en-IN" sz="2000" dirty="0"/>
          </a:p>
          <a:p>
            <a:r>
              <a:rPr lang="en-IN" sz="2000" b="1" dirty="0"/>
              <a:t>🔹 Revenue</a:t>
            </a:r>
          </a:p>
          <a:p>
            <a:r>
              <a:rPr lang="en-IN" sz="2000" dirty="0"/>
              <a:t>Revenue = ADR × Total Stay</a:t>
            </a:r>
          </a:p>
          <a:p>
            <a:endParaRPr lang="en-IN" sz="2000" dirty="0"/>
          </a:p>
        </p:txBody>
      </p:sp>
    </p:spTree>
    <p:extLst>
      <p:ext uri="{BB962C8B-B14F-4D97-AF65-F5344CB8AC3E}">
        <p14:creationId xmlns:p14="http://schemas.microsoft.com/office/powerpoint/2010/main" val="970838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530DF-3A75-84B2-5F42-9BBED29DDA37}"/>
              </a:ext>
            </a:extLst>
          </p:cNvPr>
          <p:cNvSpPr>
            <a:spLocks noGrp="1"/>
          </p:cNvSpPr>
          <p:nvPr>
            <p:ph type="title"/>
          </p:nvPr>
        </p:nvSpPr>
        <p:spPr/>
        <p:txBody>
          <a:bodyPr/>
          <a:lstStyle/>
          <a:p>
            <a:r>
              <a:rPr lang="en-US" dirty="0"/>
              <a:t>DAX METRICS </a:t>
            </a:r>
            <a:endParaRPr lang="en-IN" dirty="0"/>
          </a:p>
        </p:txBody>
      </p:sp>
      <p:sp>
        <p:nvSpPr>
          <p:cNvPr id="3" name="TextBox 2">
            <a:extLst>
              <a:ext uri="{FF2B5EF4-FFF2-40B4-BE49-F238E27FC236}">
                <a16:creationId xmlns:a16="http://schemas.microsoft.com/office/drawing/2014/main" id="{0C0FF722-4912-E859-259B-A7848A83BA66}"/>
              </a:ext>
            </a:extLst>
          </p:cNvPr>
          <p:cNvSpPr txBox="1"/>
          <p:nvPr/>
        </p:nvSpPr>
        <p:spPr>
          <a:xfrm>
            <a:off x="575892" y="2206869"/>
            <a:ext cx="11029615" cy="369332"/>
          </a:xfrm>
          <a:prstGeom prst="rect">
            <a:avLst/>
          </a:prstGeom>
          <a:noFill/>
        </p:spPr>
        <p:txBody>
          <a:bodyPr wrap="square" rtlCol="0">
            <a:spAutoFit/>
          </a:bodyPr>
          <a:lstStyle/>
          <a:p>
            <a:pPr algn="ctr"/>
            <a:r>
              <a:rPr lang="en-US" dirty="0"/>
              <a:t>After data modeling, DAX was used to create reusable business KPIs.</a:t>
            </a:r>
          </a:p>
        </p:txBody>
      </p:sp>
      <p:sp>
        <p:nvSpPr>
          <p:cNvPr id="4" name="TextBox 3">
            <a:extLst>
              <a:ext uri="{FF2B5EF4-FFF2-40B4-BE49-F238E27FC236}">
                <a16:creationId xmlns:a16="http://schemas.microsoft.com/office/drawing/2014/main" id="{ECC6F9EF-1868-EC36-A5B1-E8257AECF320}"/>
              </a:ext>
            </a:extLst>
          </p:cNvPr>
          <p:cNvSpPr txBox="1"/>
          <p:nvPr/>
        </p:nvSpPr>
        <p:spPr>
          <a:xfrm>
            <a:off x="551252" y="2645499"/>
            <a:ext cx="5376793" cy="3970318"/>
          </a:xfrm>
          <a:prstGeom prst="rect">
            <a:avLst/>
          </a:prstGeom>
          <a:noFill/>
        </p:spPr>
        <p:txBody>
          <a:bodyPr wrap="none" rtlCol="0">
            <a:spAutoFit/>
          </a:bodyPr>
          <a:lstStyle/>
          <a:p>
            <a:r>
              <a:rPr lang="en-US" b="1" dirty="0"/>
              <a:t>🔹 1. Average ADR</a:t>
            </a:r>
          </a:p>
          <a:p>
            <a:r>
              <a:rPr lang="en-US" dirty="0"/>
              <a:t>Average ADR = AVERAGE(</a:t>
            </a:r>
            <a:r>
              <a:rPr lang="en-US" dirty="0" err="1"/>
              <a:t>hotel_booking_main</a:t>
            </a:r>
            <a:r>
              <a:rPr lang="en-US" dirty="0"/>
              <a:t>[</a:t>
            </a:r>
            <a:r>
              <a:rPr lang="en-US" dirty="0" err="1"/>
              <a:t>adr</a:t>
            </a:r>
            <a:r>
              <a:rPr lang="en-US" dirty="0"/>
              <a:t>])</a:t>
            </a:r>
          </a:p>
          <a:p>
            <a:r>
              <a:rPr lang="en-US" dirty="0"/>
              <a:t>Used to understand pricing trends.</a:t>
            </a:r>
            <a:br>
              <a:rPr lang="en-US" dirty="0"/>
            </a:br>
            <a:endParaRPr lang="en-US" dirty="0"/>
          </a:p>
          <a:p>
            <a:r>
              <a:rPr lang="en-US" b="1" dirty="0"/>
              <a:t>🔹 2. Total Bookings</a:t>
            </a:r>
          </a:p>
          <a:p>
            <a:r>
              <a:rPr lang="en-US" dirty="0"/>
              <a:t>Total Bookings = COUNTROWS(</a:t>
            </a:r>
            <a:r>
              <a:rPr lang="en-US" dirty="0" err="1"/>
              <a:t>hotel_booking_main</a:t>
            </a:r>
            <a:r>
              <a:rPr lang="en-US" dirty="0"/>
              <a:t>)</a:t>
            </a:r>
          </a:p>
          <a:p>
            <a:r>
              <a:rPr lang="en-US" dirty="0"/>
              <a:t>Core business metric.</a:t>
            </a:r>
            <a:br>
              <a:rPr lang="en-US" dirty="0"/>
            </a:br>
            <a:endParaRPr lang="en-US" dirty="0"/>
          </a:p>
          <a:p>
            <a:r>
              <a:rPr lang="en-US" b="1" dirty="0"/>
              <a:t>🔹 3. Total Cancellations</a:t>
            </a:r>
          </a:p>
          <a:p>
            <a:r>
              <a:rPr lang="en-US" dirty="0"/>
              <a:t>Total Cancellations =</a:t>
            </a:r>
            <a:br>
              <a:rPr lang="en-US" dirty="0"/>
            </a:br>
            <a:r>
              <a:rPr lang="en-US" dirty="0"/>
              <a:t>CALCULATE(</a:t>
            </a:r>
            <a:br>
              <a:rPr lang="en-US" dirty="0"/>
            </a:br>
            <a:r>
              <a:rPr lang="en-US" dirty="0"/>
              <a:t>    COUNTROWS(</a:t>
            </a:r>
            <a:r>
              <a:rPr lang="en-US" dirty="0" err="1"/>
              <a:t>hotel_booking_main</a:t>
            </a:r>
            <a:r>
              <a:rPr lang="en-US" dirty="0"/>
              <a:t>),</a:t>
            </a:r>
            <a:br>
              <a:rPr lang="en-US" dirty="0"/>
            </a:br>
            <a:r>
              <a:rPr lang="en-US" dirty="0"/>
              <a:t>    </a:t>
            </a:r>
            <a:r>
              <a:rPr lang="en-US" dirty="0" err="1"/>
              <a:t>hotel_booking_main</a:t>
            </a:r>
            <a:r>
              <a:rPr lang="en-US" dirty="0"/>
              <a:t>[</a:t>
            </a:r>
            <a:r>
              <a:rPr lang="en-US" dirty="0" err="1"/>
              <a:t>is_canceled</a:t>
            </a:r>
            <a:r>
              <a:rPr lang="en-US" dirty="0"/>
              <a:t>] = 1</a:t>
            </a:r>
            <a:br>
              <a:rPr lang="en-US" dirty="0"/>
            </a:br>
            <a:r>
              <a:rPr lang="en-US" dirty="0"/>
              <a:t>)</a:t>
            </a:r>
          </a:p>
        </p:txBody>
      </p:sp>
      <p:sp>
        <p:nvSpPr>
          <p:cNvPr id="5" name="TextBox 4">
            <a:extLst>
              <a:ext uri="{FF2B5EF4-FFF2-40B4-BE49-F238E27FC236}">
                <a16:creationId xmlns:a16="http://schemas.microsoft.com/office/drawing/2014/main" id="{5B7B921F-A5B0-630B-91F7-ACDB19AE09C7}"/>
              </a:ext>
            </a:extLst>
          </p:cNvPr>
          <p:cNvSpPr txBox="1"/>
          <p:nvPr/>
        </p:nvSpPr>
        <p:spPr>
          <a:xfrm>
            <a:off x="6090699" y="2702095"/>
            <a:ext cx="4890893" cy="1754326"/>
          </a:xfrm>
          <a:prstGeom prst="rect">
            <a:avLst/>
          </a:prstGeom>
          <a:noFill/>
        </p:spPr>
        <p:txBody>
          <a:bodyPr wrap="square" rtlCol="0">
            <a:spAutoFit/>
          </a:bodyPr>
          <a:lstStyle/>
          <a:p>
            <a:r>
              <a:rPr lang="en-US" b="1" dirty="0"/>
              <a:t>🔹 4. Total Confirmed</a:t>
            </a:r>
          </a:p>
          <a:p>
            <a:r>
              <a:rPr lang="en-US" dirty="0"/>
              <a:t>Total Confirmed =</a:t>
            </a:r>
            <a:br>
              <a:rPr lang="en-US" dirty="0"/>
            </a:br>
            <a:r>
              <a:rPr lang="en-US" dirty="0"/>
              <a:t>CALCULATE(</a:t>
            </a:r>
            <a:br>
              <a:rPr lang="en-US" dirty="0"/>
            </a:br>
            <a:r>
              <a:rPr lang="en-US" dirty="0"/>
              <a:t>    COUNTROWS(</a:t>
            </a:r>
            <a:r>
              <a:rPr lang="en-US" dirty="0" err="1"/>
              <a:t>hotel_booking_main</a:t>
            </a:r>
            <a:r>
              <a:rPr lang="en-US" dirty="0"/>
              <a:t>),</a:t>
            </a:r>
            <a:br>
              <a:rPr lang="en-US" dirty="0"/>
            </a:br>
            <a:r>
              <a:rPr lang="en-US" dirty="0"/>
              <a:t>    </a:t>
            </a:r>
            <a:r>
              <a:rPr lang="en-US" dirty="0" err="1"/>
              <a:t>hotel_booking_main</a:t>
            </a:r>
            <a:r>
              <a:rPr lang="en-US" dirty="0"/>
              <a:t>[</a:t>
            </a:r>
            <a:r>
              <a:rPr lang="en-US" dirty="0" err="1"/>
              <a:t>is_canceled</a:t>
            </a:r>
            <a:r>
              <a:rPr lang="en-US" dirty="0"/>
              <a:t>] = 0</a:t>
            </a:r>
            <a:br>
              <a:rPr lang="en-US" dirty="0"/>
            </a:br>
            <a:r>
              <a:rPr lang="en-US" dirty="0"/>
              <a:t>)</a:t>
            </a:r>
          </a:p>
        </p:txBody>
      </p:sp>
      <p:cxnSp>
        <p:nvCxnSpPr>
          <p:cNvPr id="7" name="Straight Connector 6">
            <a:extLst>
              <a:ext uri="{FF2B5EF4-FFF2-40B4-BE49-F238E27FC236}">
                <a16:creationId xmlns:a16="http://schemas.microsoft.com/office/drawing/2014/main" id="{97178C71-97CC-55FC-FCDD-B09DD51DE22D}"/>
              </a:ext>
            </a:extLst>
          </p:cNvPr>
          <p:cNvCxnSpPr>
            <a:cxnSpLocks/>
          </p:cNvCxnSpPr>
          <p:nvPr/>
        </p:nvCxnSpPr>
        <p:spPr>
          <a:xfrm>
            <a:off x="5952685" y="2702487"/>
            <a:ext cx="0" cy="387360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77580D9-6895-BFB4-2FBC-0CA0FE7059A7}"/>
              </a:ext>
            </a:extLst>
          </p:cNvPr>
          <p:cNvCxnSpPr>
            <a:cxnSpLocks/>
          </p:cNvCxnSpPr>
          <p:nvPr/>
        </p:nvCxnSpPr>
        <p:spPr>
          <a:xfrm>
            <a:off x="413238" y="3736174"/>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E8C9C6C-77E3-A6E8-87B8-F7A4757FB2F0}"/>
              </a:ext>
            </a:extLst>
          </p:cNvPr>
          <p:cNvCxnSpPr>
            <a:cxnSpLocks/>
          </p:cNvCxnSpPr>
          <p:nvPr/>
        </p:nvCxnSpPr>
        <p:spPr>
          <a:xfrm>
            <a:off x="413238" y="4829351"/>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32E49FB-1503-BF34-34DB-6DD50FEAD590}"/>
              </a:ext>
            </a:extLst>
          </p:cNvPr>
          <p:cNvCxnSpPr>
            <a:cxnSpLocks/>
          </p:cNvCxnSpPr>
          <p:nvPr/>
        </p:nvCxnSpPr>
        <p:spPr>
          <a:xfrm>
            <a:off x="413238" y="2702096"/>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185AE4-569C-6DD2-E2EB-D1090E40D625}"/>
              </a:ext>
            </a:extLst>
          </p:cNvPr>
          <p:cNvCxnSpPr>
            <a:cxnSpLocks/>
          </p:cNvCxnSpPr>
          <p:nvPr/>
        </p:nvCxnSpPr>
        <p:spPr>
          <a:xfrm>
            <a:off x="413238" y="2702096"/>
            <a:ext cx="0" cy="387360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2522E3C-CC05-CEFF-C072-A974F75B6F4B}"/>
              </a:ext>
            </a:extLst>
          </p:cNvPr>
          <p:cNvCxnSpPr>
            <a:cxnSpLocks/>
          </p:cNvCxnSpPr>
          <p:nvPr/>
        </p:nvCxnSpPr>
        <p:spPr>
          <a:xfrm>
            <a:off x="5952685" y="2702096"/>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D8EB071-3935-8565-7458-60EE0B01DB41}"/>
              </a:ext>
            </a:extLst>
          </p:cNvPr>
          <p:cNvCxnSpPr>
            <a:cxnSpLocks/>
          </p:cNvCxnSpPr>
          <p:nvPr/>
        </p:nvCxnSpPr>
        <p:spPr>
          <a:xfrm>
            <a:off x="5952684" y="4457534"/>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E782AAD-FC14-13A5-9D13-B2C29AC5D270}"/>
              </a:ext>
            </a:extLst>
          </p:cNvPr>
          <p:cNvCxnSpPr>
            <a:cxnSpLocks/>
          </p:cNvCxnSpPr>
          <p:nvPr/>
        </p:nvCxnSpPr>
        <p:spPr>
          <a:xfrm>
            <a:off x="11492131" y="2702095"/>
            <a:ext cx="0" cy="3873603"/>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01B784D-AEEC-1349-9EF5-CC4A09218EC5}"/>
              </a:ext>
            </a:extLst>
          </p:cNvPr>
          <p:cNvSpPr txBox="1"/>
          <p:nvPr/>
        </p:nvSpPr>
        <p:spPr>
          <a:xfrm>
            <a:off x="6115338" y="4499840"/>
            <a:ext cx="4890893" cy="2031325"/>
          </a:xfrm>
          <a:prstGeom prst="rect">
            <a:avLst/>
          </a:prstGeom>
          <a:noFill/>
        </p:spPr>
        <p:txBody>
          <a:bodyPr wrap="square" rtlCol="0">
            <a:spAutoFit/>
          </a:bodyPr>
          <a:lstStyle/>
          <a:p>
            <a:r>
              <a:rPr lang="en-US" b="1" dirty="0"/>
              <a:t>🔹 5. Cancellation Rate %</a:t>
            </a:r>
          </a:p>
          <a:p>
            <a:r>
              <a:rPr lang="en-US" dirty="0"/>
              <a:t>Cancellation Rate % =</a:t>
            </a:r>
            <a:br>
              <a:rPr lang="en-US" dirty="0"/>
            </a:br>
            <a:r>
              <a:rPr lang="en-US" dirty="0"/>
              <a:t>DIVIDE(</a:t>
            </a:r>
            <a:br>
              <a:rPr lang="en-US" dirty="0"/>
            </a:br>
            <a:r>
              <a:rPr lang="en-US" dirty="0"/>
              <a:t>    [Total Cancellations],</a:t>
            </a:r>
            <a:br>
              <a:rPr lang="en-US" dirty="0"/>
            </a:br>
            <a:r>
              <a:rPr lang="en-US" dirty="0"/>
              <a:t>    [Total Bookings],</a:t>
            </a:r>
            <a:br>
              <a:rPr lang="en-US" dirty="0"/>
            </a:br>
            <a:r>
              <a:rPr lang="en-US" dirty="0"/>
              <a:t>    0</a:t>
            </a:r>
            <a:br>
              <a:rPr lang="en-US" dirty="0"/>
            </a:br>
            <a:r>
              <a:rPr lang="en-US" dirty="0"/>
              <a:t>)</a:t>
            </a:r>
          </a:p>
        </p:txBody>
      </p:sp>
      <p:cxnSp>
        <p:nvCxnSpPr>
          <p:cNvPr id="20" name="Straight Connector 19">
            <a:extLst>
              <a:ext uri="{FF2B5EF4-FFF2-40B4-BE49-F238E27FC236}">
                <a16:creationId xmlns:a16="http://schemas.microsoft.com/office/drawing/2014/main" id="{46539F59-1C79-3D34-E7ED-1F53A9B0EE5C}"/>
              </a:ext>
            </a:extLst>
          </p:cNvPr>
          <p:cNvCxnSpPr>
            <a:cxnSpLocks/>
          </p:cNvCxnSpPr>
          <p:nvPr/>
        </p:nvCxnSpPr>
        <p:spPr>
          <a:xfrm>
            <a:off x="5952684" y="6575698"/>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D6AAE21-0065-BBBE-4C01-D1F6E6F651C4}"/>
              </a:ext>
            </a:extLst>
          </p:cNvPr>
          <p:cNvCxnSpPr>
            <a:cxnSpLocks/>
          </p:cNvCxnSpPr>
          <p:nvPr/>
        </p:nvCxnSpPr>
        <p:spPr>
          <a:xfrm>
            <a:off x="413237" y="6575698"/>
            <a:ext cx="553944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0447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AE6D5-A2B0-25EE-99DE-D9B8E2538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BA04E-C1AF-572A-AF30-B54B02B0EA95}"/>
              </a:ext>
            </a:extLst>
          </p:cNvPr>
          <p:cNvSpPr>
            <a:spLocks noGrp="1"/>
          </p:cNvSpPr>
          <p:nvPr>
            <p:ph type="title"/>
          </p:nvPr>
        </p:nvSpPr>
        <p:spPr/>
        <p:txBody>
          <a:bodyPr/>
          <a:lstStyle/>
          <a:p>
            <a:r>
              <a:rPr lang="en-US" dirty="0"/>
              <a:t>DAX METRICS </a:t>
            </a:r>
            <a:endParaRPr lang="en-IN" dirty="0"/>
          </a:p>
        </p:txBody>
      </p:sp>
      <p:sp>
        <p:nvSpPr>
          <p:cNvPr id="3" name="TextBox 2">
            <a:extLst>
              <a:ext uri="{FF2B5EF4-FFF2-40B4-BE49-F238E27FC236}">
                <a16:creationId xmlns:a16="http://schemas.microsoft.com/office/drawing/2014/main" id="{14896B76-229D-58AC-1868-686E20245B1C}"/>
              </a:ext>
            </a:extLst>
          </p:cNvPr>
          <p:cNvSpPr txBox="1"/>
          <p:nvPr/>
        </p:nvSpPr>
        <p:spPr>
          <a:xfrm>
            <a:off x="575892" y="2206869"/>
            <a:ext cx="11029615" cy="369332"/>
          </a:xfrm>
          <a:prstGeom prst="rect">
            <a:avLst/>
          </a:prstGeom>
          <a:noFill/>
        </p:spPr>
        <p:txBody>
          <a:bodyPr wrap="square" rtlCol="0">
            <a:spAutoFit/>
          </a:bodyPr>
          <a:lstStyle/>
          <a:p>
            <a:pPr algn="ctr"/>
            <a:r>
              <a:rPr lang="en-US" dirty="0"/>
              <a:t>After data modeling, DAX was used to create reusable business KPIs.</a:t>
            </a:r>
          </a:p>
        </p:txBody>
      </p:sp>
      <p:sp>
        <p:nvSpPr>
          <p:cNvPr id="4" name="TextBox 3">
            <a:extLst>
              <a:ext uri="{FF2B5EF4-FFF2-40B4-BE49-F238E27FC236}">
                <a16:creationId xmlns:a16="http://schemas.microsoft.com/office/drawing/2014/main" id="{871A62BC-C994-B5B9-C4EA-EEBCA42DEA56}"/>
              </a:ext>
            </a:extLst>
          </p:cNvPr>
          <p:cNvSpPr txBox="1"/>
          <p:nvPr/>
        </p:nvSpPr>
        <p:spPr>
          <a:xfrm>
            <a:off x="575892" y="2806567"/>
            <a:ext cx="5004268" cy="4247317"/>
          </a:xfrm>
          <a:prstGeom prst="rect">
            <a:avLst/>
          </a:prstGeom>
          <a:noFill/>
        </p:spPr>
        <p:txBody>
          <a:bodyPr wrap="square" rtlCol="0">
            <a:spAutoFit/>
          </a:bodyPr>
          <a:lstStyle/>
          <a:p>
            <a:r>
              <a:rPr lang="en-US" b="1" dirty="0"/>
              <a:t>🔹 6. Total Guests</a:t>
            </a:r>
          </a:p>
          <a:p>
            <a:r>
              <a:rPr lang="en-US" dirty="0"/>
              <a:t>Total Guests =</a:t>
            </a:r>
            <a:br>
              <a:rPr lang="en-US" dirty="0"/>
            </a:br>
            <a:r>
              <a:rPr lang="en-US" dirty="0"/>
              <a:t>SUM(adults) + SUM(children) + SUM(babies)</a:t>
            </a:r>
            <a:br>
              <a:rPr lang="en-US" dirty="0"/>
            </a:br>
            <a:endParaRPr lang="en-US" b="1" dirty="0"/>
          </a:p>
          <a:p>
            <a:endParaRPr lang="en-US" b="1" dirty="0"/>
          </a:p>
          <a:p>
            <a:r>
              <a:rPr lang="en-US" b="1" dirty="0"/>
              <a:t>🔹 7. Total Revenue</a:t>
            </a:r>
            <a:endParaRPr lang="en-IN" dirty="0"/>
          </a:p>
          <a:p>
            <a:r>
              <a:rPr lang="en-US" dirty="0"/>
              <a:t>Total Revenue =</a:t>
            </a:r>
            <a:br>
              <a:rPr lang="en-US" dirty="0"/>
            </a:br>
            <a:r>
              <a:rPr lang="en-US" dirty="0"/>
              <a:t>SUMX(</a:t>
            </a:r>
            <a:br>
              <a:rPr lang="en-US" dirty="0"/>
            </a:br>
            <a:r>
              <a:rPr lang="en-US" dirty="0"/>
              <a:t>    </a:t>
            </a:r>
            <a:r>
              <a:rPr lang="en-US" dirty="0" err="1"/>
              <a:t>hotel_booking_main</a:t>
            </a:r>
            <a:r>
              <a:rPr lang="en-US" dirty="0"/>
              <a:t>,</a:t>
            </a:r>
            <a:br>
              <a:rPr lang="en-US" dirty="0"/>
            </a:br>
            <a:r>
              <a:rPr lang="en-US" dirty="0"/>
              <a:t>    </a:t>
            </a:r>
            <a:r>
              <a:rPr lang="en-US" dirty="0" err="1"/>
              <a:t>hotel_booking_main</a:t>
            </a:r>
            <a:r>
              <a:rPr lang="en-US" dirty="0"/>
              <a:t>[</a:t>
            </a:r>
            <a:r>
              <a:rPr lang="en-US" dirty="0" err="1"/>
              <a:t>adr</a:t>
            </a:r>
            <a:r>
              <a:rPr lang="en-US" dirty="0"/>
              <a:t>] *</a:t>
            </a:r>
            <a:br>
              <a:rPr lang="en-US" dirty="0"/>
            </a:br>
            <a:r>
              <a:rPr lang="en-US" dirty="0"/>
              <a:t>    (</a:t>
            </a:r>
            <a:r>
              <a:rPr lang="en-US" dirty="0" err="1"/>
              <a:t>stays_in_week_nights</a:t>
            </a:r>
            <a:r>
              <a:rPr lang="en-US" dirty="0"/>
              <a:t> + </a:t>
            </a:r>
            <a:r>
              <a:rPr lang="en-US" dirty="0" err="1"/>
              <a:t>stays_in_weekend_nights</a:t>
            </a:r>
            <a:r>
              <a:rPr lang="en-US" dirty="0"/>
              <a:t>)</a:t>
            </a:r>
            <a:br>
              <a:rPr lang="en-US" dirty="0"/>
            </a:br>
            <a:r>
              <a:rPr lang="en-US" dirty="0"/>
              <a:t>)</a:t>
            </a:r>
            <a:endParaRPr lang="en-IN" dirty="0"/>
          </a:p>
          <a:p>
            <a:br>
              <a:rPr lang="en-US" dirty="0"/>
            </a:br>
            <a:endParaRPr lang="en-US" dirty="0"/>
          </a:p>
        </p:txBody>
      </p:sp>
      <p:sp>
        <p:nvSpPr>
          <p:cNvPr id="5" name="TextBox 4">
            <a:extLst>
              <a:ext uri="{FF2B5EF4-FFF2-40B4-BE49-F238E27FC236}">
                <a16:creationId xmlns:a16="http://schemas.microsoft.com/office/drawing/2014/main" id="{408741D4-1864-1892-F739-5384F7C0635F}"/>
              </a:ext>
            </a:extLst>
          </p:cNvPr>
          <p:cNvSpPr txBox="1"/>
          <p:nvPr/>
        </p:nvSpPr>
        <p:spPr>
          <a:xfrm>
            <a:off x="6090699" y="2806175"/>
            <a:ext cx="5004269" cy="3139321"/>
          </a:xfrm>
          <a:prstGeom prst="rect">
            <a:avLst/>
          </a:prstGeom>
          <a:noFill/>
        </p:spPr>
        <p:txBody>
          <a:bodyPr wrap="square" rtlCol="0">
            <a:spAutoFit/>
          </a:bodyPr>
          <a:lstStyle/>
          <a:p>
            <a:r>
              <a:rPr lang="en-US" b="1" dirty="0"/>
              <a:t>🔹 8. Total Nights</a:t>
            </a:r>
            <a:endParaRPr lang="en-IN" dirty="0"/>
          </a:p>
          <a:p>
            <a:r>
              <a:rPr lang="en-US" dirty="0"/>
              <a:t>Total Nights =</a:t>
            </a:r>
            <a:br>
              <a:rPr lang="en-US" dirty="0"/>
            </a:br>
            <a:r>
              <a:rPr lang="en-US" dirty="0"/>
              <a:t>SUM(</a:t>
            </a:r>
            <a:r>
              <a:rPr lang="en-US" dirty="0" err="1"/>
              <a:t>stays_in_week_nights</a:t>
            </a:r>
            <a:r>
              <a:rPr lang="en-US" dirty="0"/>
              <a:t>) +</a:t>
            </a:r>
            <a:br>
              <a:rPr lang="en-US" dirty="0"/>
            </a:br>
            <a:r>
              <a:rPr lang="en-US" dirty="0"/>
              <a:t>SUM(</a:t>
            </a:r>
            <a:r>
              <a:rPr lang="en-US" dirty="0" err="1"/>
              <a:t>stays_in_weekend_nights</a:t>
            </a:r>
            <a:r>
              <a:rPr lang="en-US" dirty="0"/>
              <a:t>)</a:t>
            </a:r>
          </a:p>
          <a:p>
            <a:endParaRPr lang="en-IN" dirty="0"/>
          </a:p>
          <a:p>
            <a:r>
              <a:rPr lang="en-US" b="1" dirty="0"/>
              <a:t>🔹 9. Revenue TY (Time Intelligence)</a:t>
            </a:r>
          </a:p>
          <a:p>
            <a:r>
              <a:rPr lang="en-US" dirty="0"/>
              <a:t>Revenue TY =</a:t>
            </a:r>
            <a:br>
              <a:rPr lang="en-US" dirty="0"/>
            </a:br>
            <a:r>
              <a:rPr lang="en-US" dirty="0"/>
              <a:t>CALCULATE(</a:t>
            </a:r>
            <a:br>
              <a:rPr lang="en-US" dirty="0"/>
            </a:br>
            <a:r>
              <a:rPr lang="en-US" dirty="0"/>
              <a:t>    [Total Revenue],</a:t>
            </a:r>
            <a:br>
              <a:rPr lang="en-US" dirty="0"/>
            </a:br>
            <a:r>
              <a:rPr lang="en-US" dirty="0"/>
              <a:t>    </a:t>
            </a:r>
            <a:r>
              <a:rPr lang="en-US" dirty="0" err="1"/>
              <a:t>DateTable</a:t>
            </a:r>
            <a:r>
              <a:rPr lang="en-US" dirty="0"/>
              <a:t>[Year] = YEAR(TODAY())</a:t>
            </a:r>
            <a:br>
              <a:rPr lang="en-US" dirty="0"/>
            </a:br>
            <a:r>
              <a:rPr lang="en-US" dirty="0"/>
              <a:t>)</a:t>
            </a:r>
          </a:p>
        </p:txBody>
      </p:sp>
      <p:cxnSp>
        <p:nvCxnSpPr>
          <p:cNvPr id="7" name="Straight Connector 6">
            <a:extLst>
              <a:ext uri="{FF2B5EF4-FFF2-40B4-BE49-F238E27FC236}">
                <a16:creationId xmlns:a16="http://schemas.microsoft.com/office/drawing/2014/main" id="{9DBF51CE-9FAE-15E2-686D-4647DF8AAEE9}"/>
              </a:ext>
            </a:extLst>
          </p:cNvPr>
          <p:cNvCxnSpPr>
            <a:cxnSpLocks/>
          </p:cNvCxnSpPr>
          <p:nvPr/>
        </p:nvCxnSpPr>
        <p:spPr>
          <a:xfrm>
            <a:off x="5969928" y="2806175"/>
            <a:ext cx="0" cy="387360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B6E6C99-AB01-59BC-09FB-980ECCE420C7}"/>
              </a:ext>
            </a:extLst>
          </p:cNvPr>
          <p:cNvCxnSpPr>
            <a:cxnSpLocks/>
          </p:cNvCxnSpPr>
          <p:nvPr/>
        </p:nvCxnSpPr>
        <p:spPr>
          <a:xfrm>
            <a:off x="413237" y="4096371"/>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AA03957-D5C6-4E0F-77DE-DBE66B94966B}"/>
              </a:ext>
            </a:extLst>
          </p:cNvPr>
          <p:cNvCxnSpPr>
            <a:cxnSpLocks/>
          </p:cNvCxnSpPr>
          <p:nvPr/>
        </p:nvCxnSpPr>
        <p:spPr>
          <a:xfrm>
            <a:off x="413238" y="2806176"/>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A3181D3-4A1D-5664-2C0C-728BD758A0D2}"/>
              </a:ext>
            </a:extLst>
          </p:cNvPr>
          <p:cNvCxnSpPr>
            <a:cxnSpLocks/>
          </p:cNvCxnSpPr>
          <p:nvPr/>
        </p:nvCxnSpPr>
        <p:spPr>
          <a:xfrm>
            <a:off x="413237" y="2805784"/>
            <a:ext cx="0" cy="38712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185A64-3843-2962-E761-EE516369EDD7}"/>
              </a:ext>
            </a:extLst>
          </p:cNvPr>
          <p:cNvCxnSpPr>
            <a:cxnSpLocks/>
          </p:cNvCxnSpPr>
          <p:nvPr/>
        </p:nvCxnSpPr>
        <p:spPr>
          <a:xfrm>
            <a:off x="5952685" y="2806176"/>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466B96-D778-342F-C092-222AD5796823}"/>
              </a:ext>
            </a:extLst>
          </p:cNvPr>
          <p:cNvCxnSpPr>
            <a:cxnSpLocks/>
          </p:cNvCxnSpPr>
          <p:nvPr/>
        </p:nvCxnSpPr>
        <p:spPr>
          <a:xfrm>
            <a:off x="5969928" y="4096371"/>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A77C1F-C09C-5D0C-D4C8-7883ECF401FE}"/>
              </a:ext>
            </a:extLst>
          </p:cNvPr>
          <p:cNvCxnSpPr>
            <a:cxnSpLocks/>
          </p:cNvCxnSpPr>
          <p:nvPr/>
        </p:nvCxnSpPr>
        <p:spPr>
          <a:xfrm>
            <a:off x="11492131" y="2806175"/>
            <a:ext cx="0" cy="3873603"/>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55BCD6-00B6-A934-9B6D-6FFC0AD44547}"/>
              </a:ext>
            </a:extLst>
          </p:cNvPr>
          <p:cNvCxnSpPr>
            <a:cxnSpLocks/>
          </p:cNvCxnSpPr>
          <p:nvPr/>
        </p:nvCxnSpPr>
        <p:spPr>
          <a:xfrm>
            <a:off x="413237" y="6677012"/>
            <a:ext cx="553944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F5A6FE-1D74-4F4C-53C1-2D55BB2170D7}"/>
              </a:ext>
            </a:extLst>
          </p:cNvPr>
          <p:cNvCxnSpPr>
            <a:cxnSpLocks/>
          </p:cNvCxnSpPr>
          <p:nvPr/>
        </p:nvCxnSpPr>
        <p:spPr>
          <a:xfrm>
            <a:off x="5952684" y="6677012"/>
            <a:ext cx="553944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1146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EFD98B23-1621-9019-D674-81179C19EF79}"/>
              </a:ext>
            </a:extLst>
          </p:cNvPr>
          <p:cNvSpPr/>
          <p:nvPr/>
        </p:nvSpPr>
        <p:spPr>
          <a:xfrm>
            <a:off x="4563797" y="6184111"/>
            <a:ext cx="7309552" cy="6048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D36A312-C8BA-A426-F3A5-62487485FD0E}"/>
              </a:ext>
            </a:extLst>
          </p:cNvPr>
          <p:cNvSpPr>
            <a:spLocks noGrp="1"/>
          </p:cNvSpPr>
          <p:nvPr>
            <p:ph type="title"/>
          </p:nvPr>
        </p:nvSpPr>
        <p:spPr/>
        <p:txBody>
          <a:bodyPr/>
          <a:lstStyle/>
          <a:p>
            <a:r>
              <a:rPr lang="en-US" dirty="0"/>
              <a:t>DASHBOARD 1 : REVENUE DASHBOARD</a:t>
            </a:r>
            <a:endParaRPr lang="en-IN" dirty="0"/>
          </a:p>
        </p:txBody>
      </p:sp>
      <p:sp>
        <p:nvSpPr>
          <p:cNvPr id="5" name="TextBox 4">
            <a:extLst>
              <a:ext uri="{FF2B5EF4-FFF2-40B4-BE49-F238E27FC236}">
                <a16:creationId xmlns:a16="http://schemas.microsoft.com/office/drawing/2014/main" id="{A0272D5A-F71A-A6BD-D6BD-C2F829E035CC}"/>
              </a:ext>
            </a:extLst>
          </p:cNvPr>
          <p:cNvSpPr txBox="1"/>
          <p:nvPr/>
        </p:nvSpPr>
        <p:spPr>
          <a:xfrm>
            <a:off x="150470" y="2025569"/>
            <a:ext cx="4471545" cy="4031873"/>
          </a:xfrm>
          <a:prstGeom prst="rect">
            <a:avLst/>
          </a:prstGeom>
          <a:noFill/>
        </p:spPr>
        <p:txBody>
          <a:bodyPr wrap="square" rtlCol="0">
            <a:spAutoFit/>
          </a:bodyPr>
          <a:lstStyle/>
          <a:p>
            <a:endParaRPr lang="en-US" sz="1600" b="1" dirty="0"/>
          </a:p>
          <a:p>
            <a:endParaRPr lang="en-US" sz="1600" b="1" dirty="0"/>
          </a:p>
          <a:p>
            <a:r>
              <a:rPr lang="en-US" sz="1600" b="1" dirty="0"/>
              <a:t>Key KPIs Displayed:</a:t>
            </a:r>
          </a:p>
          <a:p>
            <a:r>
              <a:rPr lang="en-US" sz="1600" dirty="0"/>
              <a:t>Total Bookings</a:t>
            </a:r>
          </a:p>
          <a:p>
            <a:r>
              <a:rPr lang="en-US" sz="1600" dirty="0"/>
              <a:t>Total Revenue</a:t>
            </a:r>
          </a:p>
          <a:p>
            <a:r>
              <a:rPr lang="en-US" sz="1600" dirty="0"/>
              <a:t>Total Cancellations</a:t>
            </a:r>
          </a:p>
          <a:p>
            <a:r>
              <a:rPr lang="en-US" sz="1600" dirty="0"/>
              <a:t>Cancellation Rate</a:t>
            </a:r>
          </a:p>
          <a:p>
            <a:r>
              <a:rPr lang="en-US" sz="1600" dirty="0"/>
              <a:t>Total Guests</a:t>
            </a:r>
          </a:p>
          <a:p>
            <a:endParaRPr lang="en-US" sz="1600" dirty="0"/>
          </a:p>
          <a:p>
            <a:r>
              <a:rPr lang="en-US" sz="1600" b="1" dirty="0"/>
              <a:t>Insights Enabled:</a:t>
            </a:r>
          </a:p>
          <a:p>
            <a:r>
              <a:rPr lang="en-US" sz="1600" dirty="0"/>
              <a:t>Revenue by market segment</a:t>
            </a:r>
          </a:p>
          <a:p>
            <a:r>
              <a:rPr lang="en-US" sz="1600" dirty="0"/>
              <a:t>Year-wise revenue trend</a:t>
            </a:r>
          </a:p>
          <a:p>
            <a:r>
              <a:rPr lang="en-US" sz="1600" dirty="0"/>
              <a:t>Monthly cancellation pattern</a:t>
            </a:r>
          </a:p>
          <a:p>
            <a:r>
              <a:rPr lang="en-US" sz="1600" dirty="0"/>
              <a:t>Booking distribution across hotels</a:t>
            </a:r>
          </a:p>
          <a:p>
            <a:r>
              <a:rPr lang="en-US" sz="1600" dirty="0"/>
              <a:t>Revenue comparison between City &amp; Resort hotels</a:t>
            </a:r>
          </a:p>
          <a:p>
            <a:endParaRPr lang="en-IN" sz="1600" dirty="0"/>
          </a:p>
        </p:txBody>
      </p:sp>
      <p:sp>
        <p:nvSpPr>
          <p:cNvPr id="8" name="TextBox 7">
            <a:extLst>
              <a:ext uri="{FF2B5EF4-FFF2-40B4-BE49-F238E27FC236}">
                <a16:creationId xmlns:a16="http://schemas.microsoft.com/office/drawing/2014/main" id="{2CB35D44-B890-0FFD-2610-ED5F39B1C3FB}"/>
              </a:ext>
            </a:extLst>
          </p:cNvPr>
          <p:cNvSpPr txBox="1"/>
          <p:nvPr/>
        </p:nvSpPr>
        <p:spPr>
          <a:xfrm>
            <a:off x="4404471" y="6184111"/>
            <a:ext cx="7628203" cy="646331"/>
          </a:xfrm>
          <a:prstGeom prst="rect">
            <a:avLst/>
          </a:prstGeom>
          <a:noFill/>
        </p:spPr>
        <p:txBody>
          <a:bodyPr wrap="square" rtlCol="0">
            <a:spAutoFit/>
          </a:bodyPr>
          <a:lstStyle/>
          <a:p>
            <a:pPr algn="ctr"/>
            <a:r>
              <a:rPr lang="en-US" dirty="0">
                <a:solidFill>
                  <a:schemeClr val="bg1"/>
                </a:solidFill>
              </a:rPr>
              <a:t>This dashboard helps management understand where revenue is coming from and which segments are most profitable.</a:t>
            </a:r>
            <a:endParaRPr lang="en-IN" dirty="0">
              <a:solidFill>
                <a:schemeClr val="bg1"/>
              </a:solidFill>
            </a:endParaRPr>
          </a:p>
        </p:txBody>
      </p:sp>
      <p:pic>
        <p:nvPicPr>
          <p:cNvPr id="6" name="Picture 5">
            <a:extLst>
              <a:ext uri="{FF2B5EF4-FFF2-40B4-BE49-F238E27FC236}">
                <a16:creationId xmlns:a16="http://schemas.microsoft.com/office/drawing/2014/main" id="{C3306703-D462-3B9D-A5E7-8EE974BA2AF9}"/>
              </a:ext>
            </a:extLst>
          </p:cNvPr>
          <p:cNvPicPr>
            <a:picLocks noChangeAspect="1"/>
          </p:cNvPicPr>
          <p:nvPr/>
        </p:nvPicPr>
        <p:blipFill>
          <a:blip r:embed="rId2"/>
          <a:stretch>
            <a:fillRect/>
          </a:stretch>
        </p:blipFill>
        <p:spPr>
          <a:xfrm>
            <a:off x="4554983" y="1907993"/>
            <a:ext cx="7477691" cy="4212783"/>
          </a:xfrm>
          <a:prstGeom prst="rect">
            <a:avLst/>
          </a:prstGeom>
        </p:spPr>
      </p:pic>
    </p:spTree>
    <p:extLst>
      <p:ext uri="{BB962C8B-B14F-4D97-AF65-F5344CB8AC3E}">
        <p14:creationId xmlns:p14="http://schemas.microsoft.com/office/powerpoint/2010/main" val="1867725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AF3D8C98-85A9-06D2-4305-88E946BF3B3D}"/>
              </a:ext>
            </a:extLst>
          </p:cNvPr>
          <p:cNvSpPr/>
          <p:nvPr/>
        </p:nvSpPr>
        <p:spPr>
          <a:xfrm>
            <a:off x="4713284" y="6184791"/>
            <a:ext cx="7004154" cy="4534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851BAD83-5DC2-6CDF-8E26-D45174ECB3E4}"/>
              </a:ext>
            </a:extLst>
          </p:cNvPr>
          <p:cNvSpPr>
            <a:spLocks noGrp="1"/>
          </p:cNvSpPr>
          <p:nvPr>
            <p:ph type="title"/>
          </p:nvPr>
        </p:nvSpPr>
        <p:spPr/>
        <p:txBody>
          <a:bodyPr/>
          <a:lstStyle/>
          <a:p>
            <a:r>
              <a:rPr lang="en-US" dirty="0"/>
              <a:t>DASHBOARD 2 : BOOKING BEHAVIOUR ANALYSIS</a:t>
            </a:r>
            <a:endParaRPr lang="en-IN" dirty="0"/>
          </a:p>
        </p:txBody>
      </p:sp>
      <p:sp>
        <p:nvSpPr>
          <p:cNvPr id="6" name="TextBox 5">
            <a:extLst>
              <a:ext uri="{FF2B5EF4-FFF2-40B4-BE49-F238E27FC236}">
                <a16:creationId xmlns:a16="http://schemas.microsoft.com/office/drawing/2014/main" id="{D8594428-65C3-8FAB-EB03-CBAE48EB363F}"/>
              </a:ext>
            </a:extLst>
          </p:cNvPr>
          <p:cNvSpPr txBox="1"/>
          <p:nvPr/>
        </p:nvSpPr>
        <p:spPr>
          <a:xfrm>
            <a:off x="326986" y="2636546"/>
            <a:ext cx="4386298" cy="2862322"/>
          </a:xfrm>
          <a:prstGeom prst="rect">
            <a:avLst/>
          </a:prstGeom>
          <a:noFill/>
        </p:spPr>
        <p:txBody>
          <a:bodyPr wrap="square">
            <a:spAutoFit/>
          </a:bodyPr>
          <a:lstStyle/>
          <a:p>
            <a:pPr>
              <a:buNone/>
            </a:pPr>
            <a:r>
              <a:rPr lang="en-US" b="1" dirty="0"/>
              <a:t>Key Visuals:</a:t>
            </a:r>
          </a:p>
          <a:p>
            <a:pPr>
              <a:buFont typeface="Arial" panose="020B0604020202020204" pitchFamily="34" charset="0"/>
              <a:buChar char="•"/>
            </a:pPr>
            <a:r>
              <a:rPr lang="en-US" dirty="0"/>
              <a:t>Total bookings, confirmations, cancellations</a:t>
            </a:r>
          </a:p>
          <a:p>
            <a:pPr>
              <a:buFont typeface="Arial" panose="020B0604020202020204" pitchFamily="34" charset="0"/>
              <a:buChar char="•"/>
            </a:pPr>
            <a:r>
              <a:rPr lang="en-US" dirty="0"/>
              <a:t>Year-wise distribution</a:t>
            </a:r>
          </a:p>
          <a:p>
            <a:pPr>
              <a:buFont typeface="Arial" panose="020B0604020202020204" pitchFamily="34" charset="0"/>
              <a:buChar char="•"/>
            </a:pPr>
            <a:r>
              <a:rPr lang="en-US" dirty="0"/>
              <a:t>Average ADR vs Average Lead Time </a:t>
            </a:r>
          </a:p>
          <a:p>
            <a:r>
              <a:rPr lang="en-US" dirty="0"/>
              <a:t>(monthly trend)</a:t>
            </a:r>
          </a:p>
          <a:p>
            <a:endParaRPr lang="en-US" dirty="0"/>
          </a:p>
          <a:p>
            <a:pPr>
              <a:buNone/>
            </a:pPr>
            <a:r>
              <a:rPr lang="en-US" b="1" dirty="0"/>
              <a:t>Business Value:</a:t>
            </a:r>
          </a:p>
          <a:p>
            <a:pPr>
              <a:buFont typeface="Arial" panose="020B0604020202020204" pitchFamily="34" charset="0"/>
              <a:buChar char="•"/>
            </a:pPr>
            <a:r>
              <a:rPr lang="en-US" dirty="0"/>
              <a:t>Identifies peak booking months</a:t>
            </a:r>
          </a:p>
          <a:p>
            <a:pPr>
              <a:buFont typeface="Arial" panose="020B0604020202020204" pitchFamily="34" charset="0"/>
              <a:buChar char="•"/>
            </a:pPr>
            <a:r>
              <a:rPr lang="en-US" dirty="0"/>
              <a:t>Shows how lead time affects pricing</a:t>
            </a:r>
          </a:p>
          <a:p>
            <a:pPr>
              <a:buFont typeface="Arial" panose="020B0604020202020204" pitchFamily="34" charset="0"/>
              <a:buChar char="•"/>
            </a:pPr>
            <a:r>
              <a:rPr lang="en-US" dirty="0"/>
              <a:t>Enables forecasting and demand planning</a:t>
            </a:r>
          </a:p>
        </p:txBody>
      </p:sp>
      <p:sp>
        <p:nvSpPr>
          <p:cNvPr id="9" name="TextBox 8">
            <a:extLst>
              <a:ext uri="{FF2B5EF4-FFF2-40B4-BE49-F238E27FC236}">
                <a16:creationId xmlns:a16="http://schemas.microsoft.com/office/drawing/2014/main" id="{07E01AAB-3E93-53B1-F0B0-3229AFDE7AF4}"/>
              </a:ext>
            </a:extLst>
          </p:cNvPr>
          <p:cNvSpPr txBox="1"/>
          <p:nvPr/>
        </p:nvSpPr>
        <p:spPr>
          <a:xfrm>
            <a:off x="4555666" y="6184791"/>
            <a:ext cx="7319390" cy="369332"/>
          </a:xfrm>
          <a:prstGeom prst="rect">
            <a:avLst/>
          </a:prstGeom>
          <a:noFill/>
        </p:spPr>
        <p:txBody>
          <a:bodyPr wrap="square" rtlCol="0">
            <a:spAutoFit/>
          </a:bodyPr>
          <a:lstStyle/>
          <a:p>
            <a:pPr algn="ctr"/>
            <a:r>
              <a:rPr lang="en-US" dirty="0">
                <a:solidFill>
                  <a:schemeClr val="bg1"/>
                </a:solidFill>
              </a:rPr>
              <a:t>This dashboard supports operational planning and pricing strategies.</a:t>
            </a:r>
          </a:p>
        </p:txBody>
      </p:sp>
      <p:pic>
        <p:nvPicPr>
          <p:cNvPr id="5" name="Picture 4">
            <a:extLst>
              <a:ext uri="{FF2B5EF4-FFF2-40B4-BE49-F238E27FC236}">
                <a16:creationId xmlns:a16="http://schemas.microsoft.com/office/drawing/2014/main" id="{D0B19E0E-2428-8B4C-8464-A1832D006163}"/>
              </a:ext>
            </a:extLst>
          </p:cNvPr>
          <p:cNvPicPr>
            <a:picLocks noChangeAspect="1"/>
          </p:cNvPicPr>
          <p:nvPr/>
        </p:nvPicPr>
        <p:blipFill>
          <a:blip r:embed="rId2"/>
          <a:stretch>
            <a:fillRect/>
          </a:stretch>
        </p:blipFill>
        <p:spPr>
          <a:xfrm>
            <a:off x="4555666" y="1987710"/>
            <a:ext cx="7353567" cy="4113012"/>
          </a:xfrm>
          <a:prstGeom prst="rect">
            <a:avLst/>
          </a:prstGeom>
        </p:spPr>
      </p:pic>
    </p:spTree>
    <p:extLst>
      <p:ext uri="{BB962C8B-B14F-4D97-AF65-F5344CB8AC3E}">
        <p14:creationId xmlns:p14="http://schemas.microsoft.com/office/powerpoint/2010/main" val="2440700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AAEB8-CD0F-7D15-349F-872033CC343D}"/>
              </a:ext>
            </a:extLst>
          </p:cNvPr>
          <p:cNvSpPr>
            <a:spLocks noGrp="1"/>
          </p:cNvSpPr>
          <p:nvPr>
            <p:ph type="title"/>
          </p:nvPr>
        </p:nvSpPr>
        <p:spPr/>
        <p:txBody>
          <a:bodyPr/>
          <a:lstStyle/>
          <a:p>
            <a:r>
              <a:rPr lang="en-US" dirty="0"/>
              <a:t>DASHBOARD 3 : CUSTOMER BEHAVIOUR ANALYSIS</a:t>
            </a:r>
            <a:endParaRPr lang="en-IN" dirty="0"/>
          </a:p>
        </p:txBody>
      </p:sp>
      <p:sp>
        <p:nvSpPr>
          <p:cNvPr id="6" name="TextBox 5">
            <a:extLst>
              <a:ext uri="{FF2B5EF4-FFF2-40B4-BE49-F238E27FC236}">
                <a16:creationId xmlns:a16="http://schemas.microsoft.com/office/drawing/2014/main" id="{2AC19632-21DB-2A51-14CD-73B944819C47}"/>
              </a:ext>
            </a:extLst>
          </p:cNvPr>
          <p:cNvSpPr txBox="1"/>
          <p:nvPr/>
        </p:nvSpPr>
        <p:spPr>
          <a:xfrm>
            <a:off x="422031" y="2261607"/>
            <a:ext cx="4264269" cy="3416320"/>
          </a:xfrm>
          <a:prstGeom prst="rect">
            <a:avLst/>
          </a:prstGeom>
          <a:noFill/>
        </p:spPr>
        <p:txBody>
          <a:bodyPr wrap="square">
            <a:spAutoFit/>
          </a:bodyPr>
          <a:lstStyle/>
          <a:p>
            <a:pPr>
              <a:buNone/>
            </a:pPr>
            <a:r>
              <a:rPr lang="en-US" b="1" dirty="0"/>
              <a:t>Key Insights:</a:t>
            </a:r>
          </a:p>
          <a:p>
            <a:pPr>
              <a:buFont typeface="Arial" panose="020B0604020202020204" pitchFamily="34" charset="0"/>
              <a:buChar char="•"/>
            </a:pPr>
            <a:r>
              <a:rPr lang="en-US" dirty="0"/>
              <a:t>Bookings by market segment</a:t>
            </a:r>
          </a:p>
          <a:p>
            <a:pPr>
              <a:buFont typeface="Arial" panose="020B0604020202020204" pitchFamily="34" charset="0"/>
              <a:buChar char="•"/>
            </a:pPr>
            <a:r>
              <a:rPr lang="en-US" dirty="0"/>
              <a:t>Cancellation rate by segment</a:t>
            </a:r>
          </a:p>
          <a:p>
            <a:pPr>
              <a:buFont typeface="Arial" panose="020B0604020202020204" pitchFamily="34" charset="0"/>
              <a:buChar char="•"/>
            </a:pPr>
            <a:r>
              <a:rPr lang="en-US" dirty="0"/>
              <a:t>Adults, babies, children distribution</a:t>
            </a:r>
          </a:p>
          <a:p>
            <a:pPr>
              <a:buFont typeface="Arial" panose="020B0604020202020204" pitchFamily="34" charset="0"/>
              <a:buChar char="•"/>
            </a:pPr>
            <a:r>
              <a:rPr lang="en-US" dirty="0"/>
              <a:t>Customer type analysis</a:t>
            </a:r>
          </a:p>
          <a:p>
            <a:pPr>
              <a:buFont typeface="Arial" panose="020B0604020202020204" pitchFamily="34" charset="0"/>
              <a:buChar char="•"/>
            </a:pPr>
            <a:r>
              <a:rPr lang="en-US" dirty="0"/>
              <a:t>Country-wise booking distribution</a:t>
            </a:r>
          </a:p>
          <a:p>
            <a:endParaRPr lang="en-US" dirty="0"/>
          </a:p>
          <a:p>
            <a:pPr>
              <a:buNone/>
            </a:pPr>
            <a:r>
              <a:rPr lang="en-US" b="1" dirty="0"/>
              <a:t>Business Impact:</a:t>
            </a:r>
          </a:p>
          <a:p>
            <a:pPr>
              <a:buFont typeface="Arial" panose="020B0604020202020204" pitchFamily="34" charset="0"/>
              <a:buChar char="•"/>
            </a:pPr>
            <a:r>
              <a:rPr lang="en-US" dirty="0"/>
              <a:t>Helps identify high-risk cancellation segments</a:t>
            </a:r>
          </a:p>
          <a:p>
            <a:pPr>
              <a:buFont typeface="Arial" panose="020B0604020202020204" pitchFamily="34" charset="0"/>
              <a:buChar char="•"/>
            </a:pPr>
            <a:r>
              <a:rPr lang="en-US" dirty="0"/>
              <a:t>Reveals most profitable customer groups</a:t>
            </a:r>
          </a:p>
          <a:p>
            <a:pPr>
              <a:buFont typeface="Arial" panose="020B0604020202020204" pitchFamily="34" charset="0"/>
              <a:buChar char="•"/>
            </a:pPr>
            <a:r>
              <a:rPr lang="en-US" dirty="0"/>
              <a:t>Enables targeted marketing strategies</a:t>
            </a:r>
          </a:p>
        </p:txBody>
      </p:sp>
      <p:sp>
        <p:nvSpPr>
          <p:cNvPr id="7" name="Rectangle: Rounded Corners 6">
            <a:extLst>
              <a:ext uri="{FF2B5EF4-FFF2-40B4-BE49-F238E27FC236}">
                <a16:creationId xmlns:a16="http://schemas.microsoft.com/office/drawing/2014/main" id="{3263717A-7604-E4E4-BA72-3293CDE143F9}"/>
              </a:ext>
            </a:extLst>
          </p:cNvPr>
          <p:cNvSpPr/>
          <p:nvPr/>
        </p:nvSpPr>
        <p:spPr>
          <a:xfrm>
            <a:off x="4713284" y="6184791"/>
            <a:ext cx="7004154" cy="5806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4A7581ED-8698-41DB-8653-5F03FC5A4B07}"/>
              </a:ext>
            </a:extLst>
          </p:cNvPr>
          <p:cNvSpPr txBox="1"/>
          <p:nvPr/>
        </p:nvSpPr>
        <p:spPr>
          <a:xfrm>
            <a:off x="4713284" y="6153180"/>
            <a:ext cx="7004154" cy="646331"/>
          </a:xfrm>
          <a:prstGeom prst="rect">
            <a:avLst/>
          </a:prstGeom>
          <a:noFill/>
        </p:spPr>
        <p:txBody>
          <a:bodyPr wrap="square" rtlCol="0">
            <a:spAutoFit/>
          </a:bodyPr>
          <a:lstStyle/>
          <a:p>
            <a:pPr algn="ctr"/>
            <a:r>
              <a:rPr lang="en-US" dirty="0">
                <a:solidFill>
                  <a:schemeClr val="bg1"/>
                </a:solidFill>
              </a:rPr>
              <a:t>This dashboard supports customer segmentation and personalization strategies.</a:t>
            </a:r>
          </a:p>
        </p:txBody>
      </p:sp>
      <p:pic>
        <p:nvPicPr>
          <p:cNvPr id="5" name="Picture 4">
            <a:extLst>
              <a:ext uri="{FF2B5EF4-FFF2-40B4-BE49-F238E27FC236}">
                <a16:creationId xmlns:a16="http://schemas.microsoft.com/office/drawing/2014/main" id="{446F80EE-8A3C-399D-C152-B5BE87547B6A}"/>
              </a:ext>
            </a:extLst>
          </p:cNvPr>
          <p:cNvPicPr>
            <a:picLocks noChangeAspect="1"/>
          </p:cNvPicPr>
          <p:nvPr/>
        </p:nvPicPr>
        <p:blipFill>
          <a:blip r:embed="rId2"/>
          <a:stretch>
            <a:fillRect/>
          </a:stretch>
        </p:blipFill>
        <p:spPr>
          <a:xfrm>
            <a:off x="4616894" y="1913354"/>
            <a:ext cx="7320641" cy="4135406"/>
          </a:xfrm>
          <a:prstGeom prst="rect">
            <a:avLst/>
          </a:prstGeom>
        </p:spPr>
      </p:pic>
    </p:spTree>
    <p:extLst>
      <p:ext uri="{BB962C8B-B14F-4D97-AF65-F5344CB8AC3E}">
        <p14:creationId xmlns:p14="http://schemas.microsoft.com/office/powerpoint/2010/main" val="4292983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A68DF-D68A-D3A0-B3CB-8B01DFD96C25}"/>
              </a:ext>
            </a:extLst>
          </p:cNvPr>
          <p:cNvSpPr>
            <a:spLocks noGrp="1"/>
          </p:cNvSpPr>
          <p:nvPr>
            <p:ph type="title"/>
          </p:nvPr>
        </p:nvSpPr>
        <p:spPr/>
        <p:txBody>
          <a:bodyPr/>
          <a:lstStyle/>
          <a:p>
            <a:r>
              <a:rPr lang="en-US" dirty="0"/>
              <a:t>Dashboard 4 : PREDICTIVE ANALYSIS</a:t>
            </a:r>
            <a:endParaRPr lang="en-IN" dirty="0"/>
          </a:p>
        </p:txBody>
      </p:sp>
      <p:pic>
        <p:nvPicPr>
          <p:cNvPr id="4" name="Picture 3">
            <a:extLst>
              <a:ext uri="{FF2B5EF4-FFF2-40B4-BE49-F238E27FC236}">
                <a16:creationId xmlns:a16="http://schemas.microsoft.com/office/drawing/2014/main" id="{E18369FD-04E2-C6C6-16E3-8B2F50A646FA}"/>
              </a:ext>
            </a:extLst>
          </p:cNvPr>
          <p:cNvPicPr>
            <a:picLocks noChangeAspect="1"/>
          </p:cNvPicPr>
          <p:nvPr/>
        </p:nvPicPr>
        <p:blipFill>
          <a:blip r:embed="rId2"/>
          <a:stretch>
            <a:fillRect/>
          </a:stretch>
        </p:blipFill>
        <p:spPr>
          <a:xfrm>
            <a:off x="4561598" y="2013439"/>
            <a:ext cx="7181993" cy="4012082"/>
          </a:xfrm>
          <a:prstGeom prst="rect">
            <a:avLst/>
          </a:prstGeom>
        </p:spPr>
      </p:pic>
      <p:sp>
        <p:nvSpPr>
          <p:cNvPr id="6" name="TextBox 5">
            <a:extLst>
              <a:ext uri="{FF2B5EF4-FFF2-40B4-BE49-F238E27FC236}">
                <a16:creationId xmlns:a16="http://schemas.microsoft.com/office/drawing/2014/main" id="{AB342BE1-01CF-0489-C371-865325BD2316}"/>
              </a:ext>
            </a:extLst>
          </p:cNvPr>
          <p:cNvSpPr txBox="1"/>
          <p:nvPr/>
        </p:nvSpPr>
        <p:spPr>
          <a:xfrm>
            <a:off x="448409" y="2228671"/>
            <a:ext cx="2719021" cy="1200329"/>
          </a:xfrm>
          <a:prstGeom prst="rect">
            <a:avLst/>
          </a:prstGeom>
          <a:noFill/>
        </p:spPr>
        <p:txBody>
          <a:bodyPr wrap="square">
            <a:spAutoFit/>
          </a:bodyPr>
          <a:lstStyle/>
          <a:p>
            <a:pPr>
              <a:buNone/>
            </a:pPr>
            <a:r>
              <a:rPr lang="en-US" b="1" dirty="0"/>
              <a:t>📌 Key KPIs</a:t>
            </a:r>
          </a:p>
          <a:p>
            <a:pPr marL="285750" indent="-285750">
              <a:buFont typeface="Arial" panose="020B0604020202020204" pitchFamily="34" charset="0"/>
              <a:buChar char="•"/>
            </a:pPr>
            <a:r>
              <a:rPr lang="en-US" dirty="0"/>
              <a:t>Cancellation Rate</a:t>
            </a:r>
          </a:p>
          <a:p>
            <a:pPr marL="285750" indent="-285750">
              <a:buFont typeface="Arial" panose="020B0604020202020204" pitchFamily="34" charset="0"/>
              <a:buChar char="•"/>
            </a:pPr>
            <a:r>
              <a:rPr lang="en-US" dirty="0"/>
              <a:t>Total Bookings</a:t>
            </a:r>
          </a:p>
          <a:p>
            <a:pPr marL="285750" indent="-285750">
              <a:buFont typeface="Arial" panose="020B0604020202020204" pitchFamily="34" charset="0"/>
              <a:buChar char="•"/>
            </a:pPr>
            <a:r>
              <a:rPr lang="en-US" dirty="0"/>
              <a:t>Risk Level</a:t>
            </a:r>
          </a:p>
        </p:txBody>
      </p:sp>
      <p:sp>
        <p:nvSpPr>
          <p:cNvPr id="8" name="TextBox 7">
            <a:extLst>
              <a:ext uri="{FF2B5EF4-FFF2-40B4-BE49-F238E27FC236}">
                <a16:creationId xmlns:a16="http://schemas.microsoft.com/office/drawing/2014/main" id="{82458FAA-F37E-D235-5376-2FB2E521FB40}"/>
              </a:ext>
            </a:extLst>
          </p:cNvPr>
          <p:cNvSpPr txBox="1"/>
          <p:nvPr/>
        </p:nvSpPr>
        <p:spPr>
          <a:xfrm>
            <a:off x="448409" y="3616515"/>
            <a:ext cx="6097464" cy="2308324"/>
          </a:xfrm>
          <a:prstGeom prst="rect">
            <a:avLst/>
          </a:prstGeom>
          <a:noFill/>
        </p:spPr>
        <p:txBody>
          <a:bodyPr wrap="square">
            <a:spAutoFit/>
          </a:bodyPr>
          <a:lstStyle/>
          <a:p>
            <a:pPr>
              <a:buNone/>
            </a:pPr>
            <a:r>
              <a:rPr lang="en-US" b="1" dirty="0"/>
              <a:t>📊 Key Insights</a:t>
            </a:r>
          </a:p>
          <a:p>
            <a:pPr marL="285750" indent="-285750">
              <a:buFont typeface="Arial" panose="020B0604020202020204" pitchFamily="34" charset="0"/>
              <a:buChar char="•"/>
            </a:pPr>
            <a:r>
              <a:rPr lang="en-US" b="1" dirty="0"/>
              <a:t> </a:t>
            </a:r>
            <a:r>
              <a:rPr lang="en-US" dirty="0"/>
              <a:t>Revenue by Arrival Date</a:t>
            </a:r>
          </a:p>
          <a:p>
            <a:pPr marL="285750" indent="-285750">
              <a:buFont typeface="Arial" panose="020B0604020202020204" pitchFamily="34" charset="0"/>
              <a:buChar char="•"/>
            </a:pPr>
            <a:r>
              <a:rPr lang="en-US" dirty="0"/>
              <a:t> Cancellation Rate by Month</a:t>
            </a:r>
          </a:p>
          <a:p>
            <a:pPr marL="285750" indent="-285750">
              <a:buFont typeface="Arial" panose="020B0604020202020204" pitchFamily="34" charset="0"/>
              <a:buChar char="•"/>
            </a:pPr>
            <a:r>
              <a:rPr lang="en-IN" dirty="0"/>
              <a:t> Bookings by Risk Level</a:t>
            </a:r>
          </a:p>
          <a:p>
            <a:pPr marL="285750" indent="-285750">
              <a:buFont typeface="Arial" panose="020B0604020202020204" pitchFamily="34" charset="0"/>
              <a:buChar char="•"/>
            </a:pPr>
            <a:r>
              <a:rPr lang="en-IN" dirty="0"/>
              <a:t> Cancellations by Hotel</a:t>
            </a:r>
          </a:p>
          <a:p>
            <a:pPr marL="285750" indent="-285750">
              <a:buFont typeface="Arial" panose="020B0604020202020204" pitchFamily="34" charset="0"/>
              <a:buChar char="•"/>
            </a:pPr>
            <a:r>
              <a:rPr lang="en-IN" dirty="0"/>
              <a:t> Bookings by Country</a:t>
            </a:r>
          </a:p>
          <a:p>
            <a:pPr marL="285750" indent="-285750">
              <a:buFont typeface="Arial" panose="020B0604020202020204" pitchFamily="34" charset="0"/>
              <a:buChar char="•"/>
            </a:pPr>
            <a:r>
              <a:rPr lang="en-US" dirty="0"/>
              <a:t> Cancellations by Market Segment</a:t>
            </a:r>
          </a:p>
          <a:p>
            <a:pPr marL="285750" indent="-285750">
              <a:buFont typeface="Arial" panose="020B0604020202020204" pitchFamily="34" charset="0"/>
              <a:buChar char="•"/>
            </a:pPr>
            <a:r>
              <a:rPr lang="en-IN" dirty="0"/>
              <a:t> Business Value</a:t>
            </a:r>
            <a:endParaRPr lang="en-US" b="1" dirty="0"/>
          </a:p>
        </p:txBody>
      </p:sp>
      <p:sp>
        <p:nvSpPr>
          <p:cNvPr id="3" name="Rectangle: Rounded Corners 2">
            <a:extLst>
              <a:ext uri="{FF2B5EF4-FFF2-40B4-BE49-F238E27FC236}">
                <a16:creationId xmlns:a16="http://schemas.microsoft.com/office/drawing/2014/main" id="{BF9E3546-3319-9540-3CCC-73A65E3E2F2D}"/>
              </a:ext>
            </a:extLst>
          </p:cNvPr>
          <p:cNvSpPr/>
          <p:nvPr/>
        </p:nvSpPr>
        <p:spPr>
          <a:xfrm>
            <a:off x="4713284" y="6184791"/>
            <a:ext cx="7004154" cy="57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EBD07F1-8569-4304-FC41-74D564AB190E}"/>
              </a:ext>
            </a:extLst>
          </p:cNvPr>
          <p:cNvSpPr txBox="1"/>
          <p:nvPr/>
        </p:nvSpPr>
        <p:spPr>
          <a:xfrm>
            <a:off x="4845199" y="6187252"/>
            <a:ext cx="6740324" cy="646331"/>
          </a:xfrm>
          <a:prstGeom prst="rect">
            <a:avLst/>
          </a:prstGeom>
          <a:noFill/>
        </p:spPr>
        <p:txBody>
          <a:bodyPr wrap="square" rtlCol="0">
            <a:spAutoFit/>
          </a:bodyPr>
          <a:lstStyle/>
          <a:p>
            <a:pPr algn="ctr"/>
            <a:r>
              <a:rPr lang="en-US" dirty="0">
                <a:solidFill>
                  <a:schemeClr val="bg1">
                    <a:lumMod val="95000"/>
                  </a:schemeClr>
                </a:solidFill>
              </a:rPr>
              <a:t>This is a Predictive Analysis Dashboard focused on cancellation risk evaluation.</a:t>
            </a:r>
          </a:p>
        </p:txBody>
      </p:sp>
    </p:spTree>
    <p:extLst>
      <p:ext uri="{BB962C8B-B14F-4D97-AF65-F5344CB8AC3E}">
        <p14:creationId xmlns:p14="http://schemas.microsoft.com/office/powerpoint/2010/main" val="171067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0103F-8EC0-CCFB-C70D-AB8B6DF87A43}"/>
              </a:ext>
            </a:extLst>
          </p:cNvPr>
          <p:cNvSpPr>
            <a:spLocks noGrp="1"/>
          </p:cNvSpPr>
          <p:nvPr>
            <p:ph type="title"/>
          </p:nvPr>
        </p:nvSpPr>
        <p:spPr/>
        <p:txBody>
          <a:bodyPr/>
          <a:lstStyle/>
          <a:p>
            <a:r>
              <a:rPr lang="en-US" dirty="0"/>
              <a:t>DASHBOARD 5 : CANCELLATION ANALYSIS</a:t>
            </a:r>
            <a:endParaRPr lang="en-IN" dirty="0"/>
          </a:p>
        </p:txBody>
      </p:sp>
      <p:pic>
        <p:nvPicPr>
          <p:cNvPr id="4" name="Picture 3">
            <a:extLst>
              <a:ext uri="{FF2B5EF4-FFF2-40B4-BE49-F238E27FC236}">
                <a16:creationId xmlns:a16="http://schemas.microsoft.com/office/drawing/2014/main" id="{CDBFEE8F-2892-F900-40DE-9DF313EA2600}"/>
              </a:ext>
            </a:extLst>
          </p:cNvPr>
          <p:cNvPicPr>
            <a:picLocks noChangeAspect="1"/>
          </p:cNvPicPr>
          <p:nvPr/>
        </p:nvPicPr>
        <p:blipFill>
          <a:blip r:embed="rId2"/>
          <a:stretch>
            <a:fillRect/>
          </a:stretch>
        </p:blipFill>
        <p:spPr>
          <a:xfrm>
            <a:off x="4710895" y="2012980"/>
            <a:ext cx="7047837" cy="4063948"/>
          </a:xfrm>
          <a:prstGeom prst="rect">
            <a:avLst/>
          </a:prstGeom>
        </p:spPr>
      </p:pic>
      <p:sp>
        <p:nvSpPr>
          <p:cNvPr id="6" name="TextBox 5">
            <a:extLst>
              <a:ext uri="{FF2B5EF4-FFF2-40B4-BE49-F238E27FC236}">
                <a16:creationId xmlns:a16="http://schemas.microsoft.com/office/drawing/2014/main" id="{3DB99A9A-81CE-C459-F2C7-3C24DFDB710C}"/>
              </a:ext>
            </a:extLst>
          </p:cNvPr>
          <p:cNvSpPr txBox="1"/>
          <p:nvPr/>
        </p:nvSpPr>
        <p:spPr>
          <a:xfrm>
            <a:off x="433268" y="2012980"/>
            <a:ext cx="3976686" cy="4524315"/>
          </a:xfrm>
          <a:prstGeom prst="rect">
            <a:avLst/>
          </a:prstGeom>
          <a:noFill/>
        </p:spPr>
        <p:txBody>
          <a:bodyPr wrap="square">
            <a:spAutoFit/>
          </a:bodyPr>
          <a:lstStyle/>
          <a:p>
            <a:pPr>
              <a:buNone/>
            </a:pPr>
            <a:r>
              <a:rPr lang="en-US" b="1" dirty="0"/>
              <a:t>Key KPIs Displayed:</a:t>
            </a:r>
          </a:p>
          <a:p>
            <a:pPr>
              <a:buNone/>
            </a:pPr>
            <a:endParaRPr lang="en-US" b="1" dirty="0"/>
          </a:p>
          <a:p>
            <a:pPr>
              <a:buFont typeface="Arial" panose="020B0604020202020204" pitchFamily="34" charset="0"/>
              <a:buChar char="•"/>
            </a:pPr>
            <a:r>
              <a:rPr lang="en-US" b="1" dirty="0"/>
              <a:t>Total Bookings</a:t>
            </a:r>
            <a:br>
              <a:rPr lang="en-US" dirty="0"/>
            </a:br>
            <a:r>
              <a:rPr lang="en-US" dirty="0"/>
              <a:t>Represents total bookings within the selected filters.</a:t>
            </a:r>
          </a:p>
          <a:p>
            <a:endParaRPr lang="en-US" dirty="0"/>
          </a:p>
          <a:p>
            <a:pPr>
              <a:buFont typeface="Arial" panose="020B0604020202020204" pitchFamily="34" charset="0"/>
              <a:buChar char="•"/>
            </a:pPr>
            <a:r>
              <a:rPr lang="en-US" b="1" dirty="0"/>
              <a:t>Total Revenue</a:t>
            </a:r>
            <a:br>
              <a:rPr lang="en-US" dirty="0"/>
            </a:br>
            <a:r>
              <a:rPr lang="en-US" dirty="0"/>
              <a:t>Revenue generated in the selected period.</a:t>
            </a:r>
          </a:p>
          <a:p>
            <a:endParaRPr lang="en-US" dirty="0"/>
          </a:p>
          <a:p>
            <a:pPr>
              <a:buFont typeface="Arial" panose="020B0604020202020204" pitchFamily="34" charset="0"/>
              <a:buChar char="•"/>
            </a:pPr>
            <a:r>
              <a:rPr lang="en-US" b="1" dirty="0"/>
              <a:t>Total Cancellations</a:t>
            </a:r>
            <a:br>
              <a:rPr lang="en-US" dirty="0"/>
            </a:br>
            <a:r>
              <a:rPr lang="en-US" dirty="0"/>
              <a:t>Total bookings that were cancelled.</a:t>
            </a:r>
          </a:p>
          <a:p>
            <a:endParaRPr lang="en-US" dirty="0"/>
          </a:p>
          <a:p>
            <a:pPr>
              <a:buFont typeface="Arial" panose="020B0604020202020204" pitchFamily="34" charset="0"/>
              <a:buChar char="•"/>
            </a:pPr>
            <a:r>
              <a:rPr lang="en-US" b="1" dirty="0"/>
              <a:t>Cancellation Rate (%)</a:t>
            </a:r>
            <a:br>
              <a:rPr lang="en-US" dirty="0"/>
            </a:br>
            <a:r>
              <a:rPr lang="en-US" dirty="0"/>
              <a:t>Indicates the percentage of bookings that were cancelled.</a:t>
            </a:r>
          </a:p>
        </p:txBody>
      </p:sp>
      <p:sp>
        <p:nvSpPr>
          <p:cNvPr id="9" name="Rectangle: Rounded Corners 8">
            <a:extLst>
              <a:ext uri="{FF2B5EF4-FFF2-40B4-BE49-F238E27FC236}">
                <a16:creationId xmlns:a16="http://schemas.microsoft.com/office/drawing/2014/main" id="{FFDB0B61-E6FD-CAA1-4B81-C0B5C635417D}"/>
              </a:ext>
            </a:extLst>
          </p:cNvPr>
          <p:cNvSpPr/>
          <p:nvPr/>
        </p:nvSpPr>
        <p:spPr>
          <a:xfrm>
            <a:off x="4713284" y="6184791"/>
            <a:ext cx="7004154" cy="46594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61AA022C-F6FA-619D-E1A1-AE30B7522B7B}"/>
              </a:ext>
            </a:extLst>
          </p:cNvPr>
          <p:cNvSpPr txBox="1"/>
          <p:nvPr/>
        </p:nvSpPr>
        <p:spPr>
          <a:xfrm>
            <a:off x="4845199" y="6187252"/>
            <a:ext cx="6740324" cy="369332"/>
          </a:xfrm>
          <a:prstGeom prst="rect">
            <a:avLst/>
          </a:prstGeom>
          <a:noFill/>
        </p:spPr>
        <p:txBody>
          <a:bodyPr wrap="square" rtlCol="0">
            <a:spAutoFit/>
          </a:bodyPr>
          <a:lstStyle/>
          <a:p>
            <a:pPr algn="ctr"/>
            <a:r>
              <a:rPr lang="en-US" dirty="0">
                <a:solidFill>
                  <a:schemeClr val="bg1"/>
                </a:solidFill>
              </a:rPr>
              <a:t>This dashboard supports customer cancellation patterns and analysis</a:t>
            </a:r>
          </a:p>
        </p:txBody>
      </p:sp>
    </p:spTree>
    <p:extLst>
      <p:ext uri="{BB962C8B-B14F-4D97-AF65-F5344CB8AC3E}">
        <p14:creationId xmlns:p14="http://schemas.microsoft.com/office/powerpoint/2010/main" val="2229891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06FCE-197B-88FD-DDE0-740276BE52C6}"/>
              </a:ext>
            </a:extLst>
          </p:cNvPr>
          <p:cNvSpPr>
            <a:spLocks noGrp="1"/>
          </p:cNvSpPr>
          <p:nvPr>
            <p:ph type="title"/>
          </p:nvPr>
        </p:nvSpPr>
        <p:spPr/>
        <p:txBody>
          <a:bodyPr/>
          <a:lstStyle/>
          <a:p>
            <a:r>
              <a:rPr lang="en-US" dirty="0"/>
              <a:t>BUSINESS IMPACT</a:t>
            </a:r>
            <a:endParaRPr lang="en-IN" dirty="0"/>
          </a:p>
        </p:txBody>
      </p:sp>
      <p:sp>
        <p:nvSpPr>
          <p:cNvPr id="4" name="TextBox 3">
            <a:extLst>
              <a:ext uri="{FF2B5EF4-FFF2-40B4-BE49-F238E27FC236}">
                <a16:creationId xmlns:a16="http://schemas.microsoft.com/office/drawing/2014/main" id="{4CE1110C-E4D7-6CFD-6D0A-209388DB23D3}"/>
              </a:ext>
            </a:extLst>
          </p:cNvPr>
          <p:cNvSpPr txBox="1"/>
          <p:nvPr/>
        </p:nvSpPr>
        <p:spPr>
          <a:xfrm>
            <a:off x="381966" y="2207443"/>
            <a:ext cx="5567422" cy="3785652"/>
          </a:xfrm>
          <a:prstGeom prst="rect">
            <a:avLst/>
          </a:prstGeom>
          <a:noFill/>
        </p:spPr>
        <p:txBody>
          <a:bodyPr wrap="square">
            <a:spAutoFit/>
          </a:bodyPr>
          <a:lstStyle/>
          <a:p>
            <a:pPr>
              <a:buNone/>
            </a:pPr>
            <a:r>
              <a:rPr lang="en-US" sz="1600" b="1" dirty="0"/>
              <a:t>1️⃣ Revenue Optimization</a:t>
            </a:r>
          </a:p>
          <a:p>
            <a:pPr>
              <a:buFont typeface="Arial" panose="020B0604020202020204" pitchFamily="34" charset="0"/>
              <a:buChar char="•"/>
            </a:pPr>
            <a:r>
              <a:rPr lang="en-US" sz="1600" dirty="0"/>
              <a:t>Identified top-performing market segments.</a:t>
            </a:r>
          </a:p>
          <a:p>
            <a:pPr>
              <a:buFont typeface="Arial" panose="020B0604020202020204" pitchFamily="34" charset="0"/>
              <a:buChar char="•"/>
            </a:pPr>
            <a:r>
              <a:rPr lang="en-US" sz="1600" dirty="0"/>
              <a:t>Compared revenue performance between City and Resort hotels.</a:t>
            </a:r>
          </a:p>
          <a:p>
            <a:pPr>
              <a:buFont typeface="Arial" panose="020B0604020202020204" pitchFamily="34" charset="0"/>
              <a:buChar char="•"/>
            </a:pPr>
            <a:r>
              <a:rPr lang="en-US" sz="1600" dirty="0"/>
              <a:t>Analyzed ADR trends across months and years.</a:t>
            </a:r>
          </a:p>
          <a:p>
            <a:pPr>
              <a:buFont typeface="Arial" panose="020B0604020202020204" pitchFamily="34" charset="0"/>
              <a:buChar char="•"/>
            </a:pPr>
            <a:r>
              <a:rPr lang="en-US" sz="1600" dirty="0"/>
              <a:t>Evaluated revenue contribution by customer types.</a:t>
            </a:r>
            <a:br>
              <a:rPr lang="en-US" sz="1600" dirty="0"/>
            </a:br>
            <a:endParaRPr lang="en-US" sz="1600" dirty="0"/>
          </a:p>
          <a:p>
            <a:pPr>
              <a:buNone/>
            </a:pPr>
            <a:r>
              <a:rPr lang="en-US" sz="1600" b="1" dirty="0"/>
              <a:t>2️⃣ Improved Occupancy &amp; Demand Planning</a:t>
            </a:r>
          </a:p>
          <a:p>
            <a:pPr>
              <a:buFont typeface="Arial" panose="020B0604020202020204" pitchFamily="34" charset="0"/>
              <a:buChar char="•"/>
            </a:pPr>
            <a:r>
              <a:rPr lang="en-US" sz="1600" dirty="0"/>
              <a:t>Analyzed booking distribution across years and months.</a:t>
            </a:r>
          </a:p>
          <a:p>
            <a:pPr>
              <a:buFont typeface="Arial" panose="020B0604020202020204" pitchFamily="34" charset="0"/>
              <a:buChar char="•"/>
            </a:pPr>
            <a:r>
              <a:rPr lang="en-US" sz="1600" dirty="0"/>
              <a:t>Studied lead time patterns and stay duration.</a:t>
            </a:r>
          </a:p>
          <a:p>
            <a:pPr>
              <a:buFont typeface="Arial" panose="020B0604020202020204" pitchFamily="34" charset="0"/>
              <a:buChar char="•"/>
            </a:pPr>
            <a:r>
              <a:rPr lang="en-US" sz="1600" dirty="0"/>
              <a:t>Evaluated guest volume trends (Adults, Children, Babies).</a:t>
            </a:r>
          </a:p>
          <a:p>
            <a:pPr>
              <a:buNone/>
            </a:pPr>
            <a:endParaRPr lang="en-US" sz="1600" dirty="0"/>
          </a:p>
          <a:p>
            <a:pPr>
              <a:buNone/>
            </a:pPr>
            <a:r>
              <a:rPr lang="en-US" sz="1600" b="1" dirty="0"/>
              <a:t>3️⃣ Risk Monitoring &amp; Revenue Protection</a:t>
            </a:r>
          </a:p>
          <a:p>
            <a:pPr>
              <a:buFont typeface="Arial" panose="020B0604020202020204" pitchFamily="34" charset="0"/>
              <a:buChar char="•"/>
            </a:pPr>
            <a:r>
              <a:rPr lang="en-US" sz="1600" dirty="0"/>
              <a:t>Measured cancellation rate and total cancellations.</a:t>
            </a:r>
          </a:p>
          <a:p>
            <a:pPr>
              <a:buFont typeface="Arial" panose="020B0604020202020204" pitchFamily="34" charset="0"/>
              <a:buChar char="•"/>
            </a:pPr>
            <a:r>
              <a:rPr lang="en-US" sz="1600" dirty="0"/>
              <a:t>Identified seasonal and hotel-level cancellation risks.</a:t>
            </a:r>
          </a:p>
        </p:txBody>
      </p:sp>
      <p:sp>
        <p:nvSpPr>
          <p:cNvPr id="6" name="TextBox 5">
            <a:extLst>
              <a:ext uri="{FF2B5EF4-FFF2-40B4-BE49-F238E27FC236}">
                <a16:creationId xmlns:a16="http://schemas.microsoft.com/office/drawing/2014/main" id="{C5B282A3-F4CF-C35B-B2C7-650C690AF743}"/>
              </a:ext>
            </a:extLst>
          </p:cNvPr>
          <p:cNvSpPr txBox="1"/>
          <p:nvPr/>
        </p:nvSpPr>
        <p:spPr>
          <a:xfrm>
            <a:off x="5605042" y="2207443"/>
            <a:ext cx="6094070" cy="2031325"/>
          </a:xfrm>
          <a:prstGeom prst="rect">
            <a:avLst/>
          </a:prstGeom>
          <a:noFill/>
        </p:spPr>
        <p:txBody>
          <a:bodyPr wrap="square">
            <a:spAutoFit/>
          </a:bodyPr>
          <a:lstStyle/>
          <a:p>
            <a:pPr>
              <a:buNone/>
            </a:pPr>
            <a:r>
              <a:rPr lang="en-US" sz="1800" b="1" dirty="0"/>
              <a:t>4️⃣ Customer Segmentation &amp; Targeting</a:t>
            </a:r>
          </a:p>
          <a:p>
            <a:pPr>
              <a:buFont typeface="Arial" panose="020B0604020202020204" pitchFamily="34" charset="0"/>
              <a:buChar char="•"/>
            </a:pPr>
            <a:r>
              <a:rPr lang="en-US" sz="1800" dirty="0"/>
              <a:t>Segmented customers by market segment and customer type.</a:t>
            </a:r>
          </a:p>
          <a:p>
            <a:pPr>
              <a:buFont typeface="Arial" panose="020B0604020202020204" pitchFamily="34" charset="0"/>
              <a:buChar char="•"/>
            </a:pPr>
            <a:r>
              <a:rPr lang="en-US" sz="1800" dirty="0"/>
              <a:t>Identified repeat guest percentage.</a:t>
            </a:r>
          </a:p>
          <a:p>
            <a:endParaRPr lang="en-US" sz="1800" dirty="0"/>
          </a:p>
          <a:p>
            <a:pPr>
              <a:buNone/>
            </a:pPr>
            <a:r>
              <a:rPr lang="en-US" sz="1800" b="1" dirty="0"/>
              <a:t>5️⃣ Data-Driven Decision Framework</a:t>
            </a:r>
          </a:p>
          <a:p>
            <a:pPr>
              <a:buFont typeface="Arial" panose="020B0604020202020204" pitchFamily="34" charset="0"/>
              <a:buChar char="•"/>
            </a:pPr>
            <a:r>
              <a:rPr lang="en-US" sz="1800" dirty="0"/>
              <a:t>Created reusable DAX-based KPIs.</a:t>
            </a:r>
          </a:p>
          <a:p>
            <a:pPr>
              <a:buFont typeface="Arial" panose="020B0604020202020204" pitchFamily="34" charset="0"/>
              <a:buChar char="•"/>
            </a:pPr>
            <a:r>
              <a:rPr lang="en-US" sz="1800" dirty="0"/>
              <a:t>Built interactive dashboards with dynamic filters.</a:t>
            </a:r>
          </a:p>
        </p:txBody>
      </p:sp>
    </p:spTree>
    <p:extLst>
      <p:ext uri="{BB962C8B-B14F-4D97-AF65-F5344CB8AC3E}">
        <p14:creationId xmlns:p14="http://schemas.microsoft.com/office/powerpoint/2010/main" val="1377005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51C46-52AD-BD2C-D05F-91BA07AC18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EB90D7-94AC-842E-CA6A-37E6CC432050}"/>
              </a:ext>
            </a:extLst>
          </p:cNvPr>
          <p:cNvSpPr>
            <a:spLocks noGrp="1"/>
          </p:cNvSpPr>
          <p:nvPr>
            <p:ph type="title"/>
          </p:nvPr>
        </p:nvSpPr>
        <p:spPr/>
        <p:txBody>
          <a:bodyPr/>
          <a:lstStyle/>
          <a:p>
            <a:r>
              <a:rPr lang="en-US" dirty="0"/>
              <a:t>CONCLUSION</a:t>
            </a:r>
            <a:endParaRPr lang="en-IN" dirty="0"/>
          </a:p>
        </p:txBody>
      </p:sp>
      <p:sp>
        <p:nvSpPr>
          <p:cNvPr id="4" name="TextBox 3">
            <a:extLst>
              <a:ext uri="{FF2B5EF4-FFF2-40B4-BE49-F238E27FC236}">
                <a16:creationId xmlns:a16="http://schemas.microsoft.com/office/drawing/2014/main" id="{D406DBCD-39DA-590C-4739-74104C8234DD}"/>
              </a:ext>
            </a:extLst>
          </p:cNvPr>
          <p:cNvSpPr txBox="1"/>
          <p:nvPr/>
        </p:nvSpPr>
        <p:spPr>
          <a:xfrm>
            <a:off x="381966" y="2286574"/>
            <a:ext cx="10661172" cy="2554545"/>
          </a:xfrm>
          <a:prstGeom prst="rect">
            <a:avLst/>
          </a:prstGeom>
          <a:noFill/>
        </p:spPr>
        <p:txBody>
          <a:bodyPr wrap="square">
            <a:spAutoFit/>
          </a:bodyPr>
          <a:lstStyle/>
          <a:p>
            <a:pPr marL="285750" indent="-285750" algn="just">
              <a:buFont typeface="Arial" panose="020B0604020202020204" pitchFamily="34" charset="0"/>
              <a:buChar char="•"/>
            </a:pPr>
            <a:r>
              <a:rPr lang="en-US" sz="1600" dirty="0"/>
              <a:t>The </a:t>
            </a:r>
            <a:r>
              <a:rPr lang="en-US" sz="1600" b="1" dirty="0"/>
              <a:t>Revai</a:t>
            </a:r>
            <a:r>
              <a:rPr lang="en-US" sz="1600" dirty="0"/>
              <a:t> project successfully demonstrates how AI-driven data analytics can transform hotel revenue management. </a:t>
            </a:r>
          </a:p>
          <a:p>
            <a:pPr algn="just"/>
            <a:endParaRPr lang="en-US" sz="1600" dirty="0"/>
          </a:p>
          <a:p>
            <a:pPr marL="285750" indent="-285750" algn="just">
              <a:buFont typeface="Arial" panose="020B0604020202020204" pitchFamily="34" charset="0"/>
              <a:buChar char="•"/>
            </a:pPr>
            <a:r>
              <a:rPr lang="en-US" sz="1600" dirty="0"/>
              <a:t>By processing and modeling a comprehensive 4-year booking dataset, the project delivered five interactive dashboards that provide deep visibility into revenue performance, booking trends, customer behavior, and cancellation risk. </a:t>
            </a:r>
          </a:p>
          <a:p>
            <a:pPr algn="just"/>
            <a:endParaRPr lang="en-US" sz="1600" dirty="0"/>
          </a:p>
          <a:p>
            <a:pPr marL="285750" indent="-285750" algn="just">
              <a:buFont typeface="Arial" panose="020B0604020202020204" pitchFamily="34" charset="0"/>
              <a:buChar char="•"/>
            </a:pPr>
            <a:r>
              <a:rPr lang="en-US" sz="1600" dirty="0"/>
              <a:t>The DAX-powered KPIs and Power BI visualizations equip hotel management with the tools needed to optimize pricing strategies, reduce cancellation losses, and target high-value customer segments. </a:t>
            </a:r>
          </a:p>
          <a:p>
            <a:pPr algn="just"/>
            <a:endParaRPr lang="en-US" sz="1600" dirty="0"/>
          </a:p>
          <a:p>
            <a:pPr marL="285750" indent="-285750" algn="just">
              <a:buFont typeface="Arial" panose="020B0604020202020204" pitchFamily="34" charset="0"/>
              <a:buChar char="•"/>
            </a:pPr>
            <a:r>
              <a:rPr lang="en-US" sz="1600" dirty="0"/>
              <a:t>This project establishes a scalable, reusable analytical framework that can be extended with real-time data feeds and machine learning models for even more accurate forecasting and revenue optimization in the future.</a:t>
            </a:r>
          </a:p>
        </p:txBody>
      </p:sp>
    </p:spTree>
    <p:extLst>
      <p:ext uri="{BB962C8B-B14F-4D97-AF65-F5344CB8AC3E}">
        <p14:creationId xmlns:p14="http://schemas.microsoft.com/office/powerpoint/2010/main" val="3510686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5739A7-4AEF-A738-E080-996DCAC98346}"/>
              </a:ext>
            </a:extLst>
          </p:cNvPr>
          <p:cNvPicPr>
            <a:picLocks noChangeAspect="1"/>
          </p:cNvPicPr>
          <p:nvPr/>
        </p:nvPicPr>
        <p:blipFill>
          <a:blip r:embed="rId2">
            <a:extLst>
              <a:ext uri="{837473B0-CC2E-450A-ABE3-18F120FF3D39}">
                <a1611:picAttrSrcUrl xmlns:a1611="http://schemas.microsoft.com/office/drawing/2016/11/main" r:id="rId3"/>
              </a:ext>
            </a:extLst>
          </a:blip>
          <a:srcRect/>
          <a:stretch/>
        </p:blipFill>
        <p:spPr>
          <a:xfrm>
            <a:off x="0" y="0"/>
            <a:ext cx="12192000" cy="6856126"/>
          </a:xfrm>
          <a:prstGeom prst="rect">
            <a:avLst/>
          </a:prstGeom>
        </p:spPr>
      </p:pic>
    </p:spTree>
    <p:extLst>
      <p:ext uri="{BB962C8B-B14F-4D97-AF65-F5344CB8AC3E}">
        <p14:creationId xmlns:p14="http://schemas.microsoft.com/office/powerpoint/2010/main" val="93287268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{2091E998-E635-4E39-9008-9DB2C81F21B8}TF319cfb39-eeba-4af5-a5a2-03d53d0375160e3309b2-0adf682d390f</Template>
  <TotalTime>1443</TotalTime>
  <Words>1414</Words>
  <Application>Microsoft Office PowerPoint</Application>
  <PresentationFormat>Widescreen</PresentationFormat>
  <Paragraphs>192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Gill Sans MT</vt:lpstr>
      <vt:lpstr>Wingdings</vt:lpstr>
      <vt:lpstr>Wingdings 2</vt:lpstr>
      <vt:lpstr>Dividend</vt:lpstr>
      <vt:lpstr>Revai – AI DRIVEN REVENUE ANALYSIS FOR HOTELS </vt:lpstr>
      <vt:lpstr>Abstract</vt:lpstr>
      <vt:lpstr>INTRODUCTION</vt:lpstr>
      <vt:lpstr>PROBLEM STATEMENT</vt:lpstr>
      <vt:lpstr>Project  work flow</vt:lpstr>
      <vt:lpstr>ABOUT THE DATASET</vt:lpstr>
      <vt:lpstr>DATA PREPROCESSING</vt:lpstr>
      <vt:lpstr>DATA MODELING</vt:lpstr>
      <vt:lpstr>DAX METRICS </vt:lpstr>
      <vt:lpstr>DAX METRICS </vt:lpstr>
      <vt:lpstr>DASHBOARD 1 : REVENUE DASHBOARD</vt:lpstr>
      <vt:lpstr>DASHBOARD 2 : BOOKING BEHAVIOUR ANALYSIS</vt:lpstr>
      <vt:lpstr>DASHBOARD 3 : CUSTOMER BEHAVIOUR ANALYSIS</vt:lpstr>
      <vt:lpstr>Dashboard 4 : PREDICTIVE ANALYSIS</vt:lpstr>
      <vt:lpstr>DASHBOARD 5 : CANCELLATION ANALYSIS</vt:lpstr>
      <vt:lpstr>BUSINESS IMPACT</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Harshal Chelikani</dc:creator>
  <cp:lastModifiedBy>Harshal Chelikani</cp:lastModifiedBy>
  <cp:revision>8</cp:revision>
  <dcterms:created xsi:type="dcterms:W3CDTF">2026-02-28T07:01:18Z</dcterms:created>
  <dcterms:modified xsi:type="dcterms:W3CDTF">2026-03-10T13:58:04Z</dcterms:modified>
</cp:coreProperties>
</file>