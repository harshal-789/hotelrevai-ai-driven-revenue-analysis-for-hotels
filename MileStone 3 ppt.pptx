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65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87" d="100"/>
          <a:sy n="87" d="100"/>
        </p:scale>
        <p:origin x="2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tpaqp.edu.pe/explore/religious-birthday-thank-you-messages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562E7-9290-542D-46D1-C64E2C37E2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Revai – AI DRIVEN REVENUE ANALYSIS FOR HOTELS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584E9C-E806-E3EE-423E-BD5B0CC8EF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Milestone - 3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B03AE-DDAD-5FA1-28F8-2E5FB56F46FA}"/>
              </a:ext>
            </a:extLst>
          </p:cNvPr>
          <p:cNvSpPr txBox="1"/>
          <p:nvPr/>
        </p:nvSpPr>
        <p:spPr>
          <a:xfrm>
            <a:off x="2688248" y="3633783"/>
            <a:ext cx="6815504" cy="2246769"/>
          </a:xfrm>
          <a:prstGeom prst="rect">
            <a:avLst/>
          </a:prstGeom>
          <a:noFill/>
          <a:ln w="19050">
            <a:solidFill>
              <a:schemeClr val="accent1">
                <a:lumMod val="10000"/>
                <a:lumOff val="90000"/>
              </a:schemeClr>
            </a:solidFill>
            <a:prstDash val="dash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Team – D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Arun Kumar V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Satbir Singh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Chelikani Harshal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N. Akhila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i-FI" sz="2000" dirty="0">
                <a:solidFill>
                  <a:schemeClr val="bg1"/>
                </a:solidFill>
              </a:rPr>
              <a:t>Srilakshmi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364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C2105-8923-1A87-2BAC-9907317C8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 work flow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D1FAE5-E305-1B8D-24D3-342C55121E9F}"/>
              </a:ext>
            </a:extLst>
          </p:cNvPr>
          <p:cNvSpPr txBox="1"/>
          <p:nvPr/>
        </p:nvSpPr>
        <p:spPr>
          <a:xfrm>
            <a:off x="3924551" y="2342690"/>
            <a:ext cx="433230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💼 Work Flow of the Project </a:t>
            </a:r>
          </a:p>
          <a:p>
            <a:pPr>
              <a:buNone/>
            </a:pPr>
            <a:r>
              <a:rPr lang="en-IN" sz="2400" dirty="0"/>
              <a:t>Raw Booking Data</a:t>
            </a:r>
            <a:br>
              <a:rPr lang="en-IN" sz="2400" dirty="0"/>
            </a:br>
            <a:r>
              <a:rPr lang="en-IN" sz="2400" dirty="0"/>
              <a:t>⬇</a:t>
            </a:r>
            <a:br>
              <a:rPr lang="en-IN" sz="2400" dirty="0"/>
            </a:br>
            <a:r>
              <a:rPr lang="en-IN" sz="2400" dirty="0"/>
              <a:t>Cleaned &amp; Modelled Data</a:t>
            </a:r>
            <a:br>
              <a:rPr lang="en-IN" sz="2400" dirty="0"/>
            </a:br>
            <a:r>
              <a:rPr lang="en-IN" sz="2400" dirty="0"/>
              <a:t>⬇</a:t>
            </a:r>
            <a:br>
              <a:rPr lang="en-IN" sz="2400" dirty="0"/>
            </a:br>
            <a:r>
              <a:rPr lang="en-IN" sz="2400" dirty="0"/>
              <a:t>KPI-Based Analysis</a:t>
            </a:r>
            <a:br>
              <a:rPr lang="en-IN" sz="2400" dirty="0"/>
            </a:br>
            <a:r>
              <a:rPr lang="en-IN" sz="2400" dirty="0"/>
              <a:t>⬇</a:t>
            </a:r>
            <a:br>
              <a:rPr lang="en-IN" sz="2400" dirty="0"/>
            </a:br>
            <a:r>
              <a:rPr lang="en-IN" sz="2400" dirty="0"/>
              <a:t>Interactive Dashboards</a:t>
            </a:r>
            <a:br>
              <a:rPr lang="en-IN" sz="2400" dirty="0"/>
            </a:br>
            <a:r>
              <a:rPr lang="en-IN" sz="2400" dirty="0"/>
              <a:t>⬇</a:t>
            </a:r>
            <a:br>
              <a:rPr lang="en-IN" sz="2400" dirty="0"/>
            </a:br>
            <a:r>
              <a:rPr lang="en-IN" sz="2400" dirty="0"/>
              <a:t>Actionable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674530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6AC8B-BE23-F192-0DA2-CA1A72AD8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DATASET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C7E03-F1FD-776B-18AD-86F9419D0CCB}"/>
              </a:ext>
            </a:extLst>
          </p:cNvPr>
          <p:cNvSpPr txBox="1"/>
          <p:nvPr/>
        </p:nvSpPr>
        <p:spPr>
          <a:xfrm>
            <a:off x="448408" y="2382715"/>
            <a:ext cx="1115710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dataset used is a 3-year </a:t>
            </a:r>
            <a:r>
              <a:rPr lang="en-US" b="1" dirty="0"/>
              <a:t>Hotel Booking Dataset</a:t>
            </a:r>
            <a:r>
              <a:rPr lang="en-US" dirty="0"/>
              <a:t>, containing booking-level information from </a:t>
            </a:r>
            <a:r>
              <a:rPr lang="en-US" b="1" dirty="0"/>
              <a:t>2015-2017</a:t>
            </a:r>
            <a:r>
              <a:rPr lang="en-US" dirty="0"/>
              <a:t> such as: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Hotel type (City / Resort)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Market segment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Distribution channel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Guest details (Adults, Children, Babies)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Stay details (Weekday &amp; Weekend nights)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ADR (Average Daily Rate)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Cancellation flag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Arrival date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Country, customer type, and other booking attributes</a:t>
            </a:r>
          </a:p>
          <a:p>
            <a:endParaRPr lang="en-US" dirty="0"/>
          </a:p>
          <a:p>
            <a:r>
              <a:rPr lang="en-US" dirty="0"/>
              <a:t>The dataset consists of booking-level transactional records, which makes it ideal for KPI-driven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0631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289F8-71BD-280A-C6BC-D126767DA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99CF64-053C-6D21-9B62-621BF35961C1}"/>
              </a:ext>
            </a:extLst>
          </p:cNvPr>
          <p:cNvSpPr txBox="1"/>
          <p:nvPr/>
        </p:nvSpPr>
        <p:spPr>
          <a:xfrm>
            <a:off x="463625" y="1872761"/>
            <a:ext cx="11254154" cy="4377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Before analysis, data cleaning and transformation were performed in </a:t>
            </a:r>
            <a:r>
              <a:rPr lang="en-US" sz="2400" b="1" dirty="0"/>
              <a:t>Power Query Editor</a:t>
            </a:r>
            <a:r>
              <a:rPr lang="en-US" sz="2400" dirty="0"/>
              <a:t>.</a:t>
            </a:r>
          </a:p>
          <a:p>
            <a:pPr algn="ctr"/>
            <a:endParaRPr lang="en-US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b="1" dirty="0"/>
              <a:t>Removed unnecessary columns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b="1" dirty="0"/>
              <a:t>Handled missing values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b="1" dirty="0"/>
              <a:t>Removed duplicate records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b="1" dirty="0"/>
              <a:t>Corrected data types</a:t>
            </a:r>
          </a:p>
          <a:p>
            <a:pPr lvl="2">
              <a:lnSpc>
                <a:spcPct val="150000"/>
              </a:lnSpc>
            </a:pPr>
            <a:r>
              <a:rPr lang="en-US" sz="2000" dirty="0"/>
              <a:t>Date fields → Date format</a:t>
            </a:r>
          </a:p>
          <a:p>
            <a:pPr lvl="2">
              <a:lnSpc>
                <a:spcPct val="150000"/>
              </a:lnSpc>
            </a:pPr>
            <a:r>
              <a:rPr lang="en-US" sz="2000" dirty="0"/>
              <a:t>Numeric fields → Whole / Decimal numbers</a:t>
            </a:r>
          </a:p>
          <a:p>
            <a:pPr lvl="2">
              <a:lnSpc>
                <a:spcPct val="150000"/>
              </a:lnSpc>
            </a:pPr>
            <a:r>
              <a:rPr lang="en-US" sz="2000" dirty="0"/>
              <a:t>Categorical fields → 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83CB1-A417-DD4B-03BA-BD2635AD3497}"/>
              </a:ext>
            </a:extLst>
          </p:cNvPr>
          <p:cNvSpPr txBox="1"/>
          <p:nvPr/>
        </p:nvSpPr>
        <p:spPr>
          <a:xfrm>
            <a:off x="7040302" y="2984911"/>
            <a:ext cx="4349186" cy="2346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5. Standardized categorical values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Ensured consistency across fields like: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Market Segment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Distribution Channel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Customer Type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DD872E-1F59-1F29-66D2-9C63BA53AE23}"/>
              </a:ext>
            </a:extLst>
          </p:cNvPr>
          <p:cNvCxnSpPr>
            <a:cxnSpLocks/>
          </p:cNvCxnSpPr>
          <p:nvPr/>
        </p:nvCxnSpPr>
        <p:spPr>
          <a:xfrm>
            <a:off x="6447099" y="2984911"/>
            <a:ext cx="0" cy="340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107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61FFB-DA2D-6B76-7DB7-0E8498D12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MODELING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2B742B-473D-5316-9E82-FB9694C788CF}"/>
              </a:ext>
            </a:extLst>
          </p:cNvPr>
          <p:cNvSpPr txBox="1"/>
          <p:nvPr/>
        </p:nvSpPr>
        <p:spPr>
          <a:xfrm>
            <a:off x="512150" y="2426678"/>
            <a:ext cx="1115710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To enrich the dataset, new calculated columns were created:</a:t>
            </a:r>
          </a:p>
          <a:p>
            <a:endParaRPr lang="en-US" sz="2000" dirty="0"/>
          </a:p>
          <a:p>
            <a:r>
              <a:rPr lang="en-US" sz="2000" b="1" dirty="0"/>
              <a:t>🔹 Total Stay</a:t>
            </a:r>
          </a:p>
          <a:p>
            <a:r>
              <a:rPr lang="en-US" sz="2000" dirty="0"/>
              <a:t>Total Stay = Weekend Nights + Weekday Nights</a:t>
            </a:r>
          </a:p>
          <a:p>
            <a:endParaRPr lang="en-IN" sz="2000" dirty="0"/>
          </a:p>
          <a:p>
            <a:r>
              <a:rPr lang="en-US" sz="2000" b="1" dirty="0"/>
              <a:t>🔹 Total Guests</a:t>
            </a:r>
          </a:p>
          <a:p>
            <a:r>
              <a:rPr lang="en-US" sz="2000" dirty="0"/>
              <a:t>Total Guests = Adults + Children + Babies</a:t>
            </a:r>
          </a:p>
          <a:p>
            <a:endParaRPr lang="en-IN" sz="2000" dirty="0"/>
          </a:p>
          <a:p>
            <a:r>
              <a:rPr lang="en-IN" sz="2000" b="1" dirty="0"/>
              <a:t>🔹 Revenue</a:t>
            </a:r>
          </a:p>
          <a:p>
            <a:r>
              <a:rPr lang="en-IN" sz="2000" dirty="0"/>
              <a:t>Revenue = ADR × Total Stay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70838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530DF-3A75-84B2-5F42-9BBED29DD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DAX METRICS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0FF722-4912-E859-259B-A7848A83BA66}"/>
              </a:ext>
            </a:extLst>
          </p:cNvPr>
          <p:cNvSpPr txBox="1"/>
          <p:nvPr/>
        </p:nvSpPr>
        <p:spPr>
          <a:xfrm>
            <a:off x="575892" y="2206869"/>
            <a:ext cx="11029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After data modeling, DAX was used to create reusable business KPIs.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C6F9EF-1868-EC36-A5B1-E8257AECF320}"/>
              </a:ext>
            </a:extLst>
          </p:cNvPr>
          <p:cNvSpPr txBox="1"/>
          <p:nvPr/>
        </p:nvSpPr>
        <p:spPr>
          <a:xfrm>
            <a:off x="551252" y="2645499"/>
            <a:ext cx="5376793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🔹 1. Average ADR</a:t>
            </a:r>
          </a:p>
          <a:p>
            <a:r>
              <a:rPr lang="en-US" dirty="0"/>
              <a:t>Average ADR = AVERAGE(</a:t>
            </a:r>
            <a:r>
              <a:rPr lang="en-US" dirty="0" err="1"/>
              <a:t>hotel_booking_main</a:t>
            </a:r>
            <a:r>
              <a:rPr lang="en-US" dirty="0"/>
              <a:t>[</a:t>
            </a:r>
            <a:r>
              <a:rPr lang="en-US" dirty="0" err="1"/>
              <a:t>adr</a:t>
            </a:r>
            <a:r>
              <a:rPr lang="en-US" dirty="0"/>
              <a:t>])</a:t>
            </a:r>
          </a:p>
          <a:p>
            <a:r>
              <a:rPr lang="en-US" dirty="0"/>
              <a:t>Used to understand pricing trends.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🔹 2. Total Bookings</a:t>
            </a:r>
          </a:p>
          <a:p>
            <a:r>
              <a:rPr lang="en-US" dirty="0"/>
              <a:t>Total Bookings = COUNTROWS(</a:t>
            </a:r>
            <a:r>
              <a:rPr lang="en-US" dirty="0" err="1"/>
              <a:t>hotel_booking_main</a:t>
            </a:r>
            <a:r>
              <a:rPr lang="en-US" dirty="0"/>
              <a:t>)</a:t>
            </a:r>
          </a:p>
          <a:p>
            <a:r>
              <a:rPr lang="en-US" dirty="0"/>
              <a:t>Core business metric.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🔹 3. Total Cancellations</a:t>
            </a:r>
          </a:p>
          <a:p>
            <a:r>
              <a:rPr lang="en-US" dirty="0"/>
              <a:t>Total Cancellations =</a:t>
            </a:r>
            <a:br>
              <a:rPr lang="en-US" dirty="0"/>
            </a:br>
            <a:r>
              <a:rPr lang="en-US" dirty="0"/>
              <a:t>CALCULATE(</a:t>
            </a:r>
            <a:br>
              <a:rPr lang="en-US" dirty="0"/>
            </a:br>
            <a:r>
              <a:rPr lang="en-US" dirty="0"/>
              <a:t>    COUNTROWS(</a:t>
            </a:r>
            <a:r>
              <a:rPr lang="en-US" dirty="0" err="1"/>
              <a:t>hotel_booking_main</a:t>
            </a:r>
            <a:r>
              <a:rPr lang="en-US" dirty="0"/>
              <a:t>),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hotel_booking_main</a:t>
            </a:r>
            <a:r>
              <a:rPr lang="en-US" dirty="0"/>
              <a:t>[</a:t>
            </a:r>
            <a:r>
              <a:rPr lang="en-US" dirty="0" err="1"/>
              <a:t>is_canceled</a:t>
            </a:r>
            <a:r>
              <a:rPr lang="en-US" dirty="0"/>
              <a:t>] = 1</a:t>
            </a:r>
            <a:br>
              <a:rPr lang="en-US" dirty="0"/>
            </a:br>
            <a:r>
              <a:rPr lang="en-U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7B921F-A5B0-630B-91F7-ACDB19AE09C7}"/>
              </a:ext>
            </a:extLst>
          </p:cNvPr>
          <p:cNvSpPr txBox="1"/>
          <p:nvPr/>
        </p:nvSpPr>
        <p:spPr>
          <a:xfrm>
            <a:off x="6090699" y="2702095"/>
            <a:ext cx="48908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🔹 4. Total Confirmed</a:t>
            </a:r>
          </a:p>
          <a:p>
            <a:r>
              <a:rPr lang="en-US" dirty="0"/>
              <a:t>Total Confirmed =</a:t>
            </a:r>
            <a:br>
              <a:rPr lang="en-US" dirty="0"/>
            </a:br>
            <a:r>
              <a:rPr lang="en-US" dirty="0"/>
              <a:t>CALCULATE(</a:t>
            </a:r>
            <a:br>
              <a:rPr lang="en-US" dirty="0"/>
            </a:br>
            <a:r>
              <a:rPr lang="en-US" dirty="0"/>
              <a:t>    COUNTROWS(</a:t>
            </a:r>
            <a:r>
              <a:rPr lang="en-US" dirty="0" err="1"/>
              <a:t>hotel_booking_main</a:t>
            </a:r>
            <a:r>
              <a:rPr lang="en-US" dirty="0"/>
              <a:t>),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hotel_booking_main</a:t>
            </a:r>
            <a:r>
              <a:rPr lang="en-US" dirty="0"/>
              <a:t>[</a:t>
            </a:r>
            <a:r>
              <a:rPr lang="en-US" dirty="0" err="1"/>
              <a:t>is_canceled</a:t>
            </a:r>
            <a:r>
              <a:rPr lang="en-US" dirty="0"/>
              <a:t>] = 0</a:t>
            </a:r>
            <a:br>
              <a:rPr lang="en-US" dirty="0"/>
            </a:br>
            <a:r>
              <a:rPr lang="en-US" dirty="0"/>
              <a:t>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178C71-97CC-55FC-FCDD-B09DD51DE22D}"/>
              </a:ext>
            </a:extLst>
          </p:cNvPr>
          <p:cNvCxnSpPr>
            <a:cxnSpLocks/>
          </p:cNvCxnSpPr>
          <p:nvPr/>
        </p:nvCxnSpPr>
        <p:spPr>
          <a:xfrm>
            <a:off x="5952685" y="2702487"/>
            <a:ext cx="0" cy="387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7580D9-6895-BFB4-2FBC-0CA0FE7059A7}"/>
              </a:ext>
            </a:extLst>
          </p:cNvPr>
          <p:cNvCxnSpPr>
            <a:cxnSpLocks/>
          </p:cNvCxnSpPr>
          <p:nvPr/>
        </p:nvCxnSpPr>
        <p:spPr>
          <a:xfrm>
            <a:off x="413238" y="3736174"/>
            <a:ext cx="5539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C9C6C-77E3-A6E8-87B8-F7A4757FB2F0}"/>
              </a:ext>
            </a:extLst>
          </p:cNvPr>
          <p:cNvCxnSpPr>
            <a:cxnSpLocks/>
          </p:cNvCxnSpPr>
          <p:nvPr/>
        </p:nvCxnSpPr>
        <p:spPr>
          <a:xfrm>
            <a:off x="413238" y="4829351"/>
            <a:ext cx="5539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2E49FB-1503-BF34-34DB-6DD50FEAD590}"/>
              </a:ext>
            </a:extLst>
          </p:cNvPr>
          <p:cNvCxnSpPr>
            <a:cxnSpLocks/>
          </p:cNvCxnSpPr>
          <p:nvPr/>
        </p:nvCxnSpPr>
        <p:spPr>
          <a:xfrm>
            <a:off x="413238" y="2702096"/>
            <a:ext cx="5539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185AE4-569C-6DD2-E2EB-D1090E40D625}"/>
              </a:ext>
            </a:extLst>
          </p:cNvPr>
          <p:cNvCxnSpPr>
            <a:cxnSpLocks/>
          </p:cNvCxnSpPr>
          <p:nvPr/>
        </p:nvCxnSpPr>
        <p:spPr>
          <a:xfrm>
            <a:off x="413238" y="2702096"/>
            <a:ext cx="0" cy="387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2522E3C-CC05-CEFF-C072-A974F75B6F4B}"/>
              </a:ext>
            </a:extLst>
          </p:cNvPr>
          <p:cNvCxnSpPr>
            <a:cxnSpLocks/>
          </p:cNvCxnSpPr>
          <p:nvPr/>
        </p:nvCxnSpPr>
        <p:spPr>
          <a:xfrm>
            <a:off x="5952685" y="2702096"/>
            <a:ext cx="5539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8EB071-3935-8565-7458-60EE0B01DB41}"/>
              </a:ext>
            </a:extLst>
          </p:cNvPr>
          <p:cNvCxnSpPr>
            <a:cxnSpLocks/>
          </p:cNvCxnSpPr>
          <p:nvPr/>
        </p:nvCxnSpPr>
        <p:spPr>
          <a:xfrm>
            <a:off x="5952684" y="4457534"/>
            <a:ext cx="5539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E782AAD-FC14-13A5-9D13-B2C29AC5D270}"/>
              </a:ext>
            </a:extLst>
          </p:cNvPr>
          <p:cNvCxnSpPr>
            <a:cxnSpLocks/>
          </p:cNvCxnSpPr>
          <p:nvPr/>
        </p:nvCxnSpPr>
        <p:spPr>
          <a:xfrm>
            <a:off x="11492131" y="2702095"/>
            <a:ext cx="0" cy="387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01B784D-AEEC-1349-9EF5-CC4A09218EC5}"/>
              </a:ext>
            </a:extLst>
          </p:cNvPr>
          <p:cNvSpPr txBox="1"/>
          <p:nvPr/>
        </p:nvSpPr>
        <p:spPr>
          <a:xfrm>
            <a:off x="6115338" y="4499840"/>
            <a:ext cx="48908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🔹 5. Cancellation Rate %</a:t>
            </a:r>
          </a:p>
          <a:p>
            <a:r>
              <a:rPr lang="en-US" dirty="0"/>
              <a:t>Cancellation Rate % =</a:t>
            </a:r>
            <a:br>
              <a:rPr lang="en-US" dirty="0"/>
            </a:br>
            <a:r>
              <a:rPr lang="en-US" dirty="0"/>
              <a:t>DIVIDE(</a:t>
            </a:r>
            <a:br>
              <a:rPr lang="en-US" dirty="0"/>
            </a:br>
            <a:r>
              <a:rPr lang="en-US" dirty="0"/>
              <a:t>    [Total Cancellations],</a:t>
            </a:r>
            <a:br>
              <a:rPr lang="en-US" dirty="0"/>
            </a:br>
            <a:r>
              <a:rPr lang="en-US" dirty="0"/>
              <a:t>    [Total Bookings],</a:t>
            </a:r>
            <a:br>
              <a:rPr lang="en-US" dirty="0"/>
            </a:br>
            <a:r>
              <a:rPr lang="en-US" dirty="0"/>
              <a:t>    0</a:t>
            </a:r>
            <a:br>
              <a:rPr lang="en-US" dirty="0"/>
            </a:br>
            <a:r>
              <a:rPr lang="en-US" dirty="0"/>
              <a:t>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6539F59-1C79-3D34-E7ED-1F53A9B0EE5C}"/>
              </a:ext>
            </a:extLst>
          </p:cNvPr>
          <p:cNvCxnSpPr>
            <a:cxnSpLocks/>
          </p:cNvCxnSpPr>
          <p:nvPr/>
        </p:nvCxnSpPr>
        <p:spPr>
          <a:xfrm>
            <a:off x="5952684" y="6575698"/>
            <a:ext cx="5539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D6AAE21-0065-BBBE-4C01-D1F6E6F651C4}"/>
              </a:ext>
            </a:extLst>
          </p:cNvPr>
          <p:cNvCxnSpPr>
            <a:cxnSpLocks/>
          </p:cNvCxnSpPr>
          <p:nvPr/>
        </p:nvCxnSpPr>
        <p:spPr>
          <a:xfrm>
            <a:off x="413237" y="6575698"/>
            <a:ext cx="5539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447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E6D5-A2B0-25EE-99DE-D9B8E2538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BA04E-C1AF-572A-AF30-B54B02B0E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DAX METRICS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896B76-229D-58AC-1868-686E20245B1C}"/>
              </a:ext>
            </a:extLst>
          </p:cNvPr>
          <p:cNvSpPr txBox="1"/>
          <p:nvPr/>
        </p:nvSpPr>
        <p:spPr>
          <a:xfrm>
            <a:off x="575892" y="2206869"/>
            <a:ext cx="11029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After data modeling, DAX was used to create reusable business KPIs.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A62BC-C994-B5B9-C4EA-EEBCA42DEA56}"/>
              </a:ext>
            </a:extLst>
          </p:cNvPr>
          <p:cNvSpPr txBox="1"/>
          <p:nvPr/>
        </p:nvSpPr>
        <p:spPr>
          <a:xfrm>
            <a:off x="575892" y="2806567"/>
            <a:ext cx="500426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🔹 6. Total Guests</a:t>
            </a:r>
          </a:p>
          <a:p>
            <a:r>
              <a:rPr lang="en-US" dirty="0"/>
              <a:t>Total Guests =</a:t>
            </a:r>
            <a:br>
              <a:rPr lang="en-US" dirty="0"/>
            </a:br>
            <a:r>
              <a:rPr lang="en-US" dirty="0"/>
              <a:t>SUM(adults) + SUM(children) + SUM(babies)</a:t>
            </a:r>
            <a:br>
              <a:rPr lang="en-US" dirty="0"/>
            </a:br>
            <a:endParaRPr lang="en-US" b="1" dirty="0"/>
          </a:p>
          <a:p>
            <a:endParaRPr lang="en-US" b="1" dirty="0"/>
          </a:p>
          <a:p>
            <a:r>
              <a:rPr lang="en-US" b="1" dirty="0"/>
              <a:t>🔹 7. Total Revenue</a:t>
            </a:r>
            <a:endParaRPr lang="en-IN" dirty="0"/>
          </a:p>
          <a:p>
            <a:r>
              <a:rPr lang="en-US" dirty="0"/>
              <a:t>Total Revenue =</a:t>
            </a:r>
            <a:br>
              <a:rPr lang="en-US" dirty="0"/>
            </a:br>
            <a:r>
              <a:rPr lang="en-US" dirty="0"/>
              <a:t>SUMX(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hotel_booking_main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hotel_booking_main</a:t>
            </a:r>
            <a:r>
              <a:rPr lang="en-US" dirty="0"/>
              <a:t>[</a:t>
            </a:r>
            <a:r>
              <a:rPr lang="en-US" dirty="0" err="1"/>
              <a:t>adr</a:t>
            </a:r>
            <a:r>
              <a:rPr lang="en-US" dirty="0"/>
              <a:t>] *</a:t>
            </a:r>
            <a:br>
              <a:rPr lang="en-US" dirty="0"/>
            </a:br>
            <a:r>
              <a:rPr lang="en-US" dirty="0"/>
              <a:t>    (</a:t>
            </a:r>
            <a:r>
              <a:rPr lang="en-US" dirty="0" err="1"/>
              <a:t>stays_in_week_nights</a:t>
            </a:r>
            <a:r>
              <a:rPr lang="en-US" dirty="0"/>
              <a:t> + </a:t>
            </a:r>
            <a:r>
              <a:rPr lang="en-US" dirty="0" err="1"/>
              <a:t>stays_in_weekend_nights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)</a:t>
            </a:r>
            <a:endParaRPr lang="en-IN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8741D4-1864-1892-F739-5384F7C0635F}"/>
              </a:ext>
            </a:extLst>
          </p:cNvPr>
          <p:cNvSpPr txBox="1"/>
          <p:nvPr/>
        </p:nvSpPr>
        <p:spPr>
          <a:xfrm>
            <a:off x="6090699" y="2806175"/>
            <a:ext cx="500426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🔹 8. Total Nights</a:t>
            </a:r>
            <a:endParaRPr lang="en-IN" dirty="0"/>
          </a:p>
          <a:p>
            <a:r>
              <a:rPr lang="en-US" dirty="0"/>
              <a:t>Total Nights =</a:t>
            </a:r>
            <a:br>
              <a:rPr lang="en-US" dirty="0"/>
            </a:br>
            <a:r>
              <a:rPr lang="en-US" dirty="0"/>
              <a:t>SUM(</a:t>
            </a:r>
            <a:r>
              <a:rPr lang="en-US" dirty="0" err="1"/>
              <a:t>stays_in_week_nights</a:t>
            </a:r>
            <a:r>
              <a:rPr lang="en-US" dirty="0"/>
              <a:t>) +</a:t>
            </a:r>
            <a:br>
              <a:rPr lang="en-US" dirty="0"/>
            </a:br>
            <a:r>
              <a:rPr lang="en-US" dirty="0"/>
              <a:t>SUM(</a:t>
            </a:r>
            <a:r>
              <a:rPr lang="en-US" dirty="0" err="1"/>
              <a:t>stays_in_weekend_nights</a:t>
            </a:r>
            <a:r>
              <a:rPr lang="en-US" dirty="0"/>
              <a:t>)</a:t>
            </a:r>
          </a:p>
          <a:p>
            <a:endParaRPr lang="en-IN" dirty="0"/>
          </a:p>
          <a:p>
            <a:r>
              <a:rPr lang="en-US" b="1" dirty="0"/>
              <a:t>🔹 9. Revenue TY (Time Intelligence)</a:t>
            </a:r>
          </a:p>
          <a:p>
            <a:r>
              <a:rPr lang="en-US" dirty="0"/>
              <a:t>Revenue TY =</a:t>
            </a:r>
            <a:br>
              <a:rPr lang="en-US" dirty="0"/>
            </a:br>
            <a:r>
              <a:rPr lang="en-US" dirty="0"/>
              <a:t>CALCULATE(</a:t>
            </a:r>
            <a:br>
              <a:rPr lang="en-US" dirty="0"/>
            </a:br>
            <a:r>
              <a:rPr lang="en-US" dirty="0"/>
              <a:t>    [Total Revenue],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DateTable</a:t>
            </a:r>
            <a:r>
              <a:rPr lang="en-US" dirty="0"/>
              <a:t>[Year] = YEAR(TODAY())</a:t>
            </a:r>
            <a:br>
              <a:rPr lang="en-US" dirty="0"/>
            </a:br>
            <a:r>
              <a:rPr lang="en-US" dirty="0"/>
              <a:t>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BF51CE-9FAE-15E2-686D-4647DF8AAEE9}"/>
              </a:ext>
            </a:extLst>
          </p:cNvPr>
          <p:cNvCxnSpPr>
            <a:cxnSpLocks/>
          </p:cNvCxnSpPr>
          <p:nvPr/>
        </p:nvCxnSpPr>
        <p:spPr>
          <a:xfrm>
            <a:off x="5969928" y="2806175"/>
            <a:ext cx="0" cy="387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6E6C99-AB01-59BC-09FB-980ECCE420C7}"/>
              </a:ext>
            </a:extLst>
          </p:cNvPr>
          <p:cNvCxnSpPr>
            <a:cxnSpLocks/>
          </p:cNvCxnSpPr>
          <p:nvPr/>
        </p:nvCxnSpPr>
        <p:spPr>
          <a:xfrm>
            <a:off x="413237" y="4096371"/>
            <a:ext cx="5539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A03957-D5C6-4E0F-77DE-DBE66B94966B}"/>
              </a:ext>
            </a:extLst>
          </p:cNvPr>
          <p:cNvCxnSpPr>
            <a:cxnSpLocks/>
          </p:cNvCxnSpPr>
          <p:nvPr/>
        </p:nvCxnSpPr>
        <p:spPr>
          <a:xfrm>
            <a:off x="413238" y="2806176"/>
            <a:ext cx="5539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A3181D3-4A1D-5664-2C0C-728BD758A0D2}"/>
              </a:ext>
            </a:extLst>
          </p:cNvPr>
          <p:cNvCxnSpPr>
            <a:cxnSpLocks/>
          </p:cNvCxnSpPr>
          <p:nvPr/>
        </p:nvCxnSpPr>
        <p:spPr>
          <a:xfrm>
            <a:off x="413237" y="2805784"/>
            <a:ext cx="0" cy="3871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185A64-3843-2962-E761-EE516369EDD7}"/>
              </a:ext>
            </a:extLst>
          </p:cNvPr>
          <p:cNvCxnSpPr>
            <a:cxnSpLocks/>
          </p:cNvCxnSpPr>
          <p:nvPr/>
        </p:nvCxnSpPr>
        <p:spPr>
          <a:xfrm>
            <a:off x="5952685" y="2806176"/>
            <a:ext cx="5539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7466B96-D778-342F-C092-222AD5796823}"/>
              </a:ext>
            </a:extLst>
          </p:cNvPr>
          <p:cNvCxnSpPr>
            <a:cxnSpLocks/>
          </p:cNvCxnSpPr>
          <p:nvPr/>
        </p:nvCxnSpPr>
        <p:spPr>
          <a:xfrm>
            <a:off x="5969928" y="4096371"/>
            <a:ext cx="5539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CA77C1F-C09C-5D0C-D4C8-7883ECF401FE}"/>
              </a:ext>
            </a:extLst>
          </p:cNvPr>
          <p:cNvCxnSpPr>
            <a:cxnSpLocks/>
          </p:cNvCxnSpPr>
          <p:nvPr/>
        </p:nvCxnSpPr>
        <p:spPr>
          <a:xfrm>
            <a:off x="11492131" y="2806175"/>
            <a:ext cx="0" cy="387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D55BCD6-00B6-A934-9B6D-6FFC0AD44547}"/>
              </a:ext>
            </a:extLst>
          </p:cNvPr>
          <p:cNvCxnSpPr>
            <a:cxnSpLocks/>
          </p:cNvCxnSpPr>
          <p:nvPr/>
        </p:nvCxnSpPr>
        <p:spPr>
          <a:xfrm>
            <a:off x="413237" y="6677012"/>
            <a:ext cx="5539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1F5A6FE-1D74-4F4C-53C1-2D55BB2170D7}"/>
              </a:ext>
            </a:extLst>
          </p:cNvPr>
          <p:cNvCxnSpPr>
            <a:cxnSpLocks/>
          </p:cNvCxnSpPr>
          <p:nvPr/>
        </p:nvCxnSpPr>
        <p:spPr>
          <a:xfrm>
            <a:off x="5952684" y="6677012"/>
            <a:ext cx="55394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114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D98B23-1621-9019-D674-81179C19EF79}"/>
              </a:ext>
            </a:extLst>
          </p:cNvPr>
          <p:cNvSpPr/>
          <p:nvPr/>
        </p:nvSpPr>
        <p:spPr>
          <a:xfrm>
            <a:off x="4563797" y="6184111"/>
            <a:ext cx="7309552" cy="6048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6A312-C8BA-A426-F3A5-62487485F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1 : REVENUE DASHBOARD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B060D5-8D0E-A4FB-2D12-3251E95026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575"/>
          <a:stretch>
            <a:fillRect/>
          </a:stretch>
        </p:blipFill>
        <p:spPr>
          <a:xfrm>
            <a:off x="4622015" y="2047793"/>
            <a:ext cx="7079990" cy="39050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272D5A-F71A-A6BD-D6BD-C2F829E035CC}"/>
              </a:ext>
            </a:extLst>
          </p:cNvPr>
          <p:cNvSpPr txBox="1"/>
          <p:nvPr/>
        </p:nvSpPr>
        <p:spPr>
          <a:xfrm>
            <a:off x="150470" y="2025569"/>
            <a:ext cx="4471545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b="1" dirty="0"/>
          </a:p>
          <a:p>
            <a:endParaRPr lang="en-US" sz="1600" b="1" dirty="0"/>
          </a:p>
          <a:p>
            <a:r>
              <a:rPr lang="en-US" sz="1600" b="1" dirty="0"/>
              <a:t>Key KPIs Displayed:</a:t>
            </a:r>
          </a:p>
          <a:p>
            <a:r>
              <a:rPr lang="en-US" sz="1600" dirty="0"/>
              <a:t>Total Bookings</a:t>
            </a:r>
          </a:p>
          <a:p>
            <a:r>
              <a:rPr lang="en-US" sz="1600" dirty="0"/>
              <a:t>Total Revenue</a:t>
            </a:r>
          </a:p>
          <a:p>
            <a:r>
              <a:rPr lang="en-US" sz="1600" dirty="0"/>
              <a:t>Total Cancellations</a:t>
            </a:r>
          </a:p>
          <a:p>
            <a:r>
              <a:rPr lang="en-US" sz="1600" dirty="0"/>
              <a:t>Cancellation Rate</a:t>
            </a:r>
          </a:p>
          <a:p>
            <a:r>
              <a:rPr lang="en-US" sz="1600" dirty="0"/>
              <a:t>Total Guests</a:t>
            </a:r>
          </a:p>
          <a:p>
            <a:endParaRPr lang="en-US" sz="1600" dirty="0"/>
          </a:p>
          <a:p>
            <a:r>
              <a:rPr lang="en-US" sz="1600" b="1" dirty="0"/>
              <a:t>Insights Enabled:</a:t>
            </a:r>
          </a:p>
          <a:p>
            <a:r>
              <a:rPr lang="en-US" sz="1600" dirty="0"/>
              <a:t>Revenue by market segment</a:t>
            </a:r>
          </a:p>
          <a:p>
            <a:r>
              <a:rPr lang="en-US" sz="1600" dirty="0"/>
              <a:t>Year-wise revenue trend</a:t>
            </a:r>
          </a:p>
          <a:p>
            <a:r>
              <a:rPr lang="en-US" sz="1600" dirty="0"/>
              <a:t>Monthly cancellation pattern</a:t>
            </a:r>
          </a:p>
          <a:p>
            <a:r>
              <a:rPr lang="en-US" sz="1600" dirty="0"/>
              <a:t>Booking distribution across hotels</a:t>
            </a:r>
          </a:p>
          <a:p>
            <a:r>
              <a:rPr lang="en-US" sz="1600" dirty="0"/>
              <a:t>Revenue comparison between City &amp; Resort hotels</a:t>
            </a:r>
          </a:p>
          <a:p>
            <a:endParaRPr lang="en-IN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B35D44-B890-0FFD-2610-ED5F39B1C3FB}"/>
              </a:ext>
            </a:extLst>
          </p:cNvPr>
          <p:cNvSpPr txBox="1"/>
          <p:nvPr/>
        </p:nvSpPr>
        <p:spPr>
          <a:xfrm>
            <a:off x="4404471" y="6184111"/>
            <a:ext cx="7628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This dashboard helps management understand where revenue is coming from and which segments are most profitable.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725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3D8C98-85A9-06D2-4305-88E946BF3B3D}"/>
              </a:ext>
            </a:extLst>
          </p:cNvPr>
          <p:cNvSpPr/>
          <p:nvPr/>
        </p:nvSpPr>
        <p:spPr>
          <a:xfrm>
            <a:off x="4713284" y="6184791"/>
            <a:ext cx="7004154" cy="4534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BAD83-5DC2-6CDF-8E26-D45174ECB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2 : BOOKING BEHAVIOUR ANALYSIS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29476E-10A2-6F06-EB4B-3EA141599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284" y="2095017"/>
            <a:ext cx="7004154" cy="39175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594428-65C3-8FAB-EB03-CBAE48EB363F}"/>
              </a:ext>
            </a:extLst>
          </p:cNvPr>
          <p:cNvSpPr txBox="1"/>
          <p:nvPr/>
        </p:nvSpPr>
        <p:spPr>
          <a:xfrm>
            <a:off x="326986" y="2636546"/>
            <a:ext cx="438629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Visuals: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bookings, confirmations, cancellations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Year-wise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Average ADR vs Average Lead Time </a:t>
            </a:r>
          </a:p>
          <a:p>
            <a:r>
              <a:rPr lang="en-US" dirty="0"/>
              <a:t>(monthly trend)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Business Value: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Identifies peak booking months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Shows how lead time affects pricing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forecasting and demand planning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E01AAB-3E93-53B1-F0B0-3229AFDE7AF4}"/>
              </a:ext>
            </a:extLst>
          </p:cNvPr>
          <p:cNvSpPr txBox="1"/>
          <p:nvPr/>
        </p:nvSpPr>
        <p:spPr>
          <a:xfrm>
            <a:off x="4555666" y="6184791"/>
            <a:ext cx="7319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This dashboard supports operational planning and pricing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2440700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AAEB8-CD0F-7D15-349F-872033CC3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3 : CUSTOMER BEHAVIOUR ANALYSIS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6C430F-B4BE-EF6B-FA0D-B2788E35B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299" y="1995854"/>
            <a:ext cx="7083669" cy="40965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C19632-21DB-2A51-14CD-73B944819C47}"/>
              </a:ext>
            </a:extLst>
          </p:cNvPr>
          <p:cNvSpPr txBox="1"/>
          <p:nvPr/>
        </p:nvSpPr>
        <p:spPr>
          <a:xfrm>
            <a:off x="422031" y="2261607"/>
            <a:ext cx="426426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Bookings by market segment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Cancellation rate by segment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Adults, babies, children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type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Country-wise booking distribution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Business Impact: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identify high-risk cancellation segments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Reveals most profitable customer groups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targeted marketing strategies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63717A-7604-E4E4-BA72-3293CDE143F9}"/>
              </a:ext>
            </a:extLst>
          </p:cNvPr>
          <p:cNvSpPr/>
          <p:nvPr/>
        </p:nvSpPr>
        <p:spPr>
          <a:xfrm>
            <a:off x="4713284" y="6184791"/>
            <a:ext cx="7004154" cy="5806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7581ED-8698-41DB-8653-5F03FC5A4B07}"/>
              </a:ext>
            </a:extLst>
          </p:cNvPr>
          <p:cNvSpPr txBox="1"/>
          <p:nvPr/>
        </p:nvSpPr>
        <p:spPr>
          <a:xfrm>
            <a:off x="4713284" y="6153180"/>
            <a:ext cx="7004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This dashboard supports customer segmentation and personalization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4292983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A68DF-D68A-D3A0-B3CB-8B01DFD96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4 : PREDICTIVE ANALYSIS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8369FD-04E2-C6C6-16E3-8B2F50A64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598" y="2013439"/>
            <a:ext cx="7181993" cy="40120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342BE1-01CF-0489-C371-865325BD2316}"/>
              </a:ext>
            </a:extLst>
          </p:cNvPr>
          <p:cNvSpPr txBox="1"/>
          <p:nvPr/>
        </p:nvSpPr>
        <p:spPr>
          <a:xfrm>
            <a:off x="448409" y="2228671"/>
            <a:ext cx="27190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📌 Key KPIs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Cancellation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Bookings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Risk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458FAA-F37E-D235-5376-2FB2E521FB40}"/>
              </a:ext>
            </a:extLst>
          </p:cNvPr>
          <p:cNvSpPr txBox="1"/>
          <p:nvPr/>
        </p:nvSpPr>
        <p:spPr>
          <a:xfrm>
            <a:off x="448409" y="3616515"/>
            <a:ext cx="60974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📊 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en-US" dirty="0"/>
              <a:t>Revenue by Arrival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Cancellation Rate by 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Bookings by Risk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Cancellations by Hotel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Bookings by Country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Cancellations by Market Segment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Business Value</a:t>
            </a:r>
            <a:endParaRPr lang="en-US" b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9E3546-3319-9540-3CCC-73A65E3E2F2D}"/>
              </a:ext>
            </a:extLst>
          </p:cNvPr>
          <p:cNvSpPr/>
          <p:nvPr/>
        </p:nvSpPr>
        <p:spPr>
          <a:xfrm>
            <a:off x="4713284" y="6184791"/>
            <a:ext cx="7004154" cy="576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BD07F1-8569-4304-FC41-74D564AB190E}"/>
              </a:ext>
            </a:extLst>
          </p:cNvPr>
          <p:cNvSpPr txBox="1"/>
          <p:nvPr/>
        </p:nvSpPr>
        <p:spPr>
          <a:xfrm>
            <a:off x="4845199" y="6187252"/>
            <a:ext cx="6740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This is a Predictive Analysis Dashboard focused on cancellation risk evaluation.</a:t>
            </a:r>
          </a:p>
        </p:txBody>
      </p:sp>
    </p:spTree>
    <p:extLst>
      <p:ext uri="{BB962C8B-B14F-4D97-AF65-F5344CB8AC3E}">
        <p14:creationId xmlns:p14="http://schemas.microsoft.com/office/powerpoint/2010/main" val="1710673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0103F-8EC0-CCFB-C70D-AB8B6DF87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5 : CANCELLATION ANALYSIS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BFEE8F-2892-F900-40DE-9DF313EA2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895" y="2012980"/>
            <a:ext cx="7047837" cy="40639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99A9A-81CE-C459-F2C7-3C24DFDB710C}"/>
              </a:ext>
            </a:extLst>
          </p:cNvPr>
          <p:cNvSpPr txBox="1"/>
          <p:nvPr/>
        </p:nvSpPr>
        <p:spPr>
          <a:xfrm>
            <a:off x="433268" y="2012980"/>
            <a:ext cx="397668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KPIs Displayed: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Bookings</a:t>
            </a:r>
            <a:br>
              <a:rPr lang="en-US" dirty="0"/>
            </a:br>
            <a:r>
              <a:rPr lang="en-US" dirty="0"/>
              <a:t>Represents total bookings within the selected filters.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Revenue</a:t>
            </a:r>
            <a:br>
              <a:rPr lang="en-US" dirty="0"/>
            </a:br>
            <a:r>
              <a:rPr lang="en-US" dirty="0"/>
              <a:t>Revenue generated in the selected period.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Cancellations</a:t>
            </a:r>
            <a:br>
              <a:rPr lang="en-US" dirty="0"/>
            </a:br>
            <a:r>
              <a:rPr lang="en-US" dirty="0"/>
              <a:t>Total bookings that were cancelled.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Cancellation Rate (%)</a:t>
            </a:r>
            <a:br>
              <a:rPr lang="en-US" dirty="0"/>
            </a:br>
            <a:r>
              <a:rPr lang="en-US" dirty="0"/>
              <a:t>Indicates the percentage of bookings that were cancelled.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FDB0B61-E6FD-CAA1-4B81-C0B5C635417D}"/>
              </a:ext>
            </a:extLst>
          </p:cNvPr>
          <p:cNvSpPr/>
          <p:nvPr/>
        </p:nvSpPr>
        <p:spPr>
          <a:xfrm>
            <a:off x="4713284" y="6184791"/>
            <a:ext cx="7004154" cy="4659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AA022C-F6FA-619D-E1A1-AE30B7522B7B}"/>
              </a:ext>
            </a:extLst>
          </p:cNvPr>
          <p:cNvSpPr txBox="1"/>
          <p:nvPr/>
        </p:nvSpPr>
        <p:spPr>
          <a:xfrm>
            <a:off x="4845199" y="6187252"/>
            <a:ext cx="6740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This dashboard supports customer cancellation patterns and analysis</a:t>
            </a:r>
          </a:p>
        </p:txBody>
      </p:sp>
    </p:spTree>
    <p:extLst>
      <p:ext uri="{BB962C8B-B14F-4D97-AF65-F5344CB8AC3E}">
        <p14:creationId xmlns:p14="http://schemas.microsoft.com/office/powerpoint/2010/main" val="2229891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06FCE-197B-88FD-DDE0-740276BE5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IMPACT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E1110C-E4D7-6CFD-6D0A-209388DB23D3}"/>
              </a:ext>
            </a:extLst>
          </p:cNvPr>
          <p:cNvSpPr txBox="1"/>
          <p:nvPr/>
        </p:nvSpPr>
        <p:spPr>
          <a:xfrm>
            <a:off x="381966" y="2207443"/>
            <a:ext cx="556742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1️⃣ Revenue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Identified top-performing market segments.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Compared revenue performance between City and Resort hotels.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Analyzed ADR trends across months and years.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Evaluated revenue contribution by customer types.</a:t>
            </a:r>
            <a:br>
              <a:rPr lang="en-US" sz="1600" dirty="0"/>
            </a:br>
            <a:endParaRPr lang="en-US" sz="1600" dirty="0"/>
          </a:p>
          <a:p>
            <a:pPr>
              <a:buNone/>
            </a:pPr>
            <a:r>
              <a:rPr lang="en-US" sz="1600" b="1" dirty="0"/>
              <a:t>2️⃣ Improved Occupancy &amp; Demand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Analyzed booking distribution across years and months.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Studied lead time patterns and stay duration.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Evaluated guest volume trends (Adults, Children, Babies).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3️⃣ Risk Monitoring &amp; Revenue Protection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Measured cancellation rate and total cancellations.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Identified seasonal and hotel-level cancellation risks.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B282A3-F4CF-C35B-B2C7-650C690AF743}"/>
              </a:ext>
            </a:extLst>
          </p:cNvPr>
          <p:cNvSpPr txBox="1"/>
          <p:nvPr/>
        </p:nvSpPr>
        <p:spPr>
          <a:xfrm>
            <a:off x="5605042" y="2207443"/>
            <a:ext cx="60940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4️⃣ Customer Segmentation &amp; Targeting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Segmented customers by market segment and customer type.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Identified repeat guest percentage.</a:t>
            </a:r>
          </a:p>
          <a:p>
            <a:endParaRPr lang="en-US" sz="1800" dirty="0"/>
          </a:p>
          <a:p>
            <a:pPr>
              <a:buNone/>
            </a:pPr>
            <a:r>
              <a:rPr lang="en-US" sz="1800" b="1" dirty="0"/>
              <a:t>5️⃣ Data-Driven Decision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Created reusable DAX-based KPIs.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Built interactive dashboards with dynamic filters.</a:t>
            </a:r>
          </a:p>
        </p:txBody>
      </p:sp>
    </p:spTree>
    <p:extLst>
      <p:ext uri="{BB962C8B-B14F-4D97-AF65-F5344CB8AC3E}">
        <p14:creationId xmlns:p14="http://schemas.microsoft.com/office/powerpoint/2010/main" val="1377005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5739A7-4AEF-A738-E080-996DCAC98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5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7268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{2091E998-E635-4E39-9008-9DB2C81F21B8}TF319cfb39-eeba-4af5-a5a2-03d53d0375160e3309b2-0adf682d390f</Template>
  <TotalTime>265</TotalTime>
  <Words>982</Words>
  <Application>Microsoft Office PowerPoint</Application>
  <PresentationFormat>Widescreen</PresentationFormat>
  <Paragraphs>167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Gill Sans MT</vt:lpstr>
      <vt:lpstr>Wingdings</vt:lpstr>
      <vt:lpstr>Wingdings 2</vt:lpstr>
      <vt:lpstr>Dividend</vt:lpstr>
      <vt:lpstr>Revai – AI DRIVEN REVENUE ANALYSIS FOR HOTELS </vt:lpstr>
      <vt:lpstr>Project  work flow</vt:lpstr>
      <vt:lpstr>ABOUT THE DATASET</vt:lpstr>
      <vt:lpstr>DATA PREPROCESSING</vt:lpstr>
      <vt:lpstr>DATA MODELING</vt:lpstr>
      <vt:lpstr>DAX METRICS </vt:lpstr>
      <vt:lpstr>DAX METRICS </vt:lpstr>
      <vt:lpstr>DASHBOARD 1 : REVENUE DASHBOARD</vt:lpstr>
      <vt:lpstr>DASHBOARD 2 : BOOKING BEHAVIOUR ANALYSIS</vt:lpstr>
      <vt:lpstr>DASHBOARD 3 : CUSTOMER BEHAVIOUR ANALYSIS</vt:lpstr>
      <vt:lpstr>Dashboard 4 : PREDICTIVE ANALYSIS</vt:lpstr>
      <vt:lpstr>DASHBOARD 5 : CANCELLATION ANALYSIS</vt:lpstr>
      <vt:lpstr>BUSINESS IMPACT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Harshal Chelikani</dc:creator>
  <cp:lastModifiedBy>Harshal Chelikani</cp:lastModifiedBy>
  <cp:revision>6</cp:revision>
  <dcterms:created xsi:type="dcterms:W3CDTF">2026-02-28T07:01:18Z</dcterms:created>
  <dcterms:modified xsi:type="dcterms:W3CDTF">2026-02-28T11:57:05Z</dcterms:modified>
</cp:coreProperties>
</file>