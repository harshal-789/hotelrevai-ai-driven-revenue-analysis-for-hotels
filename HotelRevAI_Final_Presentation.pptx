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739"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3880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A14"/>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0D2137"/>
            </a:solidFill>
            <a:prstDash val="solid"/>
          </a:ln>
        </p:spPr>
      </p:sp>
      <p:sp>
        <p:nvSpPr>
          <p:cNvPr id="3" name="Shape 1"/>
          <p:cNvSpPr/>
          <p:nvPr/>
        </p:nvSpPr>
        <p:spPr>
          <a:xfrm>
            <a:off x="914400" y="0"/>
            <a:ext cx="0" cy="5143500"/>
          </a:xfrm>
          <a:prstGeom prst="line">
            <a:avLst/>
          </a:prstGeom>
          <a:noFill/>
          <a:ln w="6350">
            <a:solidFill>
              <a:srgbClr val="0D2137"/>
            </a:solidFill>
            <a:prstDash val="solid"/>
          </a:ln>
        </p:spPr>
      </p:sp>
      <p:sp>
        <p:nvSpPr>
          <p:cNvPr id="4" name="Shape 2"/>
          <p:cNvSpPr/>
          <p:nvPr/>
        </p:nvSpPr>
        <p:spPr>
          <a:xfrm>
            <a:off x="1828800" y="0"/>
            <a:ext cx="0" cy="5143500"/>
          </a:xfrm>
          <a:prstGeom prst="line">
            <a:avLst/>
          </a:prstGeom>
          <a:noFill/>
          <a:ln w="6350">
            <a:solidFill>
              <a:srgbClr val="0D2137"/>
            </a:solidFill>
            <a:prstDash val="solid"/>
          </a:ln>
        </p:spPr>
      </p:sp>
      <p:sp>
        <p:nvSpPr>
          <p:cNvPr id="5" name="Shape 3"/>
          <p:cNvSpPr/>
          <p:nvPr/>
        </p:nvSpPr>
        <p:spPr>
          <a:xfrm>
            <a:off x="2743200" y="0"/>
            <a:ext cx="0" cy="5143500"/>
          </a:xfrm>
          <a:prstGeom prst="line">
            <a:avLst/>
          </a:prstGeom>
          <a:noFill/>
          <a:ln w="6350">
            <a:solidFill>
              <a:srgbClr val="0D2137"/>
            </a:solidFill>
            <a:prstDash val="solid"/>
          </a:ln>
        </p:spPr>
      </p:sp>
      <p:sp>
        <p:nvSpPr>
          <p:cNvPr id="6" name="Shape 4"/>
          <p:cNvSpPr/>
          <p:nvPr/>
        </p:nvSpPr>
        <p:spPr>
          <a:xfrm>
            <a:off x="3657600" y="0"/>
            <a:ext cx="0" cy="5143500"/>
          </a:xfrm>
          <a:prstGeom prst="line">
            <a:avLst/>
          </a:prstGeom>
          <a:noFill/>
          <a:ln w="6350">
            <a:solidFill>
              <a:srgbClr val="0D2137"/>
            </a:solidFill>
            <a:prstDash val="solid"/>
          </a:ln>
        </p:spPr>
      </p:sp>
      <p:sp>
        <p:nvSpPr>
          <p:cNvPr id="7" name="Shape 5"/>
          <p:cNvSpPr/>
          <p:nvPr/>
        </p:nvSpPr>
        <p:spPr>
          <a:xfrm>
            <a:off x="4572000" y="0"/>
            <a:ext cx="0" cy="5143500"/>
          </a:xfrm>
          <a:prstGeom prst="line">
            <a:avLst/>
          </a:prstGeom>
          <a:noFill/>
          <a:ln w="6350">
            <a:solidFill>
              <a:srgbClr val="0D2137"/>
            </a:solidFill>
            <a:prstDash val="solid"/>
          </a:ln>
        </p:spPr>
      </p:sp>
      <p:sp>
        <p:nvSpPr>
          <p:cNvPr id="8" name="Shape 6"/>
          <p:cNvSpPr/>
          <p:nvPr/>
        </p:nvSpPr>
        <p:spPr>
          <a:xfrm>
            <a:off x="5486400" y="0"/>
            <a:ext cx="0" cy="5143500"/>
          </a:xfrm>
          <a:prstGeom prst="line">
            <a:avLst/>
          </a:prstGeom>
          <a:noFill/>
          <a:ln w="6350">
            <a:solidFill>
              <a:srgbClr val="0D2137"/>
            </a:solidFill>
            <a:prstDash val="solid"/>
          </a:ln>
        </p:spPr>
      </p:sp>
      <p:sp>
        <p:nvSpPr>
          <p:cNvPr id="9" name="Shape 7"/>
          <p:cNvSpPr/>
          <p:nvPr/>
        </p:nvSpPr>
        <p:spPr>
          <a:xfrm>
            <a:off x="6400800" y="0"/>
            <a:ext cx="0" cy="5143500"/>
          </a:xfrm>
          <a:prstGeom prst="line">
            <a:avLst/>
          </a:prstGeom>
          <a:noFill/>
          <a:ln w="6350">
            <a:solidFill>
              <a:srgbClr val="0D2137"/>
            </a:solidFill>
            <a:prstDash val="solid"/>
          </a:ln>
        </p:spPr>
      </p:sp>
      <p:sp>
        <p:nvSpPr>
          <p:cNvPr id="10" name="Shape 8"/>
          <p:cNvSpPr/>
          <p:nvPr/>
        </p:nvSpPr>
        <p:spPr>
          <a:xfrm>
            <a:off x="7315200" y="0"/>
            <a:ext cx="0" cy="5143500"/>
          </a:xfrm>
          <a:prstGeom prst="line">
            <a:avLst/>
          </a:prstGeom>
          <a:noFill/>
          <a:ln w="6350">
            <a:solidFill>
              <a:srgbClr val="0D2137"/>
            </a:solidFill>
            <a:prstDash val="solid"/>
          </a:ln>
        </p:spPr>
      </p:sp>
      <p:sp>
        <p:nvSpPr>
          <p:cNvPr id="11" name="Shape 9"/>
          <p:cNvSpPr/>
          <p:nvPr/>
        </p:nvSpPr>
        <p:spPr>
          <a:xfrm>
            <a:off x="8229600" y="0"/>
            <a:ext cx="0" cy="5143500"/>
          </a:xfrm>
          <a:prstGeom prst="line">
            <a:avLst/>
          </a:prstGeom>
          <a:noFill/>
          <a:ln w="6350">
            <a:solidFill>
              <a:srgbClr val="0D2137"/>
            </a:solidFill>
            <a:prstDash val="solid"/>
          </a:ln>
        </p:spPr>
      </p:sp>
      <p:sp>
        <p:nvSpPr>
          <p:cNvPr id="12" name="Shape 10"/>
          <p:cNvSpPr/>
          <p:nvPr/>
        </p:nvSpPr>
        <p:spPr>
          <a:xfrm>
            <a:off x="9144000" y="0"/>
            <a:ext cx="0" cy="5143500"/>
          </a:xfrm>
          <a:prstGeom prst="line">
            <a:avLst/>
          </a:prstGeom>
          <a:noFill/>
          <a:ln w="6350">
            <a:solidFill>
              <a:srgbClr val="0D2137"/>
            </a:solidFill>
            <a:prstDash val="solid"/>
          </a:ln>
        </p:spPr>
      </p:sp>
      <p:sp>
        <p:nvSpPr>
          <p:cNvPr id="13" name="Shape 11"/>
          <p:cNvSpPr/>
          <p:nvPr/>
        </p:nvSpPr>
        <p:spPr>
          <a:xfrm>
            <a:off x="0" y="0"/>
            <a:ext cx="9144000" cy="0"/>
          </a:xfrm>
          <a:prstGeom prst="line">
            <a:avLst/>
          </a:prstGeom>
          <a:noFill/>
          <a:ln w="6350">
            <a:solidFill>
              <a:srgbClr val="0D2137"/>
            </a:solidFill>
            <a:prstDash val="solid"/>
          </a:ln>
        </p:spPr>
      </p:sp>
      <p:sp>
        <p:nvSpPr>
          <p:cNvPr id="14" name="Shape 12"/>
          <p:cNvSpPr/>
          <p:nvPr/>
        </p:nvSpPr>
        <p:spPr>
          <a:xfrm>
            <a:off x="0" y="859536"/>
            <a:ext cx="9144000" cy="0"/>
          </a:xfrm>
          <a:prstGeom prst="line">
            <a:avLst/>
          </a:prstGeom>
          <a:noFill/>
          <a:ln w="6350">
            <a:solidFill>
              <a:srgbClr val="0D2137"/>
            </a:solidFill>
            <a:prstDash val="solid"/>
          </a:ln>
        </p:spPr>
      </p:sp>
      <p:sp>
        <p:nvSpPr>
          <p:cNvPr id="15" name="Shape 13"/>
          <p:cNvSpPr/>
          <p:nvPr/>
        </p:nvSpPr>
        <p:spPr>
          <a:xfrm>
            <a:off x="0" y="1719072"/>
            <a:ext cx="9144000" cy="0"/>
          </a:xfrm>
          <a:prstGeom prst="line">
            <a:avLst/>
          </a:prstGeom>
          <a:noFill/>
          <a:ln w="6350">
            <a:solidFill>
              <a:srgbClr val="0D2137"/>
            </a:solidFill>
            <a:prstDash val="solid"/>
          </a:ln>
        </p:spPr>
      </p:sp>
      <p:sp>
        <p:nvSpPr>
          <p:cNvPr id="16" name="Shape 14"/>
          <p:cNvSpPr/>
          <p:nvPr/>
        </p:nvSpPr>
        <p:spPr>
          <a:xfrm>
            <a:off x="0" y="2578608"/>
            <a:ext cx="9144000" cy="0"/>
          </a:xfrm>
          <a:prstGeom prst="line">
            <a:avLst/>
          </a:prstGeom>
          <a:noFill/>
          <a:ln w="6350">
            <a:solidFill>
              <a:srgbClr val="0D2137"/>
            </a:solidFill>
            <a:prstDash val="solid"/>
          </a:ln>
        </p:spPr>
      </p:sp>
      <p:sp>
        <p:nvSpPr>
          <p:cNvPr id="17" name="Shape 15"/>
          <p:cNvSpPr/>
          <p:nvPr/>
        </p:nvSpPr>
        <p:spPr>
          <a:xfrm>
            <a:off x="0" y="3438144"/>
            <a:ext cx="9144000" cy="0"/>
          </a:xfrm>
          <a:prstGeom prst="line">
            <a:avLst/>
          </a:prstGeom>
          <a:noFill/>
          <a:ln w="6350">
            <a:solidFill>
              <a:srgbClr val="0D2137"/>
            </a:solidFill>
            <a:prstDash val="solid"/>
          </a:ln>
        </p:spPr>
      </p:sp>
      <p:sp>
        <p:nvSpPr>
          <p:cNvPr id="18" name="Shape 16"/>
          <p:cNvSpPr/>
          <p:nvPr/>
        </p:nvSpPr>
        <p:spPr>
          <a:xfrm>
            <a:off x="0" y="4297680"/>
            <a:ext cx="9144000" cy="0"/>
          </a:xfrm>
          <a:prstGeom prst="line">
            <a:avLst/>
          </a:prstGeom>
          <a:noFill/>
          <a:ln w="6350">
            <a:solidFill>
              <a:srgbClr val="0D2137"/>
            </a:solidFill>
            <a:prstDash val="solid"/>
          </a:ln>
        </p:spPr>
      </p:sp>
      <p:sp>
        <p:nvSpPr>
          <p:cNvPr id="19" name="Shape 17"/>
          <p:cNvSpPr/>
          <p:nvPr/>
        </p:nvSpPr>
        <p:spPr>
          <a:xfrm>
            <a:off x="0" y="5157216"/>
            <a:ext cx="9144000" cy="0"/>
          </a:xfrm>
          <a:prstGeom prst="line">
            <a:avLst/>
          </a:prstGeom>
          <a:noFill/>
          <a:ln w="6350">
            <a:solidFill>
              <a:srgbClr val="0D2137"/>
            </a:solidFill>
            <a:prstDash val="solid"/>
          </a:ln>
        </p:spPr>
      </p:sp>
      <p:sp>
        <p:nvSpPr>
          <p:cNvPr id="20" name="Shape 18"/>
          <p:cNvSpPr/>
          <p:nvPr/>
        </p:nvSpPr>
        <p:spPr>
          <a:xfrm>
            <a:off x="5852160" y="-1005840"/>
            <a:ext cx="4023360" cy="4023360"/>
          </a:xfrm>
          <a:prstGeom prst="ellipse">
            <a:avLst/>
          </a:prstGeom>
          <a:solidFill>
            <a:srgbClr val="00B4FF">
              <a:alpha val="18000"/>
            </a:srgbClr>
          </a:solidFill>
          <a:ln w="12700">
            <a:solidFill>
              <a:srgbClr val="00B4FF">
                <a:alpha val="5000"/>
              </a:srgbClr>
            </a:solidFill>
            <a:prstDash val="solid"/>
          </a:ln>
        </p:spPr>
        <p:txBody>
          <a:bodyPr/>
          <a:lstStyle/>
          <a:p>
            <a:endParaRPr lang="en-IN" dirty="0"/>
          </a:p>
        </p:txBody>
      </p:sp>
      <p:sp>
        <p:nvSpPr>
          <p:cNvPr id="21" name="Shape 19"/>
          <p:cNvSpPr/>
          <p:nvPr/>
        </p:nvSpPr>
        <p:spPr>
          <a:xfrm>
            <a:off x="6858000" y="0"/>
            <a:ext cx="2011680" cy="2011680"/>
          </a:xfrm>
          <a:prstGeom prst="ellipse">
            <a:avLst/>
          </a:prstGeom>
          <a:solidFill>
            <a:srgbClr val="00B4FF">
              <a:alpha val="10000"/>
            </a:srgbClr>
          </a:solidFill>
          <a:ln w="12700">
            <a:solidFill>
              <a:srgbClr val="00B4FF">
                <a:alpha val="0"/>
              </a:srgbClr>
            </a:solidFill>
            <a:prstDash val="solid"/>
          </a:ln>
        </p:spPr>
      </p:sp>
      <p:sp>
        <p:nvSpPr>
          <p:cNvPr id="22" name="Shape 20"/>
          <p:cNvSpPr/>
          <p:nvPr/>
        </p:nvSpPr>
        <p:spPr>
          <a:xfrm>
            <a:off x="7223760" y="2926080"/>
            <a:ext cx="2560320" cy="2560320"/>
          </a:xfrm>
          <a:prstGeom prst="ellipse">
            <a:avLst/>
          </a:prstGeom>
          <a:solidFill>
            <a:srgbClr val="F5C518">
              <a:alpha val="14000"/>
            </a:srgbClr>
          </a:solidFill>
          <a:ln w="12700">
            <a:solidFill>
              <a:srgbClr val="F5C518">
                <a:alpha val="5000"/>
              </a:srgbClr>
            </a:solidFill>
            <a:prstDash val="solid"/>
          </a:ln>
        </p:spPr>
      </p:sp>
      <p:sp>
        <p:nvSpPr>
          <p:cNvPr id="23" name="Shape 21"/>
          <p:cNvSpPr/>
          <p:nvPr/>
        </p:nvSpPr>
        <p:spPr>
          <a:xfrm>
            <a:off x="7863840" y="3566160"/>
            <a:ext cx="1280160" cy="1280160"/>
          </a:xfrm>
          <a:prstGeom prst="ellipse">
            <a:avLst/>
          </a:prstGeom>
          <a:solidFill>
            <a:srgbClr val="F5C518">
              <a:alpha val="6000"/>
            </a:srgbClr>
          </a:solidFill>
          <a:ln w="12700">
            <a:solidFill>
              <a:srgbClr val="F5C518">
                <a:alpha val="0"/>
              </a:srgbClr>
            </a:solidFill>
            <a:prstDash val="solid"/>
          </a:ln>
        </p:spPr>
      </p:sp>
      <p:sp>
        <p:nvSpPr>
          <p:cNvPr id="24" name="Shape 22"/>
          <p:cNvSpPr/>
          <p:nvPr/>
        </p:nvSpPr>
        <p:spPr>
          <a:xfrm>
            <a:off x="-1097280" y="2834640"/>
            <a:ext cx="3291840" cy="3291840"/>
          </a:xfrm>
          <a:prstGeom prst="ellipse">
            <a:avLst/>
          </a:prstGeom>
          <a:solidFill>
            <a:srgbClr val="0077CC">
              <a:alpha val="12000"/>
            </a:srgbClr>
          </a:solidFill>
          <a:ln w="12700">
            <a:solidFill>
              <a:srgbClr val="0077CC">
                <a:alpha val="5000"/>
              </a:srgbClr>
            </a:solidFill>
            <a:prstDash val="solid"/>
          </a:ln>
        </p:spPr>
      </p:sp>
      <p:sp>
        <p:nvSpPr>
          <p:cNvPr id="25" name="Shape 23"/>
          <p:cNvSpPr/>
          <p:nvPr/>
        </p:nvSpPr>
        <p:spPr>
          <a:xfrm>
            <a:off x="-274320" y="3657600"/>
            <a:ext cx="1645920" cy="1645920"/>
          </a:xfrm>
          <a:prstGeom prst="ellipse">
            <a:avLst/>
          </a:prstGeom>
          <a:solidFill>
            <a:srgbClr val="0077CC">
              <a:alpha val="4000"/>
            </a:srgbClr>
          </a:solidFill>
          <a:ln w="12700">
            <a:solidFill>
              <a:srgbClr val="0077CC">
                <a:alpha val="0"/>
              </a:srgbClr>
            </a:solidFill>
            <a:prstDash val="solid"/>
          </a:ln>
        </p:spPr>
      </p:sp>
      <p:sp>
        <p:nvSpPr>
          <p:cNvPr id="26" name="Shape 24"/>
          <p:cNvSpPr/>
          <p:nvPr/>
        </p:nvSpPr>
        <p:spPr>
          <a:xfrm>
            <a:off x="0" y="0"/>
            <a:ext cx="9144000" cy="50292"/>
          </a:xfrm>
          <a:prstGeom prst="rect">
            <a:avLst/>
          </a:prstGeom>
          <a:solidFill>
            <a:srgbClr val="F5C518"/>
          </a:solidFill>
          <a:ln w="12700">
            <a:solidFill>
              <a:srgbClr val="F5C518"/>
            </a:solidFill>
            <a:prstDash val="solid"/>
          </a:ln>
        </p:spPr>
      </p:sp>
      <p:sp>
        <p:nvSpPr>
          <p:cNvPr id="27" name="Shape 25"/>
          <p:cNvSpPr/>
          <p:nvPr/>
        </p:nvSpPr>
        <p:spPr>
          <a:xfrm>
            <a:off x="320040" y="365760"/>
            <a:ext cx="50292" cy="4297680"/>
          </a:xfrm>
          <a:prstGeom prst="rect">
            <a:avLst/>
          </a:prstGeom>
          <a:solidFill>
            <a:srgbClr val="00B4FF"/>
          </a:solidFill>
          <a:ln w="12700">
            <a:solidFill>
              <a:srgbClr val="00B4FF"/>
            </a:solidFill>
            <a:prstDash val="solid"/>
          </a:ln>
        </p:spPr>
      </p:sp>
      <p:sp>
        <p:nvSpPr>
          <p:cNvPr id="28" name="Shape 26"/>
          <p:cNvSpPr/>
          <p:nvPr/>
        </p:nvSpPr>
        <p:spPr>
          <a:xfrm>
            <a:off x="548640" y="475488"/>
            <a:ext cx="4206240" cy="246888"/>
          </a:xfrm>
          <a:prstGeom prst="rect">
            <a:avLst/>
          </a:prstGeom>
          <a:solidFill>
            <a:srgbClr val="003E7A"/>
          </a:solidFill>
          <a:ln w="12700">
            <a:solidFill>
              <a:srgbClr val="F5C518"/>
            </a:solidFill>
            <a:prstDash val="solid"/>
          </a:ln>
        </p:spPr>
      </p:sp>
      <p:sp>
        <p:nvSpPr>
          <p:cNvPr id="29" name="Text 27"/>
          <p:cNvSpPr/>
          <p:nvPr/>
        </p:nvSpPr>
        <p:spPr>
          <a:xfrm>
            <a:off x="548640" y="475488"/>
            <a:ext cx="4206240" cy="246888"/>
          </a:xfrm>
          <a:prstGeom prst="rect">
            <a:avLst/>
          </a:prstGeom>
          <a:noFill/>
          <a:ln/>
        </p:spPr>
        <p:txBody>
          <a:bodyPr wrap="square" lIns="0" tIns="0" rIns="0" bIns="0" rtlCol="0" anchor="ctr"/>
          <a:lstStyle/>
          <a:p>
            <a:pPr marL="0" indent="0" algn="ctr">
              <a:buNone/>
            </a:pPr>
            <a:r>
              <a:rPr lang="en-US" sz="700" b="1" kern="0" spc="200" dirty="0">
                <a:solidFill>
                  <a:srgbClr val="F5C518"/>
                </a:solidFill>
              </a:rPr>
              <a:t>INFOSYS SPRINGBOARD VIRTUAL INTERNSHIP 6.0</a:t>
            </a:r>
            <a:endParaRPr lang="en-US" sz="700" dirty="0"/>
          </a:p>
        </p:txBody>
      </p:sp>
      <p:sp>
        <p:nvSpPr>
          <p:cNvPr id="30" name="Text 28"/>
          <p:cNvSpPr/>
          <p:nvPr/>
        </p:nvSpPr>
        <p:spPr>
          <a:xfrm>
            <a:off x="548640" y="914400"/>
            <a:ext cx="2468880" cy="868680"/>
          </a:xfrm>
          <a:prstGeom prst="rect">
            <a:avLst/>
          </a:prstGeom>
          <a:noFill/>
          <a:ln/>
        </p:spPr>
        <p:txBody>
          <a:bodyPr wrap="square" lIns="0" tIns="0" rIns="0" bIns="0" rtlCol="0" anchor="ctr"/>
          <a:lstStyle/>
          <a:p>
            <a:pPr marL="0" indent="0">
              <a:buNone/>
            </a:pPr>
            <a:r>
              <a:rPr lang="en-US" sz="5800" b="1" kern="0" spc="100" dirty="0">
                <a:solidFill>
                  <a:srgbClr val="FFFFFF"/>
                </a:solidFill>
                <a:latin typeface="Calibri" pitchFamily="34" charset="0"/>
                <a:ea typeface="Calibri" pitchFamily="34" charset="-122"/>
                <a:cs typeface="Calibri" pitchFamily="34" charset="-120"/>
              </a:rPr>
              <a:t>Hotel</a:t>
            </a:r>
            <a:endParaRPr lang="en-US" sz="5800" dirty="0"/>
          </a:p>
        </p:txBody>
      </p:sp>
      <p:sp>
        <p:nvSpPr>
          <p:cNvPr id="31" name="Text 29"/>
          <p:cNvSpPr/>
          <p:nvPr/>
        </p:nvSpPr>
        <p:spPr>
          <a:xfrm>
            <a:off x="2514600" y="921466"/>
            <a:ext cx="3200400" cy="868680"/>
          </a:xfrm>
          <a:prstGeom prst="rect">
            <a:avLst/>
          </a:prstGeom>
          <a:noFill/>
          <a:ln/>
        </p:spPr>
        <p:txBody>
          <a:bodyPr wrap="square" lIns="0" tIns="0" rIns="0" bIns="0" rtlCol="0" anchor="ctr"/>
          <a:lstStyle/>
          <a:p>
            <a:pPr marL="0" indent="0">
              <a:buNone/>
            </a:pPr>
            <a:r>
              <a:rPr lang="en-US" sz="5800" b="1" kern="0" spc="100" dirty="0">
                <a:solidFill>
                  <a:srgbClr val="00B4FF"/>
                </a:solidFill>
                <a:latin typeface="Calibri" pitchFamily="34" charset="0"/>
                <a:ea typeface="Calibri" pitchFamily="34" charset="-122"/>
                <a:cs typeface="Calibri" pitchFamily="34" charset="-120"/>
              </a:rPr>
              <a:t>RevAI</a:t>
            </a:r>
            <a:endParaRPr lang="en-US" sz="5800" dirty="0"/>
          </a:p>
        </p:txBody>
      </p:sp>
      <p:sp>
        <p:nvSpPr>
          <p:cNvPr id="32" name="Text 30"/>
          <p:cNvSpPr/>
          <p:nvPr/>
        </p:nvSpPr>
        <p:spPr>
          <a:xfrm>
            <a:off x="548640" y="1874520"/>
            <a:ext cx="6400800" cy="384048"/>
          </a:xfrm>
          <a:prstGeom prst="rect">
            <a:avLst/>
          </a:prstGeom>
          <a:noFill/>
          <a:ln/>
        </p:spPr>
        <p:txBody>
          <a:bodyPr wrap="square" lIns="0" tIns="0" rIns="0" bIns="0" rtlCol="0" anchor="ctr"/>
          <a:lstStyle/>
          <a:p>
            <a:pPr marL="0" indent="0">
              <a:buNone/>
            </a:pPr>
            <a:r>
              <a:rPr lang="en-US" sz="1600" i="1" dirty="0">
                <a:solidFill>
                  <a:srgbClr val="D4E6F1"/>
                </a:solidFill>
              </a:rPr>
              <a:t>AI Driven Revenue Analysis for Hotels</a:t>
            </a:r>
            <a:endParaRPr lang="en-US" sz="1600" dirty="0"/>
          </a:p>
        </p:txBody>
      </p:sp>
      <p:sp>
        <p:nvSpPr>
          <p:cNvPr id="33" name="Shape 31"/>
          <p:cNvSpPr/>
          <p:nvPr/>
        </p:nvSpPr>
        <p:spPr>
          <a:xfrm>
            <a:off x="548640" y="2359152"/>
            <a:ext cx="4754880" cy="36576"/>
          </a:xfrm>
          <a:prstGeom prst="rect">
            <a:avLst/>
          </a:prstGeom>
          <a:solidFill>
            <a:srgbClr val="F5C518"/>
          </a:solidFill>
          <a:ln w="12700">
            <a:solidFill>
              <a:srgbClr val="F5C518"/>
            </a:solidFill>
            <a:prstDash val="solid"/>
          </a:ln>
        </p:spPr>
      </p:sp>
      <p:sp>
        <p:nvSpPr>
          <p:cNvPr id="34" name="Text 32"/>
          <p:cNvSpPr/>
          <p:nvPr/>
        </p:nvSpPr>
        <p:spPr>
          <a:xfrm>
            <a:off x="548640" y="2450592"/>
            <a:ext cx="6400800" cy="274320"/>
          </a:xfrm>
          <a:prstGeom prst="rect">
            <a:avLst/>
          </a:prstGeom>
          <a:noFill/>
          <a:ln/>
        </p:spPr>
        <p:txBody>
          <a:bodyPr wrap="square" lIns="0" tIns="0" rIns="0" bIns="0" rtlCol="0" anchor="ctr"/>
          <a:lstStyle/>
          <a:p>
            <a:pPr marL="0" indent="0">
              <a:buNone/>
            </a:pPr>
            <a:r>
              <a:rPr lang="en-US" sz="1050" b="1" dirty="0">
                <a:solidFill>
                  <a:srgbClr val="6B8CAE"/>
                </a:solidFill>
              </a:rPr>
              <a:t>Mentor: </a:t>
            </a:r>
            <a:r>
              <a:rPr lang="en-US" sz="1050" dirty="0">
                <a:solidFill>
                  <a:srgbClr val="D4E6F1"/>
                </a:solidFill>
              </a:rPr>
              <a:t>Selciya</a:t>
            </a:r>
            <a:r>
              <a:rPr lang="en-US" sz="1050" dirty="0">
                <a:solidFill>
                  <a:srgbClr val="1A2E45"/>
                </a:solidFill>
              </a:rPr>
              <a:t>   ·   </a:t>
            </a:r>
            <a:r>
              <a:rPr lang="en-US" sz="1050" dirty="0">
                <a:solidFill>
                  <a:srgbClr val="D4E6F1"/>
                </a:solidFill>
              </a:rPr>
              <a:t>Batch 13  ·  Group 2  ·  Team D</a:t>
            </a:r>
            <a:endParaRPr lang="en-US" sz="1050" dirty="0"/>
          </a:p>
        </p:txBody>
      </p:sp>
      <p:sp>
        <p:nvSpPr>
          <p:cNvPr id="35" name="Text 33"/>
          <p:cNvSpPr/>
          <p:nvPr/>
        </p:nvSpPr>
        <p:spPr>
          <a:xfrm>
            <a:off x="548640" y="2743200"/>
            <a:ext cx="6400800" cy="256032"/>
          </a:xfrm>
          <a:prstGeom prst="rect">
            <a:avLst/>
          </a:prstGeom>
          <a:noFill/>
          <a:ln/>
        </p:spPr>
        <p:txBody>
          <a:bodyPr wrap="square" lIns="0" tIns="0" rIns="0" bIns="0" rtlCol="0" anchor="ctr"/>
          <a:lstStyle/>
          <a:p>
            <a:pPr marL="0" indent="0">
              <a:buNone/>
            </a:pPr>
            <a:r>
              <a:rPr lang="en-US" sz="1050" b="1" dirty="0">
                <a:solidFill>
                  <a:srgbClr val="6B8CAE"/>
                </a:solidFill>
              </a:rPr>
              <a:t>Duration: </a:t>
            </a:r>
            <a:r>
              <a:rPr lang="en-US" sz="1050" dirty="0">
                <a:solidFill>
                  <a:srgbClr val="D4E6F1"/>
                </a:solidFill>
              </a:rPr>
              <a:t>8 Weeks  ·  02 Feb – 24 Feb 2026</a:t>
            </a:r>
            <a:endParaRPr lang="en-US" sz="1050" dirty="0"/>
          </a:p>
        </p:txBody>
      </p:sp>
      <p:sp>
        <p:nvSpPr>
          <p:cNvPr id="36" name="Shape 34"/>
          <p:cNvSpPr/>
          <p:nvPr/>
        </p:nvSpPr>
        <p:spPr>
          <a:xfrm>
            <a:off x="585216" y="3163824"/>
            <a:ext cx="5029200" cy="1600200"/>
          </a:xfrm>
          <a:prstGeom prst="rect">
            <a:avLst/>
          </a:prstGeom>
          <a:solidFill>
            <a:srgbClr val="000000">
              <a:alpha val="28000"/>
            </a:srgbClr>
          </a:solidFill>
          <a:ln w="12700">
            <a:solidFill>
              <a:srgbClr val="000000">
                <a:alpha val="0"/>
              </a:srgbClr>
            </a:solidFill>
            <a:prstDash val="solid"/>
          </a:ln>
        </p:spPr>
      </p:sp>
      <p:sp>
        <p:nvSpPr>
          <p:cNvPr id="37" name="Shape 35"/>
          <p:cNvSpPr/>
          <p:nvPr/>
        </p:nvSpPr>
        <p:spPr>
          <a:xfrm>
            <a:off x="548640" y="3127248"/>
            <a:ext cx="5029200" cy="1600200"/>
          </a:xfrm>
          <a:prstGeom prst="rect">
            <a:avLst/>
          </a:prstGeom>
          <a:solidFill>
            <a:srgbClr val="0A1628">
              <a:alpha val="82000"/>
            </a:srgbClr>
          </a:solidFill>
          <a:ln w="12700">
            <a:solidFill>
              <a:srgbClr val="1E3A5F"/>
            </a:solidFill>
            <a:prstDash val="solid"/>
          </a:ln>
        </p:spPr>
      </p:sp>
      <p:sp>
        <p:nvSpPr>
          <p:cNvPr id="38" name="Shape 36"/>
          <p:cNvSpPr/>
          <p:nvPr/>
        </p:nvSpPr>
        <p:spPr>
          <a:xfrm>
            <a:off x="548640" y="3127248"/>
            <a:ext cx="5029200" cy="27432"/>
          </a:xfrm>
          <a:prstGeom prst="rect">
            <a:avLst/>
          </a:prstGeom>
          <a:solidFill>
            <a:srgbClr val="FFFFFF">
              <a:alpha val="26000"/>
            </a:srgbClr>
          </a:solidFill>
          <a:ln w="12700">
            <a:solidFill>
              <a:srgbClr val="FFFFFF">
                <a:alpha val="0"/>
              </a:srgbClr>
            </a:solidFill>
            <a:prstDash val="solid"/>
          </a:ln>
        </p:spPr>
      </p:sp>
      <p:sp>
        <p:nvSpPr>
          <p:cNvPr id="39" name="Shape 37"/>
          <p:cNvSpPr/>
          <p:nvPr/>
        </p:nvSpPr>
        <p:spPr>
          <a:xfrm>
            <a:off x="548640" y="3127248"/>
            <a:ext cx="27432" cy="1600200"/>
          </a:xfrm>
          <a:prstGeom prst="rect">
            <a:avLst/>
          </a:prstGeom>
          <a:solidFill>
            <a:srgbClr val="FFFFFF">
              <a:alpha val="18000"/>
            </a:srgbClr>
          </a:solidFill>
          <a:ln w="12700">
            <a:solidFill>
              <a:srgbClr val="FFFFFF">
                <a:alpha val="0"/>
              </a:srgbClr>
            </a:solidFill>
            <a:prstDash val="solid"/>
          </a:ln>
        </p:spPr>
      </p:sp>
      <p:sp>
        <p:nvSpPr>
          <p:cNvPr id="40" name="Shape 38"/>
          <p:cNvSpPr/>
          <p:nvPr/>
        </p:nvSpPr>
        <p:spPr>
          <a:xfrm>
            <a:off x="548640" y="3127248"/>
            <a:ext cx="50292" cy="1600200"/>
          </a:xfrm>
          <a:prstGeom prst="rect">
            <a:avLst/>
          </a:prstGeom>
          <a:solidFill>
            <a:srgbClr val="F5C518"/>
          </a:solidFill>
          <a:ln w="12700">
            <a:solidFill>
              <a:srgbClr val="F5C518"/>
            </a:solidFill>
            <a:prstDash val="solid"/>
          </a:ln>
        </p:spPr>
      </p:sp>
      <p:sp>
        <p:nvSpPr>
          <p:cNvPr id="41" name="Text 39"/>
          <p:cNvSpPr/>
          <p:nvPr/>
        </p:nvSpPr>
        <p:spPr>
          <a:xfrm>
            <a:off x="685800" y="3200400"/>
            <a:ext cx="4754880" cy="228600"/>
          </a:xfrm>
          <a:prstGeom prst="rect">
            <a:avLst/>
          </a:prstGeom>
          <a:noFill/>
          <a:ln/>
        </p:spPr>
        <p:txBody>
          <a:bodyPr wrap="square" lIns="0" tIns="0" rIns="0" bIns="0" rtlCol="0" anchor="ctr"/>
          <a:lstStyle/>
          <a:p>
            <a:pPr marL="0" indent="0">
              <a:buNone/>
            </a:pPr>
            <a:r>
              <a:rPr lang="en-US" sz="800" b="1" kern="0" spc="200" dirty="0">
                <a:solidFill>
                  <a:srgbClr val="F5C518"/>
                </a:solidFill>
              </a:rPr>
              <a:t>TEAM MEMBERS</a:t>
            </a:r>
            <a:endParaRPr lang="en-US" sz="800" dirty="0"/>
          </a:p>
        </p:txBody>
      </p:sp>
      <p:sp>
        <p:nvSpPr>
          <p:cNvPr id="42" name="Text 40"/>
          <p:cNvSpPr/>
          <p:nvPr/>
        </p:nvSpPr>
        <p:spPr>
          <a:xfrm>
            <a:off x="749808" y="3493008"/>
            <a:ext cx="2286000" cy="256032"/>
          </a:xfrm>
          <a:prstGeom prst="rect">
            <a:avLst/>
          </a:prstGeom>
          <a:noFill/>
          <a:ln/>
        </p:spPr>
        <p:txBody>
          <a:bodyPr wrap="square" lIns="0" tIns="0" rIns="0" bIns="0" rtlCol="0" anchor="ctr"/>
          <a:lstStyle/>
          <a:p>
            <a:pPr marL="0" indent="0">
              <a:buNone/>
            </a:pPr>
            <a:r>
              <a:rPr lang="en-US" sz="950" dirty="0">
                <a:solidFill>
                  <a:srgbClr val="D4E6F1"/>
                </a:solidFill>
              </a:rPr>
              <a:t>1.  Chelikani Harshal</a:t>
            </a:r>
            <a:endParaRPr lang="en-US" sz="950" dirty="0"/>
          </a:p>
        </p:txBody>
      </p:sp>
      <p:sp>
        <p:nvSpPr>
          <p:cNvPr id="43" name="Text 41"/>
          <p:cNvSpPr/>
          <p:nvPr/>
        </p:nvSpPr>
        <p:spPr>
          <a:xfrm>
            <a:off x="749808" y="3813048"/>
            <a:ext cx="2286000" cy="256032"/>
          </a:xfrm>
          <a:prstGeom prst="rect">
            <a:avLst/>
          </a:prstGeom>
          <a:noFill/>
          <a:ln/>
        </p:spPr>
        <p:txBody>
          <a:bodyPr wrap="square" lIns="0" tIns="0" rIns="0" bIns="0" rtlCol="0" anchor="ctr"/>
          <a:lstStyle/>
          <a:p>
            <a:pPr marL="0" indent="0">
              <a:buNone/>
            </a:pPr>
            <a:r>
              <a:rPr lang="en-US" sz="950" dirty="0">
                <a:solidFill>
                  <a:srgbClr val="D4E6F1"/>
                </a:solidFill>
              </a:rPr>
              <a:t>2.  Satbir Singh</a:t>
            </a:r>
            <a:endParaRPr lang="en-US" sz="950" dirty="0"/>
          </a:p>
        </p:txBody>
      </p:sp>
      <p:sp>
        <p:nvSpPr>
          <p:cNvPr id="44" name="Text 42"/>
          <p:cNvSpPr/>
          <p:nvPr/>
        </p:nvSpPr>
        <p:spPr>
          <a:xfrm>
            <a:off x="749808" y="4133088"/>
            <a:ext cx="2286000" cy="256032"/>
          </a:xfrm>
          <a:prstGeom prst="rect">
            <a:avLst/>
          </a:prstGeom>
          <a:noFill/>
          <a:ln/>
        </p:spPr>
        <p:txBody>
          <a:bodyPr wrap="square" lIns="0" tIns="0" rIns="0" bIns="0" rtlCol="0" anchor="ctr"/>
          <a:lstStyle/>
          <a:p>
            <a:pPr marL="0" indent="0">
              <a:buNone/>
            </a:pPr>
            <a:r>
              <a:rPr lang="en-US" sz="950" dirty="0">
                <a:solidFill>
                  <a:srgbClr val="D4E6F1"/>
                </a:solidFill>
              </a:rPr>
              <a:t>3.  Arun Kumar</a:t>
            </a:r>
            <a:endParaRPr lang="en-US" sz="950" dirty="0"/>
          </a:p>
        </p:txBody>
      </p:sp>
      <p:sp>
        <p:nvSpPr>
          <p:cNvPr id="45" name="Text 43"/>
          <p:cNvSpPr/>
          <p:nvPr/>
        </p:nvSpPr>
        <p:spPr>
          <a:xfrm>
            <a:off x="3218688" y="3493008"/>
            <a:ext cx="2286000" cy="256032"/>
          </a:xfrm>
          <a:prstGeom prst="rect">
            <a:avLst/>
          </a:prstGeom>
          <a:noFill/>
          <a:ln/>
        </p:spPr>
        <p:txBody>
          <a:bodyPr wrap="square" lIns="0" tIns="0" rIns="0" bIns="0" rtlCol="0" anchor="ctr"/>
          <a:lstStyle/>
          <a:p>
            <a:pPr marL="0" indent="0">
              <a:buNone/>
            </a:pPr>
            <a:r>
              <a:rPr lang="en-US" sz="950" dirty="0">
                <a:solidFill>
                  <a:srgbClr val="D4E6F1"/>
                </a:solidFill>
              </a:rPr>
              <a:t>4.  N. Akhila</a:t>
            </a:r>
            <a:endParaRPr lang="en-US" sz="950" dirty="0"/>
          </a:p>
        </p:txBody>
      </p:sp>
      <p:sp>
        <p:nvSpPr>
          <p:cNvPr id="46" name="Text 44"/>
          <p:cNvSpPr/>
          <p:nvPr/>
        </p:nvSpPr>
        <p:spPr>
          <a:xfrm>
            <a:off x="3218688" y="3813048"/>
            <a:ext cx="2286000" cy="256032"/>
          </a:xfrm>
          <a:prstGeom prst="rect">
            <a:avLst/>
          </a:prstGeom>
          <a:noFill/>
          <a:ln/>
        </p:spPr>
        <p:txBody>
          <a:bodyPr wrap="square" lIns="0" tIns="0" rIns="0" bIns="0" rtlCol="0" anchor="ctr"/>
          <a:lstStyle/>
          <a:p>
            <a:pPr marL="0" indent="0">
              <a:buNone/>
            </a:pPr>
            <a:r>
              <a:rPr lang="en-US" sz="950" dirty="0">
                <a:solidFill>
                  <a:srgbClr val="D4E6F1"/>
                </a:solidFill>
              </a:rPr>
              <a:t>5.  G. Srilakshmi</a:t>
            </a:r>
            <a:endParaRPr lang="en-US" sz="950" dirty="0"/>
          </a:p>
        </p:txBody>
      </p:sp>
      <p:sp>
        <p:nvSpPr>
          <p:cNvPr id="47" name="Shape 45"/>
          <p:cNvSpPr/>
          <p:nvPr/>
        </p:nvSpPr>
        <p:spPr>
          <a:xfrm>
            <a:off x="0" y="4983480"/>
            <a:ext cx="9144000" cy="160020"/>
          </a:xfrm>
          <a:prstGeom prst="rect">
            <a:avLst/>
          </a:prstGeom>
          <a:solidFill>
            <a:srgbClr val="1A2E45"/>
          </a:solidFill>
          <a:ln w="12700">
            <a:solidFill>
              <a:srgbClr val="1A2E45"/>
            </a:solidFill>
            <a:prstDash val="solid"/>
          </a:ln>
        </p:spPr>
      </p:sp>
      <p:sp>
        <p:nvSpPr>
          <p:cNvPr id="48" name="Shape 46"/>
          <p:cNvSpPr/>
          <p:nvPr/>
        </p:nvSpPr>
        <p:spPr>
          <a:xfrm>
            <a:off x="0" y="4983480"/>
            <a:ext cx="36576" cy="160020"/>
          </a:xfrm>
          <a:prstGeom prst="rect">
            <a:avLst/>
          </a:prstGeom>
          <a:solidFill>
            <a:srgbClr val="F5C518"/>
          </a:solidFill>
          <a:ln w="12700">
            <a:solidFill>
              <a:srgbClr val="F5C518"/>
            </a:solidFill>
            <a:prstDash val="solid"/>
          </a:ln>
        </p:spPr>
      </p:sp>
      <p:sp>
        <p:nvSpPr>
          <p:cNvPr id="49" name="Text 47"/>
          <p:cNvSpPr/>
          <p:nvPr/>
        </p:nvSpPr>
        <p:spPr>
          <a:xfrm>
            <a:off x="137160" y="4983480"/>
            <a:ext cx="8229600" cy="160020"/>
          </a:xfrm>
          <a:prstGeom prst="rect">
            <a:avLst/>
          </a:prstGeom>
          <a:noFill/>
          <a:ln/>
        </p:spPr>
        <p:txBody>
          <a:bodyPr wrap="square" lIns="0" tIns="0" rIns="0" bIns="0" rtlCol="0" anchor="ctr"/>
          <a:lstStyle/>
          <a:p>
            <a:pPr marL="0" indent="0">
              <a:buNone/>
            </a:pPr>
            <a:r>
              <a:rPr lang="en-US" sz="750" dirty="0">
                <a:solidFill>
                  <a:srgbClr val="6B8CAE"/>
                </a:solidFill>
              </a:rPr>
              <a:t>HotelRevAI  ·  Infosys Springboard Internship 6.0  ·  Batch 13 — Group 2, Team D</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A14"/>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0D2137"/>
            </a:solidFill>
            <a:prstDash val="solid"/>
          </a:ln>
        </p:spPr>
      </p:sp>
      <p:sp>
        <p:nvSpPr>
          <p:cNvPr id="3" name="Shape 1"/>
          <p:cNvSpPr/>
          <p:nvPr/>
        </p:nvSpPr>
        <p:spPr>
          <a:xfrm>
            <a:off x="914400" y="0"/>
            <a:ext cx="0" cy="5143500"/>
          </a:xfrm>
          <a:prstGeom prst="line">
            <a:avLst/>
          </a:prstGeom>
          <a:noFill/>
          <a:ln w="6350">
            <a:solidFill>
              <a:srgbClr val="0D2137"/>
            </a:solidFill>
            <a:prstDash val="solid"/>
          </a:ln>
        </p:spPr>
      </p:sp>
      <p:sp>
        <p:nvSpPr>
          <p:cNvPr id="4" name="Shape 2"/>
          <p:cNvSpPr/>
          <p:nvPr/>
        </p:nvSpPr>
        <p:spPr>
          <a:xfrm>
            <a:off x="1828800" y="0"/>
            <a:ext cx="0" cy="5143500"/>
          </a:xfrm>
          <a:prstGeom prst="line">
            <a:avLst/>
          </a:prstGeom>
          <a:noFill/>
          <a:ln w="6350">
            <a:solidFill>
              <a:srgbClr val="0D2137"/>
            </a:solidFill>
            <a:prstDash val="solid"/>
          </a:ln>
        </p:spPr>
      </p:sp>
      <p:sp>
        <p:nvSpPr>
          <p:cNvPr id="5" name="Shape 3"/>
          <p:cNvSpPr/>
          <p:nvPr/>
        </p:nvSpPr>
        <p:spPr>
          <a:xfrm>
            <a:off x="2743200" y="0"/>
            <a:ext cx="0" cy="5143500"/>
          </a:xfrm>
          <a:prstGeom prst="line">
            <a:avLst/>
          </a:prstGeom>
          <a:noFill/>
          <a:ln w="6350">
            <a:solidFill>
              <a:srgbClr val="0D2137"/>
            </a:solidFill>
            <a:prstDash val="solid"/>
          </a:ln>
        </p:spPr>
      </p:sp>
      <p:sp>
        <p:nvSpPr>
          <p:cNvPr id="6" name="Shape 4"/>
          <p:cNvSpPr/>
          <p:nvPr/>
        </p:nvSpPr>
        <p:spPr>
          <a:xfrm>
            <a:off x="3657600" y="0"/>
            <a:ext cx="0" cy="5143500"/>
          </a:xfrm>
          <a:prstGeom prst="line">
            <a:avLst/>
          </a:prstGeom>
          <a:noFill/>
          <a:ln w="6350">
            <a:solidFill>
              <a:srgbClr val="0D2137"/>
            </a:solidFill>
            <a:prstDash val="solid"/>
          </a:ln>
        </p:spPr>
      </p:sp>
      <p:sp>
        <p:nvSpPr>
          <p:cNvPr id="7" name="Shape 5"/>
          <p:cNvSpPr/>
          <p:nvPr/>
        </p:nvSpPr>
        <p:spPr>
          <a:xfrm>
            <a:off x="4572000" y="0"/>
            <a:ext cx="0" cy="5143500"/>
          </a:xfrm>
          <a:prstGeom prst="line">
            <a:avLst/>
          </a:prstGeom>
          <a:noFill/>
          <a:ln w="6350">
            <a:solidFill>
              <a:srgbClr val="0D2137"/>
            </a:solidFill>
            <a:prstDash val="solid"/>
          </a:ln>
        </p:spPr>
      </p:sp>
      <p:sp>
        <p:nvSpPr>
          <p:cNvPr id="8" name="Shape 6"/>
          <p:cNvSpPr/>
          <p:nvPr/>
        </p:nvSpPr>
        <p:spPr>
          <a:xfrm>
            <a:off x="5486400" y="0"/>
            <a:ext cx="0" cy="5143500"/>
          </a:xfrm>
          <a:prstGeom prst="line">
            <a:avLst/>
          </a:prstGeom>
          <a:noFill/>
          <a:ln w="6350">
            <a:solidFill>
              <a:srgbClr val="0D2137"/>
            </a:solidFill>
            <a:prstDash val="solid"/>
          </a:ln>
        </p:spPr>
      </p:sp>
      <p:sp>
        <p:nvSpPr>
          <p:cNvPr id="9" name="Shape 7"/>
          <p:cNvSpPr/>
          <p:nvPr/>
        </p:nvSpPr>
        <p:spPr>
          <a:xfrm>
            <a:off x="6400800" y="0"/>
            <a:ext cx="0" cy="5143500"/>
          </a:xfrm>
          <a:prstGeom prst="line">
            <a:avLst/>
          </a:prstGeom>
          <a:noFill/>
          <a:ln w="6350">
            <a:solidFill>
              <a:srgbClr val="0D2137"/>
            </a:solidFill>
            <a:prstDash val="solid"/>
          </a:ln>
        </p:spPr>
      </p:sp>
      <p:sp>
        <p:nvSpPr>
          <p:cNvPr id="10" name="Shape 8"/>
          <p:cNvSpPr/>
          <p:nvPr/>
        </p:nvSpPr>
        <p:spPr>
          <a:xfrm>
            <a:off x="7315200" y="0"/>
            <a:ext cx="0" cy="5143500"/>
          </a:xfrm>
          <a:prstGeom prst="line">
            <a:avLst/>
          </a:prstGeom>
          <a:noFill/>
          <a:ln w="6350">
            <a:solidFill>
              <a:srgbClr val="0D2137"/>
            </a:solidFill>
            <a:prstDash val="solid"/>
          </a:ln>
        </p:spPr>
      </p:sp>
      <p:sp>
        <p:nvSpPr>
          <p:cNvPr id="11" name="Shape 9"/>
          <p:cNvSpPr/>
          <p:nvPr/>
        </p:nvSpPr>
        <p:spPr>
          <a:xfrm>
            <a:off x="8229600" y="0"/>
            <a:ext cx="0" cy="5143500"/>
          </a:xfrm>
          <a:prstGeom prst="line">
            <a:avLst/>
          </a:prstGeom>
          <a:noFill/>
          <a:ln w="6350">
            <a:solidFill>
              <a:srgbClr val="0D2137"/>
            </a:solidFill>
            <a:prstDash val="solid"/>
          </a:ln>
        </p:spPr>
      </p:sp>
      <p:sp>
        <p:nvSpPr>
          <p:cNvPr id="12" name="Shape 10"/>
          <p:cNvSpPr/>
          <p:nvPr/>
        </p:nvSpPr>
        <p:spPr>
          <a:xfrm>
            <a:off x="9144000" y="0"/>
            <a:ext cx="0" cy="5143500"/>
          </a:xfrm>
          <a:prstGeom prst="line">
            <a:avLst/>
          </a:prstGeom>
          <a:noFill/>
          <a:ln w="6350">
            <a:solidFill>
              <a:srgbClr val="0D2137"/>
            </a:solidFill>
            <a:prstDash val="solid"/>
          </a:ln>
        </p:spPr>
      </p:sp>
      <p:sp>
        <p:nvSpPr>
          <p:cNvPr id="13" name="Shape 11"/>
          <p:cNvSpPr/>
          <p:nvPr/>
        </p:nvSpPr>
        <p:spPr>
          <a:xfrm>
            <a:off x="0" y="0"/>
            <a:ext cx="9144000" cy="0"/>
          </a:xfrm>
          <a:prstGeom prst="line">
            <a:avLst/>
          </a:prstGeom>
          <a:noFill/>
          <a:ln w="6350">
            <a:solidFill>
              <a:srgbClr val="0D2137"/>
            </a:solidFill>
            <a:prstDash val="solid"/>
          </a:ln>
        </p:spPr>
      </p:sp>
      <p:sp>
        <p:nvSpPr>
          <p:cNvPr id="14" name="Shape 12"/>
          <p:cNvSpPr/>
          <p:nvPr/>
        </p:nvSpPr>
        <p:spPr>
          <a:xfrm>
            <a:off x="0" y="859536"/>
            <a:ext cx="9144000" cy="0"/>
          </a:xfrm>
          <a:prstGeom prst="line">
            <a:avLst/>
          </a:prstGeom>
          <a:noFill/>
          <a:ln w="6350">
            <a:solidFill>
              <a:srgbClr val="0D2137"/>
            </a:solidFill>
            <a:prstDash val="solid"/>
          </a:ln>
        </p:spPr>
      </p:sp>
      <p:sp>
        <p:nvSpPr>
          <p:cNvPr id="15" name="Shape 13"/>
          <p:cNvSpPr/>
          <p:nvPr/>
        </p:nvSpPr>
        <p:spPr>
          <a:xfrm>
            <a:off x="0" y="1719072"/>
            <a:ext cx="9144000" cy="0"/>
          </a:xfrm>
          <a:prstGeom prst="line">
            <a:avLst/>
          </a:prstGeom>
          <a:noFill/>
          <a:ln w="6350">
            <a:solidFill>
              <a:srgbClr val="0D2137"/>
            </a:solidFill>
            <a:prstDash val="solid"/>
          </a:ln>
        </p:spPr>
      </p:sp>
      <p:sp>
        <p:nvSpPr>
          <p:cNvPr id="16" name="Shape 14"/>
          <p:cNvSpPr/>
          <p:nvPr/>
        </p:nvSpPr>
        <p:spPr>
          <a:xfrm>
            <a:off x="0" y="2578608"/>
            <a:ext cx="9144000" cy="0"/>
          </a:xfrm>
          <a:prstGeom prst="line">
            <a:avLst/>
          </a:prstGeom>
          <a:noFill/>
          <a:ln w="6350">
            <a:solidFill>
              <a:srgbClr val="0D2137"/>
            </a:solidFill>
            <a:prstDash val="solid"/>
          </a:ln>
        </p:spPr>
      </p:sp>
      <p:sp>
        <p:nvSpPr>
          <p:cNvPr id="17" name="Shape 15"/>
          <p:cNvSpPr/>
          <p:nvPr/>
        </p:nvSpPr>
        <p:spPr>
          <a:xfrm>
            <a:off x="0" y="3438144"/>
            <a:ext cx="9144000" cy="0"/>
          </a:xfrm>
          <a:prstGeom prst="line">
            <a:avLst/>
          </a:prstGeom>
          <a:noFill/>
          <a:ln w="6350">
            <a:solidFill>
              <a:srgbClr val="0D2137"/>
            </a:solidFill>
            <a:prstDash val="solid"/>
          </a:ln>
        </p:spPr>
      </p:sp>
      <p:sp>
        <p:nvSpPr>
          <p:cNvPr id="18" name="Shape 16"/>
          <p:cNvSpPr/>
          <p:nvPr/>
        </p:nvSpPr>
        <p:spPr>
          <a:xfrm>
            <a:off x="0" y="4297680"/>
            <a:ext cx="9144000" cy="0"/>
          </a:xfrm>
          <a:prstGeom prst="line">
            <a:avLst/>
          </a:prstGeom>
          <a:noFill/>
          <a:ln w="6350">
            <a:solidFill>
              <a:srgbClr val="0D2137"/>
            </a:solidFill>
            <a:prstDash val="solid"/>
          </a:ln>
        </p:spPr>
      </p:sp>
      <p:sp>
        <p:nvSpPr>
          <p:cNvPr id="19" name="Shape 17"/>
          <p:cNvSpPr/>
          <p:nvPr/>
        </p:nvSpPr>
        <p:spPr>
          <a:xfrm>
            <a:off x="0" y="5157216"/>
            <a:ext cx="9144000" cy="0"/>
          </a:xfrm>
          <a:prstGeom prst="line">
            <a:avLst/>
          </a:prstGeom>
          <a:noFill/>
          <a:ln w="6350">
            <a:solidFill>
              <a:srgbClr val="0D2137"/>
            </a:solidFill>
            <a:prstDash val="solid"/>
          </a:ln>
        </p:spPr>
      </p:sp>
      <p:sp>
        <p:nvSpPr>
          <p:cNvPr id="20" name="Shape 18"/>
          <p:cNvSpPr/>
          <p:nvPr/>
        </p:nvSpPr>
        <p:spPr>
          <a:xfrm>
            <a:off x="7040880" y="-914400"/>
            <a:ext cx="3291840" cy="3291840"/>
          </a:xfrm>
          <a:prstGeom prst="ellipse">
            <a:avLst/>
          </a:prstGeom>
          <a:solidFill>
            <a:srgbClr val="F5C518">
              <a:alpha val="12000"/>
            </a:srgbClr>
          </a:solidFill>
          <a:ln w="12700">
            <a:solidFill>
              <a:srgbClr val="F5C518">
                <a:alpha val="5000"/>
              </a:srgbClr>
            </a:solidFill>
            <a:prstDash val="solid"/>
          </a:ln>
        </p:spPr>
      </p:sp>
      <p:sp>
        <p:nvSpPr>
          <p:cNvPr id="21" name="Shape 19"/>
          <p:cNvSpPr/>
          <p:nvPr/>
        </p:nvSpPr>
        <p:spPr>
          <a:xfrm>
            <a:off x="7863840" y="-91440"/>
            <a:ext cx="1645920" cy="1645920"/>
          </a:xfrm>
          <a:prstGeom prst="ellipse">
            <a:avLst/>
          </a:prstGeom>
          <a:solidFill>
            <a:srgbClr val="F5C518">
              <a:alpha val="4000"/>
            </a:srgbClr>
          </a:solidFill>
          <a:ln w="12700">
            <a:solidFill>
              <a:srgbClr val="F5C518">
                <a:alpha val="0"/>
              </a:srgbClr>
            </a:solidFill>
            <a:prstDash val="solid"/>
          </a:ln>
        </p:spPr>
      </p:sp>
      <p:sp>
        <p:nvSpPr>
          <p:cNvPr id="22" name="Shape 20"/>
          <p:cNvSpPr/>
          <p:nvPr/>
        </p:nvSpPr>
        <p:spPr>
          <a:xfrm>
            <a:off x="-640080" y="3200400"/>
            <a:ext cx="2743200" cy="2743200"/>
          </a:xfrm>
          <a:prstGeom prst="ellipse">
            <a:avLst/>
          </a:prstGeom>
          <a:solidFill>
            <a:srgbClr val="00B4FF">
              <a:alpha val="12000"/>
            </a:srgbClr>
          </a:solidFill>
          <a:ln w="12700">
            <a:solidFill>
              <a:srgbClr val="00B4FF">
                <a:alpha val="5000"/>
              </a:srgbClr>
            </a:solidFill>
            <a:prstDash val="solid"/>
          </a:ln>
        </p:spPr>
      </p:sp>
      <p:sp>
        <p:nvSpPr>
          <p:cNvPr id="23" name="Shape 21"/>
          <p:cNvSpPr/>
          <p:nvPr/>
        </p:nvSpPr>
        <p:spPr>
          <a:xfrm>
            <a:off x="45720" y="3886200"/>
            <a:ext cx="1371600" cy="1371600"/>
          </a:xfrm>
          <a:prstGeom prst="ellipse">
            <a:avLst/>
          </a:prstGeom>
          <a:solidFill>
            <a:srgbClr val="00B4FF">
              <a:alpha val="4000"/>
            </a:srgbClr>
          </a:solidFill>
          <a:ln w="12700">
            <a:solidFill>
              <a:srgbClr val="00B4FF">
                <a:alpha val="0"/>
              </a:srgbClr>
            </a:solidFill>
            <a:prstDash val="solid"/>
          </a:ln>
        </p:spPr>
      </p:sp>
      <p:sp>
        <p:nvSpPr>
          <p:cNvPr id="24" name="Shape 22"/>
          <p:cNvSpPr/>
          <p:nvPr/>
        </p:nvSpPr>
        <p:spPr>
          <a:xfrm>
            <a:off x="0" y="0"/>
            <a:ext cx="9144000" cy="50292"/>
          </a:xfrm>
          <a:prstGeom prst="rect">
            <a:avLst/>
          </a:prstGeom>
          <a:solidFill>
            <a:srgbClr val="F5C518"/>
          </a:solidFill>
          <a:ln w="12700">
            <a:solidFill>
              <a:srgbClr val="F5C518"/>
            </a:solidFill>
            <a:prstDash val="solid"/>
          </a:ln>
        </p:spPr>
      </p:sp>
      <p:sp>
        <p:nvSpPr>
          <p:cNvPr id="25" name="Shape 23"/>
          <p:cNvSpPr/>
          <p:nvPr/>
        </p:nvSpPr>
        <p:spPr>
          <a:xfrm>
            <a:off x="320040" y="182880"/>
            <a:ext cx="1737360" cy="246888"/>
          </a:xfrm>
          <a:prstGeom prst="rect">
            <a:avLst/>
          </a:prstGeom>
          <a:solidFill>
            <a:srgbClr val="003E7A"/>
          </a:solidFill>
          <a:ln w="12700">
            <a:solidFill>
              <a:srgbClr val="F5C518"/>
            </a:solidFill>
            <a:prstDash val="solid"/>
          </a:ln>
        </p:spPr>
      </p:sp>
      <p:sp>
        <p:nvSpPr>
          <p:cNvPr id="26" name="Text 24"/>
          <p:cNvSpPr/>
          <p:nvPr/>
        </p:nvSpPr>
        <p:spPr>
          <a:xfrm>
            <a:off x="320040" y="182880"/>
            <a:ext cx="1737360" cy="246888"/>
          </a:xfrm>
          <a:prstGeom prst="rect">
            <a:avLst/>
          </a:prstGeom>
          <a:noFill/>
          <a:ln/>
        </p:spPr>
        <p:txBody>
          <a:bodyPr wrap="square" lIns="0" tIns="0" rIns="0" bIns="0" rtlCol="0" anchor="ctr"/>
          <a:lstStyle/>
          <a:p>
            <a:pPr marL="0" indent="0" algn="ctr">
              <a:buNone/>
            </a:pPr>
            <a:r>
              <a:rPr lang="en-US" sz="700" b="1" kern="0" spc="200" dirty="0">
                <a:solidFill>
                  <a:srgbClr val="F5C518"/>
                </a:solidFill>
              </a:rPr>
              <a:t>PROJECT INTRODUCTION</a:t>
            </a:r>
            <a:endParaRPr lang="en-US" sz="700" dirty="0"/>
          </a:p>
        </p:txBody>
      </p:sp>
      <p:sp>
        <p:nvSpPr>
          <p:cNvPr id="27" name="Text 25"/>
          <p:cNvSpPr/>
          <p:nvPr/>
        </p:nvSpPr>
        <p:spPr>
          <a:xfrm>
            <a:off x="320040" y="521208"/>
            <a:ext cx="8503920" cy="512064"/>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What is HotelRevAI?</a:t>
            </a:r>
            <a:endParaRPr lang="en-US" sz="2800" dirty="0"/>
          </a:p>
        </p:txBody>
      </p:sp>
      <p:sp>
        <p:nvSpPr>
          <p:cNvPr id="28" name="Shape 26"/>
          <p:cNvSpPr/>
          <p:nvPr/>
        </p:nvSpPr>
        <p:spPr>
          <a:xfrm>
            <a:off x="320040" y="1078992"/>
            <a:ext cx="1097280" cy="36576"/>
          </a:xfrm>
          <a:prstGeom prst="rect">
            <a:avLst/>
          </a:prstGeom>
          <a:solidFill>
            <a:srgbClr val="F5C518"/>
          </a:solidFill>
          <a:ln w="12700">
            <a:solidFill>
              <a:srgbClr val="F5C518"/>
            </a:solidFill>
            <a:prstDash val="solid"/>
          </a:ln>
        </p:spPr>
      </p:sp>
      <p:sp>
        <p:nvSpPr>
          <p:cNvPr id="29" name="Shape 27"/>
          <p:cNvSpPr/>
          <p:nvPr/>
        </p:nvSpPr>
        <p:spPr>
          <a:xfrm>
            <a:off x="1463040" y="1078992"/>
            <a:ext cx="7360920" cy="36576"/>
          </a:xfrm>
          <a:prstGeom prst="rect">
            <a:avLst/>
          </a:prstGeom>
          <a:solidFill>
            <a:srgbClr val="1A2E45"/>
          </a:solidFill>
          <a:ln w="12700">
            <a:solidFill>
              <a:srgbClr val="1A2E45"/>
            </a:solidFill>
            <a:prstDash val="solid"/>
          </a:ln>
        </p:spPr>
      </p:sp>
      <p:sp>
        <p:nvSpPr>
          <p:cNvPr id="30" name="Shape 28"/>
          <p:cNvSpPr/>
          <p:nvPr/>
        </p:nvSpPr>
        <p:spPr>
          <a:xfrm>
            <a:off x="356616" y="1243584"/>
            <a:ext cx="5120640" cy="1901952"/>
          </a:xfrm>
          <a:prstGeom prst="rect">
            <a:avLst/>
          </a:prstGeom>
          <a:solidFill>
            <a:srgbClr val="000000">
              <a:alpha val="28000"/>
            </a:srgbClr>
          </a:solidFill>
          <a:ln w="12700">
            <a:solidFill>
              <a:srgbClr val="000000">
                <a:alpha val="0"/>
              </a:srgbClr>
            </a:solidFill>
            <a:prstDash val="solid"/>
          </a:ln>
        </p:spPr>
      </p:sp>
      <p:sp>
        <p:nvSpPr>
          <p:cNvPr id="31" name="Shape 29"/>
          <p:cNvSpPr/>
          <p:nvPr/>
        </p:nvSpPr>
        <p:spPr>
          <a:xfrm>
            <a:off x="320040" y="1207008"/>
            <a:ext cx="5120640" cy="1901952"/>
          </a:xfrm>
          <a:prstGeom prst="rect">
            <a:avLst/>
          </a:prstGeom>
          <a:solidFill>
            <a:srgbClr val="0A1628">
              <a:alpha val="82000"/>
            </a:srgbClr>
          </a:solidFill>
          <a:ln w="12700">
            <a:solidFill>
              <a:srgbClr val="1E3A5F"/>
            </a:solidFill>
            <a:prstDash val="solid"/>
          </a:ln>
        </p:spPr>
      </p:sp>
      <p:sp>
        <p:nvSpPr>
          <p:cNvPr id="32" name="Shape 30"/>
          <p:cNvSpPr/>
          <p:nvPr/>
        </p:nvSpPr>
        <p:spPr>
          <a:xfrm>
            <a:off x="320040" y="1207008"/>
            <a:ext cx="5120640" cy="27432"/>
          </a:xfrm>
          <a:prstGeom prst="rect">
            <a:avLst/>
          </a:prstGeom>
          <a:solidFill>
            <a:srgbClr val="FFFFFF">
              <a:alpha val="26000"/>
            </a:srgbClr>
          </a:solidFill>
          <a:ln w="12700">
            <a:solidFill>
              <a:srgbClr val="FFFFFF">
                <a:alpha val="0"/>
              </a:srgbClr>
            </a:solidFill>
            <a:prstDash val="solid"/>
          </a:ln>
        </p:spPr>
      </p:sp>
      <p:sp>
        <p:nvSpPr>
          <p:cNvPr id="33" name="Shape 31"/>
          <p:cNvSpPr/>
          <p:nvPr/>
        </p:nvSpPr>
        <p:spPr>
          <a:xfrm>
            <a:off x="320040" y="1207008"/>
            <a:ext cx="27432" cy="1901952"/>
          </a:xfrm>
          <a:prstGeom prst="rect">
            <a:avLst/>
          </a:prstGeom>
          <a:solidFill>
            <a:srgbClr val="FFFFFF">
              <a:alpha val="18000"/>
            </a:srgbClr>
          </a:solidFill>
          <a:ln w="12700">
            <a:solidFill>
              <a:srgbClr val="FFFFFF">
                <a:alpha val="0"/>
              </a:srgbClr>
            </a:solidFill>
            <a:prstDash val="solid"/>
          </a:ln>
        </p:spPr>
      </p:sp>
      <p:sp>
        <p:nvSpPr>
          <p:cNvPr id="34" name="Shape 32"/>
          <p:cNvSpPr/>
          <p:nvPr/>
        </p:nvSpPr>
        <p:spPr>
          <a:xfrm>
            <a:off x="320040" y="1207008"/>
            <a:ext cx="50292" cy="1901952"/>
          </a:xfrm>
          <a:prstGeom prst="rect">
            <a:avLst/>
          </a:prstGeom>
          <a:solidFill>
            <a:srgbClr val="00B4FF"/>
          </a:solidFill>
          <a:ln w="12700">
            <a:solidFill>
              <a:srgbClr val="00B4FF"/>
            </a:solidFill>
            <a:prstDash val="solid"/>
          </a:ln>
        </p:spPr>
      </p:sp>
      <p:sp>
        <p:nvSpPr>
          <p:cNvPr id="35" name="Text 33"/>
          <p:cNvSpPr/>
          <p:nvPr/>
        </p:nvSpPr>
        <p:spPr>
          <a:xfrm>
            <a:off x="475488" y="1261872"/>
            <a:ext cx="4754880" cy="274320"/>
          </a:xfrm>
          <a:prstGeom prst="rect">
            <a:avLst/>
          </a:prstGeom>
          <a:noFill/>
          <a:ln/>
        </p:spPr>
        <p:txBody>
          <a:bodyPr wrap="square" lIns="0" tIns="0" rIns="0" bIns="0" rtlCol="0" anchor="ctr"/>
          <a:lstStyle/>
          <a:p>
            <a:pPr marL="0" indent="0">
              <a:buNone/>
            </a:pPr>
            <a:r>
              <a:rPr lang="en-US" sz="1100" b="1" dirty="0">
                <a:solidFill>
                  <a:srgbClr val="00B4FF"/>
                </a:solidFill>
              </a:rPr>
              <a:t>Project Summary</a:t>
            </a:r>
            <a:endParaRPr lang="en-US" sz="1100" dirty="0"/>
          </a:p>
        </p:txBody>
      </p:sp>
      <p:sp>
        <p:nvSpPr>
          <p:cNvPr id="36" name="Text 34"/>
          <p:cNvSpPr/>
          <p:nvPr/>
        </p:nvSpPr>
        <p:spPr>
          <a:xfrm>
            <a:off x="475488" y="1572768"/>
            <a:ext cx="4800600" cy="1444752"/>
          </a:xfrm>
          <a:prstGeom prst="rect">
            <a:avLst/>
          </a:prstGeom>
          <a:noFill/>
          <a:ln/>
        </p:spPr>
        <p:txBody>
          <a:bodyPr wrap="square" lIns="0" tIns="0" rIns="0" bIns="0" rtlCol="0" anchor="ctr"/>
          <a:lstStyle/>
          <a:p>
            <a:pPr marL="0" indent="0">
              <a:buNone/>
            </a:pPr>
            <a:r>
              <a:rPr lang="en-US" sz="950" dirty="0">
                <a:solidFill>
                  <a:srgbClr val="D4E6F1"/>
                </a:solidFill>
              </a:rPr>
              <a:t>HotelRevAI is an end-to-end business intelligence system built on Microsoft Power BI that transforms 1,17,430 raw hotel booking records into five fully interactive revenue dashboards. Designed for hotel General Managers and Revenue Managers, it replaces hours of manual Excel reporting with instant, filterable insights — covering revenue performance, occupancy trends, guest segmentation, cancellation forecasting, and pricing strategy.</a:t>
            </a:r>
            <a:endParaRPr lang="en-US" sz="950" dirty="0"/>
          </a:p>
        </p:txBody>
      </p:sp>
      <p:sp>
        <p:nvSpPr>
          <p:cNvPr id="37" name="Shape 35"/>
          <p:cNvSpPr/>
          <p:nvPr/>
        </p:nvSpPr>
        <p:spPr>
          <a:xfrm>
            <a:off x="5614416" y="1243584"/>
            <a:ext cx="3246120" cy="1901952"/>
          </a:xfrm>
          <a:prstGeom prst="rect">
            <a:avLst/>
          </a:prstGeom>
          <a:solidFill>
            <a:srgbClr val="000000">
              <a:alpha val="28000"/>
            </a:srgbClr>
          </a:solidFill>
          <a:ln w="12700">
            <a:solidFill>
              <a:srgbClr val="000000">
                <a:alpha val="0"/>
              </a:srgbClr>
            </a:solidFill>
            <a:prstDash val="solid"/>
          </a:ln>
        </p:spPr>
      </p:sp>
      <p:sp>
        <p:nvSpPr>
          <p:cNvPr id="38" name="Shape 36"/>
          <p:cNvSpPr/>
          <p:nvPr/>
        </p:nvSpPr>
        <p:spPr>
          <a:xfrm>
            <a:off x="5577840" y="1207008"/>
            <a:ext cx="3246120" cy="1901952"/>
          </a:xfrm>
          <a:prstGeom prst="rect">
            <a:avLst/>
          </a:prstGeom>
          <a:solidFill>
            <a:srgbClr val="0A1628">
              <a:alpha val="82000"/>
            </a:srgbClr>
          </a:solidFill>
          <a:ln w="12700">
            <a:solidFill>
              <a:srgbClr val="1E3A5F"/>
            </a:solidFill>
            <a:prstDash val="solid"/>
          </a:ln>
        </p:spPr>
      </p:sp>
      <p:sp>
        <p:nvSpPr>
          <p:cNvPr id="39" name="Shape 37"/>
          <p:cNvSpPr/>
          <p:nvPr/>
        </p:nvSpPr>
        <p:spPr>
          <a:xfrm>
            <a:off x="5577840" y="1207008"/>
            <a:ext cx="3246120" cy="27432"/>
          </a:xfrm>
          <a:prstGeom prst="rect">
            <a:avLst/>
          </a:prstGeom>
          <a:solidFill>
            <a:srgbClr val="FFFFFF">
              <a:alpha val="26000"/>
            </a:srgbClr>
          </a:solidFill>
          <a:ln w="12700">
            <a:solidFill>
              <a:srgbClr val="FFFFFF">
                <a:alpha val="0"/>
              </a:srgbClr>
            </a:solidFill>
            <a:prstDash val="solid"/>
          </a:ln>
        </p:spPr>
      </p:sp>
      <p:sp>
        <p:nvSpPr>
          <p:cNvPr id="40" name="Shape 38"/>
          <p:cNvSpPr/>
          <p:nvPr/>
        </p:nvSpPr>
        <p:spPr>
          <a:xfrm>
            <a:off x="5577840" y="1207008"/>
            <a:ext cx="27432" cy="1901952"/>
          </a:xfrm>
          <a:prstGeom prst="rect">
            <a:avLst/>
          </a:prstGeom>
          <a:solidFill>
            <a:srgbClr val="FFFFFF">
              <a:alpha val="18000"/>
            </a:srgbClr>
          </a:solidFill>
          <a:ln w="12700">
            <a:solidFill>
              <a:srgbClr val="FFFFFF">
                <a:alpha val="0"/>
              </a:srgbClr>
            </a:solidFill>
            <a:prstDash val="solid"/>
          </a:ln>
        </p:spPr>
      </p:sp>
      <p:sp>
        <p:nvSpPr>
          <p:cNvPr id="41" name="Shape 39"/>
          <p:cNvSpPr/>
          <p:nvPr/>
        </p:nvSpPr>
        <p:spPr>
          <a:xfrm>
            <a:off x="5577840" y="1207008"/>
            <a:ext cx="3246120" cy="50292"/>
          </a:xfrm>
          <a:prstGeom prst="rect">
            <a:avLst/>
          </a:prstGeom>
          <a:solidFill>
            <a:srgbClr val="F5C518"/>
          </a:solidFill>
          <a:ln w="12700">
            <a:solidFill>
              <a:srgbClr val="F5C518"/>
            </a:solidFill>
            <a:prstDash val="solid"/>
          </a:ln>
        </p:spPr>
      </p:sp>
      <p:sp>
        <p:nvSpPr>
          <p:cNvPr id="42" name="Text 40"/>
          <p:cNvSpPr/>
          <p:nvPr/>
        </p:nvSpPr>
        <p:spPr>
          <a:xfrm>
            <a:off x="5669280" y="1280160"/>
            <a:ext cx="3017520" cy="256032"/>
          </a:xfrm>
          <a:prstGeom prst="rect">
            <a:avLst/>
          </a:prstGeom>
          <a:noFill/>
          <a:ln/>
        </p:spPr>
        <p:txBody>
          <a:bodyPr wrap="square" lIns="0" tIns="0" rIns="0" bIns="0" rtlCol="0" anchor="ctr"/>
          <a:lstStyle/>
          <a:p>
            <a:pPr marL="0" indent="0">
              <a:buNone/>
            </a:pPr>
            <a:r>
              <a:rPr lang="en-US" sz="1100" b="1" dirty="0">
                <a:solidFill>
                  <a:srgbClr val="F5C518"/>
                </a:solidFill>
              </a:rPr>
              <a:t>Why This Project?</a:t>
            </a:r>
            <a:endParaRPr lang="en-US" sz="1100" dirty="0"/>
          </a:p>
        </p:txBody>
      </p:sp>
      <p:sp>
        <p:nvSpPr>
          <p:cNvPr id="43" name="Shape 41"/>
          <p:cNvSpPr/>
          <p:nvPr/>
        </p:nvSpPr>
        <p:spPr>
          <a:xfrm>
            <a:off x="5669280" y="1627632"/>
            <a:ext cx="137160" cy="137160"/>
          </a:xfrm>
          <a:prstGeom prst="rect">
            <a:avLst/>
          </a:prstGeom>
          <a:solidFill>
            <a:srgbClr val="F5C518"/>
          </a:solidFill>
          <a:ln w="12700">
            <a:solidFill>
              <a:srgbClr val="F5C518"/>
            </a:solidFill>
            <a:prstDash val="solid"/>
          </a:ln>
        </p:spPr>
      </p:sp>
      <p:sp>
        <p:nvSpPr>
          <p:cNvPr id="44" name="Text 42"/>
          <p:cNvSpPr/>
          <p:nvPr/>
        </p:nvSpPr>
        <p:spPr>
          <a:xfrm>
            <a:off x="5897880" y="1609344"/>
            <a:ext cx="2834640" cy="219456"/>
          </a:xfrm>
          <a:prstGeom prst="rect">
            <a:avLst/>
          </a:prstGeom>
          <a:noFill/>
          <a:ln/>
        </p:spPr>
        <p:txBody>
          <a:bodyPr wrap="square" lIns="0" tIns="0" rIns="0" bIns="0" rtlCol="0" anchor="ctr"/>
          <a:lstStyle/>
          <a:p>
            <a:pPr marL="0" indent="0">
              <a:buNone/>
            </a:pPr>
            <a:r>
              <a:rPr lang="en-US" sz="900" dirty="0">
                <a:solidFill>
                  <a:srgbClr val="D4E6F1"/>
                </a:solidFill>
              </a:rPr>
              <a:t>37% cancellation rate draining revenue</a:t>
            </a:r>
            <a:endParaRPr lang="en-US" sz="900" dirty="0"/>
          </a:p>
        </p:txBody>
      </p:sp>
      <p:sp>
        <p:nvSpPr>
          <p:cNvPr id="45" name="Shape 43"/>
          <p:cNvSpPr/>
          <p:nvPr/>
        </p:nvSpPr>
        <p:spPr>
          <a:xfrm>
            <a:off x="5669280" y="1901952"/>
            <a:ext cx="137160" cy="137160"/>
          </a:xfrm>
          <a:prstGeom prst="rect">
            <a:avLst/>
          </a:prstGeom>
          <a:solidFill>
            <a:srgbClr val="F5C518"/>
          </a:solidFill>
          <a:ln w="12700">
            <a:solidFill>
              <a:srgbClr val="F5C518"/>
            </a:solidFill>
            <a:prstDash val="solid"/>
          </a:ln>
        </p:spPr>
      </p:sp>
      <p:sp>
        <p:nvSpPr>
          <p:cNvPr id="46" name="Text 44"/>
          <p:cNvSpPr/>
          <p:nvPr/>
        </p:nvSpPr>
        <p:spPr>
          <a:xfrm>
            <a:off x="5897880" y="1883664"/>
            <a:ext cx="2834640" cy="219456"/>
          </a:xfrm>
          <a:prstGeom prst="rect">
            <a:avLst/>
          </a:prstGeom>
          <a:noFill/>
          <a:ln/>
        </p:spPr>
        <p:txBody>
          <a:bodyPr wrap="square" lIns="0" tIns="0" rIns="0" bIns="0" rtlCol="0" anchor="ctr"/>
          <a:lstStyle/>
          <a:p>
            <a:pPr marL="0" indent="0">
              <a:buNone/>
            </a:pPr>
            <a:r>
              <a:rPr lang="en-US" sz="900" dirty="0">
                <a:solidFill>
                  <a:srgbClr val="D4E6F1"/>
                </a:solidFill>
              </a:rPr>
              <a:t>No unified view of all hotel KPIs</a:t>
            </a:r>
            <a:endParaRPr lang="en-US" sz="900" dirty="0"/>
          </a:p>
        </p:txBody>
      </p:sp>
      <p:sp>
        <p:nvSpPr>
          <p:cNvPr id="47" name="Shape 45"/>
          <p:cNvSpPr/>
          <p:nvPr/>
        </p:nvSpPr>
        <p:spPr>
          <a:xfrm>
            <a:off x="5669280" y="2176272"/>
            <a:ext cx="137160" cy="137160"/>
          </a:xfrm>
          <a:prstGeom prst="rect">
            <a:avLst/>
          </a:prstGeom>
          <a:solidFill>
            <a:srgbClr val="F5C518"/>
          </a:solidFill>
          <a:ln w="12700">
            <a:solidFill>
              <a:srgbClr val="F5C518"/>
            </a:solidFill>
            <a:prstDash val="solid"/>
          </a:ln>
        </p:spPr>
      </p:sp>
      <p:sp>
        <p:nvSpPr>
          <p:cNvPr id="48" name="Text 46"/>
          <p:cNvSpPr/>
          <p:nvPr/>
        </p:nvSpPr>
        <p:spPr>
          <a:xfrm>
            <a:off x="5897880" y="2157984"/>
            <a:ext cx="2834640" cy="219456"/>
          </a:xfrm>
          <a:prstGeom prst="rect">
            <a:avLst/>
          </a:prstGeom>
          <a:noFill/>
          <a:ln/>
        </p:spPr>
        <p:txBody>
          <a:bodyPr wrap="square" lIns="0" tIns="0" rIns="0" bIns="0" rtlCol="0" anchor="ctr"/>
          <a:lstStyle/>
          <a:p>
            <a:pPr marL="0" indent="0">
              <a:buNone/>
            </a:pPr>
            <a:r>
              <a:rPr lang="en-US" sz="900" dirty="0">
                <a:solidFill>
                  <a:srgbClr val="D4E6F1"/>
                </a:solidFill>
              </a:rPr>
              <a:t>Manual Excel reports — hours of effort</a:t>
            </a:r>
            <a:endParaRPr lang="en-US" sz="900" dirty="0"/>
          </a:p>
        </p:txBody>
      </p:sp>
      <p:sp>
        <p:nvSpPr>
          <p:cNvPr id="49" name="Shape 47"/>
          <p:cNvSpPr/>
          <p:nvPr/>
        </p:nvSpPr>
        <p:spPr>
          <a:xfrm>
            <a:off x="5669280" y="2450592"/>
            <a:ext cx="137160" cy="137160"/>
          </a:xfrm>
          <a:prstGeom prst="rect">
            <a:avLst/>
          </a:prstGeom>
          <a:solidFill>
            <a:srgbClr val="F5C518"/>
          </a:solidFill>
          <a:ln w="12700">
            <a:solidFill>
              <a:srgbClr val="F5C518"/>
            </a:solidFill>
            <a:prstDash val="solid"/>
          </a:ln>
        </p:spPr>
      </p:sp>
      <p:sp>
        <p:nvSpPr>
          <p:cNvPr id="50" name="Text 48"/>
          <p:cNvSpPr/>
          <p:nvPr/>
        </p:nvSpPr>
        <p:spPr>
          <a:xfrm>
            <a:off x="5897880" y="2432304"/>
            <a:ext cx="2834640" cy="219456"/>
          </a:xfrm>
          <a:prstGeom prst="rect">
            <a:avLst/>
          </a:prstGeom>
          <a:noFill/>
          <a:ln/>
        </p:spPr>
        <p:txBody>
          <a:bodyPr wrap="square" lIns="0" tIns="0" rIns="0" bIns="0" rtlCol="0" anchor="ctr"/>
          <a:lstStyle/>
          <a:p>
            <a:pPr marL="0" indent="0">
              <a:buNone/>
            </a:pPr>
            <a:r>
              <a:rPr lang="en-US" sz="900" dirty="0">
                <a:solidFill>
                  <a:srgbClr val="D4E6F1"/>
                </a:solidFill>
              </a:rPr>
              <a:t>Zero forecasting or trend visibility</a:t>
            </a:r>
            <a:endParaRPr lang="en-US" sz="900" dirty="0"/>
          </a:p>
        </p:txBody>
      </p:sp>
      <p:sp>
        <p:nvSpPr>
          <p:cNvPr id="51" name="Shape 49"/>
          <p:cNvSpPr/>
          <p:nvPr/>
        </p:nvSpPr>
        <p:spPr>
          <a:xfrm>
            <a:off x="5669280" y="2724912"/>
            <a:ext cx="137160" cy="137160"/>
          </a:xfrm>
          <a:prstGeom prst="rect">
            <a:avLst/>
          </a:prstGeom>
          <a:solidFill>
            <a:srgbClr val="F5C518"/>
          </a:solidFill>
          <a:ln w="12700">
            <a:solidFill>
              <a:srgbClr val="F5C518"/>
            </a:solidFill>
            <a:prstDash val="solid"/>
          </a:ln>
        </p:spPr>
      </p:sp>
      <p:sp>
        <p:nvSpPr>
          <p:cNvPr id="52" name="Text 50"/>
          <p:cNvSpPr/>
          <p:nvPr/>
        </p:nvSpPr>
        <p:spPr>
          <a:xfrm>
            <a:off x="5897880" y="2706624"/>
            <a:ext cx="2834640" cy="219456"/>
          </a:xfrm>
          <a:prstGeom prst="rect">
            <a:avLst/>
          </a:prstGeom>
          <a:noFill/>
          <a:ln/>
        </p:spPr>
        <p:txBody>
          <a:bodyPr wrap="square" lIns="0" tIns="0" rIns="0" bIns="0" rtlCol="0" anchor="ctr"/>
          <a:lstStyle/>
          <a:p>
            <a:pPr marL="0" indent="0">
              <a:buNone/>
            </a:pPr>
            <a:r>
              <a:rPr lang="en-US" sz="900" dirty="0">
                <a:solidFill>
                  <a:srgbClr val="D4E6F1"/>
                </a:solidFill>
              </a:rPr>
              <a:t>Pricing decisions made without data</a:t>
            </a:r>
            <a:endParaRPr lang="en-US" sz="900" dirty="0"/>
          </a:p>
        </p:txBody>
      </p:sp>
      <p:sp>
        <p:nvSpPr>
          <p:cNvPr id="53" name="Shape 51"/>
          <p:cNvSpPr/>
          <p:nvPr/>
        </p:nvSpPr>
        <p:spPr>
          <a:xfrm>
            <a:off x="356616" y="3310128"/>
            <a:ext cx="1993392" cy="1389888"/>
          </a:xfrm>
          <a:prstGeom prst="rect">
            <a:avLst/>
          </a:prstGeom>
          <a:solidFill>
            <a:srgbClr val="000000">
              <a:alpha val="28000"/>
            </a:srgbClr>
          </a:solidFill>
          <a:ln w="12700">
            <a:solidFill>
              <a:srgbClr val="000000">
                <a:alpha val="0"/>
              </a:srgbClr>
            </a:solidFill>
            <a:prstDash val="solid"/>
          </a:ln>
        </p:spPr>
      </p:sp>
      <p:sp>
        <p:nvSpPr>
          <p:cNvPr id="54" name="Shape 52"/>
          <p:cNvSpPr/>
          <p:nvPr/>
        </p:nvSpPr>
        <p:spPr>
          <a:xfrm>
            <a:off x="320040" y="3273552"/>
            <a:ext cx="1993392" cy="1389888"/>
          </a:xfrm>
          <a:prstGeom prst="rect">
            <a:avLst/>
          </a:prstGeom>
          <a:solidFill>
            <a:srgbClr val="0A1628">
              <a:alpha val="82000"/>
            </a:srgbClr>
          </a:solidFill>
          <a:ln w="12700">
            <a:solidFill>
              <a:srgbClr val="1E3A5F"/>
            </a:solidFill>
            <a:prstDash val="solid"/>
          </a:ln>
        </p:spPr>
      </p:sp>
      <p:sp>
        <p:nvSpPr>
          <p:cNvPr id="55" name="Shape 53"/>
          <p:cNvSpPr/>
          <p:nvPr/>
        </p:nvSpPr>
        <p:spPr>
          <a:xfrm>
            <a:off x="320040" y="3273552"/>
            <a:ext cx="1993392" cy="27432"/>
          </a:xfrm>
          <a:prstGeom prst="rect">
            <a:avLst/>
          </a:prstGeom>
          <a:solidFill>
            <a:srgbClr val="FFFFFF">
              <a:alpha val="26000"/>
            </a:srgbClr>
          </a:solidFill>
          <a:ln w="12700">
            <a:solidFill>
              <a:srgbClr val="FFFFFF">
                <a:alpha val="0"/>
              </a:srgbClr>
            </a:solidFill>
            <a:prstDash val="solid"/>
          </a:ln>
        </p:spPr>
      </p:sp>
      <p:sp>
        <p:nvSpPr>
          <p:cNvPr id="56" name="Shape 54"/>
          <p:cNvSpPr/>
          <p:nvPr/>
        </p:nvSpPr>
        <p:spPr>
          <a:xfrm>
            <a:off x="320040" y="3273552"/>
            <a:ext cx="27432" cy="1389888"/>
          </a:xfrm>
          <a:prstGeom prst="rect">
            <a:avLst/>
          </a:prstGeom>
          <a:solidFill>
            <a:srgbClr val="FFFFFF">
              <a:alpha val="18000"/>
            </a:srgbClr>
          </a:solidFill>
          <a:ln w="12700">
            <a:solidFill>
              <a:srgbClr val="FFFFFF">
                <a:alpha val="0"/>
              </a:srgbClr>
            </a:solidFill>
            <a:prstDash val="solid"/>
          </a:ln>
        </p:spPr>
      </p:sp>
      <p:sp>
        <p:nvSpPr>
          <p:cNvPr id="57" name="Shape 55"/>
          <p:cNvSpPr/>
          <p:nvPr/>
        </p:nvSpPr>
        <p:spPr>
          <a:xfrm>
            <a:off x="320040" y="3273552"/>
            <a:ext cx="1993392" cy="50292"/>
          </a:xfrm>
          <a:prstGeom prst="rect">
            <a:avLst/>
          </a:prstGeom>
          <a:solidFill>
            <a:srgbClr val="00B4FF"/>
          </a:solidFill>
          <a:ln w="12700">
            <a:solidFill>
              <a:srgbClr val="00B4FF"/>
            </a:solidFill>
            <a:prstDash val="solid"/>
          </a:ln>
        </p:spPr>
      </p:sp>
      <p:sp>
        <p:nvSpPr>
          <p:cNvPr id="58" name="Text 56"/>
          <p:cNvSpPr/>
          <p:nvPr/>
        </p:nvSpPr>
        <p:spPr>
          <a:xfrm>
            <a:off x="320040" y="3383280"/>
            <a:ext cx="1993392" cy="722742"/>
          </a:xfrm>
          <a:prstGeom prst="rect">
            <a:avLst/>
          </a:prstGeom>
          <a:noFill/>
          <a:ln/>
        </p:spPr>
        <p:txBody>
          <a:bodyPr wrap="square" lIns="0" tIns="0" rIns="0" bIns="0" rtlCol="0" anchor="b"/>
          <a:lstStyle/>
          <a:p>
            <a:pPr marL="0" indent="0" algn="ctr">
              <a:buNone/>
            </a:pPr>
            <a:r>
              <a:rPr lang="en-US" sz="1800" b="1" dirty="0">
                <a:solidFill>
                  <a:srgbClr val="00B4FF"/>
                </a:solidFill>
              </a:rPr>
              <a:t>1,17,430</a:t>
            </a:r>
            <a:endParaRPr lang="en-US" sz="1800" dirty="0"/>
          </a:p>
        </p:txBody>
      </p:sp>
      <p:sp>
        <p:nvSpPr>
          <p:cNvPr id="59" name="Text 57"/>
          <p:cNvSpPr/>
          <p:nvPr/>
        </p:nvSpPr>
        <p:spPr>
          <a:xfrm>
            <a:off x="320040" y="4149181"/>
            <a:ext cx="1993392" cy="486461"/>
          </a:xfrm>
          <a:prstGeom prst="rect">
            <a:avLst/>
          </a:prstGeom>
          <a:noFill/>
          <a:ln/>
        </p:spPr>
        <p:txBody>
          <a:bodyPr wrap="square" lIns="0" tIns="0" rIns="0" bIns="0" rtlCol="0" anchor="t"/>
          <a:lstStyle/>
          <a:p>
            <a:pPr marL="0" indent="0" algn="ctr">
              <a:buNone/>
            </a:pPr>
            <a:r>
              <a:rPr lang="en-US" sz="800" dirty="0">
                <a:solidFill>
                  <a:srgbClr val="D4E6F1"/>
                </a:solidFill>
              </a:rPr>
              <a:t>Records Analysed</a:t>
            </a:r>
            <a:endParaRPr lang="en-US" sz="800" dirty="0"/>
          </a:p>
        </p:txBody>
      </p:sp>
      <p:sp>
        <p:nvSpPr>
          <p:cNvPr id="60" name="Shape 58"/>
          <p:cNvSpPr/>
          <p:nvPr/>
        </p:nvSpPr>
        <p:spPr>
          <a:xfrm>
            <a:off x="2532888" y="3310128"/>
            <a:ext cx="1993392" cy="1389888"/>
          </a:xfrm>
          <a:prstGeom prst="rect">
            <a:avLst/>
          </a:prstGeom>
          <a:solidFill>
            <a:srgbClr val="000000">
              <a:alpha val="28000"/>
            </a:srgbClr>
          </a:solidFill>
          <a:ln w="12700">
            <a:solidFill>
              <a:srgbClr val="000000">
                <a:alpha val="0"/>
              </a:srgbClr>
            </a:solidFill>
            <a:prstDash val="solid"/>
          </a:ln>
        </p:spPr>
      </p:sp>
      <p:sp>
        <p:nvSpPr>
          <p:cNvPr id="61" name="Shape 59"/>
          <p:cNvSpPr/>
          <p:nvPr/>
        </p:nvSpPr>
        <p:spPr>
          <a:xfrm>
            <a:off x="2496312" y="3273552"/>
            <a:ext cx="1993392" cy="1389888"/>
          </a:xfrm>
          <a:prstGeom prst="rect">
            <a:avLst/>
          </a:prstGeom>
          <a:solidFill>
            <a:srgbClr val="0A1628">
              <a:alpha val="82000"/>
            </a:srgbClr>
          </a:solidFill>
          <a:ln w="12700">
            <a:solidFill>
              <a:srgbClr val="1E3A5F"/>
            </a:solidFill>
            <a:prstDash val="solid"/>
          </a:ln>
        </p:spPr>
      </p:sp>
      <p:sp>
        <p:nvSpPr>
          <p:cNvPr id="62" name="Shape 60"/>
          <p:cNvSpPr/>
          <p:nvPr/>
        </p:nvSpPr>
        <p:spPr>
          <a:xfrm>
            <a:off x="2496312" y="3273552"/>
            <a:ext cx="1993392" cy="27432"/>
          </a:xfrm>
          <a:prstGeom prst="rect">
            <a:avLst/>
          </a:prstGeom>
          <a:solidFill>
            <a:srgbClr val="FFFFFF">
              <a:alpha val="26000"/>
            </a:srgbClr>
          </a:solidFill>
          <a:ln w="12700">
            <a:solidFill>
              <a:srgbClr val="FFFFFF">
                <a:alpha val="0"/>
              </a:srgbClr>
            </a:solidFill>
            <a:prstDash val="solid"/>
          </a:ln>
        </p:spPr>
      </p:sp>
      <p:sp>
        <p:nvSpPr>
          <p:cNvPr id="63" name="Shape 61"/>
          <p:cNvSpPr/>
          <p:nvPr/>
        </p:nvSpPr>
        <p:spPr>
          <a:xfrm>
            <a:off x="2496312" y="3273552"/>
            <a:ext cx="27432" cy="1389888"/>
          </a:xfrm>
          <a:prstGeom prst="rect">
            <a:avLst/>
          </a:prstGeom>
          <a:solidFill>
            <a:srgbClr val="FFFFFF">
              <a:alpha val="18000"/>
            </a:srgbClr>
          </a:solidFill>
          <a:ln w="12700">
            <a:solidFill>
              <a:srgbClr val="FFFFFF">
                <a:alpha val="0"/>
              </a:srgbClr>
            </a:solidFill>
            <a:prstDash val="solid"/>
          </a:ln>
        </p:spPr>
      </p:sp>
      <p:sp>
        <p:nvSpPr>
          <p:cNvPr id="64" name="Shape 62"/>
          <p:cNvSpPr/>
          <p:nvPr/>
        </p:nvSpPr>
        <p:spPr>
          <a:xfrm>
            <a:off x="2496312" y="3273552"/>
            <a:ext cx="1993392" cy="50292"/>
          </a:xfrm>
          <a:prstGeom prst="rect">
            <a:avLst/>
          </a:prstGeom>
          <a:solidFill>
            <a:srgbClr val="F5C518"/>
          </a:solidFill>
          <a:ln w="12700">
            <a:solidFill>
              <a:srgbClr val="F5C518"/>
            </a:solidFill>
            <a:prstDash val="solid"/>
          </a:ln>
        </p:spPr>
      </p:sp>
      <p:sp>
        <p:nvSpPr>
          <p:cNvPr id="65" name="Text 63"/>
          <p:cNvSpPr/>
          <p:nvPr/>
        </p:nvSpPr>
        <p:spPr>
          <a:xfrm>
            <a:off x="2496312" y="3383280"/>
            <a:ext cx="1993392" cy="722742"/>
          </a:xfrm>
          <a:prstGeom prst="rect">
            <a:avLst/>
          </a:prstGeom>
          <a:noFill/>
          <a:ln/>
        </p:spPr>
        <p:txBody>
          <a:bodyPr wrap="square" lIns="0" tIns="0" rIns="0" bIns="0" rtlCol="0" anchor="b"/>
          <a:lstStyle/>
          <a:p>
            <a:pPr marL="0" indent="0" algn="ctr">
              <a:buNone/>
            </a:pPr>
            <a:r>
              <a:rPr lang="en-US" sz="1800" b="1" dirty="0">
                <a:solidFill>
                  <a:srgbClr val="F5C518"/>
                </a:solidFill>
              </a:rPr>
              <a:t>5</a:t>
            </a:r>
            <a:endParaRPr lang="en-US" sz="1800" dirty="0"/>
          </a:p>
        </p:txBody>
      </p:sp>
      <p:sp>
        <p:nvSpPr>
          <p:cNvPr id="66" name="Text 64"/>
          <p:cNvSpPr/>
          <p:nvPr/>
        </p:nvSpPr>
        <p:spPr>
          <a:xfrm>
            <a:off x="2496312" y="4149181"/>
            <a:ext cx="1993392" cy="486461"/>
          </a:xfrm>
          <a:prstGeom prst="rect">
            <a:avLst/>
          </a:prstGeom>
          <a:noFill/>
          <a:ln/>
        </p:spPr>
        <p:txBody>
          <a:bodyPr wrap="square" lIns="0" tIns="0" rIns="0" bIns="0" rtlCol="0" anchor="t"/>
          <a:lstStyle/>
          <a:p>
            <a:pPr marL="0" indent="0" algn="ctr">
              <a:buNone/>
            </a:pPr>
            <a:r>
              <a:rPr lang="en-US" sz="800" dirty="0">
                <a:solidFill>
                  <a:srgbClr val="D4E6F1"/>
                </a:solidFill>
              </a:rPr>
              <a:t>Interactive Dashboards</a:t>
            </a:r>
            <a:endParaRPr lang="en-US" sz="800" dirty="0"/>
          </a:p>
        </p:txBody>
      </p:sp>
      <p:sp>
        <p:nvSpPr>
          <p:cNvPr id="67" name="Shape 65"/>
          <p:cNvSpPr/>
          <p:nvPr/>
        </p:nvSpPr>
        <p:spPr>
          <a:xfrm>
            <a:off x="4709160" y="3310128"/>
            <a:ext cx="1993392" cy="1389888"/>
          </a:xfrm>
          <a:prstGeom prst="rect">
            <a:avLst/>
          </a:prstGeom>
          <a:solidFill>
            <a:srgbClr val="000000">
              <a:alpha val="28000"/>
            </a:srgbClr>
          </a:solidFill>
          <a:ln w="12700">
            <a:solidFill>
              <a:srgbClr val="000000">
                <a:alpha val="0"/>
              </a:srgbClr>
            </a:solidFill>
            <a:prstDash val="solid"/>
          </a:ln>
        </p:spPr>
      </p:sp>
      <p:sp>
        <p:nvSpPr>
          <p:cNvPr id="68" name="Shape 66"/>
          <p:cNvSpPr/>
          <p:nvPr/>
        </p:nvSpPr>
        <p:spPr>
          <a:xfrm>
            <a:off x="4672584" y="3273552"/>
            <a:ext cx="1993392" cy="1389888"/>
          </a:xfrm>
          <a:prstGeom prst="rect">
            <a:avLst/>
          </a:prstGeom>
          <a:solidFill>
            <a:srgbClr val="0A1628">
              <a:alpha val="82000"/>
            </a:srgbClr>
          </a:solidFill>
          <a:ln w="12700">
            <a:solidFill>
              <a:srgbClr val="1E3A5F"/>
            </a:solidFill>
            <a:prstDash val="solid"/>
          </a:ln>
        </p:spPr>
      </p:sp>
      <p:sp>
        <p:nvSpPr>
          <p:cNvPr id="69" name="Shape 67"/>
          <p:cNvSpPr/>
          <p:nvPr/>
        </p:nvSpPr>
        <p:spPr>
          <a:xfrm>
            <a:off x="4672584" y="3273552"/>
            <a:ext cx="1993392" cy="27432"/>
          </a:xfrm>
          <a:prstGeom prst="rect">
            <a:avLst/>
          </a:prstGeom>
          <a:solidFill>
            <a:srgbClr val="FFFFFF">
              <a:alpha val="26000"/>
            </a:srgbClr>
          </a:solidFill>
          <a:ln w="12700">
            <a:solidFill>
              <a:srgbClr val="FFFFFF">
                <a:alpha val="0"/>
              </a:srgbClr>
            </a:solidFill>
            <a:prstDash val="solid"/>
          </a:ln>
        </p:spPr>
      </p:sp>
      <p:sp>
        <p:nvSpPr>
          <p:cNvPr id="70" name="Shape 68"/>
          <p:cNvSpPr/>
          <p:nvPr/>
        </p:nvSpPr>
        <p:spPr>
          <a:xfrm>
            <a:off x="4672584" y="3273552"/>
            <a:ext cx="27432" cy="1389888"/>
          </a:xfrm>
          <a:prstGeom prst="rect">
            <a:avLst/>
          </a:prstGeom>
          <a:solidFill>
            <a:srgbClr val="FFFFFF">
              <a:alpha val="18000"/>
            </a:srgbClr>
          </a:solidFill>
          <a:ln w="12700">
            <a:solidFill>
              <a:srgbClr val="FFFFFF">
                <a:alpha val="0"/>
              </a:srgbClr>
            </a:solidFill>
            <a:prstDash val="solid"/>
          </a:ln>
        </p:spPr>
      </p:sp>
      <p:sp>
        <p:nvSpPr>
          <p:cNvPr id="71" name="Shape 69"/>
          <p:cNvSpPr/>
          <p:nvPr/>
        </p:nvSpPr>
        <p:spPr>
          <a:xfrm>
            <a:off x="4672584" y="3273552"/>
            <a:ext cx="1993392" cy="50292"/>
          </a:xfrm>
          <a:prstGeom prst="rect">
            <a:avLst/>
          </a:prstGeom>
          <a:solidFill>
            <a:srgbClr val="00B4FF"/>
          </a:solidFill>
          <a:ln w="12700">
            <a:solidFill>
              <a:srgbClr val="00B4FF"/>
            </a:solidFill>
            <a:prstDash val="solid"/>
          </a:ln>
        </p:spPr>
      </p:sp>
      <p:sp>
        <p:nvSpPr>
          <p:cNvPr id="72" name="Text 70"/>
          <p:cNvSpPr/>
          <p:nvPr/>
        </p:nvSpPr>
        <p:spPr>
          <a:xfrm>
            <a:off x="4672584" y="3383280"/>
            <a:ext cx="1993392" cy="722742"/>
          </a:xfrm>
          <a:prstGeom prst="rect">
            <a:avLst/>
          </a:prstGeom>
          <a:noFill/>
          <a:ln/>
        </p:spPr>
        <p:txBody>
          <a:bodyPr wrap="square" lIns="0" tIns="0" rIns="0" bIns="0" rtlCol="0" anchor="b"/>
          <a:lstStyle/>
          <a:p>
            <a:pPr marL="0" indent="0" algn="ctr">
              <a:buNone/>
            </a:pPr>
            <a:r>
              <a:rPr lang="en-US" sz="1800" b="1" dirty="0">
                <a:solidFill>
                  <a:srgbClr val="00B4FF"/>
                </a:solidFill>
              </a:rPr>
              <a:t>13</a:t>
            </a:r>
            <a:endParaRPr lang="en-US" sz="1800" dirty="0"/>
          </a:p>
        </p:txBody>
      </p:sp>
      <p:sp>
        <p:nvSpPr>
          <p:cNvPr id="73" name="Text 71"/>
          <p:cNvSpPr/>
          <p:nvPr/>
        </p:nvSpPr>
        <p:spPr>
          <a:xfrm>
            <a:off x="4672584" y="4149181"/>
            <a:ext cx="1993392" cy="486461"/>
          </a:xfrm>
          <a:prstGeom prst="rect">
            <a:avLst/>
          </a:prstGeom>
          <a:noFill/>
          <a:ln/>
        </p:spPr>
        <p:txBody>
          <a:bodyPr wrap="square" lIns="0" tIns="0" rIns="0" bIns="0" rtlCol="0" anchor="t"/>
          <a:lstStyle/>
          <a:p>
            <a:pPr marL="0" indent="0" algn="ctr">
              <a:buNone/>
            </a:pPr>
            <a:r>
              <a:rPr lang="en-US" sz="800" dirty="0">
                <a:solidFill>
                  <a:srgbClr val="D4E6F1"/>
                </a:solidFill>
              </a:rPr>
              <a:t>DAX KPI Measures</a:t>
            </a:r>
            <a:endParaRPr lang="en-US" sz="800" dirty="0"/>
          </a:p>
        </p:txBody>
      </p:sp>
      <p:sp>
        <p:nvSpPr>
          <p:cNvPr id="74" name="Shape 72"/>
          <p:cNvSpPr/>
          <p:nvPr/>
        </p:nvSpPr>
        <p:spPr>
          <a:xfrm>
            <a:off x="6885432" y="3310128"/>
            <a:ext cx="1993392" cy="1389888"/>
          </a:xfrm>
          <a:prstGeom prst="rect">
            <a:avLst/>
          </a:prstGeom>
          <a:solidFill>
            <a:srgbClr val="000000">
              <a:alpha val="28000"/>
            </a:srgbClr>
          </a:solidFill>
          <a:ln w="12700">
            <a:solidFill>
              <a:srgbClr val="000000">
                <a:alpha val="0"/>
              </a:srgbClr>
            </a:solidFill>
            <a:prstDash val="solid"/>
          </a:ln>
        </p:spPr>
      </p:sp>
      <p:sp>
        <p:nvSpPr>
          <p:cNvPr id="75" name="Shape 73"/>
          <p:cNvSpPr/>
          <p:nvPr/>
        </p:nvSpPr>
        <p:spPr>
          <a:xfrm>
            <a:off x="6848856" y="3273552"/>
            <a:ext cx="1993392" cy="1389888"/>
          </a:xfrm>
          <a:prstGeom prst="rect">
            <a:avLst/>
          </a:prstGeom>
          <a:solidFill>
            <a:srgbClr val="0A1628">
              <a:alpha val="82000"/>
            </a:srgbClr>
          </a:solidFill>
          <a:ln w="12700">
            <a:solidFill>
              <a:srgbClr val="1E3A5F"/>
            </a:solidFill>
            <a:prstDash val="solid"/>
          </a:ln>
        </p:spPr>
      </p:sp>
      <p:sp>
        <p:nvSpPr>
          <p:cNvPr id="76" name="Shape 74"/>
          <p:cNvSpPr/>
          <p:nvPr/>
        </p:nvSpPr>
        <p:spPr>
          <a:xfrm>
            <a:off x="6848856" y="3273552"/>
            <a:ext cx="1993392" cy="27432"/>
          </a:xfrm>
          <a:prstGeom prst="rect">
            <a:avLst/>
          </a:prstGeom>
          <a:solidFill>
            <a:srgbClr val="FFFFFF">
              <a:alpha val="26000"/>
            </a:srgbClr>
          </a:solidFill>
          <a:ln w="12700">
            <a:solidFill>
              <a:srgbClr val="FFFFFF">
                <a:alpha val="0"/>
              </a:srgbClr>
            </a:solidFill>
            <a:prstDash val="solid"/>
          </a:ln>
        </p:spPr>
      </p:sp>
      <p:sp>
        <p:nvSpPr>
          <p:cNvPr id="77" name="Shape 75"/>
          <p:cNvSpPr/>
          <p:nvPr/>
        </p:nvSpPr>
        <p:spPr>
          <a:xfrm>
            <a:off x="6848856" y="3273552"/>
            <a:ext cx="27432" cy="1389888"/>
          </a:xfrm>
          <a:prstGeom prst="rect">
            <a:avLst/>
          </a:prstGeom>
          <a:solidFill>
            <a:srgbClr val="FFFFFF">
              <a:alpha val="18000"/>
            </a:srgbClr>
          </a:solidFill>
          <a:ln w="12700">
            <a:solidFill>
              <a:srgbClr val="FFFFFF">
                <a:alpha val="0"/>
              </a:srgbClr>
            </a:solidFill>
            <a:prstDash val="solid"/>
          </a:ln>
        </p:spPr>
      </p:sp>
      <p:sp>
        <p:nvSpPr>
          <p:cNvPr id="78" name="Shape 76"/>
          <p:cNvSpPr/>
          <p:nvPr/>
        </p:nvSpPr>
        <p:spPr>
          <a:xfrm>
            <a:off x="6848856" y="3273552"/>
            <a:ext cx="1993392" cy="50292"/>
          </a:xfrm>
          <a:prstGeom prst="rect">
            <a:avLst/>
          </a:prstGeom>
          <a:solidFill>
            <a:srgbClr val="F5C518"/>
          </a:solidFill>
          <a:ln w="12700">
            <a:solidFill>
              <a:srgbClr val="F5C518"/>
            </a:solidFill>
            <a:prstDash val="solid"/>
          </a:ln>
        </p:spPr>
      </p:sp>
      <p:sp>
        <p:nvSpPr>
          <p:cNvPr id="79" name="Text 77"/>
          <p:cNvSpPr/>
          <p:nvPr/>
        </p:nvSpPr>
        <p:spPr>
          <a:xfrm>
            <a:off x="6848856" y="3383280"/>
            <a:ext cx="1993392" cy="722742"/>
          </a:xfrm>
          <a:prstGeom prst="rect">
            <a:avLst/>
          </a:prstGeom>
          <a:noFill/>
          <a:ln/>
        </p:spPr>
        <p:txBody>
          <a:bodyPr wrap="square" lIns="0" tIns="0" rIns="0" bIns="0" rtlCol="0" anchor="b"/>
          <a:lstStyle/>
          <a:p>
            <a:pPr marL="0" indent="0" algn="ctr">
              <a:buNone/>
            </a:pPr>
            <a:r>
              <a:rPr lang="en-US" sz="1800" b="1" dirty="0">
                <a:solidFill>
                  <a:srgbClr val="F5C518"/>
                </a:solidFill>
              </a:rPr>
              <a:t>$42.72M</a:t>
            </a:r>
            <a:endParaRPr lang="en-US" sz="1800" dirty="0"/>
          </a:p>
        </p:txBody>
      </p:sp>
      <p:sp>
        <p:nvSpPr>
          <p:cNvPr id="80" name="Text 78"/>
          <p:cNvSpPr/>
          <p:nvPr/>
        </p:nvSpPr>
        <p:spPr>
          <a:xfrm>
            <a:off x="6848856" y="4149181"/>
            <a:ext cx="1993392" cy="486461"/>
          </a:xfrm>
          <a:prstGeom prst="rect">
            <a:avLst/>
          </a:prstGeom>
          <a:noFill/>
          <a:ln/>
        </p:spPr>
        <p:txBody>
          <a:bodyPr wrap="square" lIns="0" tIns="0" rIns="0" bIns="0" rtlCol="0" anchor="t"/>
          <a:lstStyle/>
          <a:p>
            <a:pPr marL="0" indent="0" algn="ctr">
              <a:buNone/>
            </a:pPr>
            <a:r>
              <a:rPr lang="en-US" sz="800" dirty="0">
                <a:solidFill>
                  <a:srgbClr val="D4E6F1"/>
                </a:solidFill>
              </a:rPr>
              <a:t>Total Revenue Tracked</a:t>
            </a:r>
            <a:endParaRPr lang="en-US" sz="800" dirty="0"/>
          </a:p>
        </p:txBody>
      </p:sp>
      <p:sp>
        <p:nvSpPr>
          <p:cNvPr id="81" name="Shape 79"/>
          <p:cNvSpPr/>
          <p:nvPr/>
        </p:nvSpPr>
        <p:spPr>
          <a:xfrm>
            <a:off x="0" y="4983480"/>
            <a:ext cx="9144000" cy="160020"/>
          </a:xfrm>
          <a:prstGeom prst="rect">
            <a:avLst/>
          </a:prstGeom>
          <a:solidFill>
            <a:srgbClr val="1A2E45"/>
          </a:solidFill>
          <a:ln w="12700">
            <a:solidFill>
              <a:srgbClr val="1A2E45"/>
            </a:solidFill>
            <a:prstDash val="solid"/>
          </a:ln>
        </p:spPr>
      </p:sp>
      <p:sp>
        <p:nvSpPr>
          <p:cNvPr id="82" name="Shape 80"/>
          <p:cNvSpPr/>
          <p:nvPr/>
        </p:nvSpPr>
        <p:spPr>
          <a:xfrm>
            <a:off x="0" y="4983480"/>
            <a:ext cx="36576" cy="160020"/>
          </a:xfrm>
          <a:prstGeom prst="rect">
            <a:avLst/>
          </a:prstGeom>
          <a:solidFill>
            <a:srgbClr val="F5C518"/>
          </a:solidFill>
          <a:ln w="12700">
            <a:solidFill>
              <a:srgbClr val="F5C518"/>
            </a:solidFill>
            <a:prstDash val="solid"/>
          </a:ln>
        </p:spPr>
      </p:sp>
      <p:sp>
        <p:nvSpPr>
          <p:cNvPr id="83" name="Text 81"/>
          <p:cNvSpPr/>
          <p:nvPr/>
        </p:nvSpPr>
        <p:spPr>
          <a:xfrm>
            <a:off x="137160" y="4983480"/>
            <a:ext cx="8229600" cy="160020"/>
          </a:xfrm>
          <a:prstGeom prst="rect">
            <a:avLst/>
          </a:prstGeom>
          <a:noFill/>
          <a:ln/>
        </p:spPr>
        <p:txBody>
          <a:bodyPr wrap="square" lIns="0" tIns="0" rIns="0" bIns="0" rtlCol="0" anchor="ctr"/>
          <a:lstStyle/>
          <a:p>
            <a:pPr marL="0" indent="0">
              <a:buNone/>
            </a:pPr>
            <a:r>
              <a:rPr lang="en-US" sz="750" dirty="0">
                <a:solidFill>
                  <a:srgbClr val="6B8CAE"/>
                </a:solidFill>
              </a:rPr>
              <a:t>HotelRevAI  ·  Infosys Springboard Internship 6.0  ·  Batch 13 — Group 2, Team D</a:t>
            </a:r>
            <a:endParaRPr lang="en-US" sz="750" dirty="0"/>
          </a:p>
        </p:txBody>
      </p:sp>
      <p:sp>
        <p:nvSpPr>
          <p:cNvPr id="84" name="Text 82"/>
          <p:cNvSpPr/>
          <p:nvPr/>
        </p:nvSpPr>
        <p:spPr>
          <a:xfrm>
            <a:off x="8686800" y="4983480"/>
            <a:ext cx="411480" cy="160020"/>
          </a:xfrm>
          <a:prstGeom prst="rect">
            <a:avLst/>
          </a:prstGeom>
          <a:noFill/>
          <a:ln/>
        </p:spPr>
        <p:txBody>
          <a:bodyPr wrap="square" lIns="0" tIns="0" rIns="0" bIns="0" rtlCol="0" anchor="ctr"/>
          <a:lstStyle/>
          <a:p>
            <a:pPr marL="0" indent="0" algn="r">
              <a:buNone/>
            </a:pPr>
            <a:r>
              <a:rPr lang="en-US" sz="750" b="1" dirty="0">
                <a:solidFill>
                  <a:srgbClr val="F5C518"/>
                </a:solidFill>
              </a:rPr>
              <a:t>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A14"/>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0D2137"/>
            </a:solidFill>
            <a:prstDash val="solid"/>
          </a:ln>
        </p:spPr>
      </p:sp>
      <p:sp>
        <p:nvSpPr>
          <p:cNvPr id="3" name="Shape 1"/>
          <p:cNvSpPr/>
          <p:nvPr/>
        </p:nvSpPr>
        <p:spPr>
          <a:xfrm>
            <a:off x="914400" y="0"/>
            <a:ext cx="0" cy="5143500"/>
          </a:xfrm>
          <a:prstGeom prst="line">
            <a:avLst/>
          </a:prstGeom>
          <a:noFill/>
          <a:ln w="6350">
            <a:solidFill>
              <a:srgbClr val="0D2137"/>
            </a:solidFill>
            <a:prstDash val="solid"/>
          </a:ln>
        </p:spPr>
      </p:sp>
      <p:sp>
        <p:nvSpPr>
          <p:cNvPr id="4" name="Shape 2"/>
          <p:cNvSpPr/>
          <p:nvPr/>
        </p:nvSpPr>
        <p:spPr>
          <a:xfrm>
            <a:off x="1828800" y="0"/>
            <a:ext cx="0" cy="5143500"/>
          </a:xfrm>
          <a:prstGeom prst="line">
            <a:avLst/>
          </a:prstGeom>
          <a:noFill/>
          <a:ln w="6350">
            <a:solidFill>
              <a:srgbClr val="0D2137"/>
            </a:solidFill>
            <a:prstDash val="solid"/>
          </a:ln>
        </p:spPr>
      </p:sp>
      <p:sp>
        <p:nvSpPr>
          <p:cNvPr id="5" name="Shape 3"/>
          <p:cNvSpPr/>
          <p:nvPr/>
        </p:nvSpPr>
        <p:spPr>
          <a:xfrm>
            <a:off x="2743200" y="0"/>
            <a:ext cx="0" cy="5143500"/>
          </a:xfrm>
          <a:prstGeom prst="line">
            <a:avLst/>
          </a:prstGeom>
          <a:noFill/>
          <a:ln w="6350">
            <a:solidFill>
              <a:srgbClr val="0D2137"/>
            </a:solidFill>
            <a:prstDash val="solid"/>
          </a:ln>
        </p:spPr>
      </p:sp>
      <p:sp>
        <p:nvSpPr>
          <p:cNvPr id="6" name="Shape 4"/>
          <p:cNvSpPr/>
          <p:nvPr/>
        </p:nvSpPr>
        <p:spPr>
          <a:xfrm>
            <a:off x="3657600" y="0"/>
            <a:ext cx="0" cy="5143500"/>
          </a:xfrm>
          <a:prstGeom prst="line">
            <a:avLst/>
          </a:prstGeom>
          <a:noFill/>
          <a:ln w="6350">
            <a:solidFill>
              <a:srgbClr val="0D2137"/>
            </a:solidFill>
            <a:prstDash val="solid"/>
          </a:ln>
        </p:spPr>
      </p:sp>
      <p:sp>
        <p:nvSpPr>
          <p:cNvPr id="7" name="Shape 5"/>
          <p:cNvSpPr/>
          <p:nvPr/>
        </p:nvSpPr>
        <p:spPr>
          <a:xfrm>
            <a:off x="4572000" y="0"/>
            <a:ext cx="0" cy="5143500"/>
          </a:xfrm>
          <a:prstGeom prst="line">
            <a:avLst/>
          </a:prstGeom>
          <a:noFill/>
          <a:ln w="6350">
            <a:solidFill>
              <a:srgbClr val="0D2137"/>
            </a:solidFill>
            <a:prstDash val="solid"/>
          </a:ln>
        </p:spPr>
      </p:sp>
      <p:sp>
        <p:nvSpPr>
          <p:cNvPr id="8" name="Shape 6"/>
          <p:cNvSpPr/>
          <p:nvPr/>
        </p:nvSpPr>
        <p:spPr>
          <a:xfrm>
            <a:off x="5486400" y="0"/>
            <a:ext cx="0" cy="5143500"/>
          </a:xfrm>
          <a:prstGeom prst="line">
            <a:avLst/>
          </a:prstGeom>
          <a:noFill/>
          <a:ln w="6350">
            <a:solidFill>
              <a:srgbClr val="0D2137"/>
            </a:solidFill>
            <a:prstDash val="solid"/>
          </a:ln>
        </p:spPr>
      </p:sp>
      <p:sp>
        <p:nvSpPr>
          <p:cNvPr id="9" name="Shape 7"/>
          <p:cNvSpPr/>
          <p:nvPr/>
        </p:nvSpPr>
        <p:spPr>
          <a:xfrm>
            <a:off x="6400800" y="0"/>
            <a:ext cx="0" cy="5143500"/>
          </a:xfrm>
          <a:prstGeom prst="line">
            <a:avLst/>
          </a:prstGeom>
          <a:noFill/>
          <a:ln w="6350">
            <a:solidFill>
              <a:srgbClr val="0D2137"/>
            </a:solidFill>
            <a:prstDash val="solid"/>
          </a:ln>
        </p:spPr>
      </p:sp>
      <p:sp>
        <p:nvSpPr>
          <p:cNvPr id="10" name="Shape 8"/>
          <p:cNvSpPr/>
          <p:nvPr/>
        </p:nvSpPr>
        <p:spPr>
          <a:xfrm>
            <a:off x="7315200" y="0"/>
            <a:ext cx="0" cy="5143500"/>
          </a:xfrm>
          <a:prstGeom prst="line">
            <a:avLst/>
          </a:prstGeom>
          <a:noFill/>
          <a:ln w="6350">
            <a:solidFill>
              <a:srgbClr val="0D2137"/>
            </a:solidFill>
            <a:prstDash val="solid"/>
          </a:ln>
        </p:spPr>
      </p:sp>
      <p:sp>
        <p:nvSpPr>
          <p:cNvPr id="11" name="Shape 9"/>
          <p:cNvSpPr/>
          <p:nvPr/>
        </p:nvSpPr>
        <p:spPr>
          <a:xfrm>
            <a:off x="8229600" y="0"/>
            <a:ext cx="0" cy="5143500"/>
          </a:xfrm>
          <a:prstGeom prst="line">
            <a:avLst/>
          </a:prstGeom>
          <a:noFill/>
          <a:ln w="6350">
            <a:solidFill>
              <a:srgbClr val="0D2137"/>
            </a:solidFill>
            <a:prstDash val="solid"/>
          </a:ln>
        </p:spPr>
      </p:sp>
      <p:sp>
        <p:nvSpPr>
          <p:cNvPr id="12" name="Shape 10"/>
          <p:cNvSpPr/>
          <p:nvPr/>
        </p:nvSpPr>
        <p:spPr>
          <a:xfrm>
            <a:off x="9144000" y="0"/>
            <a:ext cx="0" cy="5143500"/>
          </a:xfrm>
          <a:prstGeom prst="line">
            <a:avLst/>
          </a:prstGeom>
          <a:noFill/>
          <a:ln w="6350">
            <a:solidFill>
              <a:srgbClr val="0D2137"/>
            </a:solidFill>
            <a:prstDash val="solid"/>
          </a:ln>
        </p:spPr>
      </p:sp>
      <p:sp>
        <p:nvSpPr>
          <p:cNvPr id="13" name="Shape 11"/>
          <p:cNvSpPr/>
          <p:nvPr/>
        </p:nvSpPr>
        <p:spPr>
          <a:xfrm>
            <a:off x="0" y="0"/>
            <a:ext cx="9144000" cy="0"/>
          </a:xfrm>
          <a:prstGeom prst="line">
            <a:avLst/>
          </a:prstGeom>
          <a:noFill/>
          <a:ln w="6350">
            <a:solidFill>
              <a:srgbClr val="0D2137"/>
            </a:solidFill>
            <a:prstDash val="solid"/>
          </a:ln>
        </p:spPr>
      </p:sp>
      <p:sp>
        <p:nvSpPr>
          <p:cNvPr id="14" name="Shape 12"/>
          <p:cNvSpPr/>
          <p:nvPr/>
        </p:nvSpPr>
        <p:spPr>
          <a:xfrm>
            <a:off x="0" y="859536"/>
            <a:ext cx="9144000" cy="0"/>
          </a:xfrm>
          <a:prstGeom prst="line">
            <a:avLst/>
          </a:prstGeom>
          <a:noFill/>
          <a:ln w="6350">
            <a:solidFill>
              <a:srgbClr val="0D2137"/>
            </a:solidFill>
            <a:prstDash val="solid"/>
          </a:ln>
        </p:spPr>
      </p:sp>
      <p:sp>
        <p:nvSpPr>
          <p:cNvPr id="15" name="Shape 13"/>
          <p:cNvSpPr/>
          <p:nvPr/>
        </p:nvSpPr>
        <p:spPr>
          <a:xfrm>
            <a:off x="0" y="1719072"/>
            <a:ext cx="9144000" cy="0"/>
          </a:xfrm>
          <a:prstGeom prst="line">
            <a:avLst/>
          </a:prstGeom>
          <a:noFill/>
          <a:ln w="6350">
            <a:solidFill>
              <a:srgbClr val="0D2137"/>
            </a:solidFill>
            <a:prstDash val="solid"/>
          </a:ln>
        </p:spPr>
      </p:sp>
      <p:sp>
        <p:nvSpPr>
          <p:cNvPr id="16" name="Shape 14"/>
          <p:cNvSpPr/>
          <p:nvPr/>
        </p:nvSpPr>
        <p:spPr>
          <a:xfrm>
            <a:off x="0" y="2578608"/>
            <a:ext cx="9144000" cy="0"/>
          </a:xfrm>
          <a:prstGeom prst="line">
            <a:avLst/>
          </a:prstGeom>
          <a:noFill/>
          <a:ln w="6350">
            <a:solidFill>
              <a:srgbClr val="0D2137"/>
            </a:solidFill>
            <a:prstDash val="solid"/>
          </a:ln>
        </p:spPr>
      </p:sp>
      <p:sp>
        <p:nvSpPr>
          <p:cNvPr id="17" name="Shape 15"/>
          <p:cNvSpPr/>
          <p:nvPr/>
        </p:nvSpPr>
        <p:spPr>
          <a:xfrm>
            <a:off x="0" y="3438144"/>
            <a:ext cx="9144000" cy="0"/>
          </a:xfrm>
          <a:prstGeom prst="line">
            <a:avLst/>
          </a:prstGeom>
          <a:noFill/>
          <a:ln w="6350">
            <a:solidFill>
              <a:srgbClr val="0D2137"/>
            </a:solidFill>
            <a:prstDash val="solid"/>
          </a:ln>
        </p:spPr>
      </p:sp>
      <p:sp>
        <p:nvSpPr>
          <p:cNvPr id="18" name="Shape 16"/>
          <p:cNvSpPr/>
          <p:nvPr/>
        </p:nvSpPr>
        <p:spPr>
          <a:xfrm>
            <a:off x="0" y="4297680"/>
            <a:ext cx="9144000" cy="0"/>
          </a:xfrm>
          <a:prstGeom prst="line">
            <a:avLst/>
          </a:prstGeom>
          <a:noFill/>
          <a:ln w="6350">
            <a:solidFill>
              <a:srgbClr val="0D2137"/>
            </a:solidFill>
            <a:prstDash val="solid"/>
          </a:ln>
        </p:spPr>
      </p:sp>
      <p:sp>
        <p:nvSpPr>
          <p:cNvPr id="19" name="Shape 17"/>
          <p:cNvSpPr/>
          <p:nvPr/>
        </p:nvSpPr>
        <p:spPr>
          <a:xfrm>
            <a:off x="0" y="5157216"/>
            <a:ext cx="9144000" cy="0"/>
          </a:xfrm>
          <a:prstGeom prst="line">
            <a:avLst/>
          </a:prstGeom>
          <a:noFill/>
          <a:ln w="6350">
            <a:solidFill>
              <a:srgbClr val="0D2137"/>
            </a:solidFill>
            <a:prstDash val="solid"/>
          </a:ln>
        </p:spPr>
      </p:sp>
      <p:sp>
        <p:nvSpPr>
          <p:cNvPr id="20" name="Shape 18"/>
          <p:cNvSpPr/>
          <p:nvPr/>
        </p:nvSpPr>
        <p:spPr>
          <a:xfrm>
            <a:off x="6949440" y="2926080"/>
            <a:ext cx="2926080" cy="2926080"/>
          </a:xfrm>
          <a:prstGeom prst="ellipse">
            <a:avLst/>
          </a:prstGeom>
          <a:solidFill>
            <a:srgbClr val="00B4FF">
              <a:alpha val="12000"/>
            </a:srgbClr>
          </a:solidFill>
          <a:ln w="12700">
            <a:solidFill>
              <a:srgbClr val="00B4FF">
                <a:alpha val="5000"/>
              </a:srgbClr>
            </a:solidFill>
            <a:prstDash val="solid"/>
          </a:ln>
        </p:spPr>
      </p:sp>
      <p:sp>
        <p:nvSpPr>
          <p:cNvPr id="21" name="Shape 19"/>
          <p:cNvSpPr/>
          <p:nvPr/>
        </p:nvSpPr>
        <p:spPr>
          <a:xfrm>
            <a:off x="7680960" y="3657600"/>
            <a:ext cx="1463040" cy="1463040"/>
          </a:xfrm>
          <a:prstGeom prst="ellipse">
            <a:avLst/>
          </a:prstGeom>
          <a:solidFill>
            <a:srgbClr val="00B4FF">
              <a:alpha val="4000"/>
            </a:srgbClr>
          </a:solidFill>
          <a:ln w="12700">
            <a:solidFill>
              <a:srgbClr val="00B4FF">
                <a:alpha val="0"/>
              </a:srgbClr>
            </a:solidFill>
            <a:prstDash val="solid"/>
          </a:ln>
        </p:spPr>
      </p:sp>
      <p:sp>
        <p:nvSpPr>
          <p:cNvPr id="22" name="Shape 20"/>
          <p:cNvSpPr/>
          <p:nvPr/>
        </p:nvSpPr>
        <p:spPr>
          <a:xfrm>
            <a:off x="0" y="0"/>
            <a:ext cx="9144000" cy="50292"/>
          </a:xfrm>
          <a:prstGeom prst="rect">
            <a:avLst/>
          </a:prstGeom>
          <a:solidFill>
            <a:srgbClr val="F5C518"/>
          </a:solidFill>
          <a:ln w="12700">
            <a:solidFill>
              <a:srgbClr val="F5C518"/>
            </a:solidFill>
            <a:prstDash val="solid"/>
          </a:ln>
        </p:spPr>
      </p:sp>
      <p:sp>
        <p:nvSpPr>
          <p:cNvPr id="23" name="Shape 21"/>
          <p:cNvSpPr/>
          <p:nvPr/>
        </p:nvSpPr>
        <p:spPr>
          <a:xfrm>
            <a:off x="320040" y="182880"/>
            <a:ext cx="1737360" cy="246888"/>
          </a:xfrm>
          <a:prstGeom prst="rect">
            <a:avLst/>
          </a:prstGeom>
          <a:solidFill>
            <a:srgbClr val="003E7A"/>
          </a:solidFill>
          <a:ln w="12700">
            <a:solidFill>
              <a:srgbClr val="00B4FF"/>
            </a:solidFill>
            <a:prstDash val="solid"/>
          </a:ln>
        </p:spPr>
      </p:sp>
      <p:sp>
        <p:nvSpPr>
          <p:cNvPr id="24" name="Text 22"/>
          <p:cNvSpPr/>
          <p:nvPr/>
        </p:nvSpPr>
        <p:spPr>
          <a:xfrm>
            <a:off x="320040" y="182880"/>
            <a:ext cx="1737360" cy="246888"/>
          </a:xfrm>
          <a:prstGeom prst="rect">
            <a:avLst/>
          </a:prstGeom>
          <a:noFill/>
          <a:ln/>
        </p:spPr>
        <p:txBody>
          <a:bodyPr wrap="square" lIns="0" tIns="0" rIns="0" bIns="0" rtlCol="0" anchor="ctr"/>
          <a:lstStyle/>
          <a:p>
            <a:pPr marL="0" indent="0" algn="ctr">
              <a:buNone/>
            </a:pPr>
            <a:r>
              <a:rPr lang="en-US" sz="700" b="1" kern="0" spc="200" dirty="0">
                <a:solidFill>
                  <a:srgbClr val="00B4FF"/>
                </a:solidFill>
              </a:rPr>
              <a:t>PROJECT OVERVIEW</a:t>
            </a:r>
            <a:endParaRPr lang="en-US" sz="700" dirty="0"/>
          </a:p>
        </p:txBody>
      </p:sp>
      <p:sp>
        <p:nvSpPr>
          <p:cNvPr id="25" name="Text 23"/>
          <p:cNvSpPr/>
          <p:nvPr/>
        </p:nvSpPr>
        <p:spPr>
          <a:xfrm>
            <a:off x="320040" y="521208"/>
            <a:ext cx="8503920" cy="512064"/>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Project Objective</a:t>
            </a:r>
            <a:endParaRPr lang="en-US" sz="2800" dirty="0"/>
          </a:p>
        </p:txBody>
      </p:sp>
      <p:sp>
        <p:nvSpPr>
          <p:cNvPr id="26" name="Shape 24"/>
          <p:cNvSpPr/>
          <p:nvPr/>
        </p:nvSpPr>
        <p:spPr>
          <a:xfrm>
            <a:off x="320040" y="1078992"/>
            <a:ext cx="1097280" cy="36576"/>
          </a:xfrm>
          <a:prstGeom prst="rect">
            <a:avLst/>
          </a:prstGeom>
          <a:solidFill>
            <a:srgbClr val="F5C518"/>
          </a:solidFill>
          <a:ln w="12700">
            <a:solidFill>
              <a:srgbClr val="F5C518"/>
            </a:solidFill>
            <a:prstDash val="solid"/>
          </a:ln>
        </p:spPr>
      </p:sp>
      <p:sp>
        <p:nvSpPr>
          <p:cNvPr id="27" name="Shape 25"/>
          <p:cNvSpPr/>
          <p:nvPr/>
        </p:nvSpPr>
        <p:spPr>
          <a:xfrm>
            <a:off x="1463040" y="1078992"/>
            <a:ext cx="7360920" cy="36576"/>
          </a:xfrm>
          <a:prstGeom prst="rect">
            <a:avLst/>
          </a:prstGeom>
          <a:solidFill>
            <a:srgbClr val="1A2E45"/>
          </a:solidFill>
          <a:ln w="12700">
            <a:solidFill>
              <a:srgbClr val="1A2E45"/>
            </a:solidFill>
            <a:prstDash val="solid"/>
          </a:ln>
        </p:spPr>
      </p:sp>
      <p:sp>
        <p:nvSpPr>
          <p:cNvPr id="28" name="Shape 26"/>
          <p:cNvSpPr/>
          <p:nvPr/>
        </p:nvSpPr>
        <p:spPr>
          <a:xfrm>
            <a:off x="356616" y="1243584"/>
            <a:ext cx="5120640" cy="3547872"/>
          </a:xfrm>
          <a:prstGeom prst="rect">
            <a:avLst/>
          </a:prstGeom>
          <a:solidFill>
            <a:srgbClr val="000000">
              <a:alpha val="28000"/>
            </a:srgbClr>
          </a:solidFill>
          <a:ln w="12700">
            <a:solidFill>
              <a:srgbClr val="000000">
                <a:alpha val="0"/>
              </a:srgbClr>
            </a:solidFill>
            <a:prstDash val="solid"/>
          </a:ln>
        </p:spPr>
      </p:sp>
      <p:sp>
        <p:nvSpPr>
          <p:cNvPr id="29" name="Shape 27"/>
          <p:cNvSpPr/>
          <p:nvPr/>
        </p:nvSpPr>
        <p:spPr>
          <a:xfrm>
            <a:off x="320040" y="1207008"/>
            <a:ext cx="5120640" cy="3547872"/>
          </a:xfrm>
          <a:prstGeom prst="rect">
            <a:avLst/>
          </a:prstGeom>
          <a:solidFill>
            <a:srgbClr val="0A1628">
              <a:alpha val="82000"/>
            </a:srgbClr>
          </a:solidFill>
          <a:ln w="12700">
            <a:solidFill>
              <a:srgbClr val="1E3A5F"/>
            </a:solidFill>
            <a:prstDash val="solid"/>
          </a:ln>
        </p:spPr>
      </p:sp>
      <p:sp>
        <p:nvSpPr>
          <p:cNvPr id="30" name="Shape 28"/>
          <p:cNvSpPr/>
          <p:nvPr/>
        </p:nvSpPr>
        <p:spPr>
          <a:xfrm>
            <a:off x="320040" y="1207008"/>
            <a:ext cx="5120640" cy="27432"/>
          </a:xfrm>
          <a:prstGeom prst="rect">
            <a:avLst/>
          </a:prstGeom>
          <a:solidFill>
            <a:srgbClr val="FFFFFF">
              <a:alpha val="26000"/>
            </a:srgbClr>
          </a:solidFill>
          <a:ln w="12700">
            <a:solidFill>
              <a:srgbClr val="FFFFFF">
                <a:alpha val="0"/>
              </a:srgbClr>
            </a:solidFill>
            <a:prstDash val="solid"/>
          </a:ln>
        </p:spPr>
      </p:sp>
      <p:sp>
        <p:nvSpPr>
          <p:cNvPr id="31" name="Shape 29"/>
          <p:cNvSpPr/>
          <p:nvPr/>
        </p:nvSpPr>
        <p:spPr>
          <a:xfrm>
            <a:off x="320040" y="1207008"/>
            <a:ext cx="27432" cy="3547872"/>
          </a:xfrm>
          <a:prstGeom prst="rect">
            <a:avLst/>
          </a:prstGeom>
          <a:solidFill>
            <a:srgbClr val="FFFFFF">
              <a:alpha val="18000"/>
            </a:srgbClr>
          </a:solidFill>
          <a:ln w="12700">
            <a:solidFill>
              <a:srgbClr val="FFFFFF">
                <a:alpha val="0"/>
              </a:srgbClr>
            </a:solidFill>
            <a:prstDash val="solid"/>
          </a:ln>
        </p:spPr>
      </p:sp>
      <p:sp>
        <p:nvSpPr>
          <p:cNvPr id="32" name="Shape 30"/>
          <p:cNvSpPr/>
          <p:nvPr/>
        </p:nvSpPr>
        <p:spPr>
          <a:xfrm>
            <a:off x="320040" y="1207008"/>
            <a:ext cx="50292" cy="3547872"/>
          </a:xfrm>
          <a:prstGeom prst="rect">
            <a:avLst/>
          </a:prstGeom>
          <a:solidFill>
            <a:srgbClr val="00B4FF"/>
          </a:solidFill>
          <a:ln w="12700">
            <a:solidFill>
              <a:srgbClr val="00B4FF"/>
            </a:solidFill>
            <a:prstDash val="solid"/>
          </a:ln>
        </p:spPr>
      </p:sp>
      <p:sp>
        <p:nvSpPr>
          <p:cNvPr id="33" name="Text 31"/>
          <p:cNvSpPr/>
          <p:nvPr/>
        </p:nvSpPr>
        <p:spPr>
          <a:xfrm>
            <a:off x="475488" y="1261872"/>
            <a:ext cx="4800600" cy="658368"/>
          </a:xfrm>
          <a:prstGeom prst="rect">
            <a:avLst/>
          </a:prstGeom>
          <a:noFill/>
          <a:ln/>
        </p:spPr>
        <p:txBody>
          <a:bodyPr wrap="square" lIns="0" tIns="0" rIns="0" bIns="0" rtlCol="0" anchor="ctr"/>
          <a:lstStyle/>
          <a:p>
            <a:pPr marL="0" indent="0">
              <a:buNone/>
            </a:pPr>
            <a:r>
              <a:rPr lang="en-US" sz="950" dirty="0">
                <a:solidFill>
                  <a:srgbClr val="D4E6F1"/>
                </a:solidFill>
              </a:rPr>
              <a:t>HotelRevAI transforms raw hotel booking data into actionable business intelligence through 5 interactive dashboards — empowering hotel leadership with instant, data-driven decision-making capability.</a:t>
            </a:r>
            <a:endParaRPr lang="en-US" sz="950" dirty="0"/>
          </a:p>
        </p:txBody>
      </p:sp>
      <p:sp>
        <p:nvSpPr>
          <p:cNvPr id="34" name="Shape 32"/>
          <p:cNvSpPr/>
          <p:nvPr/>
        </p:nvSpPr>
        <p:spPr>
          <a:xfrm>
            <a:off x="457200" y="2029968"/>
            <a:ext cx="256032" cy="256032"/>
          </a:xfrm>
          <a:prstGeom prst="ellipse">
            <a:avLst/>
          </a:prstGeom>
          <a:solidFill>
            <a:srgbClr val="003E7A"/>
          </a:solidFill>
          <a:ln w="12700">
            <a:solidFill>
              <a:srgbClr val="00B4FF"/>
            </a:solidFill>
            <a:prstDash val="solid"/>
          </a:ln>
        </p:spPr>
      </p:sp>
      <p:sp>
        <p:nvSpPr>
          <p:cNvPr id="35" name="Text 33"/>
          <p:cNvSpPr/>
          <p:nvPr/>
        </p:nvSpPr>
        <p:spPr>
          <a:xfrm>
            <a:off x="457200" y="2029968"/>
            <a:ext cx="256032" cy="256032"/>
          </a:xfrm>
          <a:prstGeom prst="rect">
            <a:avLst/>
          </a:prstGeom>
          <a:noFill/>
          <a:ln/>
        </p:spPr>
        <p:txBody>
          <a:bodyPr wrap="square" lIns="0" tIns="0" rIns="0" bIns="0" rtlCol="0" anchor="ctr"/>
          <a:lstStyle/>
          <a:p>
            <a:pPr marL="0" indent="0" algn="ctr">
              <a:buNone/>
            </a:pPr>
            <a:r>
              <a:rPr lang="en-US" sz="900" b="1" dirty="0">
                <a:solidFill>
                  <a:srgbClr val="00B4FF"/>
                </a:solidFill>
              </a:rPr>
              <a:t>1</a:t>
            </a:r>
            <a:endParaRPr lang="en-US" sz="900" dirty="0"/>
          </a:p>
        </p:txBody>
      </p:sp>
      <p:sp>
        <p:nvSpPr>
          <p:cNvPr id="36" name="Text 34"/>
          <p:cNvSpPr/>
          <p:nvPr/>
        </p:nvSpPr>
        <p:spPr>
          <a:xfrm>
            <a:off x="804672" y="2011680"/>
            <a:ext cx="4480560" cy="320040"/>
          </a:xfrm>
          <a:prstGeom prst="rect">
            <a:avLst/>
          </a:prstGeom>
          <a:noFill/>
          <a:ln/>
        </p:spPr>
        <p:txBody>
          <a:bodyPr wrap="square" lIns="0" tIns="0" rIns="0" bIns="0" rtlCol="0" anchor="ctr"/>
          <a:lstStyle/>
          <a:p>
            <a:pPr marL="0" indent="0">
              <a:buNone/>
            </a:pPr>
            <a:r>
              <a:rPr lang="en-US" sz="950" dirty="0">
                <a:solidFill>
                  <a:srgbClr val="D4E6F1"/>
                </a:solidFill>
              </a:rPr>
              <a:t>Load, clean &amp; preprocess 1,17,430 records using Power Query Editor</a:t>
            </a:r>
            <a:endParaRPr lang="en-US" sz="950" dirty="0"/>
          </a:p>
        </p:txBody>
      </p:sp>
      <p:sp>
        <p:nvSpPr>
          <p:cNvPr id="37" name="Shape 35"/>
          <p:cNvSpPr/>
          <p:nvPr/>
        </p:nvSpPr>
        <p:spPr>
          <a:xfrm>
            <a:off x="576072" y="2304288"/>
            <a:ext cx="0" cy="182880"/>
          </a:xfrm>
          <a:prstGeom prst="line">
            <a:avLst/>
          </a:prstGeom>
          <a:noFill/>
          <a:ln w="12700">
            <a:solidFill>
              <a:srgbClr val="1E3A5F"/>
            </a:solidFill>
            <a:prstDash val="solid"/>
          </a:ln>
        </p:spPr>
      </p:sp>
      <p:sp>
        <p:nvSpPr>
          <p:cNvPr id="38" name="Shape 36"/>
          <p:cNvSpPr/>
          <p:nvPr/>
        </p:nvSpPr>
        <p:spPr>
          <a:xfrm>
            <a:off x="457200" y="2505456"/>
            <a:ext cx="256032" cy="256032"/>
          </a:xfrm>
          <a:prstGeom prst="ellipse">
            <a:avLst/>
          </a:prstGeom>
          <a:solidFill>
            <a:srgbClr val="003E7A"/>
          </a:solidFill>
          <a:ln w="12700">
            <a:solidFill>
              <a:srgbClr val="00B4FF"/>
            </a:solidFill>
            <a:prstDash val="solid"/>
          </a:ln>
        </p:spPr>
      </p:sp>
      <p:sp>
        <p:nvSpPr>
          <p:cNvPr id="39" name="Text 37"/>
          <p:cNvSpPr/>
          <p:nvPr/>
        </p:nvSpPr>
        <p:spPr>
          <a:xfrm>
            <a:off x="457200" y="2505456"/>
            <a:ext cx="256032" cy="256032"/>
          </a:xfrm>
          <a:prstGeom prst="rect">
            <a:avLst/>
          </a:prstGeom>
          <a:noFill/>
          <a:ln/>
        </p:spPr>
        <p:txBody>
          <a:bodyPr wrap="square" lIns="0" tIns="0" rIns="0" bIns="0" rtlCol="0" anchor="ctr"/>
          <a:lstStyle/>
          <a:p>
            <a:pPr marL="0" indent="0" algn="ctr">
              <a:buNone/>
            </a:pPr>
            <a:r>
              <a:rPr lang="en-US" sz="900" b="1" dirty="0">
                <a:solidFill>
                  <a:srgbClr val="00B4FF"/>
                </a:solidFill>
              </a:rPr>
              <a:t>2</a:t>
            </a:r>
            <a:endParaRPr lang="en-US" sz="900" dirty="0"/>
          </a:p>
        </p:txBody>
      </p:sp>
      <p:sp>
        <p:nvSpPr>
          <p:cNvPr id="40" name="Text 38"/>
          <p:cNvSpPr/>
          <p:nvPr/>
        </p:nvSpPr>
        <p:spPr>
          <a:xfrm>
            <a:off x="804672" y="2487168"/>
            <a:ext cx="4480560" cy="320040"/>
          </a:xfrm>
          <a:prstGeom prst="rect">
            <a:avLst/>
          </a:prstGeom>
          <a:noFill/>
          <a:ln/>
        </p:spPr>
        <p:txBody>
          <a:bodyPr wrap="square" lIns="0" tIns="0" rIns="0" bIns="0" rtlCol="0" anchor="ctr"/>
          <a:lstStyle/>
          <a:p>
            <a:pPr marL="0" indent="0">
              <a:buNone/>
            </a:pPr>
            <a:r>
              <a:rPr lang="en-US" sz="950" dirty="0">
                <a:solidFill>
                  <a:srgbClr val="D4E6F1"/>
                </a:solidFill>
              </a:rPr>
              <a:t>Create 4 custom columns via M Language: total_nights, guest_type, season, revenue</a:t>
            </a:r>
            <a:endParaRPr lang="en-US" sz="950" dirty="0"/>
          </a:p>
        </p:txBody>
      </p:sp>
      <p:sp>
        <p:nvSpPr>
          <p:cNvPr id="41" name="Shape 39"/>
          <p:cNvSpPr/>
          <p:nvPr/>
        </p:nvSpPr>
        <p:spPr>
          <a:xfrm>
            <a:off x="576072" y="2779776"/>
            <a:ext cx="0" cy="182880"/>
          </a:xfrm>
          <a:prstGeom prst="line">
            <a:avLst/>
          </a:prstGeom>
          <a:noFill/>
          <a:ln w="12700">
            <a:solidFill>
              <a:srgbClr val="1E3A5F"/>
            </a:solidFill>
            <a:prstDash val="solid"/>
          </a:ln>
        </p:spPr>
      </p:sp>
      <p:sp>
        <p:nvSpPr>
          <p:cNvPr id="42" name="Shape 40"/>
          <p:cNvSpPr/>
          <p:nvPr/>
        </p:nvSpPr>
        <p:spPr>
          <a:xfrm>
            <a:off x="457200" y="2980944"/>
            <a:ext cx="256032" cy="256032"/>
          </a:xfrm>
          <a:prstGeom prst="ellipse">
            <a:avLst/>
          </a:prstGeom>
          <a:solidFill>
            <a:srgbClr val="003E7A"/>
          </a:solidFill>
          <a:ln w="12700">
            <a:solidFill>
              <a:srgbClr val="00B4FF"/>
            </a:solidFill>
            <a:prstDash val="solid"/>
          </a:ln>
        </p:spPr>
      </p:sp>
      <p:sp>
        <p:nvSpPr>
          <p:cNvPr id="43" name="Text 41"/>
          <p:cNvSpPr/>
          <p:nvPr/>
        </p:nvSpPr>
        <p:spPr>
          <a:xfrm>
            <a:off x="457200" y="2980944"/>
            <a:ext cx="256032" cy="256032"/>
          </a:xfrm>
          <a:prstGeom prst="rect">
            <a:avLst/>
          </a:prstGeom>
          <a:noFill/>
          <a:ln/>
        </p:spPr>
        <p:txBody>
          <a:bodyPr wrap="square" lIns="0" tIns="0" rIns="0" bIns="0" rtlCol="0" anchor="ctr"/>
          <a:lstStyle/>
          <a:p>
            <a:pPr marL="0" indent="0" algn="ctr">
              <a:buNone/>
            </a:pPr>
            <a:r>
              <a:rPr lang="en-US" sz="900" b="1" dirty="0">
                <a:solidFill>
                  <a:srgbClr val="00B4FF"/>
                </a:solidFill>
              </a:rPr>
              <a:t>3</a:t>
            </a:r>
            <a:endParaRPr lang="en-US" sz="900" dirty="0"/>
          </a:p>
        </p:txBody>
      </p:sp>
      <p:sp>
        <p:nvSpPr>
          <p:cNvPr id="44" name="Text 42"/>
          <p:cNvSpPr/>
          <p:nvPr/>
        </p:nvSpPr>
        <p:spPr>
          <a:xfrm>
            <a:off x="804672" y="2962656"/>
            <a:ext cx="4480560" cy="320040"/>
          </a:xfrm>
          <a:prstGeom prst="rect">
            <a:avLst/>
          </a:prstGeom>
          <a:noFill/>
          <a:ln/>
        </p:spPr>
        <p:txBody>
          <a:bodyPr wrap="square" lIns="0" tIns="0" rIns="0" bIns="0" rtlCol="0" anchor="ctr"/>
          <a:lstStyle/>
          <a:p>
            <a:pPr marL="0" indent="0">
              <a:buNone/>
            </a:pPr>
            <a:r>
              <a:rPr lang="en-US" sz="950" dirty="0">
                <a:solidFill>
                  <a:srgbClr val="D4E6F1"/>
                </a:solidFill>
              </a:rPr>
              <a:t>Build 13 DAX measures covering Revenue, ADR, RevPAR, Occupancy % &amp; more</a:t>
            </a:r>
            <a:endParaRPr lang="en-US" sz="950" dirty="0"/>
          </a:p>
        </p:txBody>
      </p:sp>
      <p:sp>
        <p:nvSpPr>
          <p:cNvPr id="45" name="Shape 43"/>
          <p:cNvSpPr/>
          <p:nvPr/>
        </p:nvSpPr>
        <p:spPr>
          <a:xfrm>
            <a:off x="576072" y="3255264"/>
            <a:ext cx="0" cy="182880"/>
          </a:xfrm>
          <a:prstGeom prst="line">
            <a:avLst/>
          </a:prstGeom>
          <a:noFill/>
          <a:ln w="12700">
            <a:solidFill>
              <a:srgbClr val="1E3A5F"/>
            </a:solidFill>
            <a:prstDash val="solid"/>
          </a:ln>
        </p:spPr>
      </p:sp>
      <p:sp>
        <p:nvSpPr>
          <p:cNvPr id="46" name="Shape 44"/>
          <p:cNvSpPr/>
          <p:nvPr/>
        </p:nvSpPr>
        <p:spPr>
          <a:xfrm>
            <a:off x="457200" y="3456432"/>
            <a:ext cx="256032" cy="256032"/>
          </a:xfrm>
          <a:prstGeom prst="ellipse">
            <a:avLst/>
          </a:prstGeom>
          <a:solidFill>
            <a:srgbClr val="003E7A"/>
          </a:solidFill>
          <a:ln w="12700">
            <a:solidFill>
              <a:srgbClr val="00B4FF"/>
            </a:solidFill>
            <a:prstDash val="solid"/>
          </a:ln>
        </p:spPr>
      </p:sp>
      <p:sp>
        <p:nvSpPr>
          <p:cNvPr id="47" name="Text 45"/>
          <p:cNvSpPr/>
          <p:nvPr/>
        </p:nvSpPr>
        <p:spPr>
          <a:xfrm>
            <a:off x="457200" y="3456432"/>
            <a:ext cx="256032" cy="256032"/>
          </a:xfrm>
          <a:prstGeom prst="rect">
            <a:avLst/>
          </a:prstGeom>
          <a:noFill/>
          <a:ln/>
        </p:spPr>
        <p:txBody>
          <a:bodyPr wrap="square" lIns="0" tIns="0" rIns="0" bIns="0" rtlCol="0" anchor="ctr"/>
          <a:lstStyle/>
          <a:p>
            <a:pPr marL="0" indent="0" algn="ctr">
              <a:buNone/>
            </a:pPr>
            <a:r>
              <a:rPr lang="en-US" sz="900" b="1" dirty="0">
                <a:solidFill>
                  <a:srgbClr val="00B4FF"/>
                </a:solidFill>
              </a:rPr>
              <a:t>4</a:t>
            </a:r>
            <a:endParaRPr lang="en-US" sz="900" dirty="0"/>
          </a:p>
        </p:txBody>
      </p:sp>
      <p:sp>
        <p:nvSpPr>
          <p:cNvPr id="48" name="Text 46"/>
          <p:cNvSpPr/>
          <p:nvPr/>
        </p:nvSpPr>
        <p:spPr>
          <a:xfrm>
            <a:off x="804672" y="3438144"/>
            <a:ext cx="4480560" cy="320040"/>
          </a:xfrm>
          <a:prstGeom prst="rect">
            <a:avLst/>
          </a:prstGeom>
          <a:noFill/>
          <a:ln/>
        </p:spPr>
        <p:txBody>
          <a:bodyPr wrap="square" lIns="0" tIns="0" rIns="0" bIns="0" rtlCol="0" anchor="ctr"/>
          <a:lstStyle/>
          <a:p>
            <a:pPr marL="0" indent="0">
              <a:buNone/>
            </a:pPr>
            <a:r>
              <a:rPr lang="en-US" sz="950" dirty="0">
                <a:solidFill>
                  <a:srgbClr val="D4E6F1"/>
                </a:solidFill>
              </a:rPr>
              <a:t>Design 5 fully interactive dashboards with cross-filtering slicers</a:t>
            </a:r>
            <a:endParaRPr lang="en-US" sz="950" dirty="0"/>
          </a:p>
        </p:txBody>
      </p:sp>
      <p:sp>
        <p:nvSpPr>
          <p:cNvPr id="49" name="Shape 47"/>
          <p:cNvSpPr/>
          <p:nvPr/>
        </p:nvSpPr>
        <p:spPr>
          <a:xfrm>
            <a:off x="576072" y="3730752"/>
            <a:ext cx="0" cy="182880"/>
          </a:xfrm>
          <a:prstGeom prst="line">
            <a:avLst/>
          </a:prstGeom>
          <a:noFill/>
          <a:ln w="12700">
            <a:solidFill>
              <a:srgbClr val="1E3A5F"/>
            </a:solidFill>
            <a:prstDash val="solid"/>
          </a:ln>
        </p:spPr>
      </p:sp>
      <p:sp>
        <p:nvSpPr>
          <p:cNvPr id="50" name="Shape 48"/>
          <p:cNvSpPr/>
          <p:nvPr/>
        </p:nvSpPr>
        <p:spPr>
          <a:xfrm>
            <a:off x="457200" y="3931920"/>
            <a:ext cx="256032" cy="256032"/>
          </a:xfrm>
          <a:prstGeom prst="ellipse">
            <a:avLst/>
          </a:prstGeom>
          <a:solidFill>
            <a:srgbClr val="003E7A"/>
          </a:solidFill>
          <a:ln w="12700">
            <a:solidFill>
              <a:srgbClr val="00B4FF"/>
            </a:solidFill>
            <a:prstDash val="solid"/>
          </a:ln>
        </p:spPr>
      </p:sp>
      <p:sp>
        <p:nvSpPr>
          <p:cNvPr id="51" name="Text 49"/>
          <p:cNvSpPr/>
          <p:nvPr/>
        </p:nvSpPr>
        <p:spPr>
          <a:xfrm>
            <a:off x="457200" y="3931920"/>
            <a:ext cx="256032" cy="256032"/>
          </a:xfrm>
          <a:prstGeom prst="rect">
            <a:avLst/>
          </a:prstGeom>
          <a:noFill/>
          <a:ln/>
        </p:spPr>
        <p:txBody>
          <a:bodyPr wrap="square" lIns="0" tIns="0" rIns="0" bIns="0" rtlCol="0" anchor="ctr"/>
          <a:lstStyle/>
          <a:p>
            <a:pPr marL="0" indent="0" algn="ctr">
              <a:buNone/>
            </a:pPr>
            <a:r>
              <a:rPr lang="en-US" sz="900" b="1" dirty="0">
                <a:solidFill>
                  <a:srgbClr val="00B4FF"/>
                </a:solidFill>
              </a:rPr>
              <a:t>5</a:t>
            </a:r>
            <a:endParaRPr lang="en-US" sz="900" dirty="0"/>
          </a:p>
        </p:txBody>
      </p:sp>
      <p:sp>
        <p:nvSpPr>
          <p:cNvPr id="52" name="Text 50"/>
          <p:cNvSpPr/>
          <p:nvPr/>
        </p:nvSpPr>
        <p:spPr>
          <a:xfrm>
            <a:off x="804672" y="3913632"/>
            <a:ext cx="4480560" cy="320040"/>
          </a:xfrm>
          <a:prstGeom prst="rect">
            <a:avLst/>
          </a:prstGeom>
          <a:noFill/>
          <a:ln/>
        </p:spPr>
        <p:txBody>
          <a:bodyPr wrap="square" lIns="0" tIns="0" rIns="0" bIns="0" rtlCol="0" anchor="ctr"/>
          <a:lstStyle/>
          <a:p>
            <a:pPr marL="0" indent="0">
              <a:buNone/>
            </a:pPr>
            <a:r>
              <a:rPr lang="en-US" sz="950" dirty="0">
                <a:solidFill>
                  <a:srgbClr val="D4E6F1"/>
                </a:solidFill>
              </a:rPr>
              <a:t>Replace manual Excel reporting with a single real-time BI system</a:t>
            </a:r>
            <a:endParaRPr lang="en-US" sz="950" dirty="0"/>
          </a:p>
        </p:txBody>
      </p:sp>
      <p:sp>
        <p:nvSpPr>
          <p:cNvPr id="53" name="Shape 51"/>
          <p:cNvSpPr/>
          <p:nvPr/>
        </p:nvSpPr>
        <p:spPr>
          <a:xfrm>
            <a:off x="5660136" y="1243584"/>
            <a:ext cx="3200400" cy="777240"/>
          </a:xfrm>
          <a:prstGeom prst="rect">
            <a:avLst/>
          </a:prstGeom>
          <a:solidFill>
            <a:srgbClr val="000000">
              <a:alpha val="28000"/>
            </a:srgbClr>
          </a:solidFill>
          <a:ln w="12700">
            <a:solidFill>
              <a:srgbClr val="000000">
                <a:alpha val="0"/>
              </a:srgbClr>
            </a:solidFill>
            <a:prstDash val="solid"/>
          </a:ln>
        </p:spPr>
      </p:sp>
      <p:sp>
        <p:nvSpPr>
          <p:cNvPr id="54" name="Shape 52"/>
          <p:cNvSpPr/>
          <p:nvPr/>
        </p:nvSpPr>
        <p:spPr>
          <a:xfrm>
            <a:off x="5623560" y="1207008"/>
            <a:ext cx="3200400" cy="777240"/>
          </a:xfrm>
          <a:prstGeom prst="rect">
            <a:avLst/>
          </a:prstGeom>
          <a:solidFill>
            <a:srgbClr val="0A1628">
              <a:alpha val="82000"/>
            </a:srgbClr>
          </a:solidFill>
          <a:ln w="12700">
            <a:solidFill>
              <a:srgbClr val="1E3A5F"/>
            </a:solidFill>
            <a:prstDash val="solid"/>
          </a:ln>
        </p:spPr>
      </p:sp>
      <p:sp>
        <p:nvSpPr>
          <p:cNvPr id="55" name="Shape 53"/>
          <p:cNvSpPr/>
          <p:nvPr/>
        </p:nvSpPr>
        <p:spPr>
          <a:xfrm>
            <a:off x="5623560" y="1207008"/>
            <a:ext cx="3200400" cy="27432"/>
          </a:xfrm>
          <a:prstGeom prst="rect">
            <a:avLst/>
          </a:prstGeom>
          <a:solidFill>
            <a:srgbClr val="FFFFFF">
              <a:alpha val="26000"/>
            </a:srgbClr>
          </a:solidFill>
          <a:ln w="12700">
            <a:solidFill>
              <a:srgbClr val="FFFFFF">
                <a:alpha val="0"/>
              </a:srgbClr>
            </a:solidFill>
            <a:prstDash val="solid"/>
          </a:ln>
        </p:spPr>
      </p:sp>
      <p:sp>
        <p:nvSpPr>
          <p:cNvPr id="56" name="Shape 54"/>
          <p:cNvSpPr/>
          <p:nvPr/>
        </p:nvSpPr>
        <p:spPr>
          <a:xfrm>
            <a:off x="5623560" y="1207008"/>
            <a:ext cx="27432" cy="777240"/>
          </a:xfrm>
          <a:prstGeom prst="rect">
            <a:avLst/>
          </a:prstGeom>
          <a:solidFill>
            <a:srgbClr val="FFFFFF">
              <a:alpha val="18000"/>
            </a:srgbClr>
          </a:solidFill>
          <a:ln w="12700">
            <a:solidFill>
              <a:srgbClr val="FFFFFF">
                <a:alpha val="0"/>
              </a:srgbClr>
            </a:solidFill>
            <a:prstDash val="solid"/>
          </a:ln>
        </p:spPr>
      </p:sp>
      <p:sp>
        <p:nvSpPr>
          <p:cNvPr id="57" name="Shape 55"/>
          <p:cNvSpPr/>
          <p:nvPr/>
        </p:nvSpPr>
        <p:spPr>
          <a:xfrm>
            <a:off x="5623560" y="1207008"/>
            <a:ext cx="3200400" cy="50292"/>
          </a:xfrm>
          <a:prstGeom prst="rect">
            <a:avLst/>
          </a:prstGeom>
          <a:solidFill>
            <a:srgbClr val="00B4FF"/>
          </a:solidFill>
          <a:ln w="12700">
            <a:solidFill>
              <a:srgbClr val="00B4FF"/>
            </a:solidFill>
            <a:prstDash val="solid"/>
          </a:ln>
        </p:spPr>
      </p:sp>
      <p:sp>
        <p:nvSpPr>
          <p:cNvPr id="58" name="Text 56"/>
          <p:cNvSpPr/>
          <p:nvPr/>
        </p:nvSpPr>
        <p:spPr>
          <a:xfrm>
            <a:off x="5623560" y="1316736"/>
            <a:ext cx="3200400" cy="404165"/>
          </a:xfrm>
          <a:prstGeom prst="rect">
            <a:avLst/>
          </a:prstGeom>
          <a:noFill/>
          <a:ln/>
        </p:spPr>
        <p:txBody>
          <a:bodyPr wrap="square" lIns="0" tIns="0" rIns="0" bIns="0" rtlCol="0" anchor="b"/>
          <a:lstStyle/>
          <a:p>
            <a:pPr marL="0" indent="0" algn="ctr">
              <a:buNone/>
            </a:pPr>
            <a:r>
              <a:rPr lang="en-US" sz="1800" b="1" dirty="0">
                <a:solidFill>
                  <a:srgbClr val="00B4FF"/>
                </a:solidFill>
              </a:rPr>
              <a:t>1,17,430</a:t>
            </a:r>
            <a:endParaRPr lang="en-US" sz="1800" dirty="0"/>
          </a:p>
        </p:txBody>
      </p:sp>
      <p:sp>
        <p:nvSpPr>
          <p:cNvPr id="59" name="Text 57"/>
          <p:cNvSpPr/>
          <p:nvPr/>
        </p:nvSpPr>
        <p:spPr>
          <a:xfrm>
            <a:off x="5623560" y="1696669"/>
            <a:ext cx="3200400" cy="272034"/>
          </a:xfrm>
          <a:prstGeom prst="rect">
            <a:avLst/>
          </a:prstGeom>
          <a:noFill/>
          <a:ln/>
        </p:spPr>
        <p:txBody>
          <a:bodyPr wrap="square" lIns="0" tIns="0" rIns="0" bIns="0" rtlCol="0" anchor="t"/>
          <a:lstStyle/>
          <a:p>
            <a:pPr marL="0" indent="0" algn="ctr">
              <a:buNone/>
            </a:pPr>
            <a:r>
              <a:rPr lang="en-US" sz="800" dirty="0">
                <a:solidFill>
                  <a:srgbClr val="D4E6F1"/>
                </a:solidFill>
              </a:rPr>
              <a:t>Records Processed</a:t>
            </a:r>
            <a:endParaRPr lang="en-US" sz="800" dirty="0"/>
          </a:p>
        </p:txBody>
      </p:sp>
      <p:sp>
        <p:nvSpPr>
          <p:cNvPr id="60" name="Shape 58"/>
          <p:cNvSpPr/>
          <p:nvPr/>
        </p:nvSpPr>
        <p:spPr>
          <a:xfrm>
            <a:off x="5660136" y="2130552"/>
            <a:ext cx="3200400" cy="777240"/>
          </a:xfrm>
          <a:prstGeom prst="rect">
            <a:avLst/>
          </a:prstGeom>
          <a:solidFill>
            <a:srgbClr val="000000">
              <a:alpha val="28000"/>
            </a:srgbClr>
          </a:solidFill>
          <a:ln w="12700">
            <a:solidFill>
              <a:srgbClr val="000000">
                <a:alpha val="0"/>
              </a:srgbClr>
            </a:solidFill>
            <a:prstDash val="solid"/>
          </a:ln>
        </p:spPr>
      </p:sp>
      <p:sp>
        <p:nvSpPr>
          <p:cNvPr id="61" name="Shape 59"/>
          <p:cNvSpPr/>
          <p:nvPr/>
        </p:nvSpPr>
        <p:spPr>
          <a:xfrm>
            <a:off x="5623560" y="2093976"/>
            <a:ext cx="3200400" cy="777240"/>
          </a:xfrm>
          <a:prstGeom prst="rect">
            <a:avLst/>
          </a:prstGeom>
          <a:solidFill>
            <a:srgbClr val="0A1628">
              <a:alpha val="82000"/>
            </a:srgbClr>
          </a:solidFill>
          <a:ln w="12700">
            <a:solidFill>
              <a:srgbClr val="1E3A5F"/>
            </a:solidFill>
            <a:prstDash val="solid"/>
          </a:ln>
        </p:spPr>
      </p:sp>
      <p:sp>
        <p:nvSpPr>
          <p:cNvPr id="62" name="Shape 60"/>
          <p:cNvSpPr/>
          <p:nvPr/>
        </p:nvSpPr>
        <p:spPr>
          <a:xfrm>
            <a:off x="5623560" y="2093976"/>
            <a:ext cx="3200400" cy="27432"/>
          </a:xfrm>
          <a:prstGeom prst="rect">
            <a:avLst/>
          </a:prstGeom>
          <a:solidFill>
            <a:srgbClr val="FFFFFF">
              <a:alpha val="26000"/>
            </a:srgbClr>
          </a:solidFill>
          <a:ln w="12700">
            <a:solidFill>
              <a:srgbClr val="FFFFFF">
                <a:alpha val="0"/>
              </a:srgbClr>
            </a:solidFill>
            <a:prstDash val="solid"/>
          </a:ln>
        </p:spPr>
      </p:sp>
      <p:sp>
        <p:nvSpPr>
          <p:cNvPr id="63" name="Shape 61"/>
          <p:cNvSpPr/>
          <p:nvPr/>
        </p:nvSpPr>
        <p:spPr>
          <a:xfrm>
            <a:off x="5623560" y="2093976"/>
            <a:ext cx="27432" cy="777240"/>
          </a:xfrm>
          <a:prstGeom prst="rect">
            <a:avLst/>
          </a:prstGeom>
          <a:solidFill>
            <a:srgbClr val="FFFFFF">
              <a:alpha val="18000"/>
            </a:srgbClr>
          </a:solidFill>
          <a:ln w="12700">
            <a:solidFill>
              <a:srgbClr val="FFFFFF">
                <a:alpha val="0"/>
              </a:srgbClr>
            </a:solidFill>
            <a:prstDash val="solid"/>
          </a:ln>
        </p:spPr>
      </p:sp>
      <p:sp>
        <p:nvSpPr>
          <p:cNvPr id="64" name="Shape 62"/>
          <p:cNvSpPr/>
          <p:nvPr/>
        </p:nvSpPr>
        <p:spPr>
          <a:xfrm>
            <a:off x="5623560" y="2093976"/>
            <a:ext cx="3200400" cy="50292"/>
          </a:xfrm>
          <a:prstGeom prst="rect">
            <a:avLst/>
          </a:prstGeom>
          <a:solidFill>
            <a:srgbClr val="F5C518"/>
          </a:solidFill>
          <a:ln w="12700">
            <a:solidFill>
              <a:srgbClr val="F5C518"/>
            </a:solidFill>
            <a:prstDash val="solid"/>
          </a:ln>
        </p:spPr>
      </p:sp>
      <p:sp>
        <p:nvSpPr>
          <p:cNvPr id="65" name="Text 63"/>
          <p:cNvSpPr/>
          <p:nvPr/>
        </p:nvSpPr>
        <p:spPr>
          <a:xfrm>
            <a:off x="5623560" y="2203704"/>
            <a:ext cx="3200400" cy="404165"/>
          </a:xfrm>
          <a:prstGeom prst="rect">
            <a:avLst/>
          </a:prstGeom>
          <a:noFill/>
          <a:ln/>
        </p:spPr>
        <p:txBody>
          <a:bodyPr wrap="square" lIns="0" tIns="0" rIns="0" bIns="0" rtlCol="0" anchor="b"/>
          <a:lstStyle/>
          <a:p>
            <a:pPr marL="0" indent="0" algn="ctr">
              <a:buNone/>
            </a:pPr>
            <a:r>
              <a:rPr lang="en-US" sz="1800" b="1" dirty="0">
                <a:solidFill>
                  <a:srgbClr val="F5C518"/>
                </a:solidFill>
              </a:rPr>
              <a:t>5</a:t>
            </a:r>
            <a:endParaRPr lang="en-US" sz="1800" dirty="0"/>
          </a:p>
        </p:txBody>
      </p:sp>
      <p:sp>
        <p:nvSpPr>
          <p:cNvPr id="66" name="Text 64"/>
          <p:cNvSpPr/>
          <p:nvPr/>
        </p:nvSpPr>
        <p:spPr>
          <a:xfrm>
            <a:off x="5623560" y="2583637"/>
            <a:ext cx="3200400" cy="272034"/>
          </a:xfrm>
          <a:prstGeom prst="rect">
            <a:avLst/>
          </a:prstGeom>
          <a:noFill/>
          <a:ln/>
        </p:spPr>
        <p:txBody>
          <a:bodyPr wrap="square" lIns="0" tIns="0" rIns="0" bIns="0" rtlCol="0" anchor="t"/>
          <a:lstStyle/>
          <a:p>
            <a:pPr marL="0" indent="0" algn="ctr">
              <a:buNone/>
            </a:pPr>
            <a:r>
              <a:rPr lang="en-US" sz="800" dirty="0">
                <a:solidFill>
                  <a:srgbClr val="D4E6F1"/>
                </a:solidFill>
              </a:rPr>
              <a:t>Dashboards Built</a:t>
            </a:r>
            <a:endParaRPr lang="en-US" sz="800" dirty="0"/>
          </a:p>
        </p:txBody>
      </p:sp>
      <p:sp>
        <p:nvSpPr>
          <p:cNvPr id="67" name="Shape 65"/>
          <p:cNvSpPr/>
          <p:nvPr/>
        </p:nvSpPr>
        <p:spPr>
          <a:xfrm>
            <a:off x="5660136" y="3017520"/>
            <a:ext cx="3200400" cy="777240"/>
          </a:xfrm>
          <a:prstGeom prst="rect">
            <a:avLst/>
          </a:prstGeom>
          <a:solidFill>
            <a:srgbClr val="000000">
              <a:alpha val="28000"/>
            </a:srgbClr>
          </a:solidFill>
          <a:ln w="12700">
            <a:solidFill>
              <a:srgbClr val="000000">
                <a:alpha val="0"/>
              </a:srgbClr>
            </a:solidFill>
            <a:prstDash val="solid"/>
          </a:ln>
        </p:spPr>
      </p:sp>
      <p:sp>
        <p:nvSpPr>
          <p:cNvPr id="68" name="Shape 66"/>
          <p:cNvSpPr/>
          <p:nvPr/>
        </p:nvSpPr>
        <p:spPr>
          <a:xfrm>
            <a:off x="5623560" y="2980944"/>
            <a:ext cx="3200400" cy="777240"/>
          </a:xfrm>
          <a:prstGeom prst="rect">
            <a:avLst/>
          </a:prstGeom>
          <a:solidFill>
            <a:srgbClr val="0A1628">
              <a:alpha val="82000"/>
            </a:srgbClr>
          </a:solidFill>
          <a:ln w="12700">
            <a:solidFill>
              <a:srgbClr val="1E3A5F"/>
            </a:solidFill>
            <a:prstDash val="solid"/>
          </a:ln>
        </p:spPr>
      </p:sp>
      <p:sp>
        <p:nvSpPr>
          <p:cNvPr id="69" name="Shape 67"/>
          <p:cNvSpPr/>
          <p:nvPr/>
        </p:nvSpPr>
        <p:spPr>
          <a:xfrm>
            <a:off x="5623560" y="2980944"/>
            <a:ext cx="3200400" cy="27432"/>
          </a:xfrm>
          <a:prstGeom prst="rect">
            <a:avLst/>
          </a:prstGeom>
          <a:solidFill>
            <a:srgbClr val="FFFFFF">
              <a:alpha val="26000"/>
            </a:srgbClr>
          </a:solidFill>
          <a:ln w="12700">
            <a:solidFill>
              <a:srgbClr val="FFFFFF">
                <a:alpha val="0"/>
              </a:srgbClr>
            </a:solidFill>
            <a:prstDash val="solid"/>
          </a:ln>
        </p:spPr>
      </p:sp>
      <p:sp>
        <p:nvSpPr>
          <p:cNvPr id="70" name="Shape 68"/>
          <p:cNvSpPr/>
          <p:nvPr/>
        </p:nvSpPr>
        <p:spPr>
          <a:xfrm>
            <a:off x="5623560" y="2980944"/>
            <a:ext cx="27432" cy="777240"/>
          </a:xfrm>
          <a:prstGeom prst="rect">
            <a:avLst/>
          </a:prstGeom>
          <a:solidFill>
            <a:srgbClr val="FFFFFF">
              <a:alpha val="18000"/>
            </a:srgbClr>
          </a:solidFill>
          <a:ln w="12700">
            <a:solidFill>
              <a:srgbClr val="FFFFFF">
                <a:alpha val="0"/>
              </a:srgbClr>
            </a:solidFill>
            <a:prstDash val="solid"/>
          </a:ln>
        </p:spPr>
      </p:sp>
      <p:sp>
        <p:nvSpPr>
          <p:cNvPr id="71" name="Shape 69"/>
          <p:cNvSpPr/>
          <p:nvPr/>
        </p:nvSpPr>
        <p:spPr>
          <a:xfrm>
            <a:off x="5623560" y="2980944"/>
            <a:ext cx="3200400" cy="50292"/>
          </a:xfrm>
          <a:prstGeom prst="rect">
            <a:avLst/>
          </a:prstGeom>
          <a:solidFill>
            <a:srgbClr val="00B4FF"/>
          </a:solidFill>
          <a:ln w="12700">
            <a:solidFill>
              <a:srgbClr val="00B4FF"/>
            </a:solidFill>
            <a:prstDash val="solid"/>
          </a:ln>
        </p:spPr>
      </p:sp>
      <p:sp>
        <p:nvSpPr>
          <p:cNvPr id="72" name="Text 70"/>
          <p:cNvSpPr/>
          <p:nvPr/>
        </p:nvSpPr>
        <p:spPr>
          <a:xfrm>
            <a:off x="5623560" y="3090672"/>
            <a:ext cx="3200400" cy="404165"/>
          </a:xfrm>
          <a:prstGeom prst="rect">
            <a:avLst/>
          </a:prstGeom>
          <a:noFill/>
          <a:ln/>
        </p:spPr>
        <p:txBody>
          <a:bodyPr wrap="square" lIns="0" tIns="0" rIns="0" bIns="0" rtlCol="0" anchor="b"/>
          <a:lstStyle/>
          <a:p>
            <a:pPr marL="0" indent="0" algn="ctr">
              <a:buNone/>
            </a:pPr>
            <a:r>
              <a:rPr lang="en-US" sz="1800" b="1" dirty="0">
                <a:solidFill>
                  <a:srgbClr val="00B4FF"/>
                </a:solidFill>
              </a:rPr>
              <a:t>13</a:t>
            </a:r>
            <a:endParaRPr lang="en-US" sz="1800" dirty="0"/>
          </a:p>
        </p:txBody>
      </p:sp>
      <p:sp>
        <p:nvSpPr>
          <p:cNvPr id="73" name="Text 71"/>
          <p:cNvSpPr/>
          <p:nvPr/>
        </p:nvSpPr>
        <p:spPr>
          <a:xfrm>
            <a:off x="5623560" y="3470605"/>
            <a:ext cx="3200400" cy="272034"/>
          </a:xfrm>
          <a:prstGeom prst="rect">
            <a:avLst/>
          </a:prstGeom>
          <a:noFill/>
          <a:ln/>
        </p:spPr>
        <p:txBody>
          <a:bodyPr wrap="square" lIns="0" tIns="0" rIns="0" bIns="0" rtlCol="0" anchor="t"/>
          <a:lstStyle/>
          <a:p>
            <a:pPr marL="0" indent="0" algn="ctr">
              <a:buNone/>
            </a:pPr>
            <a:r>
              <a:rPr lang="en-US" sz="800" dirty="0">
                <a:solidFill>
                  <a:srgbClr val="D4E6F1"/>
                </a:solidFill>
              </a:rPr>
              <a:t>DAX Measures</a:t>
            </a:r>
            <a:endParaRPr lang="en-US" sz="800" dirty="0"/>
          </a:p>
        </p:txBody>
      </p:sp>
      <p:sp>
        <p:nvSpPr>
          <p:cNvPr id="74" name="Shape 72"/>
          <p:cNvSpPr/>
          <p:nvPr/>
        </p:nvSpPr>
        <p:spPr>
          <a:xfrm>
            <a:off x="5660136" y="3904488"/>
            <a:ext cx="3200400" cy="777240"/>
          </a:xfrm>
          <a:prstGeom prst="rect">
            <a:avLst/>
          </a:prstGeom>
          <a:solidFill>
            <a:srgbClr val="000000">
              <a:alpha val="28000"/>
            </a:srgbClr>
          </a:solidFill>
          <a:ln w="12700">
            <a:solidFill>
              <a:srgbClr val="000000">
                <a:alpha val="0"/>
              </a:srgbClr>
            </a:solidFill>
            <a:prstDash val="solid"/>
          </a:ln>
        </p:spPr>
      </p:sp>
      <p:sp>
        <p:nvSpPr>
          <p:cNvPr id="75" name="Shape 73"/>
          <p:cNvSpPr/>
          <p:nvPr/>
        </p:nvSpPr>
        <p:spPr>
          <a:xfrm>
            <a:off x="5623560" y="3867912"/>
            <a:ext cx="3200400" cy="777240"/>
          </a:xfrm>
          <a:prstGeom prst="rect">
            <a:avLst/>
          </a:prstGeom>
          <a:solidFill>
            <a:srgbClr val="0A1628">
              <a:alpha val="82000"/>
            </a:srgbClr>
          </a:solidFill>
          <a:ln w="12700">
            <a:solidFill>
              <a:srgbClr val="1E3A5F"/>
            </a:solidFill>
            <a:prstDash val="solid"/>
          </a:ln>
        </p:spPr>
      </p:sp>
      <p:sp>
        <p:nvSpPr>
          <p:cNvPr id="76" name="Shape 74"/>
          <p:cNvSpPr/>
          <p:nvPr/>
        </p:nvSpPr>
        <p:spPr>
          <a:xfrm>
            <a:off x="5623560" y="3867912"/>
            <a:ext cx="3200400" cy="27432"/>
          </a:xfrm>
          <a:prstGeom prst="rect">
            <a:avLst/>
          </a:prstGeom>
          <a:solidFill>
            <a:srgbClr val="FFFFFF">
              <a:alpha val="26000"/>
            </a:srgbClr>
          </a:solidFill>
          <a:ln w="12700">
            <a:solidFill>
              <a:srgbClr val="FFFFFF">
                <a:alpha val="0"/>
              </a:srgbClr>
            </a:solidFill>
            <a:prstDash val="solid"/>
          </a:ln>
        </p:spPr>
      </p:sp>
      <p:sp>
        <p:nvSpPr>
          <p:cNvPr id="77" name="Shape 75"/>
          <p:cNvSpPr/>
          <p:nvPr/>
        </p:nvSpPr>
        <p:spPr>
          <a:xfrm>
            <a:off x="5623560" y="3867912"/>
            <a:ext cx="27432" cy="777240"/>
          </a:xfrm>
          <a:prstGeom prst="rect">
            <a:avLst/>
          </a:prstGeom>
          <a:solidFill>
            <a:srgbClr val="FFFFFF">
              <a:alpha val="18000"/>
            </a:srgbClr>
          </a:solidFill>
          <a:ln w="12700">
            <a:solidFill>
              <a:srgbClr val="FFFFFF">
                <a:alpha val="0"/>
              </a:srgbClr>
            </a:solidFill>
            <a:prstDash val="solid"/>
          </a:ln>
        </p:spPr>
      </p:sp>
      <p:sp>
        <p:nvSpPr>
          <p:cNvPr id="78" name="Shape 76"/>
          <p:cNvSpPr/>
          <p:nvPr/>
        </p:nvSpPr>
        <p:spPr>
          <a:xfrm>
            <a:off x="5623560" y="3867912"/>
            <a:ext cx="3200400" cy="50292"/>
          </a:xfrm>
          <a:prstGeom prst="rect">
            <a:avLst/>
          </a:prstGeom>
          <a:solidFill>
            <a:srgbClr val="F5C518"/>
          </a:solidFill>
          <a:ln w="12700">
            <a:solidFill>
              <a:srgbClr val="F5C518"/>
            </a:solidFill>
            <a:prstDash val="solid"/>
          </a:ln>
        </p:spPr>
      </p:sp>
      <p:sp>
        <p:nvSpPr>
          <p:cNvPr id="79" name="Text 77"/>
          <p:cNvSpPr/>
          <p:nvPr/>
        </p:nvSpPr>
        <p:spPr>
          <a:xfrm>
            <a:off x="5623560" y="3977640"/>
            <a:ext cx="3200400" cy="404165"/>
          </a:xfrm>
          <a:prstGeom prst="rect">
            <a:avLst/>
          </a:prstGeom>
          <a:noFill/>
          <a:ln/>
        </p:spPr>
        <p:txBody>
          <a:bodyPr wrap="square" lIns="0" tIns="0" rIns="0" bIns="0" rtlCol="0" anchor="b"/>
          <a:lstStyle/>
          <a:p>
            <a:pPr marL="0" indent="0" algn="ctr">
              <a:buNone/>
            </a:pPr>
            <a:r>
              <a:rPr lang="en-US" sz="1800" b="1" dirty="0">
                <a:solidFill>
                  <a:srgbClr val="F5C518"/>
                </a:solidFill>
              </a:rPr>
              <a:t>32</a:t>
            </a:r>
            <a:endParaRPr lang="en-US" sz="1800" dirty="0"/>
          </a:p>
        </p:txBody>
      </p:sp>
      <p:sp>
        <p:nvSpPr>
          <p:cNvPr id="80" name="Text 78"/>
          <p:cNvSpPr/>
          <p:nvPr/>
        </p:nvSpPr>
        <p:spPr>
          <a:xfrm>
            <a:off x="5623560" y="4357573"/>
            <a:ext cx="3200400" cy="272034"/>
          </a:xfrm>
          <a:prstGeom prst="rect">
            <a:avLst/>
          </a:prstGeom>
          <a:noFill/>
          <a:ln/>
        </p:spPr>
        <p:txBody>
          <a:bodyPr wrap="square" lIns="0" tIns="0" rIns="0" bIns="0" rtlCol="0" anchor="t"/>
          <a:lstStyle/>
          <a:p>
            <a:pPr marL="0" indent="0" algn="ctr">
              <a:buNone/>
            </a:pPr>
            <a:r>
              <a:rPr lang="en-US" sz="800" dirty="0">
                <a:solidFill>
                  <a:srgbClr val="D4E6F1"/>
                </a:solidFill>
              </a:rPr>
              <a:t>Final Columns</a:t>
            </a:r>
            <a:endParaRPr lang="en-US" sz="800" dirty="0"/>
          </a:p>
        </p:txBody>
      </p:sp>
      <p:sp>
        <p:nvSpPr>
          <p:cNvPr id="81" name="Shape 79"/>
          <p:cNvSpPr/>
          <p:nvPr/>
        </p:nvSpPr>
        <p:spPr>
          <a:xfrm>
            <a:off x="0" y="4983480"/>
            <a:ext cx="9144000" cy="160020"/>
          </a:xfrm>
          <a:prstGeom prst="rect">
            <a:avLst/>
          </a:prstGeom>
          <a:solidFill>
            <a:srgbClr val="1A2E45"/>
          </a:solidFill>
          <a:ln w="12700">
            <a:solidFill>
              <a:srgbClr val="1A2E45"/>
            </a:solidFill>
            <a:prstDash val="solid"/>
          </a:ln>
        </p:spPr>
      </p:sp>
      <p:sp>
        <p:nvSpPr>
          <p:cNvPr id="82" name="Shape 80"/>
          <p:cNvSpPr/>
          <p:nvPr/>
        </p:nvSpPr>
        <p:spPr>
          <a:xfrm>
            <a:off x="0" y="4983480"/>
            <a:ext cx="36576" cy="160020"/>
          </a:xfrm>
          <a:prstGeom prst="rect">
            <a:avLst/>
          </a:prstGeom>
          <a:solidFill>
            <a:srgbClr val="F5C518"/>
          </a:solidFill>
          <a:ln w="12700">
            <a:solidFill>
              <a:srgbClr val="F5C518"/>
            </a:solidFill>
            <a:prstDash val="solid"/>
          </a:ln>
        </p:spPr>
      </p:sp>
      <p:sp>
        <p:nvSpPr>
          <p:cNvPr id="83" name="Text 81"/>
          <p:cNvSpPr/>
          <p:nvPr/>
        </p:nvSpPr>
        <p:spPr>
          <a:xfrm>
            <a:off x="137160" y="4983480"/>
            <a:ext cx="8229600" cy="160020"/>
          </a:xfrm>
          <a:prstGeom prst="rect">
            <a:avLst/>
          </a:prstGeom>
          <a:noFill/>
          <a:ln/>
        </p:spPr>
        <p:txBody>
          <a:bodyPr wrap="square" lIns="0" tIns="0" rIns="0" bIns="0" rtlCol="0" anchor="ctr"/>
          <a:lstStyle/>
          <a:p>
            <a:pPr marL="0" indent="0">
              <a:buNone/>
            </a:pPr>
            <a:r>
              <a:rPr lang="en-US" sz="750" dirty="0">
                <a:solidFill>
                  <a:srgbClr val="6B8CAE"/>
                </a:solidFill>
              </a:rPr>
              <a:t>HotelRevAI  ·  Infosys Springboard Internship 6.0  ·  Batch 13 — Group 2, Team D</a:t>
            </a:r>
            <a:endParaRPr lang="en-US" sz="750" dirty="0"/>
          </a:p>
        </p:txBody>
      </p:sp>
      <p:sp>
        <p:nvSpPr>
          <p:cNvPr id="84" name="Text 82"/>
          <p:cNvSpPr/>
          <p:nvPr/>
        </p:nvSpPr>
        <p:spPr>
          <a:xfrm>
            <a:off x="8686800" y="4983480"/>
            <a:ext cx="411480" cy="160020"/>
          </a:xfrm>
          <a:prstGeom prst="rect">
            <a:avLst/>
          </a:prstGeom>
          <a:noFill/>
          <a:ln/>
        </p:spPr>
        <p:txBody>
          <a:bodyPr wrap="square" lIns="0" tIns="0" rIns="0" bIns="0" rtlCol="0" anchor="ctr"/>
          <a:lstStyle/>
          <a:p>
            <a:pPr marL="0" indent="0" algn="r">
              <a:buNone/>
            </a:pPr>
            <a:r>
              <a:rPr lang="en-US" sz="750" b="1" dirty="0">
                <a:solidFill>
                  <a:srgbClr val="F5C518"/>
                </a:solidFill>
              </a:rPr>
              <a:t>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A14"/>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0D2137"/>
            </a:solidFill>
            <a:prstDash val="solid"/>
          </a:ln>
        </p:spPr>
      </p:sp>
      <p:sp>
        <p:nvSpPr>
          <p:cNvPr id="3" name="Shape 1"/>
          <p:cNvSpPr/>
          <p:nvPr/>
        </p:nvSpPr>
        <p:spPr>
          <a:xfrm>
            <a:off x="914400" y="0"/>
            <a:ext cx="0" cy="5143500"/>
          </a:xfrm>
          <a:prstGeom prst="line">
            <a:avLst/>
          </a:prstGeom>
          <a:noFill/>
          <a:ln w="6350">
            <a:solidFill>
              <a:srgbClr val="0D2137"/>
            </a:solidFill>
            <a:prstDash val="solid"/>
          </a:ln>
        </p:spPr>
      </p:sp>
      <p:sp>
        <p:nvSpPr>
          <p:cNvPr id="4" name="Shape 2"/>
          <p:cNvSpPr/>
          <p:nvPr/>
        </p:nvSpPr>
        <p:spPr>
          <a:xfrm>
            <a:off x="1828800" y="0"/>
            <a:ext cx="0" cy="5143500"/>
          </a:xfrm>
          <a:prstGeom prst="line">
            <a:avLst/>
          </a:prstGeom>
          <a:noFill/>
          <a:ln w="6350">
            <a:solidFill>
              <a:srgbClr val="0D2137"/>
            </a:solidFill>
            <a:prstDash val="solid"/>
          </a:ln>
        </p:spPr>
      </p:sp>
      <p:sp>
        <p:nvSpPr>
          <p:cNvPr id="5" name="Shape 3"/>
          <p:cNvSpPr/>
          <p:nvPr/>
        </p:nvSpPr>
        <p:spPr>
          <a:xfrm>
            <a:off x="2743200" y="0"/>
            <a:ext cx="0" cy="5143500"/>
          </a:xfrm>
          <a:prstGeom prst="line">
            <a:avLst/>
          </a:prstGeom>
          <a:noFill/>
          <a:ln w="6350">
            <a:solidFill>
              <a:srgbClr val="0D2137"/>
            </a:solidFill>
            <a:prstDash val="solid"/>
          </a:ln>
        </p:spPr>
      </p:sp>
      <p:sp>
        <p:nvSpPr>
          <p:cNvPr id="6" name="Shape 4"/>
          <p:cNvSpPr/>
          <p:nvPr/>
        </p:nvSpPr>
        <p:spPr>
          <a:xfrm>
            <a:off x="3657600" y="0"/>
            <a:ext cx="0" cy="5143500"/>
          </a:xfrm>
          <a:prstGeom prst="line">
            <a:avLst/>
          </a:prstGeom>
          <a:noFill/>
          <a:ln w="6350">
            <a:solidFill>
              <a:srgbClr val="0D2137"/>
            </a:solidFill>
            <a:prstDash val="solid"/>
          </a:ln>
        </p:spPr>
      </p:sp>
      <p:sp>
        <p:nvSpPr>
          <p:cNvPr id="7" name="Shape 5"/>
          <p:cNvSpPr/>
          <p:nvPr/>
        </p:nvSpPr>
        <p:spPr>
          <a:xfrm>
            <a:off x="4572000" y="0"/>
            <a:ext cx="0" cy="5143500"/>
          </a:xfrm>
          <a:prstGeom prst="line">
            <a:avLst/>
          </a:prstGeom>
          <a:noFill/>
          <a:ln w="6350">
            <a:solidFill>
              <a:srgbClr val="0D2137"/>
            </a:solidFill>
            <a:prstDash val="solid"/>
          </a:ln>
        </p:spPr>
      </p:sp>
      <p:sp>
        <p:nvSpPr>
          <p:cNvPr id="8" name="Shape 6"/>
          <p:cNvSpPr/>
          <p:nvPr/>
        </p:nvSpPr>
        <p:spPr>
          <a:xfrm>
            <a:off x="5486400" y="0"/>
            <a:ext cx="0" cy="5143500"/>
          </a:xfrm>
          <a:prstGeom prst="line">
            <a:avLst/>
          </a:prstGeom>
          <a:noFill/>
          <a:ln w="6350">
            <a:solidFill>
              <a:srgbClr val="0D2137"/>
            </a:solidFill>
            <a:prstDash val="solid"/>
          </a:ln>
        </p:spPr>
      </p:sp>
      <p:sp>
        <p:nvSpPr>
          <p:cNvPr id="9" name="Shape 7"/>
          <p:cNvSpPr/>
          <p:nvPr/>
        </p:nvSpPr>
        <p:spPr>
          <a:xfrm>
            <a:off x="6400800" y="0"/>
            <a:ext cx="0" cy="5143500"/>
          </a:xfrm>
          <a:prstGeom prst="line">
            <a:avLst/>
          </a:prstGeom>
          <a:noFill/>
          <a:ln w="6350">
            <a:solidFill>
              <a:srgbClr val="0D2137"/>
            </a:solidFill>
            <a:prstDash val="solid"/>
          </a:ln>
        </p:spPr>
      </p:sp>
      <p:sp>
        <p:nvSpPr>
          <p:cNvPr id="10" name="Shape 8"/>
          <p:cNvSpPr/>
          <p:nvPr/>
        </p:nvSpPr>
        <p:spPr>
          <a:xfrm>
            <a:off x="7315200" y="0"/>
            <a:ext cx="0" cy="5143500"/>
          </a:xfrm>
          <a:prstGeom prst="line">
            <a:avLst/>
          </a:prstGeom>
          <a:noFill/>
          <a:ln w="6350">
            <a:solidFill>
              <a:srgbClr val="0D2137"/>
            </a:solidFill>
            <a:prstDash val="solid"/>
          </a:ln>
        </p:spPr>
      </p:sp>
      <p:sp>
        <p:nvSpPr>
          <p:cNvPr id="11" name="Shape 9"/>
          <p:cNvSpPr/>
          <p:nvPr/>
        </p:nvSpPr>
        <p:spPr>
          <a:xfrm>
            <a:off x="8229600" y="0"/>
            <a:ext cx="0" cy="5143500"/>
          </a:xfrm>
          <a:prstGeom prst="line">
            <a:avLst/>
          </a:prstGeom>
          <a:noFill/>
          <a:ln w="6350">
            <a:solidFill>
              <a:srgbClr val="0D2137"/>
            </a:solidFill>
            <a:prstDash val="solid"/>
          </a:ln>
        </p:spPr>
      </p:sp>
      <p:sp>
        <p:nvSpPr>
          <p:cNvPr id="12" name="Shape 10"/>
          <p:cNvSpPr/>
          <p:nvPr/>
        </p:nvSpPr>
        <p:spPr>
          <a:xfrm>
            <a:off x="9144000" y="0"/>
            <a:ext cx="0" cy="5143500"/>
          </a:xfrm>
          <a:prstGeom prst="line">
            <a:avLst/>
          </a:prstGeom>
          <a:noFill/>
          <a:ln w="6350">
            <a:solidFill>
              <a:srgbClr val="0D2137"/>
            </a:solidFill>
            <a:prstDash val="solid"/>
          </a:ln>
        </p:spPr>
      </p:sp>
      <p:sp>
        <p:nvSpPr>
          <p:cNvPr id="13" name="Shape 11"/>
          <p:cNvSpPr/>
          <p:nvPr/>
        </p:nvSpPr>
        <p:spPr>
          <a:xfrm>
            <a:off x="0" y="0"/>
            <a:ext cx="9144000" cy="0"/>
          </a:xfrm>
          <a:prstGeom prst="line">
            <a:avLst/>
          </a:prstGeom>
          <a:noFill/>
          <a:ln w="6350">
            <a:solidFill>
              <a:srgbClr val="0D2137"/>
            </a:solidFill>
            <a:prstDash val="solid"/>
          </a:ln>
        </p:spPr>
      </p:sp>
      <p:sp>
        <p:nvSpPr>
          <p:cNvPr id="14" name="Shape 12"/>
          <p:cNvSpPr/>
          <p:nvPr/>
        </p:nvSpPr>
        <p:spPr>
          <a:xfrm>
            <a:off x="0" y="859536"/>
            <a:ext cx="9144000" cy="0"/>
          </a:xfrm>
          <a:prstGeom prst="line">
            <a:avLst/>
          </a:prstGeom>
          <a:noFill/>
          <a:ln w="6350">
            <a:solidFill>
              <a:srgbClr val="0D2137"/>
            </a:solidFill>
            <a:prstDash val="solid"/>
          </a:ln>
        </p:spPr>
      </p:sp>
      <p:sp>
        <p:nvSpPr>
          <p:cNvPr id="15" name="Shape 13"/>
          <p:cNvSpPr/>
          <p:nvPr/>
        </p:nvSpPr>
        <p:spPr>
          <a:xfrm>
            <a:off x="0" y="1719072"/>
            <a:ext cx="9144000" cy="0"/>
          </a:xfrm>
          <a:prstGeom prst="line">
            <a:avLst/>
          </a:prstGeom>
          <a:noFill/>
          <a:ln w="6350">
            <a:solidFill>
              <a:srgbClr val="0D2137"/>
            </a:solidFill>
            <a:prstDash val="solid"/>
          </a:ln>
        </p:spPr>
      </p:sp>
      <p:sp>
        <p:nvSpPr>
          <p:cNvPr id="16" name="Shape 14"/>
          <p:cNvSpPr/>
          <p:nvPr/>
        </p:nvSpPr>
        <p:spPr>
          <a:xfrm>
            <a:off x="0" y="2578608"/>
            <a:ext cx="9144000" cy="0"/>
          </a:xfrm>
          <a:prstGeom prst="line">
            <a:avLst/>
          </a:prstGeom>
          <a:noFill/>
          <a:ln w="6350">
            <a:solidFill>
              <a:srgbClr val="0D2137"/>
            </a:solidFill>
            <a:prstDash val="solid"/>
          </a:ln>
        </p:spPr>
      </p:sp>
      <p:sp>
        <p:nvSpPr>
          <p:cNvPr id="17" name="Shape 15"/>
          <p:cNvSpPr/>
          <p:nvPr/>
        </p:nvSpPr>
        <p:spPr>
          <a:xfrm>
            <a:off x="0" y="3438144"/>
            <a:ext cx="9144000" cy="0"/>
          </a:xfrm>
          <a:prstGeom prst="line">
            <a:avLst/>
          </a:prstGeom>
          <a:noFill/>
          <a:ln w="6350">
            <a:solidFill>
              <a:srgbClr val="0D2137"/>
            </a:solidFill>
            <a:prstDash val="solid"/>
          </a:ln>
        </p:spPr>
      </p:sp>
      <p:sp>
        <p:nvSpPr>
          <p:cNvPr id="18" name="Shape 16"/>
          <p:cNvSpPr/>
          <p:nvPr/>
        </p:nvSpPr>
        <p:spPr>
          <a:xfrm>
            <a:off x="0" y="4297680"/>
            <a:ext cx="9144000" cy="0"/>
          </a:xfrm>
          <a:prstGeom prst="line">
            <a:avLst/>
          </a:prstGeom>
          <a:noFill/>
          <a:ln w="6350">
            <a:solidFill>
              <a:srgbClr val="0D2137"/>
            </a:solidFill>
            <a:prstDash val="solid"/>
          </a:ln>
        </p:spPr>
      </p:sp>
      <p:sp>
        <p:nvSpPr>
          <p:cNvPr id="19" name="Shape 17"/>
          <p:cNvSpPr/>
          <p:nvPr/>
        </p:nvSpPr>
        <p:spPr>
          <a:xfrm>
            <a:off x="0" y="5157216"/>
            <a:ext cx="9144000" cy="0"/>
          </a:xfrm>
          <a:prstGeom prst="line">
            <a:avLst/>
          </a:prstGeom>
          <a:noFill/>
          <a:ln w="6350">
            <a:solidFill>
              <a:srgbClr val="0D2137"/>
            </a:solidFill>
            <a:prstDash val="solid"/>
          </a:ln>
        </p:spPr>
      </p:sp>
      <p:sp>
        <p:nvSpPr>
          <p:cNvPr id="20" name="Shape 18"/>
          <p:cNvSpPr/>
          <p:nvPr/>
        </p:nvSpPr>
        <p:spPr>
          <a:xfrm>
            <a:off x="2286000" y="457200"/>
            <a:ext cx="4572000" cy="4572000"/>
          </a:xfrm>
          <a:prstGeom prst="ellipse">
            <a:avLst/>
          </a:prstGeom>
          <a:solidFill>
            <a:srgbClr val="00B4FF">
              <a:alpha val="10000"/>
            </a:srgbClr>
          </a:solidFill>
          <a:ln w="12700">
            <a:solidFill>
              <a:srgbClr val="00B4FF">
                <a:alpha val="5000"/>
              </a:srgbClr>
            </a:solidFill>
            <a:prstDash val="solid"/>
          </a:ln>
        </p:spPr>
      </p:sp>
      <p:sp>
        <p:nvSpPr>
          <p:cNvPr id="21" name="Shape 19"/>
          <p:cNvSpPr/>
          <p:nvPr/>
        </p:nvSpPr>
        <p:spPr>
          <a:xfrm>
            <a:off x="3429000" y="1600200"/>
            <a:ext cx="2286000" cy="2286000"/>
          </a:xfrm>
          <a:prstGeom prst="ellipse">
            <a:avLst/>
          </a:prstGeom>
          <a:solidFill>
            <a:srgbClr val="00B4FF">
              <a:alpha val="2000"/>
            </a:srgbClr>
          </a:solidFill>
          <a:ln w="12700">
            <a:solidFill>
              <a:srgbClr val="00B4FF">
                <a:alpha val="0"/>
              </a:srgbClr>
            </a:solidFill>
            <a:prstDash val="solid"/>
          </a:ln>
        </p:spPr>
      </p:sp>
      <p:sp>
        <p:nvSpPr>
          <p:cNvPr id="22" name="Shape 20"/>
          <p:cNvSpPr/>
          <p:nvPr/>
        </p:nvSpPr>
        <p:spPr>
          <a:xfrm>
            <a:off x="0" y="0"/>
            <a:ext cx="9144000" cy="50292"/>
          </a:xfrm>
          <a:prstGeom prst="rect">
            <a:avLst/>
          </a:prstGeom>
          <a:solidFill>
            <a:srgbClr val="F5C518"/>
          </a:solidFill>
          <a:ln w="12700">
            <a:solidFill>
              <a:srgbClr val="F5C518"/>
            </a:solidFill>
            <a:prstDash val="solid"/>
          </a:ln>
        </p:spPr>
      </p:sp>
      <p:sp>
        <p:nvSpPr>
          <p:cNvPr id="23" name="Shape 21"/>
          <p:cNvSpPr/>
          <p:nvPr/>
        </p:nvSpPr>
        <p:spPr>
          <a:xfrm>
            <a:off x="320040" y="182880"/>
            <a:ext cx="1737360" cy="246888"/>
          </a:xfrm>
          <a:prstGeom prst="rect">
            <a:avLst/>
          </a:prstGeom>
          <a:solidFill>
            <a:srgbClr val="003E7A"/>
          </a:solidFill>
          <a:ln w="12700">
            <a:solidFill>
              <a:srgbClr val="00B4FF"/>
            </a:solidFill>
            <a:prstDash val="solid"/>
          </a:ln>
        </p:spPr>
      </p:sp>
      <p:sp>
        <p:nvSpPr>
          <p:cNvPr id="24" name="Text 22"/>
          <p:cNvSpPr/>
          <p:nvPr/>
        </p:nvSpPr>
        <p:spPr>
          <a:xfrm>
            <a:off x="320040" y="182880"/>
            <a:ext cx="1737360" cy="246888"/>
          </a:xfrm>
          <a:prstGeom prst="rect">
            <a:avLst/>
          </a:prstGeom>
          <a:noFill/>
          <a:ln/>
        </p:spPr>
        <p:txBody>
          <a:bodyPr wrap="square" lIns="0" tIns="0" rIns="0" bIns="0" rtlCol="0" anchor="ctr"/>
          <a:lstStyle/>
          <a:p>
            <a:pPr marL="0" indent="0" algn="ctr">
              <a:buNone/>
            </a:pPr>
            <a:r>
              <a:rPr lang="en-US" sz="700" b="1" kern="0" spc="200" dirty="0">
                <a:solidFill>
                  <a:srgbClr val="00B4FF"/>
                </a:solidFill>
              </a:rPr>
              <a:t>TECH STACK</a:t>
            </a:r>
            <a:endParaRPr lang="en-US" sz="700" dirty="0"/>
          </a:p>
        </p:txBody>
      </p:sp>
      <p:sp>
        <p:nvSpPr>
          <p:cNvPr id="25" name="Text 23"/>
          <p:cNvSpPr/>
          <p:nvPr/>
        </p:nvSpPr>
        <p:spPr>
          <a:xfrm>
            <a:off x="320040" y="521208"/>
            <a:ext cx="8503920" cy="512064"/>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Technology Used</a:t>
            </a:r>
            <a:endParaRPr lang="en-US" sz="2800" dirty="0"/>
          </a:p>
        </p:txBody>
      </p:sp>
      <p:sp>
        <p:nvSpPr>
          <p:cNvPr id="26" name="Shape 24"/>
          <p:cNvSpPr/>
          <p:nvPr/>
        </p:nvSpPr>
        <p:spPr>
          <a:xfrm>
            <a:off x="320040" y="1078992"/>
            <a:ext cx="1097280" cy="36576"/>
          </a:xfrm>
          <a:prstGeom prst="rect">
            <a:avLst/>
          </a:prstGeom>
          <a:solidFill>
            <a:srgbClr val="F5C518"/>
          </a:solidFill>
          <a:ln w="12700">
            <a:solidFill>
              <a:srgbClr val="F5C518"/>
            </a:solidFill>
            <a:prstDash val="solid"/>
          </a:ln>
        </p:spPr>
      </p:sp>
      <p:sp>
        <p:nvSpPr>
          <p:cNvPr id="27" name="Shape 25"/>
          <p:cNvSpPr/>
          <p:nvPr/>
        </p:nvSpPr>
        <p:spPr>
          <a:xfrm>
            <a:off x="1463040" y="1078992"/>
            <a:ext cx="7360920" cy="36576"/>
          </a:xfrm>
          <a:prstGeom prst="rect">
            <a:avLst/>
          </a:prstGeom>
          <a:solidFill>
            <a:srgbClr val="1A2E45"/>
          </a:solidFill>
          <a:ln w="12700">
            <a:solidFill>
              <a:srgbClr val="1A2E45"/>
            </a:solidFill>
            <a:prstDash val="solid"/>
          </a:ln>
        </p:spPr>
      </p:sp>
      <p:sp>
        <p:nvSpPr>
          <p:cNvPr id="28" name="Shape 26"/>
          <p:cNvSpPr/>
          <p:nvPr/>
        </p:nvSpPr>
        <p:spPr>
          <a:xfrm>
            <a:off x="356616" y="1298448"/>
            <a:ext cx="2633472" cy="1508760"/>
          </a:xfrm>
          <a:prstGeom prst="rect">
            <a:avLst/>
          </a:prstGeom>
          <a:solidFill>
            <a:srgbClr val="000000">
              <a:alpha val="28000"/>
            </a:srgbClr>
          </a:solidFill>
          <a:ln w="12700">
            <a:solidFill>
              <a:srgbClr val="000000">
                <a:alpha val="0"/>
              </a:srgbClr>
            </a:solidFill>
            <a:prstDash val="solid"/>
          </a:ln>
        </p:spPr>
      </p:sp>
      <p:sp>
        <p:nvSpPr>
          <p:cNvPr id="29" name="Shape 27"/>
          <p:cNvSpPr/>
          <p:nvPr/>
        </p:nvSpPr>
        <p:spPr>
          <a:xfrm>
            <a:off x="320040" y="1261872"/>
            <a:ext cx="2633472" cy="1508760"/>
          </a:xfrm>
          <a:prstGeom prst="rect">
            <a:avLst/>
          </a:prstGeom>
          <a:solidFill>
            <a:srgbClr val="0A1628">
              <a:alpha val="82000"/>
            </a:srgbClr>
          </a:solidFill>
          <a:ln w="12700">
            <a:solidFill>
              <a:srgbClr val="1E3A5F"/>
            </a:solidFill>
            <a:prstDash val="solid"/>
          </a:ln>
        </p:spPr>
      </p:sp>
      <p:sp>
        <p:nvSpPr>
          <p:cNvPr id="30" name="Shape 28"/>
          <p:cNvSpPr/>
          <p:nvPr/>
        </p:nvSpPr>
        <p:spPr>
          <a:xfrm>
            <a:off x="320040" y="1261872"/>
            <a:ext cx="2633472" cy="27432"/>
          </a:xfrm>
          <a:prstGeom prst="rect">
            <a:avLst/>
          </a:prstGeom>
          <a:solidFill>
            <a:srgbClr val="FFFFFF">
              <a:alpha val="26000"/>
            </a:srgbClr>
          </a:solidFill>
          <a:ln w="12700">
            <a:solidFill>
              <a:srgbClr val="FFFFFF">
                <a:alpha val="0"/>
              </a:srgbClr>
            </a:solidFill>
            <a:prstDash val="solid"/>
          </a:ln>
        </p:spPr>
      </p:sp>
      <p:sp>
        <p:nvSpPr>
          <p:cNvPr id="31" name="Shape 29"/>
          <p:cNvSpPr/>
          <p:nvPr/>
        </p:nvSpPr>
        <p:spPr>
          <a:xfrm>
            <a:off x="320040" y="1261872"/>
            <a:ext cx="27432" cy="1508760"/>
          </a:xfrm>
          <a:prstGeom prst="rect">
            <a:avLst/>
          </a:prstGeom>
          <a:solidFill>
            <a:srgbClr val="FFFFFF">
              <a:alpha val="18000"/>
            </a:srgbClr>
          </a:solidFill>
          <a:ln w="12700">
            <a:solidFill>
              <a:srgbClr val="FFFFFF">
                <a:alpha val="0"/>
              </a:srgbClr>
            </a:solidFill>
            <a:prstDash val="solid"/>
          </a:ln>
        </p:spPr>
      </p:sp>
      <p:sp>
        <p:nvSpPr>
          <p:cNvPr id="32" name="Shape 30"/>
          <p:cNvSpPr/>
          <p:nvPr/>
        </p:nvSpPr>
        <p:spPr>
          <a:xfrm>
            <a:off x="320040" y="1261872"/>
            <a:ext cx="2633472" cy="50292"/>
          </a:xfrm>
          <a:prstGeom prst="rect">
            <a:avLst/>
          </a:prstGeom>
          <a:solidFill>
            <a:srgbClr val="00B4FF"/>
          </a:solidFill>
          <a:ln w="12700">
            <a:solidFill>
              <a:srgbClr val="00B4FF"/>
            </a:solidFill>
            <a:prstDash val="solid"/>
          </a:ln>
        </p:spPr>
      </p:sp>
      <p:sp>
        <p:nvSpPr>
          <p:cNvPr id="33" name="Text 31"/>
          <p:cNvSpPr/>
          <p:nvPr/>
        </p:nvSpPr>
        <p:spPr>
          <a:xfrm>
            <a:off x="320040" y="1444752"/>
            <a:ext cx="2633472" cy="45720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34" name="Text 32"/>
          <p:cNvSpPr/>
          <p:nvPr/>
        </p:nvSpPr>
        <p:spPr>
          <a:xfrm>
            <a:off x="411480" y="1929384"/>
            <a:ext cx="2450592" cy="420624"/>
          </a:xfrm>
          <a:prstGeom prst="rect">
            <a:avLst/>
          </a:prstGeom>
          <a:noFill/>
          <a:ln/>
        </p:spPr>
        <p:txBody>
          <a:bodyPr wrap="square" lIns="0" tIns="0" rIns="0" bIns="0" rtlCol="0" anchor="ctr"/>
          <a:lstStyle/>
          <a:p>
            <a:pPr marL="0" indent="0" algn="ctr">
              <a:buNone/>
            </a:pPr>
            <a:r>
              <a:rPr lang="en-US" sz="1000" b="1" dirty="0">
                <a:solidFill>
                  <a:srgbClr val="00B4FF"/>
                </a:solidFill>
              </a:rPr>
              <a:t>Microsoft Power BI Desktop</a:t>
            </a:r>
            <a:endParaRPr lang="en-US" sz="1000" dirty="0"/>
          </a:p>
        </p:txBody>
      </p:sp>
      <p:sp>
        <p:nvSpPr>
          <p:cNvPr id="35" name="Text 33"/>
          <p:cNvSpPr/>
          <p:nvPr/>
        </p:nvSpPr>
        <p:spPr>
          <a:xfrm>
            <a:off x="411480" y="2359152"/>
            <a:ext cx="2450592" cy="329184"/>
          </a:xfrm>
          <a:prstGeom prst="rect">
            <a:avLst/>
          </a:prstGeom>
          <a:noFill/>
          <a:ln/>
        </p:spPr>
        <p:txBody>
          <a:bodyPr wrap="square" lIns="0" tIns="0" rIns="0" bIns="0" rtlCol="0" anchor="ctr"/>
          <a:lstStyle/>
          <a:p>
            <a:pPr marL="0" indent="0" algn="ctr">
              <a:buNone/>
            </a:pPr>
            <a:r>
              <a:rPr lang="en-US" sz="850" dirty="0">
                <a:solidFill>
                  <a:srgbClr val="6B8CAE"/>
                </a:solidFill>
              </a:rPr>
              <a:t>Primary dashboard development &amp; reporting</a:t>
            </a:r>
            <a:endParaRPr lang="en-US" sz="850" dirty="0"/>
          </a:p>
        </p:txBody>
      </p:sp>
      <p:sp>
        <p:nvSpPr>
          <p:cNvPr id="36" name="Shape 34"/>
          <p:cNvSpPr/>
          <p:nvPr/>
        </p:nvSpPr>
        <p:spPr>
          <a:xfrm>
            <a:off x="3209544" y="1298448"/>
            <a:ext cx="2633472" cy="1508760"/>
          </a:xfrm>
          <a:prstGeom prst="rect">
            <a:avLst/>
          </a:prstGeom>
          <a:solidFill>
            <a:srgbClr val="000000">
              <a:alpha val="28000"/>
            </a:srgbClr>
          </a:solidFill>
          <a:ln w="12700">
            <a:solidFill>
              <a:srgbClr val="000000">
                <a:alpha val="0"/>
              </a:srgbClr>
            </a:solidFill>
            <a:prstDash val="solid"/>
          </a:ln>
        </p:spPr>
      </p:sp>
      <p:sp>
        <p:nvSpPr>
          <p:cNvPr id="37" name="Shape 35"/>
          <p:cNvSpPr/>
          <p:nvPr/>
        </p:nvSpPr>
        <p:spPr>
          <a:xfrm>
            <a:off x="3172968" y="1261872"/>
            <a:ext cx="2633472" cy="1508760"/>
          </a:xfrm>
          <a:prstGeom prst="rect">
            <a:avLst/>
          </a:prstGeom>
          <a:solidFill>
            <a:srgbClr val="0A1628">
              <a:alpha val="82000"/>
            </a:srgbClr>
          </a:solidFill>
          <a:ln w="12700">
            <a:solidFill>
              <a:srgbClr val="1E3A5F"/>
            </a:solidFill>
            <a:prstDash val="solid"/>
          </a:ln>
        </p:spPr>
      </p:sp>
      <p:sp>
        <p:nvSpPr>
          <p:cNvPr id="38" name="Shape 36"/>
          <p:cNvSpPr/>
          <p:nvPr/>
        </p:nvSpPr>
        <p:spPr>
          <a:xfrm>
            <a:off x="3172968" y="1261872"/>
            <a:ext cx="2633472" cy="27432"/>
          </a:xfrm>
          <a:prstGeom prst="rect">
            <a:avLst/>
          </a:prstGeom>
          <a:solidFill>
            <a:srgbClr val="FFFFFF">
              <a:alpha val="26000"/>
            </a:srgbClr>
          </a:solidFill>
          <a:ln w="12700">
            <a:solidFill>
              <a:srgbClr val="FFFFFF">
                <a:alpha val="0"/>
              </a:srgbClr>
            </a:solidFill>
            <a:prstDash val="solid"/>
          </a:ln>
        </p:spPr>
      </p:sp>
      <p:sp>
        <p:nvSpPr>
          <p:cNvPr id="39" name="Shape 37"/>
          <p:cNvSpPr/>
          <p:nvPr/>
        </p:nvSpPr>
        <p:spPr>
          <a:xfrm>
            <a:off x="3172968" y="1261872"/>
            <a:ext cx="27432" cy="1508760"/>
          </a:xfrm>
          <a:prstGeom prst="rect">
            <a:avLst/>
          </a:prstGeom>
          <a:solidFill>
            <a:srgbClr val="FFFFFF">
              <a:alpha val="18000"/>
            </a:srgbClr>
          </a:solidFill>
          <a:ln w="12700">
            <a:solidFill>
              <a:srgbClr val="FFFFFF">
                <a:alpha val="0"/>
              </a:srgbClr>
            </a:solidFill>
            <a:prstDash val="solid"/>
          </a:ln>
        </p:spPr>
      </p:sp>
      <p:sp>
        <p:nvSpPr>
          <p:cNvPr id="40" name="Shape 38"/>
          <p:cNvSpPr/>
          <p:nvPr/>
        </p:nvSpPr>
        <p:spPr>
          <a:xfrm>
            <a:off x="3172968" y="1261872"/>
            <a:ext cx="2633472" cy="50292"/>
          </a:xfrm>
          <a:prstGeom prst="rect">
            <a:avLst/>
          </a:prstGeom>
          <a:solidFill>
            <a:srgbClr val="F5C518"/>
          </a:solidFill>
          <a:ln w="12700">
            <a:solidFill>
              <a:srgbClr val="F5C518"/>
            </a:solidFill>
            <a:prstDash val="solid"/>
          </a:ln>
        </p:spPr>
      </p:sp>
      <p:sp>
        <p:nvSpPr>
          <p:cNvPr id="41" name="Text 39"/>
          <p:cNvSpPr/>
          <p:nvPr/>
        </p:nvSpPr>
        <p:spPr>
          <a:xfrm>
            <a:off x="3172968" y="1444752"/>
            <a:ext cx="2633472" cy="45720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42" name="Text 40"/>
          <p:cNvSpPr/>
          <p:nvPr/>
        </p:nvSpPr>
        <p:spPr>
          <a:xfrm>
            <a:off x="3264408" y="1929384"/>
            <a:ext cx="2450592" cy="420624"/>
          </a:xfrm>
          <a:prstGeom prst="rect">
            <a:avLst/>
          </a:prstGeom>
          <a:noFill/>
          <a:ln/>
        </p:spPr>
        <p:txBody>
          <a:bodyPr wrap="square" lIns="0" tIns="0" rIns="0" bIns="0" rtlCol="0" anchor="ctr"/>
          <a:lstStyle/>
          <a:p>
            <a:pPr marL="0" indent="0" algn="ctr">
              <a:buNone/>
            </a:pPr>
            <a:r>
              <a:rPr lang="en-US" sz="1000" b="1" dirty="0">
                <a:solidFill>
                  <a:srgbClr val="F5C518"/>
                </a:solidFill>
              </a:rPr>
              <a:t>Power Query Editor</a:t>
            </a:r>
            <a:endParaRPr lang="en-US" sz="1000" dirty="0"/>
          </a:p>
        </p:txBody>
      </p:sp>
      <p:sp>
        <p:nvSpPr>
          <p:cNvPr id="43" name="Text 41"/>
          <p:cNvSpPr/>
          <p:nvPr/>
        </p:nvSpPr>
        <p:spPr>
          <a:xfrm>
            <a:off x="3264408" y="2359152"/>
            <a:ext cx="2450592" cy="329184"/>
          </a:xfrm>
          <a:prstGeom prst="rect">
            <a:avLst/>
          </a:prstGeom>
          <a:noFill/>
          <a:ln/>
        </p:spPr>
        <p:txBody>
          <a:bodyPr wrap="square" lIns="0" tIns="0" rIns="0" bIns="0" rtlCol="0" anchor="ctr"/>
          <a:lstStyle/>
          <a:p>
            <a:pPr marL="0" indent="0" algn="ctr">
              <a:buNone/>
            </a:pPr>
            <a:r>
              <a:rPr lang="en-US" sz="850" dirty="0">
                <a:solidFill>
                  <a:srgbClr val="6B8CAE"/>
                </a:solidFill>
              </a:rPr>
              <a:t>Data cleaning, transformation &amp; preprocessing</a:t>
            </a:r>
            <a:endParaRPr lang="en-US" sz="850" dirty="0"/>
          </a:p>
        </p:txBody>
      </p:sp>
      <p:sp>
        <p:nvSpPr>
          <p:cNvPr id="44" name="Shape 42"/>
          <p:cNvSpPr/>
          <p:nvPr/>
        </p:nvSpPr>
        <p:spPr>
          <a:xfrm>
            <a:off x="6062472" y="1298448"/>
            <a:ext cx="2633472" cy="1508760"/>
          </a:xfrm>
          <a:prstGeom prst="rect">
            <a:avLst/>
          </a:prstGeom>
          <a:solidFill>
            <a:srgbClr val="000000">
              <a:alpha val="28000"/>
            </a:srgbClr>
          </a:solidFill>
          <a:ln w="12700">
            <a:solidFill>
              <a:srgbClr val="000000">
                <a:alpha val="0"/>
              </a:srgbClr>
            </a:solidFill>
            <a:prstDash val="solid"/>
          </a:ln>
        </p:spPr>
      </p:sp>
      <p:sp>
        <p:nvSpPr>
          <p:cNvPr id="45" name="Shape 43"/>
          <p:cNvSpPr/>
          <p:nvPr/>
        </p:nvSpPr>
        <p:spPr>
          <a:xfrm>
            <a:off x="6025896" y="1261872"/>
            <a:ext cx="2633472" cy="1508760"/>
          </a:xfrm>
          <a:prstGeom prst="rect">
            <a:avLst/>
          </a:prstGeom>
          <a:solidFill>
            <a:srgbClr val="0A1628">
              <a:alpha val="82000"/>
            </a:srgbClr>
          </a:solidFill>
          <a:ln w="12700">
            <a:solidFill>
              <a:srgbClr val="1E3A5F"/>
            </a:solidFill>
            <a:prstDash val="solid"/>
          </a:ln>
        </p:spPr>
      </p:sp>
      <p:sp>
        <p:nvSpPr>
          <p:cNvPr id="46" name="Shape 44"/>
          <p:cNvSpPr/>
          <p:nvPr/>
        </p:nvSpPr>
        <p:spPr>
          <a:xfrm>
            <a:off x="6025896" y="1261872"/>
            <a:ext cx="2633472" cy="27432"/>
          </a:xfrm>
          <a:prstGeom prst="rect">
            <a:avLst/>
          </a:prstGeom>
          <a:solidFill>
            <a:srgbClr val="FFFFFF">
              <a:alpha val="26000"/>
            </a:srgbClr>
          </a:solidFill>
          <a:ln w="12700">
            <a:solidFill>
              <a:srgbClr val="FFFFFF">
                <a:alpha val="0"/>
              </a:srgbClr>
            </a:solidFill>
            <a:prstDash val="solid"/>
          </a:ln>
        </p:spPr>
      </p:sp>
      <p:sp>
        <p:nvSpPr>
          <p:cNvPr id="47" name="Shape 45"/>
          <p:cNvSpPr/>
          <p:nvPr/>
        </p:nvSpPr>
        <p:spPr>
          <a:xfrm>
            <a:off x="6025896" y="1261872"/>
            <a:ext cx="27432" cy="1508760"/>
          </a:xfrm>
          <a:prstGeom prst="rect">
            <a:avLst/>
          </a:prstGeom>
          <a:solidFill>
            <a:srgbClr val="FFFFFF">
              <a:alpha val="18000"/>
            </a:srgbClr>
          </a:solidFill>
          <a:ln w="12700">
            <a:solidFill>
              <a:srgbClr val="FFFFFF">
                <a:alpha val="0"/>
              </a:srgbClr>
            </a:solidFill>
            <a:prstDash val="solid"/>
          </a:ln>
        </p:spPr>
      </p:sp>
      <p:sp>
        <p:nvSpPr>
          <p:cNvPr id="48" name="Shape 46"/>
          <p:cNvSpPr/>
          <p:nvPr/>
        </p:nvSpPr>
        <p:spPr>
          <a:xfrm>
            <a:off x="6025896" y="1261872"/>
            <a:ext cx="2633472" cy="50292"/>
          </a:xfrm>
          <a:prstGeom prst="rect">
            <a:avLst/>
          </a:prstGeom>
          <a:solidFill>
            <a:srgbClr val="00B4FF"/>
          </a:solidFill>
          <a:ln w="12700">
            <a:solidFill>
              <a:srgbClr val="00B4FF"/>
            </a:solidFill>
            <a:prstDash val="solid"/>
          </a:ln>
        </p:spPr>
      </p:sp>
      <p:sp>
        <p:nvSpPr>
          <p:cNvPr id="49" name="Text 47"/>
          <p:cNvSpPr/>
          <p:nvPr/>
        </p:nvSpPr>
        <p:spPr>
          <a:xfrm>
            <a:off x="6025896" y="1444752"/>
            <a:ext cx="2633472" cy="45720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50" name="Text 48"/>
          <p:cNvSpPr/>
          <p:nvPr/>
        </p:nvSpPr>
        <p:spPr>
          <a:xfrm>
            <a:off x="6117336" y="1929384"/>
            <a:ext cx="2450592" cy="420624"/>
          </a:xfrm>
          <a:prstGeom prst="rect">
            <a:avLst/>
          </a:prstGeom>
          <a:noFill/>
          <a:ln/>
        </p:spPr>
        <p:txBody>
          <a:bodyPr wrap="square" lIns="0" tIns="0" rIns="0" bIns="0" rtlCol="0" anchor="ctr"/>
          <a:lstStyle/>
          <a:p>
            <a:pPr marL="0" indent="0" algn="ctr">
              <a:buNone/>
            </a:pPr>
            <a:r>
              <a:rPr lang="en-US" sz="1000" b="1" dirty="0">
                <a:solidFill>
                  <a:srgbClr val="00B4FF"/>
                </a:solidFill>
              </a:rPr>
              <a:t>DAX (Data Analysis Expressions)</a:t>
            </a:r>
            <a:endParaRPr lang="en-US" sz="1000" dirty="0"/>
          </a:p>
        </p:txBody>
      </p:sp>
      <p:sp>
        <p:nvSpPr>
          <p:cNvPr id="51" name="Text 49"/>
          <p:cNvSpPr/>
          <p:nvPr/>
        </p:nvSpPr>
        <p:spPr>
          <a:xfrm>
            <a:off x="6117336" y="2359152"/>
            <a:ext cx="2450592" cy="329184"/>
          </a:xfrm>
          <a:prstGeom prst="rect">
            <a:avLst/>
          </a:prstGeom>
          <a:noFill/>
          <a:ln/>
        </p:spPr>
        <p:txBody>
          <a:bodyPr wrap="square" lIns="0" tIns="0" rIns="0" bIns="0" rtlCol="0" anchor="ctr"/>
          <a:lstStyle/>
          <a:p>
            <a:pPr marL="0" indent="0" algn="ctr">
              <a:buNone/>
            </a:pPr>
            <a:r>
              <a:rPr lang="en-US" sz="850" dirty="0">
                <a:solidFill>
                  <a:srgbClr val="6B8CAE"/>
                </a:solidFill>
              </a:rPr>
              <a:t>Business KPI &amp; metric calculations</a:t>
            </a:r>
            <a:endParaRPr lang="en-US" sz="850" dirty="0"/>
          </a:p>
        </p:txBody>
      </p:sp>
      <p:sp>
        <p:nvSpPr>
          <p:cNvPr id="52" name="Shape 50"/>
          <p:cNvSpPr/>
          <p:nvPr/>
        </p:nvSpPr>
        <p:spPr>
          <a:xfrm>
            <a:off x="1627632" y="3017520"/>
            <a:ext cx="2633472" cy="1508760"/>
          </a:xfrm>
          <a:prstGeom prst="rect">
            <a:avLst/>
          </a:prstGeom>
          <a:solidFill>
            <a:srgbClr val="000000">
              <a:alpha val="28000"/>
            </a:srgbClr>
          </a:solidFill>
          <a:ln w="12700">
            <a:solidFill>
              <a:srgbClr val="000000">
                <a:alpha val="0"/>
              </a:srgbClr>
            </a:solidFill>
            <a:prstDash val="solid"/>
          </a:ln>
        </p:spPr>
      </p:sp>
      <p:sp>
        <p:nvSpPr>
          <p:cNvPr id="53" name="Shape 51"/>
          <p:cNvSpPr/>
          <p:nvPr/>
        </p:nvSpPr>
        <p:spPr>
          <a:xfrm>
            <a:off x="1591056" y="2980944"/>
            <a:ext cx="2633472" cy="1508760"/>
          </a:xfrm>
          <a:prstGeom prst="rect">
            <a:avLst/>
          </a:prstGeom>
          <a:solidFill>
            <a:srgbClr val="0A1628">
              <a:alpha val="82000"/>
            </a:srgbClr>
          </a:solidFill>
          <a:ln w="12700">
            <a:solidFill>
              <a:srgbClr val="1E3A5F"/>
            </a:solidFill>
            <a:prstDash val="solid"/>
          </a:ln>
        </p:spPr>
      </p:sp>
      <p:sp>
        <p:nvSpPr>
          <p:cNvPr id="54" name="Shape 52"/>
          <p:cNvSpPr/>
          <p:nvPr/>
        </p:nvSpPr>
        <p:spPr>
          <a:xfrm>
            <a:off x="1591056" y="2980944"/>
            <a:ext cx="2633472" cy="27432"/>
          </a:xfrm>
          <a:prstGeom prst="rect">
            <a:avLst/>
          </a:prstGeom>
          <a:solidFill>
            <a:srgbClr val="FFFFFF">
              <a:alpha val="26000"/>
            </a:srgbClr>
          </a:solidFill>
          <a:ln w="12700">
            <a:solidFill>
              <a:srgbClr val="FFFFFF">
                <a:alpha val="0"/>
              </a:srgbClr>
            </a:solidFill>
            <a:prstDash val="solid"/>
          </a:ln>
        </p:spPr>
      </p:sp>
      <p:sp>
        <p:nvSpPr>
          <p:cNvPr id="55" name="Shape 53"/>
          <p:cNvSpPr/>
          <p:nvPr/>
        </p:nvSpPr>
        <p:spPr>
          <a:xfrm>
            <a:off x="1591056" y="2980944"/>
            <a:ext cx="27432" cy="1508760"/>
          </a:xfrm>
          <a:prstGeom prst="rect">
            <a:avLst/>
          </a:prstGeom>
          <a:solidFill>
            <a:srgbClr val="FFFFFF">
              <a:alpha val="18000"/>
            </a:srgbClr>
          </a:solidFill>
          <a:ln w="12700">
            <a:solidFill>
              <a:srgbClr val="FFFFFF">
                <a:alpha val="0"/>
              </a:srgbClr>
            </a:solidFill>
            <a:prstDash val="solid"/>
          </a:ln>
        </p:spPr>
      </p:sp>
      <p:sp>
        <p:nvSpPr>
          <p:cNvPr id="56" name="Shape 54"/>
          <p:cNvSpPr/>
          <p:nvPr/>
        </p:nvSpPr>
        <p:spPr>
          <a:xfrm>
            <a:off x="1591056" y="2980944"/>
            <a:ext cx="2633472" cy="50292"/>
          </a:xfrm>
          <a:prstGeom prst="rect">
            <a:avLst/>
          </a:prstGeom>
          <a:solidFill>
            <a:srgbClr val="F5C518"/>
          </a:solidFill>
          <a:ln w="12700">
            <a:solidFill>
              <a:srgbClr val="F5C518"/>
            </a:solidFill>
            <a:prstDash val="solid"/>
          </a:ln>
        </p:spPr>
      </p:sp>
      <p:sp>
        <p:nvSpPr>
          <p:cNvPr id="57" name="Text 55"/>
          <p:cNvSpPr/>
          <p:nvPr/>
        </p:nvSpPr>
        <p:spPr>
          <a:xfrm>
            <a:off x="1591056" y="3163824"/>
            <a:ext cx="2633472" cy="45720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58" name="Text 56"/>
          <p:cNvSpPr/>
          <p:nvPr/>
        </p:nvSpPr>
        <p:spPr>
          <a:xfrm>
            <a:off x="1682496" y="3648456"/>
            <a:ext cx="2450592" cy="420624"/>
          </a:xfrm>
          <a:prstGeom prst="rect">
            <a:avLst/>
          </a:prstGeom>
          <a:noFill/>
          <a:ln/>
        </p:spPr>
        <p:txBody>
          <a:bodyPr wrap="square" lIns="0" tIns="0" rIns="0" bIns="0" rtlCol="0" anchor="ctr"/>
          <a:lstStyle/>
          <a:p>
            <a:pPr marL="0" indent="0" algn="ctr">
              <a:buNone/>
            </a:pPr>
            <a:r>
              <a:rPr lang="en-US" sz="1000" b="1" dirty="0">
                <a:solidFill>
                  <a:srgbClr val="F5C518"/>
                </a:solidFill>
              </a:rPr>
              <a:t>M Language</a:t>
            </a:r>
            <a:endParaRPr lang="en-US" sz="1000" dirty="0"/>
          </a:p>
        </p:txBody>
      </p:sp>
      <p:sp>
        <p:nvSpPr>
          <p:cNvPr id="59" name="Text 57"/>
          <p:cNvSpPr/>
          <p:nvPr/>
        </p:nvSpPr>
        <p:spPr>
          <a:xfrm>
            <a:off x="1682496" y="4078224"/>
            <a:ext cx="2450592" cy="329184"/>
          </a:xfrm>
          <a:prstGeom prst="rect">
            <a:avLst/>
          </a:prstGeom>
          <a:noFill/>
          <a:ln/>
        </p:spPr>
        <p:txBody>
          <a:bodyPr wrap="square" lIns="0" tIns="0" rIns="0" bIns="0" rtlCol="0" anchor="ctr"/>
          <a:lstStyle/>
          <a:p>
            <a:pPr marL="0" indent="0" algn="ctr">
              <a:buNone/>
            </a:pPr>
            <a:r>
              <a:rPr lang="en-US" sz="850" dirty="0">
                <a:solidFill>
                  <a:srgbClr val="6B8CAE"/>
                </a:solidFill>
              </a:rPr>
              <a:t>Custom column formulas in Power Query</a:t>
            </a:r>
            <a:endParaRPr lang="en-US" sz="850" dirty="0"/>
          </a:p>
        </p:txBody>
      </p:sp>
      <p:sp>
        <p:nvSpPr>
          <p:cNvPr id="60" name="Shape 58"/>
          <p:cNvSpPr/>
          <p:nvPr/>
        </p:nvSpPr>
        <p:spPr>
          <a:xfrm>
            <a:off x="4480560" y="3017520"/>
            <a:ext cx="2633472" cy="1508760"/>
          </a:xfrm>
          <a:prstGeom prst="rect">
            <a:avLst/>
          </a:prstGeom>
          <a:solidFill>
            <a:srgbClr val="000000">
              <a:alpha val="28000"/>
            </a:srgbClr>
          </a:solidFill>
          <a:ln w="12700">
            <a:solidFill>
              <a:srgbClr val="000000">
                <a:alpha val="0"/>
              </a:srgbClr>
            </a:solidFill>
            <a:prstDash val="solid"/>
          </a:ln>
        </p:spPr>
      </p:sp>
      <p:sp>
        <p:nvSpPr>
          <p:cNvPr id="61" name="Shape 59"/>
          <p:cNvSpPr/>
          <p:nvPr/>
        </p:nvSpPr>
        <p:spPr>
          <a:xfrm>
            <a:off x="4443984" y="2980944"/>
            <a:ext cx="2633472" cy="1508760"/>
          </a:xfrm>
          <a:prstGeom prst="rect">
            <a:avLst/>
          </a:prstGeom>
          <a:solidFill>
            <a:srgbClr val="0A1628">
              <a:alpha val="82000"/>
            </a:srgbClr>
          </a:solidFill>
          <a:ln w="12700">
            <a:solidFill>
              <a:srgbClr val="1E3A5F"/>
            </a:solidFill>
            <a:prstDash val="solid"/>
          </a:ln>
        </p:spPr>
      </p:sp>
      <p:sp>
        <p:nvSpPr>
          <p:cNvPr id="62" name="Shape 60"/>
          <p:cNvSpPr/>
          <p:nvPr/>
        </p:nvSpPr>
        <p:spPr>
          <a:xfrm>
            <a:off x="4443984" y="2980944"/>
            <a:ext cx="2633472" cy="27432"/>
          </a:xfrm>
          <a:prstGeom prst="rect">
            <a:avLst/>
          </a:prstGeom>
          <a:solidFill>
            <a:srgbClr val="FFFFFF">
              <a:alpha val="26000"/>
            </a:srgbClr>
          </a:solidFill>
          <a:ln w="12700">
            <a:solidFill>
              <a:srgbClr val="FFFFFF">
                <a:alpha val="0"/>
              </a:srgbClr>
            </a:solidFill>
            <a:prstDash val="solid"/>
          </a:ln>
        </p:spPr>
      </p:sp>
      <p:sp>
        <p:nvSpPr>
          <p:cNvPr id="63" name="Shape 61"/>
          <p:cNvSpPr/>
          <p:nvPr/>
        </p:nvSpPr>
        <p:spPr>
          <a:xfrm>
            <a:off x="4443984" y="2980944"/>
            <a:ext cx="27432" cy="1508760"/>
          </a:xfrm>
          <a:prstGeom prst="rect">
            <a:avLst/>
          </a:prstGeom>
          <a:solidFill>
            <a:srgbClr val="FFFFFF">
              <a:alpha val="18000"/>
            </a:srgbClr>
          </a:solidFill>
          <a:ln w="12700">
            <a:solidFill>
              <a:srgbClr val="FFFFFF">
                <a:alpha val="0"/>
              </a:srgbClr>
            </a:solidFill>
            <a:prstDash val="solid"/>
          </a:ln>
        </p:spPr>
      </p:sp>
      <p:sp>
        <p:nvSpPr>
          <p:cNvPr id="64" name="Shape 62"/>
          <p:cNvSpPr/>
          <p:nvPr/>
        </p:nvSpPr>
        <p:spPr>
          <a:xfrm>
            <a:off x="4443984" y="2980944"/>
            <a:ext cx="2633472" cy="50292"/>
          </a:xfrm>
          <a:prstGeom prst="rect">
            <a:avLst/>
          </a:prstGeom>
          <a:solidFill>
            <a:srgbClr val="00B4FF"/>
          </a:solidFill>
          <a:ln w="12700">
            <a:solidFill>
              <a:srgbClr val="00B4FF"/>
            </a:solidFill>
            <a:prstDash val="solid"/>
          </a:ln>
        </p:spPr>
      </p:sp>
      <p:sp>
        <p:nvSpPr>
          <p:cNvPr id="65" name="Text 63"/>
          <p:cNvSpPr/>
          <p:nvPr/>
        </p:nvSpPr>
        <p:spPr>
          <a:xfrm>
            <a:off x="4443984" y="3163824"/>
            <a:ext cx="2633472" cy="45720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66" name="Text 64"/>
          <p:cNvSpPr/>
          <p:nvPr/>
        </p:nvSpPr>
        <p:spPr>
          <a:xfrm>
            <a:off x="4535424" y="3648456"/>
            <a:ext cx="2450592" cy="420624"/>
          </a:xfrm>
          <a:prstGeom prst="rect">
            <a:avLst/>
          </a:prstGeom>
          <a:noFill/>
          <a:ln/>
        </p:spPr>
        <p:txBody>
          <a:bodyPr wrap="square" lIns="0" tIns="0" rIns="0" bIns="0" rtlCol="0" anchor="ctr"/>
          <a:lstStyle/>
          <a:p>
            <a:pPr marL="0" indent="0" algn="ctr">
              <a:buNone/>
            </a:pPr>
            <a:r>
              <a:rPr lang="en-US" sz="1000" b="1" dirty="0">
                <a:solidFill>
                  <a:srgbClr val="00B4FF"/>
                </a:solidFill>
              </a:rPr>
              <a:t>Microsoft Excel (.xlsx)</a:t>
            </a:r>
            <a:endParaRPr lang="en-US" sz="1000" dirty="0"/>
          </a:p>
        </p:txBody>
      </p:sp>
      <p:sp>
        <p:nvSpPr>
          <p:cNvPr id="67" name="Text 65"/>
          <p:cNvSpPr/>
          <p:nvPr/>
        </p:nvSpPr>
        <p:spPr>
          <a:xfrm>
            <a:off x="4535424" y="4078224"/>
            <a:ext cx="2450592" cy="329184"/>
          </a:xfrm>
          <a:prstGeom prst="rect">
            <a:avLst/>
          </a:prstGeom>
          <a:noFill/>
          <a:ln/>
        </p:spPr>
        <p:txBody>
          <a:bodyPr wrap="square" lIns="0" tIns="0" rIns="0" bIns="0" rtlCol="0" anchor="ctr"/>
          <a:lstStyle/>
          <a:p>
            <a:pPr marL="0" indent="0" algn="ctr">
              <a:buNone/>
            </a:pPr>
            <a:r>
              <a:rPr lang="en-US" sz="850" dirty="0">
                <a:solidFill>
                  <a:srgbClr val="6B8CAE"/>
                </a:solidFill>
              </a:rPr>
              <a:t>Source data — hotel_booking_main.xlsx</a:t>
            </a:r>
            <a:endParaRPr lang="en-US" sz="850" dirty="0"/>
          </a:p>
        </p:txBody>
      </p:sp>
      <p:sp>
        <p:nvSpPr>
          <p:cNvPr id="68" name="Shape 66"/>
          <p:cNvSpPr/>
          <p:nvPr/>
        </p:nvSpPr>
        <p:spPr>
          <a:xfrm>
            <a:off x="0" y="4983480"/>
            <a:ext cx="9144000" cy="160020"/>
          </a:xfrm>
          <a:prstGeom prst="rect">
            <a:avLst/>
          </a:prstGeom>
          <a:solidFill>
            <a:srgbClr val="1A2E45"/>
          </a:solidFill>
          <a:ln w="12700">
            <a:solidFill>
              <a:srgbClr val="1A2E45"/>
            </a:solidFill>
            <a:prstDash val="solid"/>
          </a:ln>
        </p:spPr>
      </p:sp>
      <p:sp>
        <p:nvSpPr>
          <p:cNvPr id="69" name="Shape 67"/>
          <p:cNvSpPr/>
          <p:nvPr/>
        </p:nvSpPr>
        <p:spPr>
          <a:xfrm>
            <a:off x="0" y="4983480"/>
            <a:ext cx="36576" cy="160020"/>
          </a:xfrm>
          <a:prstGeom prst="rect">
            <a:avLst/>
          </a:prstGeom>
          <a:solidFill>
            <a:srgbClr val="F5C518"/>
          </a:solidFill>
          <a:ln w="12700">
            <a:solidFill>
              <a:srgbClr val="F5C518"/>
            </a:solidFill>
            <a:prstDash val="solid"/>
          </a:ln>
        </p:spPr>
      </p:sp>
      <p:sp>
        <p:nvSpPr>
          <p:cNvPr id="70" name="Text 68"/>
          <p:cNvSpPr/>
          <p:nvPr/>
        </p:nvSpPr>
        <p:spPr>
          <a:xfrm>
            <a:off x="137160" y="4983480"/>
            <a:ext cx="8229600" cy="160020"/>
          </a:xfrm>
          <a:prstGeom prst="rect">
            <a:avLst/>
          </a:prstGeom>
          <a:noFill/>
          <a:ln/>
        </p:spPr>
        <p:txBody>
          <a:bodyPr wrap="square" lIns="0" tIns="0" rIns="0" bIns="0" rtlCol="0" anchor="ctr"/>
          <a:lstStyle/>
          <a:p>
            <a:pPr marL="0" indent="0">
              <a:buNone/>
            </a:pPr>
            <a:r>
              <a:rPr lang="en-US" sz="750" dirty="0">
                <a:solidFill>
                  <a:srgbClr val="6B8CAE"/>
                </a:solidFill>
              </a:rPr>
              <a:t>HotelRevAI  ·  Infosys Springboard Internship 6.0  ·  Batch 13 — Group 2, Team D</a:t>
            </a:r>
            <a:endParaRPr lang="en-US" sz="750" dirty="0"/>
          </a:p>
        </p:txBody>
      </p:sp>
      <p:sp>
        <p:nvSpPr>
          <p:cNvPr id="71" name="Text 69"/>
          <p:cNvSpPr/>
          <p:nvPr/>
        </p:nvSpPr>
        <p:spPr>
          <a:xfrm>
            <a:off x="8686800" y="4983480"/>
            <a:ext cx="411480" cy="160020"/>
          </a:xfrm>
          <a:prstGeom prst="rect">
            <a:avLst/>
          </a:prstGeom>
          <a:noFill/>
          <a:ln/>
        </p:spPr>
        <p:txBody>
          <a:bodyPr wrap="square" lIns="0" tIns="0" rIns="0" bIns="0" rtlCol="0" anchor="ctr"/>
          <a:lstStyle/>
          <a:p>
            <a:pPr marL="0" indent="0" algn="r">
              <a:buNone/>
            </a:pPr>
            <a:r>
              <a:rPr lang="en-US" sz="750" b="1" dirty="0">
                <a:solidFill>
                  <a:srgbClr val="F5C518"/>
                </a:solidFill>
              </a:rPr>
              <a:t>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A14"/>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0D2137"/>
            </a:solidFill>
            <a:prstDash val="solid"/>
          </a:ln>
        </p:spPr>
      </p:sp>
      <p:sp>
        <p:nvSpPr>
          <p:cNvPr id="3" name="Shape 1"/>
          <p:cNvSpPr/>
          <p:nvPr/>
        </p:nvSpPr>
        <p:spPr>
          <a:xfrm>
            <a:off x="914400" y="0"/>
            <a:ext cx="0" cy="5143500"/>
          </a:xfrm>
          <a:prstGeom prst="line">
            <a:avLst/>
          </a:prstGeom>
          <a:noFill/>
          <a:ln w="6350">
            <a:solidFill>
              <a:srgbClr val="0D2137"/>
            </a:solidFill>
            <a:prstDash val="solid"/>
          </a:ln>
        </p:spPr>
      </p:sp>
      <p:sp>
        <p:nvSpPr>
          <p:cNvPr id="4" name="Shape 2"/>
          <p:cNvSpPr/>
          <p:nvPr/>
        </p:nvSpPr>
        <p:spPr>
          <a:xfrm>
            <a:off x="1828800" y="0"/>
            <a:ext cx="0" cy="5143500"/>
          </a:xfrm>
          <a:prstGeom prst="line">
            <a:avLst/>
          </a:prstGeom>
          <a:noFill/>
          <a:ln w="6350">
            <a:solidFill>
              <a:srgbClr val="0D2137"/>
            </a:solidFill>
            <a:prstDash val="solid"/>
          </a:ln>
        </p:spPr>
      </p:sp>
      <p:sp>
        <p:nvSpPr>
          <p:cNvPr id="5" name="Shape 3"/>
          <p:cNvSpPr/>
          <p:nvPr/>
        </p:nvSpPr>
        <p:spPr>
          <a:xfrm>
            <a:off x="2743200" y="0"/>
            <a:ext cx="0" cy="5143500"/>
          </a:xfrm>
          <a:prstGeom prst="line">
            <a:avLst/>
          </a:prstGeom>
          <a:noFill/>
          <a:ln w="6350">
            <a:solidFill>
              <a:srgbClr val="0D2137"/>
            </a:solidFill>
            <a:prstDash val="solid"/>
          </a:ln>
        </p:spPr>
      </p:sp>
      <p:sp>
        <p:nvSpPr>
          <p:cNvPr id="6" name="Shape 4"/>
          <p:cNvSpPr/>
          <p:nvPr/>
        </p:nvSpPr>
        <p:spPr>
          <a:xfrm>
            <a:off x="3657600" y="0"/>
            <a:ext cx="0" cy="5143500"/>
          </a:xfrm>
          <a:prstGeom prst="line">
            <a:avLst/>
          </a:prstGeom>
          <a:noFill/>
          <a:ln w="6350">
            <a:solidFill>
              <a:srgbClr val="0D2137"/>
            </a:solidFill>
            <a:prstDash val="solid"/>
          </a:ln>
        </p:spPr>
      </p:sp>
      <p:sp>
        <p:nvSpPr>
          <p:cNvPr id="7" name="Shape 5"/>
          <p:cNvSpPr/>
          <p:nvPr/>
        </p:nvSpPr>
        <p:spPr>
          <a:xfrm>
            <a:off x="4572000" y="0"/>
            <a:ext cx="0" cy="5143500"/>
          </a:xfrm>
          <a:prstGeom prst="line">
            <a:avLst/>
          </a:prstGeom>
          <a:noFill/>
          <a:ln w="6350">
            <a:solidFill>
              <a:srgbClr val="0D2137"/>
            </a:solidFill>
            <a:prstDash val="solid"/>
          </a:ln>
        </p:spPr>
      </p:sp>
      <p:sp>
        <p:nvSpPr>
          <p:cNvPr id="8" name="Shape 6"/>
          <p:cNvSpPr/>
          <p:nvPr/>
        </p:nvSpPr>
        <p:spPr>
          <a:xfrm>
            <a:off x="5486400" y="0"/>
            <a:ext cx="0" cy="5143500"/>
          </a:xfrm>
          <a:prstGeom prst="line">
            <a:avLst/>
          </a:prstGeom>
          <a:noFill/>
          <a:ln w="6350">
            <a:solidFill>
              <a:srgbClr val="0D2137"/>
            </a:solidFill>
            <a:prstDash val="solid"/>
          </a:ln>
        </p:spPr>
      </p:sp>
      <p:sp>
        <p:nvSpPr>
          <p:cNvPr id="9" name="Shape 7"/>
          <p:cNvSpPr/>
          <p:nvPr/>
        </p:nvSpPr>
        <p:spPr>
          <a:xfrm>
            <a:off x="6400800" y="0"/>
            <a:ext cx="0" cy="5143500"/>
          </a:xfrm>
          <a:prstGeom prst="line">
            <a:avLst/>
          </a:prstGeom>
          <a:noFill/>
          <a:ln w="6350">
            <a:solidFill>
              <a:srgbClr val="0D2137"/>
            </a:solidFill>
            <a:prstDash val="solid"/>
          </a:ln>
        </p:spPr>
      </p:sp>
      <p:sp>
        <p:nvSpPr>
          <p:cNvPr id="10" name="Shape 8"/>
          <p:cNvSpPr/>
          <p:nvPr/>
        </p:nvSpPr>
        <p:spPr>
          <a:xfrm>
            <a:off x="7315200" y="0"/>
            <a:ext cx="0" cy="5143500"/>
          </a:xfrm>
          <a:prstGeom prst="line">
            <a:avLst/>
          </a:prstGeom>
          <a:noFill/>
          <a:ln w="6350">
            <a:solidFill>
              <a:srgbClr val="0D2137"/>
            </a:solidFill>
            <a:prstDash val="solid"/>
          </a:ln>
        </p:spPr>
      </p:sp>
      <p:sp>
        <p:nvSpPr>
          <p:cNvPr id="11" name="Shape 9"/>
          <p:cNvSpPr/>
          <p:nvPr/>
        </p:nvSpPr>
        <p:spPr>
          <a:xfrm>
            <a:off x="8229600" y="0"/>
            <a:ext cx="0" cy="5143500"/>
          </a:xfrm>
          <a:prstGeom prst="line">
            <a:avLst/>
          </a:prstGeom>
          <a:noFill/>
          <a:ln w="6350">
            <a:solidFill>
              <a:srgbClr val="0D2137"/>
            </a:solidFill>
            <a:prstDash val="solid"/>
          </a:ln>
        </p:spPr>
      </p:sp>
      <p:sp>
        <p:nvSpPr>
          <p:cNvPr id="12" name="Shape 10"/>
          <p:cNvSpPr/>
          <p:nvPr/>
        </p:nvSpPr>
        <p:spPr>
          <a:xfrm>
            <a:off x="9144000" y="0"/>
            <a:ext cx="0" cy="5143500"/>
          </a:xfrm>
          <a:prstGeom prst="line">
            <a:avLst/>
          </a:prstGeom>
          <a:noFill/>
          <a:ln w="6350">
            <a:solidFill>
              <a:srgbClr val="0D2137"/>
            </a:solidFill>
            <a:prstDash val="solid"/>
          </a:ln>
        </p:spPr>
      </p:sp>
      <p:sp>
        <p:nvSpPr>
          <p:cNvPr id="13" name="Shape 11"/>
          <p:cNvSpPr/>
          <p:nvPr/>
        </p:nvSpPr>
        <p:spPr>
          <a:xfrm>
            <a:off x="0" y="0"/>
            <a:ext cx="9144000" cy="0"/>
          </a:xfrm>
          <a:prstGeom prst="line">
            <a:avLst/>
          </a:prstGeom>
          <a:noFill/>
          <a:ln w="6350">
            <a:solidFill>
              <a:srgbClr val="0D2137"/>
            </a:solidFill>
            <a:prstDash val="solid"/>
          </a:ln>
        </p:spPr>
      </p:sp>
      <p:sp>
        <p:nvSpPr>
          <p:cNvPr id="14" name="Shape 12"/>
          <p:cNvSpPr/>
          <p:nvPr/>
        </p:nvSpPr>
        <p:spPr>
          <a:xfrm>
            <a:off x="0" y="859536"/>
            <a:ext cx="9144000" cy="0"/>
          </a:xfrm>
          <a:prstGeom prst="line">
            <a:avLst/>
          </a:prstGeom>
          <a:noFill/>
          <a:ln w="6350">
            <a:solidFill>
              <a:srgbClr val="0D2137"/>
            </a:solidFill>
            <a:prstDash val="solid"/>
          </a:ln>
        </p:spPr>
      </p:sp>
      <p:sp>
        <p:nvSpPr>
          <p:cNvPr id="15" name="Shape 13"/>
          <p:cNvSpPr/>
          <p:nvPr/>
        </p:nvSpPr>
        <p:spPr>
          <a:xfrm>
            <a:off x="0" y="1719072"/>
            <a:ext cx="9144000" cy="0"/>
          </a:xfrm>
          <a:prstGeom prst="line">
            <a:avLst/>
          </a:prstGeom>
          <a:noFill/>
          <a:ln w="6350">
            <a:solidFill>
              <a:srgbClr val="0D2137"/>
            </a:solidFill>
            <a:prstDash val="solid"/>
          </a:ln>
        </p:spPr>
      </p:sp>
      <p:sp>
        <p:nvSpPr>
          <p:cNvPr id="16" name="Shape 14"/>
          <p:cNvSpPr/>
          <p:nvPr/>
        </p:nvSpPr>
        <p:spPr>
          <a:xfrm>
            <a:off x="0" y="2578608"/>
            <a:ext cx="9144000" cy="0"/>
          </a:xfrm>
          <a:prstGeom prst="line">
            <a:avLst/>
          </a:prstGeom>
          <a:noFill/>
          <a:ln w="6350">
            <a:solidFill>
              <a:srgbClr val="0D2137"/>
            </a:solidFill>
            <a:prstDash val="solid"/>
          </a:ln>
        </p:spPr>
      </p:sp>
      <p:sp>
        <p:nvSpPr>
          <p:cNvPr id="17" name="Shape 15"/>
          <p:cNvSpPr/>
          <p:nvPr/>
        </p:nvSpPr>
        <p:spPr>
          <a:xfrm>
            <a:off x="0" y="3438144"/>
            <a:ext cx="9144000" cy="0"/>
          </a:xfrm>
          <a:prstGeom prst="line">
            <a:avLst/>
          </a:prstGeom>
          <a:noFill/>
          <a:ln w="6350">
            <a:solidFill>
              <a:srgbClr val="0D2137"/>
            </a:solidFill>
            <a:prstDash val="solid"/>
          </a:ln>
        </p:spPr>
      </p:sp>
      <p:sp>
        <p:nvSpPr>
          <p:cNvPr id="18" name="Shape 16"/>
          <p:cNvSpPr/>
          <p:nvPr/>
        </p:nvSpPr>
        <p:spPr>
          <a:xfrm>
            <a:off x="0" y="4297680"/>
            <a:ext cx="9144000" cy="0"/>
          </a:xfrm>
          <a:prstGeom prst="line">
            <a:avLst/>
          </a:prstGeom>
          <a:noFill/>
          <a:ln w="6350">
            <a:solidFill>
              <a:srgbClr val="0D2137"/>
            </a:solidFill>
            <a:prstDash val="solid"/>
          </a:ln>
        </p:spPr>
      </p:sp>
      <p:sp>
        <p:nvSpPr>
          <p:cNvPr id="19" name="Shape 17"/>
          <p:cNvSpPr/>
          <p:nvPr/>
        </p:nvSpPr>
        <p:spPr>
          <a:xfrm>
            <a:off x="0" y="5157216"/>
            <a:ext cx="9144000" cy="0"/>
          </a:xfrm>
          <a:prstGeom prst="line">
            <a:avLst/>
          </a:prstGeom>
          <a:noFill/>
          <a:ln w="6350">
            <a:solidFill>
              <a:srgbClr val="0D2137"/>
            </a:solidFill>
            <a:prstDash val="solid"/>
          </a:ln>
        </p:spPr>
      </p:sp>
      <p:sp>
        <p:nvSpPr>
          <p:cNvPr id="20" name="Shape 18"/>
          <p:cNvSpPr/>
          <p:nvPr/>
        </p:nvSpPr>
        <p:spPr>
          <a:xfrm>
            <a:off x="6766560" y="91440"/>
            <a:ext cx="2560320" cy="2560320"/>
          </a:xfrm>
          <a:prstGeom prst="ellipse">
            <a:avLst/>
          </a:prstGeom>
          <a:solidFill>
            <a:srgbClr val="F5C518">
              <a:alpha val="12000"/>
            </a:srgbClr>
          </a:solidFill>
          <a:ln w="12700">
            <a:solidFill>
              <a:srgbClr val="F5C518">
                <a:alpha val="5000"/>
              </a:srgbClr>
            </a:solidFill>
            <a:prstDash val="solid"/>
          </a:ln>
        </p:spPr>
      </p:sp>
      <p:sp>
        <p:nvSpPr>
          <p:cNvPr id="21" name="Shape 19"/>
          <p:cNvSpPr/>
          <p:nvPr/>
        </p:nvSpPr>
        <p:spPr>
          <a:xfrm>
            <a:off x="7406640" y="731520"/>
            <a:ext cx="1280160" cy="1280160"/>
          </a:xfrm>
          <a:prstGeom prst="ellipse">
            <a:avLst/>
          </a:prstGeom>
          <a:solidFill>
            <a:srgbClr val="F5C518">
              <a:alpha val="4000"/>
            </a:srgbClr>
          </a:solidFill>
          <a:ln w="12700">
            <a:solidFill>
              <a:srgbClr val="F5C518">
                <a:alpha val="0"/>
              </a:srgbClr>
            </a:solidFill>
            <a:prstDash val="solid"/>
          </a:ln>
        </p:spPr>
      </p:sp>
      <p:sp>
        <p:nvSpPr>
          <p:cNvPr id="22" name="Shape 20"/>
          <p:cNvSpPr/>
          <p:nvPr/>
        </p:nvSpPr>
        <p:spPr>
          <a:xfrm>
            <a:off x="0" y="0"/>
            <a:ext cx="9144000" cy="50292"/>
          </a:xfrm>
          <a:prstGeom prst="rect">
            <a:avLst/>
          </a:prstGeom>
          <a:solidFill>
            <a:srgbClr val="F5C518"/>
          </a:solidFill>
          <a:ln w="12700">
            <a:solidFill>
              <a:srgbClr val="F5C518"/>
            </a:solidFill>
            <a:prstDash val="solid"/>
          </a:ln>
        </p:spPr>
      </p:sp>
      <p:sp>
        <p:nvSpPr>
          <p:cNvPr id="23" name="Shape 21"/>
          <p:cNvSpPr/>
          <p:nvPr/>
        </p:nvSpPr>
        <p:spPr>
          <a:xfrm>
            <a:off x="320040" y="182880"/>
            <a:ext cx="1737360" cy="246888"/>
          </a:xfrm>
          <a:prstGeom prst="rect">
            <a:avLst/>
          </a:prstGeom>
          <a:solidFill>
            <a:srgbClr val="003E7A"/>
          </a:solidFill>
          <a:ln w="12700">
            <a:solidFill>
              <a:srgbClr val="00B4FF"/>
            </a:solidFill>
            <a:prstDash val="solid"/>
          </a:ln>
        </p:spPr>
      </p:sp>
      <p:sp>
        <p:nvSpPr>
          <p:cNvPr id="24" name="Text 22"/>
          <p:cNvSpPr/>
          <p:nvPr/>
        </p:nvSpPr>
        <p:spPr>
          <a:xfrm>
            <a:off x="320040" y="182880"/>
            <a:ext cx="1737360" cy="246888"/>
          </a:xfrm>
          <a:prstGeom prst="rect">
            <a:avLst/>
          </a:prstGeom>
          <a:noFill/>
          <a:ln/>
        </p:spPr>
        <p:txBody>
          <a:bodyPr wrap="square" lIns="0" tIns="0" rIns="0" bIns="0" rtlCol="0" anchor="ctr"/>
          <a:lstStyle/>
          <a:p>
            <a:pPr marL="0" indent="0" algn="ctr">
              <a:buNone/>
            </a:pPr>
            <a:r>
              <a:rPr lang="en-US" sz="700" b="1" kern="0" spc="200" dirty="0">
                <a:solidFill>
                  <a:srgbClr val="00B4FF"/>
                </a:solidFill>
              </a:rPr>
              <a:t>DATA</a:t>
            </a:r>
            <a:endParaRPr lang="en-US" sz="700" dirty="0"/>
          </a:p>
        </p:txBody>
      </p:sp>
      <p:sp>
        <p:nvSpPr>
          <p:cNvPr id="25" name="Text 23"/>
          <p:cNvSpPr/>
          <p:nvPr/>
        </p:nvSpPr>
        <p:spPr>
          <a:xfrm>
            <a:off x="320040" y="521208"/>
            <a:ext cx="8503920" cy="512064"/>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Dataset Overview</a:t>
            </a:r>
            <a:endParaRPr lang="en-US" sz="2800" dirty="0"/>
          </a:p>
        </p:txBody>
      </p:sp>
      <p:sp>
        <p:nvSpPr>
          <p:cNvPr id="26" name="Shape 24"/>
          <p:cNvSpPr/>
          <p:nvPr/>
        </p:nvSpPr>
        <p:spPr>
          <a:xfrm>
            <a:off x="320040" y="1078992"/>
            <a:ext cx="1097280" cy="36576"/>
          </a:xfrm>
          <a:prstGeom prst="rect">
            <a:avLst/>
          </a:prstGeom>
          <a:solidFill>
            <a:srgbClr val="F5C518"/>
          </a:solidFill>
          <a:ln w="12700">
            <a:solidFill>
              <a:srgbClr val="F5C518"/>
            </a:solidFill>
            <a:prstDash val="solid"/>
          </a:ln>
        </p:spPr>
      </p:sp>
      <p:sp>
        <p:nvSpPr>
          <p:cNvPr id="27" name="Shape 25"/>
          <p:cNvSpPr/>
          <p:nvPr/>
        </p:nvSpPr>
        <p:spPr>
          <a:xfrm>
            <a:off x="1463040" y="1078992"/>
            <a:ext cx="7360920" cy="36576"/>
          </a:xfrm>
          <a:prstGeom prst="rect">
            <a:avLst/>
          </a:prstGeom>
          <a:solidFill>
            <a:srgbClr val="1A2E45"/>
          </a:solidFill>
          <a:ln w="12700">
            <a:solidFill>
              <a:srgbClr val="1A2E45"/>
            </a:solidFill>
            <a:prstDash val="solid"/>
          </a:ln>
        </p:spPr>
      </p:sp>
      <p:sp>
        <p:nvSpPr>
          <p:cNvPr id="28" name="Shape 26"/>
          <p:cNvSpPr/>
          <p:nvPr/>
        </p:nvSpPr>
        <p:spPr>
          <a:xfrm>
            <a:off x="356616" y="1243584"/>
            <a:ext cx="1993392" cy="749808"/>
          </a:xfrm>
          <a:prstGeom prst="rect">
            <a:avLst/>
          </a:prstGeom>
          <a:solidFill>
            <a:srgbClr val="000000">
              <a:alpha val="28000"/>
            </a:srgbClr>
          </a:solidFill>
          <a:ln w="12700">
            <a:solidFill>
              <a:srgbClr val="000000">
                <a:alpha val="0"/>
              </a:srgbClr>
            </a:solidFill>
            <a:prstDash val="solid"/>
          </a:ln>
        </p:spPr>
      </p:sp>
      <p:sp>
        <p:nvSpPr>
          <p:cNvPr id="29" name="Shape 27"/>
          <p:cNvSpPr/>
          <p:nvPr/>
        </p:nvSpPr>
        <p:spPr>
          <a:xfrm>
            <a:off x="320040" y="1207008"/>
            <a:ext cx="1993392" cy="749808"/>
          </a:xfrm>
          <a:prstGeom prst="rect">
            <a:avLst/>
          </a:prstGeom>
          <a:solidFill>
            <a:srgbClr val="0A1628">
              <a:alpha val="82000"/>
            </a:srgbClr>
          </a:solidFill>
          <a:ln w="12700">
            <a:solidFill>
              <a:srgbClr val="1E3A5F"/>
            </a:solidFill>
            <a:prstDash val="solid"/>
          </a:ln>
        </p:spPr>
      </p:sp>
      <p:sp>
        <p:nvSpPr>
          <p:cNvPr id="30" name="Shape 28"/>
          <p:cNvSpPr/>
          <p:nvPr/>
        </p:nvSpPr>
        <p:spPr>
          <a:xfrm>
            <a:off x="320040" y="1207008"/>
            <a:ext cx="1993392" cy="27432"/>
          </a:xfrm>
          <a:prstGeom prst="rect">
            <a:avLst/>
          </a:prstGeom>
          <a:solidFill>
            <a:srgbClr val="FFFFFF">
              <a:alpha val="26000"/>
            </a:srgbClr>
          </a:solidFill>
          <a:ln w="12700">
            <a:solidFill>
              <a:srgbClr val="FFFFFF">
                <a:alpha val="0"/>
              </a:srgbClr>
            </a:solidFill>
            <a:prstDash val="solid"/>
          </a:ln>
        </p:spPr>
      </p:sp>
      <p:sp>
        <p:nvSpPr>
          <p:cNvPr id="31" name="Shape 29"/>
          <p:cNvSpPr/>
          <p:nvPr/>
        </p:nvSpPr>
        <p:spPr>
          <a:xfrm>
            <a:off x="320040" y="1207008"/>
            <a:ext cx="27432" cy="749808"/>
          </a:xfrm>
          <a:prstGeom prst="rect">
            <a:avLst/>
          </a:prstGeom>
          <a:solidFill>
            <a:srgbClr val="FFFFFF">
              <a:alpha val="18000"/>
            </a:srgbClr>
          </a:solidFill>
          <a:ln w="12700">
            <a:solidFill>
              <a:srgbClr val="FFFFFF">
                <a:alpha val="0"/>
              </a:srgbClr>
            </a:solidFill>
            <a:prstDash val="solid"/>
          </a:ln>
        </p:spPr>
      </p:sp>
      <p:sp>
        <p:nvSpPr>
          <p:cNvPr id="32" name="Shape 30"/>
          <p:cNvSpPr/>
          <p:nvPr/>
        </p:nvSpPr>
        <p:spPr>
          <a:xfrm>
            <a:off x="320040" y="1207008"/>
            <a:ext cx="1993392" cy="50292"/>
          </a:xfrm>
          <a:prstGeom prst="rect">
            <a:avLst/>
          </a:prstGeom>
          <a:solidFill>
            <a:srgbClr val="00B4FF"/>
          </a:solidFill>
          <a:ln w="12700">
            <a:solidFill>
              <a:srgbClr val="00B4FF"/>
            </a:solidFill>
            <a:prstDash val="solid"/>
          </a:ln>
        </p:spPr>
      </p:sp>
      <p:sp>
        <p:nvSpPr>
          <p:cNvPr id="33" name="Text 31"/>
          <p:cNvSpPr/>
          <p:nvPr/>
        </p:nvSpPr>
        <p:spPr>
          <a:xfrm>
            <a:off x="320040" y="1316736"/>
            <a:ext cx="1993392" cy="389900"/>
          </a:xfrm>
          <a:prstGeom prst="rect">
            <a:avLst/>
          </a:prstGeom>
          <a:noFill/>
          <a:ln/>
        </p:spPr>
        <p:txBody>
          <a:bodyPr wrap="square" lIns="0" tIns="0" rIns="0" bIns="0" rtlCol="0" anchor="b"/>
          <a:lstStyle/>
          <a:p>
            <a:pPr marL="0" indent="0" algn="ctr">
              <a:buNone/>
            </a:pPr>
            <a:r>
              <a:rPr lang="en-US" sz="1800" b="1" dirty="0">
                <a:solidFill>
                  <a:srgbClr val="00B4FF"/>
                </a:solidFill>
              </a:rPr>
              <a:t>1,19,390</a:t>
            </a:r>
            <a:endParaRPr lang="en-US" sz="1800" dirty="0"/>
          </a:p>
        </p:txBody>
      </p:sp>
      <p:sp>
        <p:nvSpPr>
          <p:cNvPr id="34" name="Text 32"/>
          <p:cNvSpPr/>
          <p:nvPr/>
        </p:nvSpPr>
        <p:spPr>
          <a:xfrm>
            <a:off x="320040" y="1679387"/>
            <a:ext cx="1993392" cy="262433"/>
          </a:xfrm>
          <a:prstGeom prst="rect">
            <a:avLst/>
          </a:prstGeom>
          <a:noFill/>
          <a:ln/>
        </p:spPr>
        <p:txBody>
          <a:bodyPr wrap="square" lIns="0" tIns="0" rIns="0" bIns="0" rtlCol="0" anchor="t"/>
          <a:lstStyle/>
          <a:p>
            <a:pPr marL="0" indent="0" algn="ctr">
              <a:buNone/>
            </a:pPr>
            <a:r>
              <a:rPr lang="en-US" sz="800" dirty="0">
                <a:solidFill>
                  <a:srgbClr val="D4E6F1"/>
                </a:solidFill>
              </a:rPr>
              <a:t>Raw Records</a:t>
            </a:r>
            <a:endParaRPr lang="en-US" sz="800" dirty="0"/>
          </a:p>
        </p:txBody>
      </p:sp>
      <p:sp>
        <p:nvSpPr>
          <p:cNvPr id="35" name="Shape 33"/>
          <p:cNvSpPr/>
          <p:nvPr/>
        </p:nvSpPr>
        <p:spPr>
          <a:xfrm>
            <a:off x="2532888" y="1243584"/>
            <a:ext cx="1993392" cy="749808"/>
          </a:xfrm>
          <a:prstGeom prst="rect">
            <a:avLst/>
          </a:prstGeom>
          <a:solidFill>
            <a:srgbClr val="000000">
              <a:alpha val="28000"/>
            </a:srgbClr>
          </a:solidFill>
          <a:ln w="12700">
            <a:solidFill>
              <a:srgbClr val="000000">
                <a:alpha val="0"/>
              </a:srgbClr>
            </a:solidFill>
            <a:prstDash val="solid"/>
          </a:ln>
        </p:spPr>
      </p:sp>
      <p:sp>
        <p:nvSpPr>
          <p:cNvPr id="36" name="Shape 34"/>
          <p:cNvSpPr/>
          <p:nvPr/>
        </p:nvSpPr>
        <p:spPr>
          <a:xfrm>
            <a:off x="2496312" y="1207008"/>
            <a:ext cx="1993392" cy="749808"/>
          </a:xfrm>
          <a:prstGeom prst="rect">
            <a:avLst/>
          </a:prstGeom>
          <a:solidFill>
            <a:srgbClr val="0A1628">
              <a:alpha val="82000"/>
            </a:srgbClr>
          </a:solidFill>
          <a:ln w="12700">
            <a:solidFill>
              <a:srgbClr val="1E3A5F"/>
            </a:solidFill>
            <a:prstDash val="solid"/>
          </a:ln>
        </p:spPr>
      </p:sp>
      <p:sp>
        <p:nvSpPr>
          <p:cNvPr id="37" name="Shape 35"/>
          <p:cNvSpPr/>
          <p:nvPr/>
        </p:nvSpPr>
        <p:spPr>
          <a:xfrm>
            <a:off x="2496312" y="1207008"/>
            <a:ext cx="1993392" cy="27432"/>
          </a:xfrm>
          <a:prstGeom prst="rect">
            <a:avLst/>
          </a:prstGeom>
          <a:solidFill>
            <a:srgbClr val="FFFFFF">
              <a:alpha val="26000"/>
            </a:srgbClr>
          </a:solidFill>
          <a:ln w="12700">
            <a:solidFill>
              <a:srgbClr val="FFFFFF">
                <a:alpha val="0"/>
              </a:srgbClr>
            </a:solidFill>
            <a:prstDash val="solid"/>
          </a:ln>
        </p:spPr>
      </p:sp>
      <p:sp>
        <p:nvSpPr>
          <p:cNvPr id="38" name="Shape 36"/>
          <p:cNvSpPr/>
          <p:nvPr/>
        </p:nvSpPr>
        <p:spPr>
          <a:xfrm>
            <a:off x="2496312" y="1207008"/>
            <a:ext cx="27432" cy="749808"/>
          </a:xfrm>
          <a:prstGeom prst="rect">
            <a:avLst/>
          </a:prstGeom>
          <a:solidFill>
            <a:srgbClr val="FFFFFF">
              <a:alpha val="18000"/>
            </a:srgbClr>
          </a:solidFill>
          <a:ln w="12700">
            <a:solidFill>
              <a:srgbClr val="FFFFFF">
                <a:alpha val="0"/>
              </a:srgbClr>
            </a:solidFill>
            <a:prstDash val="solid"/>
          </a:ln>
        </p:spPr>
      </p:sp>
      <p:sp>
        <p:nvSpPr>
          <p:cNvPr id="39" name="Shape 37"/>
          <p:cNvSpPr/>
          <p:nvPr/>
        </p:nvSpPr>
        <p:spPr>
          <a:xfrm>
            <a:off x="2496312" y="1207008"/>
            <a:ext cx="1993392" cy="50292"/>
          </a:xfrm>
          <a:prstGeom prst="rect">
            <a:avLst/>
          </a:prstGeom>
          <a:solidFill>
            <a:srgbClr val="F5C518"/>
          </a:solidFill>
          <a:ln w="12700">
            <a:solidFill>
              <a:srgbClr val="F5C518"/>
            </a:solidFill>
            <a:prstDash val="solid"/>
          </a:ln>
        </p:spPr>
      </p:sp>
      <p:sp>
        <p:nvSpPr>
          <p:cNvPr id="40" name="Text 38"/>
          <p:cNvSpPr/>
          <p:nvPr/>
        </p:nvSpPr>
        <p:spPr>
          <a:xfrm>
            <a:off x="2496312" y="1316736"/>
            <a:ext cx="1993392" cy="389900"/>
          </a:xfrm>
          <a:prstGeom prst="rect">
            <a:avLst/>
          </a:prstGeom>
          <a:noFill/>
          <a:ln/>
        </p:spPr>
        <p:txBody>
          <a:bodyPr wrap="square" lIns="0" tIns="0" rIns="0" bIns="0" rtlCol="0" anchor="b"/>
          <a:lstStyle/>
          <a:p>
            <a:pPr marL="0" indent="0" algn="ctr">
              <a:buNone/>
            </a:pPr>
            <a:r>
              <a:rPr lang="en-US" sz="1800" b="1" dirty="0">
                <a:solidFill>
                  <a:srgbClr val="F5C518"/>
                </a:solidFill>
              </a:rPr>
              <a:t>1,17,430</a:t>
            </a:r>
            <a:endParaRPr lang="en-US" sz="1800" dirty="0"/>
          </a:p>
        </p:txBody>
      </p:sp>
      <p:sp>
        <p:nvSpPr>
          <p:cNvPr id="41" name="Text 39"/>
          <p:cNvSpPr/>
          <p:nvPr/>
        </p:nvSpPr>
        <p:spPr>
          <a:xfrm>
            <a:off x="2496312" y="1679387"/>
            <a:ext cx="1993392" cy="262433"/>
          </a:xfrm>
          <a:prstGeom prst="rect">
            <a:avLst/>
          </a:prstGeom>
          <a:noFill/>
          <a:ln/>
        </p:spPr>
        <p:txBody>
          <a:bodyPr wrap="square" lIns="0" tIns="0" rIns="0" bIns="0" rtlCol="0" anchor="t"/>
          <a:lstStyle/>
          <a:p>
            <a:pPr marL="0" indent="0" algn="ctr">
              <a:buNone/>
            </a:pPr>
            <a:r>
              <a:rPr lang="en-US" sz="800" dirty="0">
                <a:solidFill>
                  <a:srgbClr val="D4E6F1"/>
                </a:solidFill>
              </a:rPr>
              <a:t>Clean Records</a:t>
            </a:r>
            <a:endParaRPr lang="en-US" sz="800" dirty="0"/>
          </a:p>
        </p:txBody>
      </p:sp>
      <p:sp>
        <p:nvSpPr>
          <p:cNvPr id="42" name="Shape 40"/>
          <p:cNvSpPr/>
          <p:nvPr/>
        </p:nvSpPr>
        <p:spPr>
          <a:xfrm>
            <a:off x="4709160" y="1243584"/>
            <a:ext cx="1993392" cy="749808"/>
          </a:xfrm>
          <a:prstGeom prst="rect">
            <a:avLst/>
          </a:prstGeom>
          <a:solidFill>
            <a:srgbClr val="000000">
              <a:alpha val="28000"/>
            </a:srgbClr>
          </a:solidFill>
          <a:ln w="12700">
            <a:solidFill>
              <a:srgbClr val="000000">
                <a:alpha val="0"/>
              </a:srgbClr>
            </a:solidFill>
            <a:prstDash val="solid"/>
          </a:ln>
        </p:spPr>
      </p:sp>
      <p:sp>
        <p:nvSpPr>
          <p:cNvPr id="43" name="Shape 41"/>
          <p:cNvSpPr/>
          <p:nvPr/>
        </p:nvSpPr>
        <p:spPr>
          <a:xfrm>
            <a:off x="4672584" y="1207008"/>
            <a:ext cx="1993392" cy="749808"/>
          </a:xfrm>
          <a:prstGeom prst="rect">
            <a:avLst/>
          </a:prstGeom>
          <a:solidFill>
            <a:srgbClr val="0A1628">
              <a:alpha val="82000"/>
            </a:srgbClr>
          </a:solidFill>
          <a:ln w="12700">
            <a:solidFill>
              <a:srgbClr val="1E3A5F"/>
            </a:solidFill>
            <a:prstDash val="solid"/>
          </a:ln>
        </p:spPr>
      </p:sp>
      <p:sp>
        <p:nvSpPr>
          <p:cNvPr id="44" name="Shape 42"/>
          <p:cNvSpPr/>
          <p:nvPr/>
        </p:nvSpPr>
        <p:spPr>
          <a:xfrm>
            <a:off x="4672584" y="1207008"/>
            <a:ext cx="1993392" cy="27432"/>
          </a:xfrm>
          <a:prstGeom prst="rect">
            <a:avLst/>
          </a:prstGeom>
          <a:solidFill>
            <a:srgbClr val="FFFFFF">
              <a:alpha val="26000"/>
            </a:srgbClr>
          </a:solidFill>
          <a:ln w="12700">
            <a:solidFill>
              <a:srgbClr val="FFFFFF">
                <a:alpha val="0"/>
              </a:srgbClr>
            </a:solidFill>
            <a:prstDash val="solid"/>
          </a:ln>
        </p:spPr>
      </p:sp>
      <p:sp>
        <p:nvSpPr>
          <p:cNvPr id="45" name="Shape 43"/>
          <p:cNvSpPr/>
          <p:nvPr/>
        </p:nvSpPr>
        <p:spPr>
          <a:xfrm>
            <a:off x="4672584" y="1207008"/>
            <a:ext cx="27432" cy="749808"/>
          </a:xfrm>
          <a:prstGeom prst="rect">
            <a:avLst/>
          </a:prstGeom>
          <a:solidFill>
            <a:srgbClr val="FFFFFF">
              <a:alpha val="18000"/>
            </a:srgbClr>
          </a:solidFill>
          <a:ln w="12700">
            <a:solidFill>
              <a:srgbClr val="FFFFFF">
                <a:alpha val="0"/>
              </a:srgbClr>
            </a:solidFill>
            <a:prstDash val="solid"/>
          </a:ln>
        </p:spPr>
      </p:sp>
      <p:sp>
        <p:nvSpPr>
          <p:cNvPr id="46" name="Shape 44"/>
          <p:cNvSpPr/>
          <p:nvPr/>
        </p:nvSpPr>
        <p:spPr>
          <a:xfrm>
            <a:off x="4672584" y="1207008"/>
            <a:ext cx="1993392" cy="50292"/>
          </a:xfrm>
          <a:prstGeom prst="rect">
            <a:avLst/>
          </a:prstGeom>
          <a:solidFill>
            <a:srgbClr val="00B4FF"/>
          </a:solidFill>
          <a:ln w="12700">
            <a:solidFill>
              <a:srgbClr val="00B4FF"/>
            </a:solidFill>
            <a:prstDash val="solid"/>
          </a:ln>
        </p:spPr>
      </p:sp>
      <p:sp>
        <p:nvSpPr>
          <p:cNvPr id="47" name="Text 45"/>
          <p:cNvSpPr/>
          <p:nvPr/>
        </p:nvSpPr>
        <p:spPr>
          <a:xfrm>
            <a:off x="4672584" y="1316736"/>
            <a:ext cx="1993392" cy="389900"/>
          </a:xfrm>
          <a:prstGeom prst="rect">
            <a:avLst/>
          </a:prstGeom>
          <a:noFill/>
          <a:ln/>
        </p:spPr>
        <p:txBody>
          <a:bodyPr wrap="square" lIns="0" tIns="0" rIns="0" bIns="0" rtlCol="0" anchor="b"/>
          <a:lstStyle/>
          <a:p>
            <a:pPr marL="0" indent="0" algn="ctr">
              <a:buNone/>
            </a:pPr>
            <a:r>
              <a:rPr lang="en-US" sz="1800" b="1" dirty="0">
                <a:solidFill>
                  <a:srgbClr val="00B4FF"/>
                </a:solidFill>
              </a:rPr>
              <a:t>36 → 32</a:t>
            </a:r>
            <a:endParaRPr lang="en-US" sz="1800" dirty="0"/>
          </a:p>
        </p:txBody>
      </p:sp>
      <p:sp>
        <p:nvSpPr>
          <p:cNvPr id="48" name="Text 46"/>
          <p:cNvSpPr/>
          <p:nvPr/>
        </p:nvSpPr>
        <p:spPr>
          <a:xfrm>
            <a:off x="4672584" y="1679387"/>
            <a:ext cx="1993392" cy="262433"/>
          </a:xfrm>
          <a:prstGeom prst="rect">
            <a:avLst/>
          </a:prstGeom>
          <a:noFill/>
          <a:ln/>
        </p:spPr>
        <p:txBody>
          <a:bodyPr wrap="square" lIns="0" tIns="0" rIns="0" bIns="0" rtlCol="0" anchor="t"/>
          <a:lstStyle/>
          <a:p>
            <a:pPr marL="0" indent="0" algn="ctr">
              <a:buNone/>
            </a:pPr>
            <a:r>
              <a:rPr lang="en-US" sz="800" dirty="0">
                <a:solidFill>
                  <a:srgbClr val="D4E6F1"/>
                </a:solidFill>
              </a:rPr>
              <a:t>Columns</a:t>
            </a:r>
            <a:endParaRPr lang="en-US" sz="800" dirty="0"/>
          </a:p>
        </p:txBody>
      </p:sp>
      <p:sp>
        <p:nvSpPr>
          <p:cNvPr id="49" name="Shape 47"/>
          <p:cNvSpPr/>
          <p:nvPr/>
        </p:nvSpPr>
        <p:spPr>
          <a:xfrm>
            <a:off x="6885432" y="1243584"/>
            <a:ext cx="1993392" cy="749808"/>
          </a:xfrm>
          <a:prstGeom prst="rect">
            <a:avLst/>
          </a:prstGeom>
          <a:solidFill>
            <a:srgbClr val="000000">
              <a:alpha val="28000"/>
            </a:srgbClr>
          </a:solidFill>
          <a:ln w="12700">
            <a:solidFill>
              <a:srgbClr val="000000">
                <a:alpha val="0"/>
              </a:srgbClr>
            </a:solidFill>
            <a:prstDash val="solid"/>
          </a:ln>
        </p:spPr>
      </p:sp>
      <p:sp>
        <p:nvSpPr>
          <p:cNvPr id="50" name="Shape 48"/>
          <p:cNvSpPr/>
          <p:nvPr/>
        </p:nvSpPr>
        <p:spPr>
          <a:xfrm>
            <a:off x="6848856" y="1207008"/>
            <a:ext cx="1993392" cy="749808"/>
          </a:xfrm>
          <a:prstGeom prst="rect">
            <a:avLst/>
          </a:prstGeom>
          <a:solidFill>
            <a:srgbClr val="0A1628">
              <a:alpha val="82000"/>
            </a:srgbClr>
          </a:solidFill>
          <a:ln w="12700">
            <a:solidFill>
              <a:srgbClr val="1E3A5F"/>
            </a:solidFill>
            <a:prstDash val="solid"/>
          </a:ln>
        </p:spPr>
      </p:sp>
      <p:sp>
        <p:nvSpPr>
          <p:cNvPr id="51" name="Shape 49"/>
          <p:cNvSpPr/>
          <p:nvPr/>
        </p:nvSpPr>
        <p:spPr>
          <a:xfrm>
            <a:off x="6848856" y="1207008"/>
            <a:ext cx="1993392" cy="27432"/>
          </a:xfrm>
          <a:prstGeom prst="rect">
            <a:avLst/>
          </a:prstGeom>
          <a:solidFill>
            <a:srgbClr val="FFFFFF">
              <a:alpha val="26000"/>
            </a:srgbClr>
          </a:solidFill>
          <a:ln w="12700">
            <a:solidFill>
              <a:srgbClr val="FFFFFF">
                <a:alpha val="0"/>
              </a:srgbClr>
            </a:solidFill>
            <a:prstDash val="solid"/>
          </a:ln>
        </p:spPr>
      </p:sp>
      <p:sp>
        <p:nvSpPr>
          <p:cNvPr id="52" name="Shape 50"/>
          <p:cNvSpPr/>
          <p:nvPr/>
        </p:nvSpPr>
        <p:spPr>
          <a:xfrm>
            <a:off x="6848856" y="1207008"/>
            <a:ext cx="27432" cy="749808"/>
          </a:xfrm>
          <a:prstGeom prst="rect">
            <a:avLst/>
          </a:prstGeom>
          <a:solidFill>
            <a:srgbClr val="FFFFFF">
              <a:alpha val="18000"/>
            </a:srgbClr>
          </a:solidFill>
          <a:ln w="12700">
            <a:solidFill>
              <a:srgbClr val="FFFFFF">
                <a:alpha val="0"/>
              </a:srgbClr>
            </a:solidFill>
            <a:prstDash val="solid"/>
          </a:ln>
        </p:spPr>
      </p:sp>
      <p:sp>
        <p:nvSpPr>
          <p:cNvPr id="53" name="Shape 51"/>
          <p:cNvSpPr/>
          <p:nvPr/>
        </p:nvSpPr>
        <p:spPr>
          <a:xfrm>
            <a:off x="6848856" y="1207008"/>
            <a:ext cx="1993392" cy="50292"/>
          </a:xfrm>
          <a:prstGeom prst="rect">
            <a:avLst/>
          </a:prstGeom>
          <a:solidFill>
            <a:srgbClr val="F5C518"/>
          </a:solidFill>
          <a:ln w="12700">
            <a:solidFill>
              <a:srgbClr val="F5C518"/>
            </a:solidFill>
            <a:prstDash val="solid"/>
          </a:ln>
        </p:spPr>
      </p:sp>
      <p:sp>
        <p:nvSpPr>
          <p:cNvPr id="54" name="Text 52"/>
          <p:cNvSpPr/>
          <p:nvPr/>
        </p:nvSpPr>
        <p:spPr>
          <a:xfrm>
            <a:off x="6848856" y="1316736"/>
            <a:ext cx="1993392" cy="389900"/>
          </a:xfrm>
          <a:prstGeom prst="rect">
            <a:avLst/>
          </a:prstGeom>
          <a:noFill/>
          <a:ln/>
        </p:spPr>
        <p:txBody>
          <a:bodyPr wrap="square" lIns="0" tIns="0" rIns="0" bIns="0" rtlCol="0" anchor="b"/>
          <a:lstStyle/>
          <a:p>
            <a:pPr marL="0" indent="0" algn="ctr">
              <a:buNone/>
            </a:pPr>
            <a:r>
              <a:rPr lang="en-US" sz="1800" b="1" dirty="0">
                <a:solidFill>
                  <a:srgbClr val="F5C518"/>
                </a:solidFill>
              </a:rPr>
              <a:t>2015–2017</a:t>
            </a:r>
            <a:endParaRPr lang="en-US" sz="1800" dirty="0"/>
          </a:p>
        </p:txBody>
      </p:sp>
      <p:sp>
        <p:nvSpPr>
          <p:cNvPr id="55" name="Text 53"/>
          <p:cNvSpPr/>
          <p:nvPr/>
        </p:nvSpPr>
        <p:spPr>
          <a:xfrm>
            <a:off x="6848856" y="1679387"/>
            <a:ext cx="1993392" cy="262433"/>
          </a:xfrm>
          <a:prstGeom prst="rect">
            <a:avLst/>
          </a:prstGeom>
          <a:noFill/>
          <a:ln/>
        </p:spPr>
        <p:txBody>
          <a:bodyPr wrap="square" lIns="0" tIns="0" rIns="0" bIns="0" rtlCol="0" anchor="t"/>
          <a:lstStyle/>
          <a:p>
            <a:pPr marL="0" indent="0" algn="ctr">
              <a:buNone/>
            </a:pPr>
            <a:r>
              <a:rPr lang="en-US" sz="800" dirty="0">
                <a:solidFill>
                  <a:srgbClr val="D4E6F1"/>
                </a:solidFill>
              </a:rPr>
              <a:t>Data Period</a:t>
            </a:r>
            <a:endParaRPr lang="en-US" sz="800" dirty="0"/>
          </a:p>
        </p:txBody>
      </p:sp>
      <p:sp>
        <p:nvSpPr>
          <p:cNvPr id="56" name="Shape 54"/>
          <p:cNvSpPr/>
          <p:nvPr/>
        </p:nvSpPr>
        <p:spPr>
          <a:xfrm>
            <a:off x="356616" y="2157984"/>
            <a:ext cx="4251960" cy="2633472"/>
          </a:xfrm>
          <a:prstGeom prst="rect">
            <a:avLst/>
          </a:prstGeom>
          <a:solidFill>
            <a:srgbClr val="000000">
              <a:alpha val="28000"/>
            </a:srgbClr>
          </a:solidFill>
          <a:ln w="12700">
            <a:solidFill>
              <a:srgbClr val="000000">
                <a:alpha val="0"/>
              </a:srgbClr>
            </a:solidFill>
            <a:prstDash val="solid"/>
          </a:ln>
        </p:spPr>
      </p:sp>
      <p:sp>
        <p:nvSpPr>
          <p:cNvPr id="57" name="Shape 55"/>
          <p:cNvSpPr/>
          <p:nvPr/>
        </p:nvSpPr>
        <p:spPr>
          <a:xfrm>
            <a:off x="320040" y="2121408"/>
            <a:ext cx="4251960" cy="2633472"/>
          </a:xfrm>
          <a:prstGeom prst="rect">
            <a:avLst/>
          </a:prstGeom>
          <a:solidFill>
            <a:srgbClr val="0A1628">
              <a:alpha val="82000"/>
            </a:srgbClr>
          </a:solidFill>
          <a:ln w="12700">
            <a:solidFill>
              <a:srgbClr val="1E3A5F"/>
            </a:solidFill>
            <a:prstDash val="solid"/>
          </a:ln>
        </p:spPr>
      </p:sp>
      <p:sp>
        <p:nvSpPr>
          <p:cNvPr id="58" name="Shape 56"/>
          <p:cNvSpPr/>
          <p:nvPr/>
        </p:nvSpPr>
        <p:spPr>
          <a:xfrm>
            <a:off x="320040" y="2121408"/>
            <a:ext cx="4251960" cy="27432"/>
          </a:xfrm>
          <a:prstGeom prst="rect">
            <a:avLst/>
          </a:prstGeom>
          <a:solidFill>
            <a:srgbClr val="FFFFFF">
              <a:alpha val="26000"/>
            </a:srgbClr>
          </a:solidFill>
          <a:ln w="12700">
            <a:solidFill>
              <a:srgbClr val="FFFFFF">
                <a:alpha val="0"/>
              </a:srgbClr>
            </a:solidFill>
            <a:prstDash val="solid"/>
          </a:ln>
        </p:spPr>
      </p:sp>
      <p:sp>
        <p:nvSpPr>
          <p:cNvPr id="59" name="Shape 57"/>
          <p:cNvSpPr/>
          <p:nvPr/>
        </p:nvSpPr>
        <p:spPr>
          <a:xfrm>
            <a:off x="320040" y="2121408"/>
            <a:ext cx="27432" cy="2633472"/>
          </a:xfrm>
          <a:prstGeom prst="rect">
            <a:avLst/>
          </a:prstGeom>
          <a:solidFill>
            <a:srgbClr val="FFFFFF">
              <a:alpha val="18000"/>
            </a:srgbClr>
          </a:solidFill>
          <a:ln w="12700">
            <a:solidFill>
              <a:srgbClr val="FFFFFF">
                <a:alpha val="0"/>
              </a:srgbClr>
            </a:solidFill>
            <a:prstDash val="solid"/>
          </a:ln>
        </p:spPr>
      </p:sp>
      <p:sp>
        <p:nvSpPr>
          <p:cNvPr id="60" name="Shape 58"/>
          <p:cNvSpPr/>
          <p:nvPr/>
        </p:nvSpPr>
        <p:spPr>
          <a:xfrm>
            <a:off x="320040" y="2121408"/>
            <a:ext cx="50292" cy="2633472"/>
          </a:xfrm>
          <a:prstGeom prst="rect">
            <a:avLst/>
          </a:prstGeom>
          <a:solidFill>
            <a:srgbClr val="00B4FF"/>
          </a:solidFill>
          <a:ln w="12700">
            <a:solidFill>
              <a:srgbClr val="00B4FF"/>
            </a:solidFill>
            <a:prstDash val="solid"/>
          </a:ln>
        </p:spPr>
      </p:sp>
      <p:sp>
        <p:nvSpPr>
          <p:cNvPr id="61" name="Text 59"/>
          <p:cNvSpPr/>
          <p:nvPr/>
        </p:nvSpPr>
        <p:spPr>
          <a:xfrm>
            <a:off x="475488" y="2194560"/>
            <a:ext cx="3931920" cy="292608"/>
          </a:xfrm>
          <a:prstGeom prst="rect">
            <a:avLst/>
          </a:prstGeom>
          <a:noFill/>
          <a:ln/>
        </p:spPr>
        <p:txBody>
          <a:bodyPr wrap="square" lIns="0" tIns="0" rIns="0" bIns="0" rtlCol="0" anchor="ctr"/>
          <a:lstStyle/>
          <a:p>
            <a:pPr marL="0" indent="0">
              <a:buNone/>
            </a:pPr>
            <a:r>
              <a:rPr lang="en-US" sz="1100" b="1" dirty="0">
                <a:solidFill>
                  <a:srgbClr val="00B4FF"/>
                </a:solidFill>
              </a:rPr>
              <a:t>Data Cleaning Steps</a:t>
            </a:r>
            <a:endParaRPr lang="en-US" sz="1100" dirty="0"/>
          </a:p>
        </p:txBody>
      </p:sp>
      <p:sp>
        <p:nvSpPr>
          <p:cNvPr id="62" name="Shape 60"/>
          <p:cNvSpPr/>
          <p:nvPr/>
        </p:nvSpPr>
        <p:spPr>
          <a:xfrm>
            <a:off x="475488" y="2596896"/>
            <a:ext cx="164592" cy="164592"/>
          </a:xfrm>
          <a:prstGeom prst="rect">
            <a:avLst/>
          </a:prstGeom>
          <a:solidFill>
            <a:srgbClr val="003E7A"/>
          </a:solidFill>
          <a:ln w="12700">
            <a:solidFill>
              <a:srgbClr val="00B4FF"/>
            </a:solidFill>
            <a:prstDash val="solid"/>
          </a:ln>
        </p:spPr>
      </p:sp>
      <p:sp>
        <p:nvSpPr>
          <p:cNvPr id="63" name="Text 61"/>
          <p:cNvSpPr/>
          <p:nvPr/>
        </p:nvSpPr>
        <p:spPr>
          <a:xfrm>
            <a:off x="475488" y="2596896"/>
            <a:ext cx="164592" cy="164592"/>
          </a:xfrm>
          <a:prstGeom prst="rect">
            <a:avLst/>
          </a:prstGeom>
          <a:noFill/>
          <a:ln/>
        </p:spPr>
        <p:txBody>
          <a:bodyPr wrap="square" lIns="0" tIns="0" rIns="0" bIns="0" rtlCol="0" anchor="ctr"/>
          <a:lstStyle/>
          <a:p>
            <a:pPr marL="0" indent="0" algn="ctr">
              <a:buNone/>
            </a:pPr>
            <a:r>
              <a:rPr lang="en-US" sz="800" b="1" dirty="0">
                <a:solidFill>
                  <a:srgbClr val="00B4FF"/>
                </a:solidFill>
              </a:rPr>
              <a:t>✓</a:t>
            </a:r>
            <a:endParaRPr lang="en-US" sz="800" dirty="0"/>
          </a:p>
        </p:txBody>
      </p:sp>
      <p:sp>
        <p:nvSpPr>
          <p:cNvPr id="64" name="Text 62"/>
          <p:cNvSpPr/>
          <p:nvPr/>
        </p:nvSpPr>
        <p:spPr>
          <a:xfrm>
            <a:off x="731520" y="2587752"/>
            <a:ext cx="3749040" cy="256032"/>
          </a:xfrm>
          <a:prstGeom prst="rect">
            <a:avLst/>
          </a:prstGeom>
          <a:noFill/>
          <a:ln/>
        </p:spPr>
        <p:txBody>
          <a:bodyPr wrap="square" lIns="0" tIns="0" rIns="0" bIns="0" rtlCol="0" anchor="ctr"/>
          <a:lstStyle/>
          <a:p>
            <a:pPr marL="0" indent="0">
              <a:buNone/>
            </a:pPr>
            <a:r>
              <a:rPr lang="en-US" sz="900" dirty="0">
                <a:solidFill>
                  <a:srgbClr val="D4E6F1"/>
                </a:solidFill>
              </a:rPr>
              <a:t>Enabled column profiling across all 1,19,390 rows</a:t>
            </a:r>
            <a:endParaRPr lang="en-US" sz="900" dirty="0"/>
          </a:p>
        </p:txBody>
      </p:sp>
      <p:sp>
        <p:nvSpPr>
          <p:cNvPr id="65" name="Shape 63"/>
          <p:cNvSpPr/>
          <p:nvPr/>
        </p:nvSpPr>
        <p:spPr>
          <a:xfrm>
            <a:off x="475488" y="2935224"/>
            <a:ext cx="164592" cy="164592"/>
          </a:xfrm>
          <a:prstGeom prst="rect">
            <a:avLst/>
          </a:prstGeom>
          <a:solidFill>
            <a:srgbClr val="003E7A"/>
          </a:solidFill>
          <a:ln w="12700">
            <a:solidFill>
              <a:srgbClr val="00B4FF"/>
            </a:solidFill>
            <a:prstDash val="solid"/>
          </a:ln>
        </p:spPr>
      </p:sp>
      <p:sp>
        <p:nvSpPr>
          <p:cNvPr id="66" name="Text 64"/>
          <p:cNvSpPr/>
          <p:nvPr/>
        </p:nvSpPr>
        <p:spPr>
          <a:xfrm>
            <a:off x="475488" y="2935224"/>
            <a:ext cx="164592" cy="164592"/>
          </a:xfrm>
          <a:prstGeom prst="rect">
            <a:avLst/>
          </a:prstGeom>
          <a:noFill/>
          <a:ln/>
        </p:spPr>
        <p:txBody>
          <a:bodyPr wrap="square" lIns="0" tIns="0" rIns="0" bIns="0" rtlCol="0" anchor="ctr"/>
          <a:lstStyle/>
          <a:p>
            <a:pPr marL="0" indent="0" algn="ctr">
              <a:buNone/>
            </a:pPr>
            <a:r>
              <a:rPr lang="en-US" sz="800" b="1" dirty="0">
                <a:solidFill>
                  <a:srgbClr val="00B4FF"/>
                </a:solidFill>
              </a:rPr>
              <a:t>✓</a:t>
            </a:r>
            <a:endParaRPr lang="en-US" sz="800" dirty="0"/>
          </a:p>
        </p:txBody>
      </p:sp>
      <p:sp>
        <p:nvSpPr>
          <p:cNvPr id="67" name="Text 65"/>
          <p:cNvSpPr/>
          <p:nvPr/>
        </p:nvSpPr>
        <p:spPr>
          <a:xfrm>
            <a:off x="731520" y="2926080"/>
            <a:ext cx="3749040" cy="256032"/>
          </a:xfrm>
          <a:prstGeom prst="rect">
            <a:avLst/>
          </a:prstGeom>
          <a:noFill/>
          <a:ln/>
        </p:spPr>
        <p:txBody>
          <a:bodyPr wrap="square" lIns="0" tIns="0" rIns="0" bIns="0" rtlCol="0" anchor="ctr"/>
          <a:lstStyle/>
          <a:p>
            <a:pPr marL="0" indent="0">
              <a:buNone/>
            </a:pPr>
            <a:r>
              <a:rPr lang="en-US" sz="900" dirty="0">
                <a:solidFill>
                  <a:srgbClr val="D4E6F1"/>
                </a:solidFill>
              </a:rPr>
              <a:t>Replaced nulls in country, agent &amp; company columns</a:t>
            </a:r>
            <a:endParaRPr lang="en-US" sz="900" dirty="0"/>
          </a:p>
        </p:txBody>
      </p:sp>
      <p:sp>
        <p:nvSpPr>
          <p:cNvPr id="68" name="Shape 66"/>
          <p:cNvSpPr/>
          <p:nvPr/>
        </p:nvSpPr>
        <p:spPr>
          <a:xfrm>
            <a:off x="475488" y="3273552"/>
            <a:ext cx="164592" cy="164592"/>
          </a:xfrm>
          <a:prstGeom prst="rect">
            <a:avLst/>
          </a:prstGeom>
          <a:solidFill>
            <a:srgbClr val="003E7A"/>
          </a:solidFill>
          <a:ln w="12700">
            <a:solidFill>
              <a:srgbClr val="00B4FF"/>
            </a:solidFill>
            <a:prstDash val="solid"/>
          </a:ln>
        </p:spPr>
      </p:sp>
      <p:sp>
        <p:nvSpPr>
          <p:cNvPr id="69" name="Text 67"/>
          <p:cNvSpPr/>
          <p:nvPr/>
        </p:nvSpPr>
        <p:spPr>
          <a:xfrm>
            <a:off x="475488" y="3273552"/>
            <a:ext cx="164592" cy="164592"/>
          </a:xfrm>
          <a:prstGeom prst="rect">
            <a:avLst/>
          </a:prstGeom>
          <a:noFill/>
          <a:ln/>
        </p:spPr>
        <p:txBody>
          <a:bodyPr wrap="square" lIns="0" tIns="0" rIns="0" bIns="0" rtlCol="0" anchor="ctr"/>
          <a:lstStyle/>
          <a:p>
            <a:pPr marL="0" indent="0" algn="ctr">
              <a:buNone/>
            </a:pPr>
            <a:r>
              <a:rPr lang="en-US" sz="800" b="1" dirty="0">
                <a:solidFill>
                  <a:srgbClr val="00B4FF"/>
                </a:solidFill>
              </a:rPr>
              <a:t>✓</a:t>
            </a:r>
            <a:endParaRPr lang="en-US" sz="800" dirty="0"/>
          </a:p>
        </p:txBody>
      </p:sp>
      <p:sp>
        <p:nvSpPr>
          <p:cNvPr id="70" name="Text 68"/>
          <p:cNvSpPr/>
          <p:nvPr/>
        </p:nvSpPr>
        <p:spPr>
          <a:xfrm>
            <a:off x="731520" y="3264408"/>
            <a:ext cx="3749040" cy="256032"/>
          </a:xfrm>
          <a:prstGeom prst="rect">
            <a:avLst/>
          </a:prstGeom>
          <a:noFill/>
          <a:ln/>
        </p:spPr>
        <p:txBody>
          <a:bodyPr wrap="square" lIns="0" tIns="0" rIns="0" bIns="0" rtlCol="0" anchor="ctr"/>
          <a:lstStyle/>
          <a:p>
            <a:pPr marL="0" indent="0">
              <a:buNone/>
            </a:pPr>
            <a:r>
              <a:rPr lang="en-US" sz="900" dirty="0">
                <a:solidFill>
                  <a:srgbClr val="D4E6F1"/>
                </a:solidFill>
              </a:rPr>
              <a:t>Removed 6 irrelevant / personal data columns</a:t>
            </a:r>
            <a:endParaRPr lang="en-US" sz="900" dirty="0"/>
          </a:p>
        </p:txBody>
      </p:sp>
      <p:sp>
        <p:nvSpPr>
          <p:cNvPr id="71" name="Shape 69"/>
          <p:cNvSpPr/>
          <p:nvPr/>
        </p:nvSpPr>
        <p:spPr>
          <a:xfrm>
            <a:off x="475488" y="3611880"/>
            <a:ext cx="164592" cy="164592"/>
          </a:xfrm>
          <a:prstGeom prst="rect">
            <a:avLst/>
          </a:prstGeom>
          <a:solidFill>
            <a:srgbClr val="003E7A"/>
          </a:solidFill>
          <a:ln w="12700">
            <a:solidFill>
              <a:srgbClr val="00B4FF"/>
            </a:solidFill>
            <a:prstDash val="solid"/>
          </a:ln>
        </p:spPr>
      </p:sp>
      <p:sp>
        <p:nvSpPr>
          <p:cNvPr id="72" name="Text 70"/>
          <p:cNvSpPr/>
          <p:nvPr/>
        </p:nvSpPr>
        <p:spPr>
          <a:xfrm>
            <a:off x="475488" y="3611880"/>
            <a:ext cx="164592" cy="164592"/>
          </a:xfrm>
          <a:prstGeom prst="rect">
            <a:avLst/>
          </a:prstGeom>
          <a:noFill/>
          <a:ln/>
        </p:spPr>
        <p:txBody>
          <a:bodyPr wrap="square" lIns="0" tIns="0" rIns="0" bIns="0" rtlCol="0" anchor="ctr"/>
          <a:lstStyle/>
          <a:p>
            <a:pPr marL="0" indent="0" algn="ctr">
              <a:buNone/>
            </a:pPr>
            <a:r>
              <a:rPr lang="en-US" sz="800" b="1" dirty="0">
                <a:solidFill>
                  <a:srgbClr val="00B4FF"/>
                </a:solidFill>
              </a:rPr>
              <a:t>✓</a:t>
            </a:r>
            <a:endParaRPr lang="en-US" sz="800" dirty="0"/>
          </a:p>
        </p:txBody>
      </p:sp>
      <p:sp>
        <p:nvSpPr>
          <p:cNvPr id="73" name="Text 71"/>
          <p:cNvSpPr/>
          <p:nvPr/>
        </p:nvSpPr>
        <p:spPr>
          <a:xfrm>
            <a:off x="731520" y="3602736"/>
            <a:ext cx="3749040" cy="256032"/>
          </a:xfrm>
          <a:prstGeom prst="rect">
            <a:avLst/>
          </a:prstGeom>
          <a:noFill/>
          <a:ln/>
        </p:spPr>
        <p:txBody>
          <a:bodyPr wrap="square" lIns="0" tIns="0" rIns="0" bIns="0" rtlCol="0" anchor="ctr"/>
          <a:lstStyle/>
          <a:p>
            <a:pPr marL="0" indent="0">
              <a:buNone/>
            </a:pPr>
            <a:r>
              <a:rPr lang="en-US" sz="900" dirty="0">
                <a:solidFill>
                  <a:srgbClr val="D4E6F1"/>
                </a:solidFill>
              </a:rPr>
              <a:t>Filtered out all rows where ADR = 0</a:t>
            </a:r>
            <a:endParaRPr lang="en-US" sz="900" dirty="0"/>
          </a:p>
        </p:txBody>
      </p:sp>
      <p:sp>
        <p:nvSpPr>
          <p:cNvPr id="74" name="Shape 72"/>
          <p:cNvSpPr/>
          <p:nvPr/>
        </p:nvSpPr>
        <p:spPr>
          <a:xfrm>
            <a:off x="475488" y="3950208"/>
            <a:ext cx="164592" cy="164592"/>
          </a:xfrm>
          <a:prstGeom prst="rect">
            <a:avLst/>
          </a:prstGeom>
          <a:solidFill>
            <a:srgbClr val="003E7A"/>
          </a:solidFill>
          <a:ln w="12700">
            <a:solidFill>
              <a:srgbClr val="00B4FF"/>
            </a:solidFill>
            <a:prstDash val="solid"/>
          </a:ln>
        </p:spPr>
      </p:sp>
      <p:sp>
        <p:nvSpPr>
          <p:cNvPr id="75" name="Text 73"/>
          <p:cNvSpPr/>
          <p:nvPr/>
        </p:nvSpPr>
        <p:spPr>
          <a:xfrm>
            <a:off x="475488" y="3950208"/>
            <a:ext cx="164592" cy="164592"/>
          </a:xfrm>
          <a:prstGeom prst="rect">
            <a:avLst/>
          </a:prstGeom>
          <a:noFill/>
          <a:ln/>
        </p:spPr>
        <p:txBody>
          <a:bodyPr wrap="square" lIns="0" tIns="0" rIns="0" bIns="0" rtlCol="0" anchor="ctr"/>
          <a:lstStyle/>
          <a:p>
            <a:pPr marL="0" indent="0" algn="ctr">
              <a:buNone/>
            </a:pPr>
            <a:r>
              <a:rPr lang="en-US" sz="800" b="1" dirty="0">
                <a:solidFill>
                  <a:srgbClr val="00B4FF"/>
                </a:solidFill>
              </a:rPr>
              <a:t>✓</a:t>
            </a:r>
            <a:endParaRPr lang="en-US" sz="800" dirty="0"/>
          </a:p>
        </p:txBody>
      </p:sp>
      <p:sp>
        <p:nvSpPr>
          <p:cNvPr id="76" name="Text 74"/>
          <p:cNvSpPr/>
          <p:nvPr/>
        </p:nvSpPr>
        <p:spPr>
          <a:xfrm>
            <a:off x="731520" y="3941064"/>
            <a:ext cx="3749040" cy="256032"/>
          </a:xfrm>
          <a:prstGeom prst="rect">
            <a:avLst/>
          </a:prstGeom>
          <a:noFill/>
          <a:ln/>
        </p:spPr>
        <p:txBody>
          <a:bodyPr wrap="square" lIns="0" tIns="0" rIns="0" bIns="0" rtlCol="0" anchor="ctr"/>
          <a:lstStyle/>
          <a:p>
            <a:pPr marL="0" indent="0">
              <a:buNone/>
            </a:pPr>
            <a:r>
              <a:rPr lang="en-US" sz="900" dirty="0">
                <a:solidFill>
                  <a:srgbClr val="D4E6F1"/>
                </a:solidFill>
              </a:rPr>
              <a:t>Corrected data types for all 32 remaining columns</a:t>
            </a:r>
            <a:endParaRPr lang="en-US" sz="900" dirty="0"/>
          </a:p>
        </p:txBody>
      </p:sp>
      <p:sp>
        <p:nvSpPr>
          <p:cNvPr id="77" name="Shape 75"/>
          <p:cNvSpPr/>
          <p:nvPr/>
        </p:nvSpPr>
        <p:spPr>
          <a:xfrm>
            <a:off x="475488" y="4288536"/>
            <a:ext cx="164592" cy="164592"/>
          </a:xfrm>
          <a:prstGeom prst="rect">
            <a:avLst/>
          </a:prstGeom>
          <a:solidFill>
            <a:srgbClr val="003E7A"/>
          </a:solidFill>
          <a:ln w="12700">
            <a:solidFill>
              <a:srgbClr val="00B4FF"/>
            </a:solidFill>
            <a:prstDash val="solid"/>
          </a:ln>
        </p:spPr>
      </p:sp>
      <p:sp>
        <p:nvSpPr>
          <p:cNvPr id="78" name="Text 76"/>
          <p:cNvSpPr/>
          <p:nvPr/>
        </p:nvSpPr>
        <p:spPr>
          <a:xfrm>
            <a:off x="475488" y="4288536"/>
            <a:ext cx="164592" cy="164592"/>
          </a:xfrm>
          <a:prstGeom prst="rect">
            <a:avLst/>
          </a:prstGeom>
          <a:noFill/>
          <a:ln/>
        </p:spPr>
        <p:txBody>
          <a:bodyPr wrap="square" lIns="0" tIns="0" rIns="0" bIns="0" rtlCol="0" anchor="ctr"/>
          <a:lstStyle/>
          <a:p>
            <a:pPr marL="0" indent="0" algn="ctr">
              <a:buNone/>
            </a:pPr>
            <a:r>
              <a:rPr lang="en-US" sz="800" b="1" dirty="0">
                <a:solidFill>
                  <a:srgbClr val="00B4FF"/>
                </a:solidFill>
              </a:rPr>
              <a:t>✓</a:t>
            </a:r>
            <a:endParaRPr lang="en-US" sz="800" dirty="0"/>
          </a:p>
        </p:txBody>
      </p:sp>
      <p:sp>
        <p:nvSpPr>
          <p:cNvPr id="79" name="Text 77"/>
          <p:cNvSpPr/>
          <p:nvPr/>
        </p:nvSpPr>
        <p:spPr>
          <a:xfrm>
            <a:off x="731520" y="4279392"/>
            <a:ext cx="3749040" cy="256032"/>
          </a:xfrm>
          <a:prstGeom prst="rect">
            <a:avLst/>
          </a:prstGeom>
          <a:noFill/>
          <a:ln/>
        </p:spPr>
        <p:txBody>
          <a:bodyPr wrap="square" lIns="0" tIns="0" rIns="0" bIns="0" rtlCol="0" anchor="ctr"/>
          <a:lstStyle/>
          <a:p>
            <a:pPr marL="0" indent="0">
              <a:buNone/>
            </a:pPr>
            <a:r>
              <a:rPr lang="en-US" sz="900" dirty="0">
                <a:solidFill>
                  <a:srgbClr val="D4E6F1"/>
                </a:solidFill>
              </a:rPr>
              <a:t>Created 4 custom columns using M language</a:t>
            </a:r>
            <a:endParaRPr lang="en-US" sz="900" dirty="0"/>
          </a:p>
        </p:txBody>
      </p:sp>
      <p:sp>
        <p:nvSpPr>
          <p:cNvPr id="80" name="Shape 78"/>
          <p:cNvSpPr/>
          <p:nvPr/>
        </p:nvSpPr>
        <p:spPr>
          <a:xfrm>
            <a:off x="4791456" y="2157984"/>
            <a:ext cx="4069080" cy="2633472"/>
          </a:xfrm>
          <a:prstGeom prst="rect">
            <a:avLst/>
          </a:prstGeom>
          <a:solidFill>
            <a:srgbClr val="000000">
              <a:alpha val="28000"/>
            </a:srgbClr>
          </a:solidFill>
          <a:ln w="12700">
            <a:solidFill>
              <a:srgbClr val="000000">
                <a:alpha val="0"/>
              </a:srgbClr>
            </a:solidFill>
            <a:prstDash val="solid"/>
          </a:ln>
        </p:spPr>
      </p:sp>
      <p:sp>
        <p:nvSpPr>
          <p:cNvPr id="81" name="Shape 79"/>
          <p:cNvSpPr/>
          <p:nvPr/>
        </p:nvSpPr>
        <p:spPr>
          <a:xfrm>
            <a:off x="4754880" y="2121408"/>
            <a:ext cx="4069080" cy="2633472"/>
          </a:xfrm>
          <a:prstGeom prst="rect">
            <a:avLst/>
          </a:prstGeom>
          <a:solidFill>
            <a:srgbClr val="0A1628">
              <a:alpha val="82000"/>
            </a:srgbClr>
          </a:solidFill>
          <a:ln w="12700">
            <a:solidFill>
              <a:srgbClr val="1E3A5F"/>
            </a:solidFill>
            <a:prstDash val="solid"/>
          </a:ln>
        </p:spPr>
      </p:sp>
      <p:sp>
        <p:nvSpPr>
          <p:cNvPr id="82" name="Shape 80"/>
          <p:cNvSpPr/>
          <p:nvPr/>
        </p:nvSpPr>
        <p:spPr>
          <a:xfrm>
            <a:off x="4754880" y="2121408"/>
            <a:ext cx="4069080" cy="27432"/>
          </a:xfrm>
          <a:prstGeom prst="rect">
            <a:avLst/>
          </a:prstGeom>
          <a:solidFill>
            <a:srgbClr val="FFFFFF">
              <a:alpha val="26000"/>
            </a:srgbClr>
          </a:solidFill>
          <a:ln w="12700">
            <a:solidFill>
              <a:srgbClr val="FFFFFF">
                <a:alpha val="0"/>
              </a:srgbClr>
            </a:solidFill>
            <a:prstDash val="solid"/>
          </a:ln>
        </p:spPr>
      </p:sp>
      <p:sp>
        <p:nvSpPr>
          <p:cNvPr id="83" name="Shape 81"/>
          <p:cNvSpPr/>
          <p:nvPr/>
        </p:nvSpPr>
        <p:spPr>
          <a:xfrm>
            <a:off x="4754880" y="2121408"/>
            <a:ext cx="27432" cy="2633472"/>
          </a:xfrm>
          <a:prstGeom prst="rect">
            <a:avLst/>
          </a:prstGeom>
          <a:solidFill>
            <a:srgbClr val="FFFFFF">
              <a:alpha val="18000"/>
            </a:srgbClr>
          </a:solidFill>
          <a:ln w="12700">
            <a:solidFill>
              <a:srgbClr val="FFFFFF">
                <a:alpha val="0"/>
              </a:srgbClr>
            </a:solidFill>
            <a:prstDash val="solid"/>
          </a:ln>
        </p:spPr>
      </p:sp>
      <p:sp>
        <p:nvSpPr>
          <p:cNvPr id="84" name="Shape 82"/>
          <p:cNvSpPr/>
          <p:nvPr/>
        </p:nvSpPr>
        <p:spPr>
          <a:xfrm>
            <a:off x="4754880" y="2121408"/>
            <a:ext cx="50292" cy="2633472"/>
          </a:xfrm>
          <a:prstGeom prst="rect">
            <a:avLst/>
          </a:prstGeom>
          <a:solidFill>
            <a:srgbClr val="F5C518"/>
          </a:solidFill>
          <a:ln w="12700">
            <a:solidFill>
              <a:srgbClr val="F5C518"/>
            </a:solidFill>
            <a:prstDash val="solid"/>
          </a:ln>
        </p:spPr>
      </p:sp>
      <p:sp>
        <p:nvSpPr>
          <p:cNvPr id="85" name="Text 83"/>
          <p:cNvSpPr/>
          <p:nvPr/>
        </p:nvSpPr>
        <p:spPr>
          <a:xfrm>
            <a:off x="4901184" y="2194560"/>
            <a:ext cx="3749040" cy="292608"/>
          </a:xfrm>
          <a:prstGeom prst="rect">
            <a:avLst/>
          </a:prstGeom>
          <a:noFill/>
          <a:ln/>
        </p:spPr>
        <p:txBody>
          <a:bodyPr wrap="square" lIns="0" tIns="0" rIns="0" bIns="0" rtlCol="0" anchor="ctr"/>
          <a:lstStyle/>
          <a:p>
            <a:pPr marL="0" indent="0">
              <a:buNone/>
            </a:pPr>
            <a:r>
              <a:rPr lang="en-US" sz="1100" b="1" dirty="0">
                <a:solidFill>
                  <a:srgbClr val="F5C518"/>
                </a:solidFill>
              </a:rPr>
              <a:t>Custom Columns  (M Language)</a:t>
            </a:r>
            <a:endParaRPr lang="en-US" sz="1100" dirty="0"/>
          </a:p>
        </p:txBody>
      </p:sp>
      <p:sp>
        <p:nvSpPr>
          <p:cNvPr id="86" name="Shape 84"/>
          <p:cNvSpPr/>
          <p:nvPr/>
        </p:nvSpPr>
        <p:spPr>
          <a:xfrm>
            <a:off x="4937760" y="2651760"/>
            <a:ext cx="3794760" cy="438912"/>
          </a:xfrm>
          <a:prstGeom prst="rect">
            <a:avLst/>
          </a:prstGeom>
          <a:solidFill>
            <a:srgbClr val="000000">
              <a:alpha val="28000"/>
            </a:srgbClr>
          </a:solidFill>
          <a:ln w="12700">
            <a:solidFill>
              <a:srgbClr val="000000">
                <a:alpha val="0"/>
              </a:srgbClr>
            </a:solidFill>
            <a:prstDash val="solid"/>
          </a:ln>
        </p:spPr>
      </p:sp>
      <p:sp>
        <p:nvSpPr>
          <p:cNvPr id="87" name="Shape 85"/>
          <p:cNvSpPr/>
          <p:nvPr/>
        </p:nvSpPr>
        <p:spPr>
          <a:xfrm>
            <a:off x="4901184" y="2615184"/>
            <a:ext cx="3794760" cy="438912"/>
          </a:xfrm>
          <a:prstGeom prst="rect">
            <a:avLst/>
          </a:prstGeom>
          <a:solidFill>
            <a:srgbClr val="0A1628">
              <a:alpha val="82000"/>
            </a:srgbClr>
          </a:solidFill>
          <a:ln w="12700">
            <a:solidFill>
              <a:srgbClr val="1E3A5F"/>
            </a:solidFill>
            <a:prstDash val="solid"/>
          </a:ln>
        </p:spPr>
      </p:sp>
      <p:sp>
        <p:nvSpPr>
          <p:cNvPr id="88" name="Shape 86"/>
          <p:cNvSpPr/>
          <p:nvPr/>
        </p:nvSpPr>
        <p:spPr>
          <a:xfrm>
            <a:off x="4901184" y="2615184"/>
            <a:ext cx="3794760" cy="27432"/>
          </a:xfrm>
          <a:prstGeom prst="rect">
            <a:avLst/>
          </a:prstGeom>
          <a:solidFill>
            <a:srgbClr val="FFFFFF">
              <a:alpha val="26000"/>
            </a:srgbClr>
          </a:solidFill>
          <a:ln w="12700">
            <a:solidFill>
              <a:srgbClr val="FFFFFF">
                <a:alpha val="0"/>
              </a:srgbClr>
            </a:solidFill>
            <a:prstDash val="solid"/>
          </a:ln>
        </p:spPr>
      </p:sp>
      <p:sp>
        <p:nvSpPr>
          <p:cNvPr id="89" name="Shape 87"/>
          <p:cNvSpPr/>
          <p:nvPr/>
        </p:nvSpPr>
        <p:spPr>
          <a:xfrm>
            <a:off x="4901184" y="2615184"/>
            <a:ext cx="27432" cy="438912"/>
          </a:xfrm>
          <a:prstGeom prst="rect">
            <a:avLst/>
          </a:prstGeom>
          <a:solidFill>
            <a:srgbClr val="FFFFFF">
              <a:alpha val="18000"/>
            </a:srgbClr>
          </a:solidFill>
          <a:ln w="12700">
            <a:solidFill>
              <a:srgbClr val="FFFFFF">
                <a:alpha val="0"/>
              </a:srgbClr>
            </a:solidFill>
            <a:prstDash val="solid"/>
          </a:ln>
        </p:spPr>
      </p:sp>
      <p:sp>
        <p:nvSpPr>
          <p:cNvPr id="90" name="Shape 88"/>
          <p:cNvSpPr/>
          <p:nvPr/>
        </p:nvSpPr>
        <p:spPr>
          <a:xfrm>
            <a:off x="4901184" y="2615184"/>
            <a:ext cx="50292" cy="438912"/>
          </a:xfrm>
          <a:prstGeom prst="rect">
            <a:avLst/>
          </a:prstGeom>
          <a:solidFill>
            <a:srgbClr val="F5C518"/>
          </a:solidFill>
          <a:ln w="12700">
            <a:solidFill>
              <a:srgbClr val="F5C518"/>
            </a:solidFill>
            <a:prstDash val="solid"/>
          </a:ln>
        </p:spPr>
      </p:sp>
      <p:sp>
        <p:nvSpPr>
          <p:cNvPr id="91" name="Text 89"/>
          <p:cNvSpPr/>
          <p:nvPr/>
        </p:nvSpPr>
        <p:spPr>
          <a:xfrm>
            <a:off x="5029200" y="2624328"/>
            <a:ext cx="3566160" cy="219456"/>
          </a:xfrm>
          <a:prstGeom prst="rect">
            <a:avLst/>
          </a:prstGeom>
          <a:noFill/>
          <a:ln/>
        </p:spPr>
        <p:txBody>
          <a:bodyPr wrap="square" lIns="0" tIns="0" rIns="0" bIns="0" rtlCol="0" anchor="b"/>
          <a:lstStyle/>
          <a:p>
            <a:pPr marL="0" indent="0">
              <a:buNone/>
            </a:pPr>
            <a:r>
              <a:rPr lang="en-US" sz="950" b="1" dirty="0">
                <a:solidFill>
                  <a:srgbClr val="F5C518"/>
                </a:solidFill>
                <a:latin typeface="Consolas" pitchFamily="34" charset="0"/>
                <a:ea typeface="Consolas" pitchFamily="34" charset="-122"/>
                <a:cs typeface="Consolas" pitchFamily="34" charset="-120"/>
              </a:rPr>
              <a:t>total_nights</a:t>
            </a:r>
            <a:endParaRPr lang="en-US" sz="950" dirty="0"/>
          </a:p>
        </p:txBody>
      </p:sp>
      <p:sp>
        <p:nvSpPr>
          <p:cNvPr id="92" name="Text 90"/>
          <p:cNvSpPr/>
          <p:nvPr/>
        </p:nvSpPr>
        <p:spPr>
          <a:xfrm>
            <a:off x="5029200" y="2834640"/>
            <a:ext cx="3566160" cy="182880"/>
          </a:xfrm>
          <a:prstGeom prst="rect">
            <a:avLst/>
          </a:prstGeom>
          <a:noFill/>
          <a:ln/>
        </p:spPr>
        <p:txBody>
          <a:bodyPr wrap="square" lIns="0" tIns="0" rIns="0" bIns="0" rtlCol="0" anchor="t"/>
          <a:lstStyle/>
          <a:p>
            <a:pPr marL="0" indent="0">
              <a:buNone/>
            </a:pPr>
            <a:r>
              <a:rPr lang="en-US" sz="850" dirty="0">
                <a:solidFill>
                  <a:srgbClr val="6B8CAE"/>
                </a:solidFill>
              </a:rPr>
              <a:t>weekend_nights + weekday_nights</a:t>
            </a:r>
            <a:endParaRPr lang="en-US" sz="850" dirty="0"/>
          </a:p>
        </p:txBody>
      </p:sp>
      <p:sp>
        <p:nvSpPr>
          <p:cNvPr id="93" name="Shape 91"/>
          <p:cNvSpPr/>
          <p:nvPr/>
        </p:nvSpPr>
        <p:spPr>
          <a:xfrm>
            <a:off x="4937760" y="3163824"/>
            <a:ext cx="3794760" cy="438912"/>
          </a:xfrm>
          <a:prstGeom prst="rect">
            <a:avLst/>
          </a:prstGeom>
          <a:solidFill>
            <a:srgbClr val="000000">
              <a:alpha val="28000"/>
            </a:srgbClr>
          </a:solidFill>
          <a:ln w="12700">
            <a:solidFill>
              <a:srgbClr val="000000">
                <a:alpha val="0"/>
              </a:srgbClr>
            </a:solidFill>
            <a:prstDash val="solid"/>
          </a:ln>
        </p:spPr>
      </p:sp>
      <p:sp>
        <p:nvSpPr>
          <p:cNvPr id="94" name="Shape 92"/>
          <p:cNvSpPr/>
          <p:nvPr/>
        </p:nvSpPr>
        <p:spPr>
          <a:xfrm>
            <a:off x="4901184" y="3127248"/>
            <a:ext cx="3794760" cy="438912"/>
          </a:xfrm>
          <a:prstGeom prst="rect">
            <a:avLst/>
          </a:prstGeom>
          <a:solidFill>
            <a:srgbClr val="0A1628">
              <a:alpha val="82000"/>
            </a:srgbClr>
          </a:solidFill>
          <a:ln w="12700">
            <a:solidFill>
              <a:srgbClr val="1E3A5F"/>
            </a:solidFill>
            <a:prstDash val="solid"/>
          </a:ln>
        </p:spPr>
      </p:sp>
      <p:sp>
        <p:nvSpPr>
          <p:cNvPr id="95" name="Shape 93"/>
          <p:cNvSpPr/>
          <p:nvPr/>
        </p:nvSpPr>
        <p:spPr>
          <a:xfrm>
            <a:off x="4901184" y="3127248"/>
            <a:ext cx="3794760" cy="27432"/>
          </a:xfrm>
          <a:prstGeom prst="rect">
            <a:avLst/>
          </a:prstGeom>
          <a:solidFill>
            <a:srgbClr val="FFFFFF">
              <a:alpha val="26000"/>
            </a:srgbClr>
          </a:solidFill>
          <a:ln w="12700">
            <a:solidFill>
              <a:srgbClr val="FFFFFF">
                <a:alpha val="0"/>
              </a:srgbClr>
            </a:solidFill>
            <a:prstDash val="solid"/>
          </a:ln>
        </p:spPr>
      </p:sp>
      <p:sp>
        <p:nvSpPr>
          <p:cNvPr id="96" name="Shape 94"/>
          <p:cNvSpPr/>
          <p:nvPr/>
        </p:nvSpPr>
        <p:spPr>
          <a:xfrm>
            <a:off x="4901184" y="3127248"/>
            <a:ext cx="27432" cy="438912"/>
          </a:xfrm>
          <a:prstGeom prst="rect">
            <a:avLst/>
          </a:prstGeom>
          <a:solidFill>
            <a:srgbClr val="FFFFFF">
              <a:alpha val="18000"/>
            </a:srgbClr>
          </a:solidFill>
          <a:ln w="12700">
            <a:solidFill>
              <a:srgbClr val="FFFFFF">
                <a:alpha val="0"/>
              </a:srgbClr>
            </a:solidFill>
            <a:prstDash val="solid"/>
          </a:ln>
        </p:spPr>
      </p:sp>
      <p:sp>
        <p:nvSpPr>
          <p:cNvPr id="97" name="Shape 95"/>
          <p:cNvSpPr/>
          <p:nvPr/>
        </p:nvSpPr>
        <p:spPr>
          <a:xfrm>
            <a:off x="4901184" y="3127248"/>
            <a:ext cx="50292" cy="438912"/>
          </a:xfrm>
          <a:prstGeom prst="rect">
            <a:avLst/>
          </a:prstGeom>
          <a:solidFill>
            <a:srgbClr val="F5C518"/>
          </a:solidFill>
          <a:ln w="12700">
            <a:solidFill>
              <a:srgbClr val="F5C518"/>
            </a:solidFill>
            <a:prstDash val="solid"/>
          </a:ln>
        </p:spPr>
      </p:sp>
      <p:sp>
        <p:nvSpPr>
          <p:cNvPr id="98" name="Text 96"/>
          <p:cNvSpPr/>
          <p:nvPr/>
        </p:nvSpPr>
        <p:spPr>
          <a:xfrm>
            <a:off x="5029200" y="3136392"/>
            <a:ext cx="3566160" cy="219456"/>
          </a:xfrm>
          <a:prstGeom prst="rect">
            <a:avLst/>
          </a:prstGeom>
          <a:noFill/>
          <a:ln/>
        </p:spPr>
        <p:txBody>
          <a:bodyPr wrap="square" lIns="0" tIns="0" rIns="0" bIns="0" rtlCol="0" anchor="b"/>
          <a:lstStyle/>
          <a:p>
            <a:pPr marL="0" indent="0">
              <a:buNone/>
            </a:pPr>
            <a:r>
              <a:rPr lang="en-US" sz="950" b="1" dirty="0">
                <a:solidFill>
                  <a:srgbClr val="F5C518"/>
                </a:solidFill>
                <a:latin typeface="Consolas" pitchFamily="34" charset="0"/>
                <a:ea typeface="Consolas" pitchFamily="34" charset="-122"/>
                <a:cs typeface="Consolas" pitchFamily="34" charset="-120"/>
              </a:rPr>
              <a:t>guest_type</a:t>
            </a:r>
            <a:endParaRPr lang="en-US" sz="950" dirty="0"/>
          </a:p>
        </p:txBody>
      </p:sp>
      <p:sp>
        <p:nvSpPr>
          <p:cNvPr id="99" name="Text 97"/>
          <p:cNvSpPr/>
          <p:nvPr/>
        </p:nvSpPr>
        <p:spPr>
          <a:xfrm>
            <a:off x="5029200" y="3346704"/>
            <a:ext cx="3566160" cy="182880"/>
          </a:xfrm>
          <a:prstGeom prst="rect">
            <a:avLst/>
          </a:prstGeom>
          <a:noFill/>
          <a:ln/>
        </p:spPr>
        <p:txBody>
          <a:bodyPr wrap="square" lIns="0" tIns="0" rIns="0" bIns="0" rtlCol="0" anchor="t"/>
          <a:lstStyle/>
          <a:p>
            <a:pPr marL="0" indent="0">
              <a:buNone/>
            </a:pPr>
            <a:r>
              <a:rPr lang="en-US" sz="850" dirty="0">
                <a:solidFill>
                  <a:srgbClr val="6B8CAE"/>
                </a:solidFill>
              </a:rPr>
              <a:t>Solo / Family / Couple+Group</a:t>
            </a:r>
            <a:endParaRPr lang="en-US" sz="850" dirty="0"/>
          </a:p>
        </p:txBody>
      </p:sp>
      <p:sp>
        <p:nvSpPr>
          <p:cNvPr id="100" name="Shape 98"/>
          <p:cNvSpPr/>
          <p:nvPr/>
        </p:nvSpPr>
        <p:spPr>
          <a:xfrm>
            <a:off x="4937760" y="3675888"/>
            <a:ext cx="3794760" cy="438912"/>
          </a:xfrm>
          <a:prstGeom prst="rect">
            <a:avLst/>
          </a:prstGeom>
          <a:solidFill>
            <a:srgbClr val="000000">
              <a:alpha val="28000"/>
            </a:srgbClr>
          </a:solidFill>
          <a:ln w="12700">
            <a:solidFill>
              <a:srgbClr val="000000">
                <a:alpha val="0"/>
              </a:srgbClr>
            </a:solidFill>
            <a:prstDash val="solid"/>
          </a:ln>
        </p:spPr>
      </p:sp>
      <p:sp>
        <p:nvSpPr>
          <p:cNvPr id="101" name="Shape 99"/>
          <p:cNvSpPr/>
          <p:nvPr/>
        </p:nvSpPr>
        <p:spPr>
          <a:xfrm>
            <a:off x="4901184" y="3639312"/>
            <a:ext cx="3794760" cy="438912"/>
          </a:xfrm>
          <a:prstGeom prst="rect">
            <a:avLst/>
          </a:prstGeom>
          <a:solidFill>
            <a:srgbClr val="0A1628">
              <a:alpha val="82000"/>
            </a:srgbClr>
          </a:solidFill>
          <a:ln w="12700">
            <a:solidFill>
              <a:srgbClr val="1E3A5F"/>
            </a:solidFill>
            <a:prstDash val="solid"/>
          </a:ln>
        </p:spPr>
      </p:sp>
      <p:sp>
        <p:nvSpPr>
          <p:cNvPr id="102" name="Shape 100"/>
          <p:cNvSpPr/>
          <p:nvPr/>
        </p:nvSpPr>
        <p:spPr>
          <a:xfrm>
            <a:off x="4901184" y="3639312"/>
            <a:ext cx="3794760" cy="27432"/>
          </a:xfrm>
          <a:prstGeom prst="rect">
            <a:avLst/>
          </a:prstGeom>
          <a:solidFill>
            <a:srgbClr val="FFFFFF">
              <a:alpha val="26000"/>
            </a:srgbClr>
          </a:solidFill>
          <a:ln w="12700">
            <a:solidFill>
              <a:srgbClr val="FFFFFF">
                <a:alpha val="0"/>
              </a:srgbClr>
            </a:solidFill>
            <a:prstDash val="solid"/>
          </a:ln>
        </p:spPr>
      </p:sp>
      <p:sp>
        <p:nvSpPr>
          <p:cNvPr id="103" name="Shape 101"/>
          <p:cNvSpPr/>
          <p:nvPr/>
        </p:nvSpPr>
        <p:spPr>
          <a:xfrm>
            <a:off x="4901184" y="3639312"/>
            <a:ext cx="27432" cy="438912"/>
          </a:xfrm>
          <a:prstGeom prst="rect">
            <a:avLst/>
          </a:prstGeom>
          <a:solidFill>
            <a:srgbClr val="FFFFFF">
              <a:alpha val="18000"/>
            </a:srgbClr>
          </a:solidFill>
          <a:ln w="12700">
            <a:solidFill>
              <a:srgbClr val="FFFFFF">
                <a:alpha val="0"/>
              </a:srgbClr>
            </a:solidFill>
            <a:prstDash val="solid"/>
          </a:ln>
        </p:spPr>
      </p:sp>
      <p:sp>
        <p:nvSpPr>
          <p:cNvPr id="104" name="Shape 102"/>
          <p:cNvSpPr/>
          <p:nvPr/>
        </p:nvSpPr>
        <p:spPr>
          <a:xfrm>
            <a:off x="4901184" y="3639312"/>
            <a:ext cx="50292" cy="438912"/>
          </a:xfrm>
          <a:prstGeom prst="rect">
            <a:avLst/>
          </a:prstGeom>
          <a:solidFill>
            <a:srgbClr val="F5C518"/>
          </a:solidFill>
          <a:ln w="12700">
            <a:solidFill>
              <a:srgbClr val="F5C518"/>
            </a:solidFill>
            <a:prstDash val="solid"/>
          </a:ln>
        </p:spPr>
      </p:sp>
      <p:sp>
        <p:nvSpPr>
          <p:cNvPr id="105" name="Text 103"/>
          <p:cNvSpPr/>
          <p:nvPr/>
        </p:nvSpPr>
        <p:spPr>
          <a:xfrm>
            <a:off x="5029200" y="3648456"/>
            <a:ext cx="3566160" cy="219456"/>
          </a:xfrm>
          <a:prstGeom prst="rect">
            <a:avLst/>
          </a:prstGeom>
          <a:noFill/>
          <a:ln/>
        </p:spPr>
        <p:txBody>
          <a:bodyPr wrap="square" lIns="0" tIns="0" rIns="0" bIns="0" rtlCol="0" anchor="b"/>
          <a:lstStyle/>
          <a:p>
            <a:pPr marL="0" indent="0">
              <a:buNone/>
            </a:pPr>
            <a:r>
              <a:rPr lang="en-US" sz="950" b="1" dirty="0">
                <a:solidFill>
                  <a:srgbClr val="F5C518"/>
                </a:solidFill>
                <a:latin typeface="Consolas" pitchFamily="34" charset="0"/>
                <a:ea typeface="Consolas" pitchFamily="34" charset="-122"/>
                <a:cs typeface="Consolas" pitchFamily="34" charset="-120"/>
              </a:rPr>
              <a:t>season</a:t>
            </a:r>
            <a:endParaRPr lang="en-US" sz="950" dirty="0"/>
          </a:p>
        </p:txBody>
      </p:sp>
      <p:sp>
        <p:nvSpPr>
          <p:cNvPr id="106" name="Text 104"/>
          <p:cNvSpPr/>
          <p:nvPr/>
        </p:nvSpPr>
        <p:spPr>
          <a:xfrm>
            <a:off x="5029200" y="3858768"/>
            <a:ext cx="3566160" cy="182880"/>
          </a:xfrm>
          <a:prstGeom prst="rect">
            <a:avLst/>
          </a:prstGeom>
          <a:noFill/>
          <a:ln/>
        </p:spPr>
        <p:txBody>
          <a:bodyPr wrap="square" lIns="0" tIns="0" rIns="0" bIns="0" rtlCol="0" anchor="t"/>
          <a:lstStyle/>
          <a:p>
            <a:pPr marL="0" indent="0">
              <a:buNone/>
            </a:pPr>
            <a:r>
              <a:rPr lang="en-US" sz="850" dirty="0">
                <a:solidFill>
                  <a:srgbClr val="6B8CAE"/>
                </a:solidFill>
              </a:rPr>
              <a:t>Winter / Spring / Summer / Autumn</a:t>
            </a:r>
            <a:endParaRPr lang="en-US" sz="850" dirty="0"/>
          </a:p>
        </p:txBody>
      </p:sp>
      <p:sp>
        <p:nvSpPr>
          <p:cNvPr id="107" name="Shape 105"/>
          <p:cNvSpPr/>
          <p:nvPr/>
        </p:nvSpPr>
        <p:spPr>
          <a:xfrm>
            <a:off x="4937760" y="4187952"/>
            <a:ext cx="3794760" cy="438912"/>
          </a:xfrm>
          <a:prstGeom prst="rect">
            <a:avLst/>
          </a:prstGeom>
          <a:solidFill>
            <a:srgbClr val="000000">
              <a:alpha val="28000"/>
            </a:srgbClr>
          </a:solidFill>
          <a:ln w="12700">
            <a:solidFill>
              <a:srgbClr val="000000">
                <a:alpha val="0"/>
              </a:srgbClr>
            </a:solidFill>
            <a:prstDash val="solid"/>
          </a:ln>
        </p:spPr>
      </p:sp>
      <p:sp>
        <p:nvSpPr>
          <p:cNvPr id="108" name="Shape 106"/>
          <p:cNvSpPr/>
          <p:nvPr/>
        </p:nvSpPr>
        <p:spPr>
          <a:xfrm>
            <a:off x="4901184" y="4151376"/>
            <a:ext cx="3794760" cy="438912"/>
          </a:xfrm>
          <a:prstGeom prst="rect">
            <a:avLst/>
          </a:prstGeom>
          <a:solidFill>
            <a:srgbClr val="0A1628">
              <a:alpha val="82000"/>
            </a:srgbClr>
          </a:solidFill>
          <a:ln w="12700">
            <a:solidFill>
              <a:srgbClr val="1E3A5F"/>
            </a:solidFill>
            <a:prstDash val="solid"/>
          </a:ln>
        </p:spPr>
      </p:sp>
      <p:sp>
        <p:nvSpPr>
          <p:cNvPr id="109" name="Shape 107"/>
          <p:cNvSpPr/>
          <p:nvPr/>
        </p:nvSpPr>
        <p:spPr>
          <a:xfrm>
            <a:off x="4901184" y="4151376"/>
            <a:ext cx="3794760" cy="27432"/>
          </a:xfrm>
          <a:prstGeom prst="rect">
            <a:avLst/>
          </a:prstGeom>
          <a:solidFill>
            <a:srgbClr val="FFFFFF">
              <a:alpha val="26000"/>
            </a:srgbClr>
          </a:solidFill>
          <a:ln w="12700">
            <a:solidFill>
              <a:srgbClr val="FFFFFF">
                <a:alpha val="0"/>
              </a:srgbClr>
            </a:solidFill>
            <a:prstDash val="solid"/>
          </a:ln>
        </p:spPr>
      </p:sp>
      <p:sp>
        <p:nvSpPr>
          <p:cNvPr id="110" name="Shape 108"/>
          <p:cNvSpPr/>
          <p:nvPr/>
        </p:nvSpPr>
        <p:spPr>
          <a:xfrm>
            <a:off x="4901184" y="4151376"/>
            <a:ext cx="27432" cy="438912"/>
          </a:xfrm>
          <a:prstGeom prst="rect">
            <a:avLst/>
          </a:prstGeom>
          <a:solidFill>
            <a:srgbClr val="FFFFFF">
              <a:alpha val="18000"/>
            </a:srgbClr>
          </a:solidFill>
          <a:ln w="12700">
            <a:solidFill>
              <a:srgbClr val="FFFFFF">
                <a:alpha val="0"/>
              </a:srgbClr>
            </a:solidFill>
            <a:prstDash val="solid"/>
          </a:ln>
        </p:spPr>
      </p:sp>
      <p:sp>
        <p:nvSpPr>
          <p:cNvPr id="111" name="Shape 109"/>
          <p:cNvSpPr/>
          <p:nvPr/>
        </p:nvSpPr>
        <p:spPr>
          <a:xfrm>
            <a:off x="4901184" y="4151376"/>
            <a:ext cx="50292" cy="438912"/>
          </a:xfrm>
          <a:prstGeom prst="rect">
            <a:avLst/>
          </a:prstGeom>
          <a:solidFill>
            <a:srgbClr val="F5C518"/>
          </a:solidFill>
          <a:ln w="12700">
            <a:solidFill>
              <a:srgbClr val="F5C518"/>
            </a:solidFill>
            <a:prstDash val="solid"/>
          </a:ln>
        </p:spPr>
      </p:sp>
      <p:sp>
        <p:nvSpPr>
          <p:cNvPr id="112" name="Text 110"/>
          <p:cNvSpPr/>
          <p:nvPr/>
        </p:nvSpPr>
        <p:spPr>
          <a:xfrm>
            <a:off x="5029200" y="4160520"/>
            <a:ext cx="3566160" cy="219456"/>
          </a:xfrm>
          <a:prstGeom prst="rect">
            <a:avLst/>
          </a:prstGeom>
          <a:noFill/>
          <a:ln/>
        </p:spPr>
        <p:txBody>
          <a:bodyPr wrap="square" lIns="0" tIns="0" rIns="0" bIns="0" rtlCol="0" anchor="b"/>
          <a:lstStyle/>
          <a:p>
            <a:pPr marL="0" indent="0">
              <a:buNone/>
            </a:pPr>
            <a:r>
              <a:rPr lang="en-US" sz="950" b="1" dirty="0">
                <a:solidFill>
                  <a:srgbClr val="F5C518"/>
                </a:solidFill>
                <a:latin typeface="Consolas" pitchFamily="34" charset="0"/>
                <a:ea typeface="Consolas" pitchFamily="34" charset="-122"/>
                <a:cs typeface="Consolas" pitchFamily="34" charset="-120"/>
              </a:rPr>
              <a:t>revenue</a:t>
            </a:r>
            <a:endParaRPr lang="en-US" sz="950" dirty="0"/>
          </a:p>
        </p:txBody>
      </p:sp>
      <p:sp>
        <p:nvSpPr>
          <p:cNvPr id="113" name="Text 111"/>
          <p:cNvSpPr/>
          <p:nvPr/>
        </p:nvSpPr>
        <p:spPr>
          <a:xfrm>
            <a:off x="5029200" y="4370832"/>
            <a:ext cx="3566160" cy="182880"/>
          </a:xfrm>
          <a:prstGeom prst="rect">
            <a:avLst/>
          </a:prstGeom>
          <a:noFill/>
          <a:ln/>
        </p:spPr>
        <p:txBody>
          <a:bodyPr wrap="square" lIns="0" tIns="0" rIns="0" bIns="0" rtlCol="0" anchor="t"/>
          <a:lstStyle/>
          <a:p>
            <a:pPr marL="0" indent="0">
              <a:buNone/>
            </a:pPr>
            <a:r>
              <a:rPr lang="en-US" sz="850" dirty="0">
                <a:solidFill>
                  <a:srgbClr val="6B8CAE"/>
                </a:solidFill>
              </a:rPr>
              <a:t>ADR × total_nights</a:t>
            </a:r>
            <a:endParaRPr lang="en-US" sz="850" dirty="0"/>
          </a:p>
        </p:txBody>
      </p:sp>
      <p:sp>
        <p:nvSpPr>
          <p:cNvPr id="114" name="Shape 112"/>
          <p:cNvSpPr/>
          <p:nvPr/>
        </p:nvSpPr>
        <p:spPr>
          <a:xfrm>
            <a:off x="0" y="4983480"/>
            <a:ext cx="9144000" cy="160020"/>
          </a:xfrm>
          <a:prstGeom prst="rect">
            <a:avLst/>
          </a:prstGeom>
          <a:solidFill>
            <a:srgbClr val="1A2E45"/>
          </a:solidFill>
          <a:ln w="12700">
            <a:solidFill>
              <a:srgbClr val="1A2E45"/>
            </a:solidFill>
            <a:prstDash val="solid"/>
          </a:ln>
        </p:spPr>
      </p:sp>
      <p:sp>
        <p:nvSpPr>
          <p:cNvPr id="115" name="Shape 113"/>
          <p:cNvSpPr/>
          <p:nvPr/>
        </p:nvSpPr>
        <p:spPr>
          <a:xfrm>
            <a:off x="0" y="4983480"/>
            <a:ext cx="36576" cy="160020"/>
          </a:xfrm>
          <a:prstGeom prst="rect">
            <a:avLst/>
          </a:prstGeom>
          <a:solidFill>
            <a:srgbClr val="F5C518"/>
          </a:solidFill>
          <a:ln w="12700">
            <a:solidFill>
              <a:srgbClr val="F5C518"/>
            </a:solidFill>
            <a:prstDash val="solid"/>
          </a:ln>
        </p:spPr>
      </p:sp>
      <p:sp>
        <p:nvSpPr>
          <p:cNvPr id="116" name="Text 114"/>
          <p:cNvSpPr/>
          <p:nvPr/>
        </p:nvSpPr>
        <p:spPr>
          <a:xfrm>
            <a:off x="137160" y="4983480"/>
            <a:ext cx="8229600" cy="160020"/>
          </a:xfrm>
          <a:prstGeom prst="rect">
            <a:avLst/>
          </a:prstGeom>
          <a:noFill/>
          <a:ln/>
        </p:spPr>
        <p:txBody>
          <a:bodyPr wrap="square" lIns="0" tIns="0" rIns="0" bIns="0" rtlCol="0" anchor="ctr"/>
          <a:lstStyle/>
          <a:p>
            <a:pPr marL="0" indent="0">
              <a:buNone/>
            </a:pPr>
            <a:r>
              <a:rPr lang="en-US" sz="750" dirty="0">
                <a:solidFill>
                  <a:srgbClr val="6B8CAE"/>
                </a:solidFill>
              </a:rPr>
              <a:t>HotelRevAI  ·  Infosys Springboard Internship 6.0  ·  Batch 13 — Group 2, Team D</a:t>
            </a:r>
            <a:endParaRPr lang="en-US" sz="750" dirty="0"/>
          </a:p>
        </p:txBody>
      </p:sp>
      <p:sp>
        <p:nvSpPr>
          <p:cNvPr id="117" name="Text 115"/>
          <p:cNvSpPr/>
          <p:nvPr/>
        </p:nvSpPr>
        <p:spPr>
          <a:xfrm>
            <a:off x="8686800" y="4983480"/>
            <a:ext cx="411480" cy="160020"/>
          </a:xfrm>
          <a:prstGeom prst="rect">
            <a:avLst/>
          </a:prstGeom>
          <a:noFill/>
          <a:ln/>
        </p:spPr>
        <p:txBody>
          <a:bodyPr wrap="square" lIns="0" tIns="0" rIns="0" bIns="0" rtlCol="0" anchor="ctr"/>
          <a:lstStyle/>
          <a:p>
            <a:pPr marL="0" indent="0" algn="r">
              <a:buNone/>
            </a:pPr>
            <a:r>
              <a:rPr lang="en-US" sz="750" b="1" dirty="0">
                <a:solidFill>
                  <a:srgbClr val="F5C518"/>
                </a:solidFill>
              </a:rPr>
              <a:t>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A14"/>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0D2137"/>
            </a:solidFill>
            <a:prstDash val="solid"/>
          </a:ln>
        </p:spPr>
      </p:sp>
      <p:sp>
        <p:nvSpPr>
          <p:cNvPr id="3" name="Shape 1"/>
          <p:cNvSpPr/>
          <p:nvPr/>
        </p:nvSpPr>
        <p:spPr>
          <a:xfrm>
            <a:off x="914400" y="0"/>
            <a:ext cx="0" cy="5143500"/>
          </a:xfrm>
          <a:prstGeom prst="line">
            <a:avLst/>
          </a:prstGeom>
          <a:noFill/>
          <a:ln w="6350">
            <a:solidFill>
              <a:srgbClr val="0D2137"/>
            </a:solidFill>
            <a:prstDash val="solid"/>
          </a:ln>
        </p:spPr>
      </p:sp>
      <p:sp>
        <p:nvSpPr>
          <p:cNvPr id="4" name="Shape 2"/>
          <p:cNvSpPr/>
          <p:nvPr/>
        </p:nvSpPr>
        <p:spPr>
          <a:xfrm>
            <a:off x="1828800" y="0"/>
            <a:ext cx="0" cy="5143500"/>
          </a:xfrm>
          <a:prstGeom prst="line">
            <a:avLst/>
          </a:prstGeom>
          <a:noFill/>
          <a:ln w="6350">
            <a:solidFill>
              <a:srgbClr val="0D2137"/>
            </a:solidFill>
            <a:prstDash val="solid"/>
          </a:ln>
        </p:spPr>
      </p:sp>
      <p:sp>
        <p:nvSpPr>
          <p:cNvPr id="5" name="Shape 3"/>
          <p:cNvSpPr/>
          <p:nvPr/>
        </p:nvSpPr>
        <p:spPr>
          <a:xfrm>
            <a:off x="2743200" y="0"/>
            <a:ext cx="0" cy="5143500"/>
          </a:xfrm>
          <a:prstGeom prst="line">
            <a:avLst/>
          </a:prstGeom>
          <a:noFill/>
          <a:ln w="6350">
            <a:solidFill>
              <a:srgbClr val="0D2137"/>
            </a:solidFill>
            <a:prstDash val="solid"/>
          </a:ln>
        </p:spPr>
      </p:sp>
      <p:sp>
        <p:nvSpPr>
          <p:cNvPr id="6" name="Shape 4"/>
          <p:cNvSpPr/>
          <p:nvPr/>
        </p:nvSpPr>
        <p:spPr>
          <a:xfrm>
            <a:off x="3657600" y="0"/>
            <a:ext cx="0" cy="5143500"/>
          </a:xfrm>
          <a:prstGeom prst="line">
            <a:avLst/>
          </a:prstGeom>
          <a:noFill/>
          <a:ln w="6350">
            <a:solidFill>
              <a:srgbClr val="0D2137"/>
            </a:solidFill>
            <a:prstDash val="solid"/>
          </a:ln>
        </p:spPr>
      </p:sp>
      <p:sp>
        <p:nvSpPr>
          <p:cNvPr id="7" name="Shape 5"/>
          <p:cNvSpPr/>
          <p:nvPr/>
        </p:nvSpPr>
        <p:spPr>
          <a:xfrm>
            <a:off x="4572000" y="0"/>
            <a:ext cx="0" cy="5143500"/>
          </a:xfrm>
          <a:prstGeom prst="line">
            <a:avLst/>
          </a:prstGeom>
          <a:noFill/>
          <a:ln w="6350">
            <a:solidFill>
              <a:srgbClr val="0D2137"/>
            </a:solidFill>
            <a:prstDash val="solid"/>
          </a:ln>
        </p:spPr>
      </p:sp>
      <p:sp>
        <p:nvSpPr>
          <p:cNvPr id="8" name="Shape 6"/>
          <p:cNvSpPr/>
          <p:nvPr/>
        </p:nvSpPr>
        <p:spPr>
          <a:xfrm>
            <a:off x="5486400" y="0"/>
            <a:ext cx="0" cy="5143500"/>
          </a:xfrm>
          <a:prstGeom prst="line">
            <a:avLst/>
          </a:prstGeom>
          <a:noFill/>
          <a:ln w="6350">
            <a:solidFill>
              <a:srgbClr val="0D2137"/>
            </a:solidFill>
            <a:prstDash val="solid"/>
          </a:ln>
        </p:spPr>
      </p:sp>
      <p:sp>
        <p:nvSpPr>
          <p:cNvPr id="9" name="Shape 7"/>
          <p:cNvSpPr/>
          <p:nvPr/>
        </p:nvSpPr>
        <p:spPr>
          <a:xfrm>
            <a:off x="6400800" y="0"/>
            <a:ext cx="0" cy="5143500"/>
          </a:xfrm>
          <a:prstGeom prst="line">
            <a:avLst/>
          </a:prstGeom>
          <a:noFill/>
          <a:ln w="6350">
            <a:solidFill>
              <a:srgbClr val="0D2137"/>
            </a:solidFill>
            <a:prstDash val="solid"/>
          </a:ln>
        </p:spPr>
      </p:sp>
      <p:sp>
        <p:nvSpPr>
          <p:cNvPr id="10" name="Shape 8"/>
          <p:cNvSpPr/>
          <p:nvPr/>
        </p:nvSpPr>
        <p:spPr>
          <a:xfrm>
            <a:off x="7315200" y="0"/>
            <a:ext cx="0" cy="5143500"/>
          </a:xfrm>
          <a:prstGeom prst="line">
            <a:avLst/>
          </a:prstGeom>
          <a:noFill/>
          <a:ln w="6350">
            <a:solidFill>
              <a:srgbClr val="0D2137"/>
            </a:solidFill>
            <a:prstDash val="solid"/>
          </a:ln>
        </p:spPr>
      </p:sp>
      <p:sp>
        <p:nvSpPr>
          <p:cNvPr id="11" name="Shape 9"/>
          <p:cNvSpPr/>
          <p:nvPr/>
        </p:nvSpPr>
        <p:spPr>
          <a:xfrm>
            <a:off x="8229600" y="0"/>
            <a:ext cx="0" cy="5143500"/>
          </a:xfrm>
          <a:prstGeom prst="line">
            <a:avLst/>
          </a:prstGeom>
          <a:noFill/>
          <a:ln w="6350">
            <a:solidFill>
              <a:srgbClr val="0D2137"/>
            </a:solidFill>
            <a:prstDash val="solid"/>
          </a:ln>
        </p:spPr>
      </p:sp>
      <p:sp>
        <p:nvSpPr>
          <p:cNvPr id="12" name="Shape 10"/>
          <p:cNvSpPr/>
          <p:nvPr/>
        </p:nvSpPr>
        <p:spPr>
          <a:xfrm>
            <a:off x="9144000" y="0"/>
            <a:ext cx="0" cy="5143500"/>
          </a:xfrm>
          <a:prstGeom prst="line">
            <a:avLst/>
          </a:prstGeom>
          <a:noFill/>
          <a:ln w="6350">
            <a:solidFill>
              <a:srgbClr val="0D2137"/>
            </a:solidFill>
            <a:prstDash val="solid"/>
          </a:ln>
        </p:spPr>
      </p:sp>
      <p:sp>
        <p:nvSpPr>
          <p:cNvPr id="13" name="Shape 11"/>
          <p:cNvSpPr/>
          <p:nvPr/>
        </p:nvSpPr>
        <p:spPr>
          <a:xfrm>
            <a:off x="0" y="0"/>
            <a:ext cx="9144000" cy="0"/>
          </a:xfrm>
          <a:prstGeom prst="line">
            <a:avLst/>
          </a:prstGeom>
          <a:noFill/>
          <a:ln w="6350">
            <a:solidFill>
              <a:srgbClr val="0D2137"/>
            </a:solidFill>
            <a:prstDash val="solid"/>
          </a:ln>
        </p:spPr>
      </p:sp>
      <p:sp>
        <p:nvSpPr>
          <p:cNvPr id="14" name="Shape 12"/>
          <p:cNvSpPr/>
          <p:nvPr/>
        </p:nvSpPr>
        <p:spPr>
          <a:xfrm>
            <a:off x="0" y="859536"/>
            <a:ext cx="9144000" cy="0"/>
          </a:xfrm>
          <a:prstGeom prst="line">
            <a:avLst/>
          </a:prstGeom>
          <a:noFill/>
          <a:ln w="6350">
            <a:solidFill>
              <a:srgbClr val="0D2137"/>
            </a:solidFill>
            <a:prstDash val="solid"/>
          </a:ln>
        </p:spPr>
      </p:sp>
      <p:sp>
        <p:nvSpPr>
          <p:cNvPr id="15" name="Shape 13"/>
          <p:cNvSpPr/>
          <p:nvPr/>
        </p:nvSpPr>
        <p:spPr>
          <a:xfrm>
            <a:off x="0" y="1719072"/>
            <a:ext cx="9144000" cy="0"/>
          </a:xfrm>
          <a:prstGeom prst="line">
            <a:avLst/>
          </a:prstGeom>
          <a:noFill/>
          <a:ln w="6350">
            <a:solidFill>
              <a:srgbClr val="0D2137"/>
            </a:solidFill>
            <a:prstDash val="solid"/>
          </a:ln>
        </p:spPr>
      </p:sp>
      <p:sp>
        <p:nvSpPr>
          <p:cNvPr id="16" name="Shape 14"/>
          <p:cNvSpPr/>
          <p:nvPr/>
        </p:nvSpPr>
        <p:spPr>
          <a:xfrm>
            <a:off x="0" y="2578608"/>
            <a:ext cx="9144000" cy="0"/>
          </a:xfrm>
          <a:prstGeom prst="line">
            <a:avLst/>
          </a:prstGeom>
          <a:noFill/>
          <a:ln w="6350">
            <a:solidFill>
              <a:srgbClr val="0D2137"/>
            </a:solidFill>
            <a:prstDash val="solid"/>
          </a:ln>
        </p:spPr>
      </p:sp>
      <p:sp>
        <p:nvSpPr>
          <p:cNvPr id="17" name="Shape 15"/>
          <p:cNvSpPr/>
          <p:nvPr/>
        </p:nvSpPr>
        <p:spPr>
          <a:xfrm>
            <a:off x="0" y="3438144"/>
            <a:ext cx="9144000" cy="0"/>
          </a:xfrm>
          <a:prstGeom prst="line">
            <a:avLst/>
          </a:prstGeom>
          <a:noFill/>
          <a:ln w="6350">
            <a:solidFill>
              <a:srgbClr val="0D2137"/>
            </a:solidFill>
            <a:prstDash val="solid"/>
          </a:ln>
        </p:spPr>
      </p:sp>
      <p:sp>
        <p:nvSpPr>
          <p:cNvPr id="18" name="Shape 16"/>
          <p:cNvSpPr/>
          <p:nvPr/>
        </p:nvSpPr>
        <p:spPr>
          <a:xfrm>
            <a:off x="0" y="4297680"/>
            <a:ext cx="9144000" cy="0"/>
          </a:xfrm>
          <a:prstGeom prst="line">
            <a:avLst/>
          </a:prstGeom>
          <a:noFill/>
          <a:ln w="6350">
            <a:solidFill>
              <a:srgbClr val="0D2137"/>
            </a:solidFill>
            <a:prstDash val="solid"/>
          </a:ln>
        </p:spPr>
      </p:sp>
      <p:sp>
        <p:nvSpPr>
          <p:cNvPr id="19" name="Shape 17"/>
          <p:cNvSpPr/>
          <p:nvPr/>
        </p:nvSpPr>
        <p:spPr>
          <a:xfrm>
            <a:off x="0" y="5157216"/>
            <a:ext cx="9144000" cy="0"/>
          </a:xfrm>
          <a:prstGeom prst="line">
            <a:avLst/>
          </a:prstGeom>
          <a:noFill/>
          <a:ln w="6350">
            <a:solidFill>
              <a:srgbClr val="0D2137"/>
            </a:solidFill>
            <a:prstDash val="solid"/>
          </a:ln>
        </p:spPr>
      </p:sp>
      <p:sp>
        <p:nvSpPr>
          <p:cNvPr id="20" name="Shape 18"/>
          <p:cNvSpPr/>
          <p:nvPr/>
        </p:nvSpPr>
        <p:spPr>
          <a:xfrm>
            <a:off x="2743200" y="3200400"/>
            <a:ext cx="3657600" cy="3657600"/>
          </a:xfrm>
          <a:prstGeom prst="ellipse">
            <a:avLst/>
          </a:prstGeom>
          <a:solidFill>
            <a:srgbClr val="F5C518">
              <a:alpha val="10000"/>
            </a:srgbClr>
          </a:solidFill>
          <a:ln w="12700">
            <a:solidFill>
              <a:srgbClr val="F5C518">
                <a:alpha val="5000"/>
              </a:srgbClr>
            </a:solidFill>
            <a:prstDash val="solid"/>
          </a:ln>
        </p:spPr>
      </p:sp>
      <p:sp>
        <p:nvSpPr>
          <p:cNvPr id="21" name="Shape 19"/>
          <p:cNvSpPr/>
          <p:nvPr/>
        </p:nvSpPr>
        <p:spPr>
          <a:xfrm>
            <a:off x="3657600" y="4114800"/>
            <a:ext cx="1828800" cy="1828800"/>
          </a:xfrm>
          <a:prstGeom prst="ellipse">
            <a:avLst/>
          </a:prstGeom>
          <a:solidFill>
            <a:srgbClr val="F5C518">
              <a:alpha val="2000"/>
            </a:srgbClr>
          </a:solidFill>
          <a:ln w="12700">
            <a:solidFill>
              <a:srgbClr val="F5C518">
                <a:alpha val="0"/>
              </a:srgbClr>
            </a:solidFill>
            <a:prstDash val="solid"/>
          </a:ln>
        </p:spPr>
      </p:sp>
      <p:sp>
        <p:nvSpPr>
          <p:cNvPr id="22" name="Shape 20"/>
          <p:cNvSpPr/>
          <p:nvPr/>
        </p:nvSpPr>
        <p:spPr>
          <a:xfrm>
            <a:off x="0" y="0"/>
            <a:ext cx="9144000" cy="50292"/>
          </a:xfrm>
          <a:prstGeom prst="rect">
            <a:avLst/>
          </a:prstGeom>
          <a:solidFill>
            <a:srgbClr val="F5C518"/>
          </a:solidFill>
          <a:ln w="12700">
            <a:solidFill>
              <a:srgbClr val="F5C518"/>
            </a:solidFill>
            <a:prstDash val="solid"/>
          </a:ln>
        </p:spPr>
      </p:sp>
      <p:sp>
        <p:nvSpPr>
          <p:cNvPr id="23" name="Shape 21"/>
          <p:cNvSpPr/>
          <p:nvPr/>
        </p:nvSpPr>
        <p:spPr>
          <a:xfrm>
            <a:off x="320040" y="182880"/>
            <a:ext cx="1737360" cy="246888"/>
          </a:xfrm>
          <a:prstGeom prst="rect">
            <a:avLst/>
          </a:prstGeom>
          <a:solidFill>
            <a:srgbClr val="003E7A"/>
          </a:solidFill>
          <a:ln w="12700">
            <a:solidFill>
              <a:srgbClr val="00B4FF"/>
            </a:solidFill>
            <a:prstDash val="solid"/>
          </a:ln>
        </p:spPr>
      </p:sp>
      <p:sp>
        <p:nvSpPr>
          <p:cNvPr id="24" name="Text 22"/>
          <p:cNvSpPr/>
          <p:nvPr/>
        </p:nvSpPr>
        <p:spPr>
          <a:xfrm>
            <a:off x="320040" y="182880"/>
            <a:ext cx="1737360" cy="246888"/>
          </a:xfrm>
          <a:prstGeom prst="rect">
            <a:avLst/>
          </a:prstGeom>
          <a:noFill/>
          <a:ln/>
        </p:spPr>
        <p:txBody>
          <a:bodyPr wrap="square" lIns="0" tIns="0" rIns="0" bIns="0" rtlCol="0" anchor="ctr"/>
          <a:lstStyle/>
          <a:p>
            <a:pPr marL="0" indent="0" algn="ctr">
              <a:buNone/>
            </a:pPr>
            <a:r>
              <a:rPr lang="en-US" sz="700" b="1" kern="0" spc="200" dirty="0">
                <a:solidFill>
                  <a:srgbClr val="00B4FF"/>
                </a:solidFill>
              </a:rPr>
              <a:t>APPROACH</a:t>
            </a:r>
            <a:endParaRPr lang="en-US" sz="700" dirty="0"/>
          </a:p>
        </p:txBody>
      </p:sp>
      <p:sp>
        <p:nvSpPr>
          <p:cNvPr id="25" name="Text 23"/>
          <p:cNvSpPr/>
          <p:nvPr/>
        </p:nvSpPr>
        <p:spPr>
          <a:xfrm>
            <a:off x="320040" y="521208"/>
            <a:ext cx="8503920" cy="512064"/>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Project Methodology</a:t>
            </a:r>
            <a:endParaRPr lang="en-US" sz="2800" dirty="0"/>
          </a:p>
        </p:txBody>
      </p:sp>
      <p:sp>
        <p:nvSpPr>
          <p:cNvPr id="26" name="Shape 24"/>
          <p:cNvSpPr/>
          <p:nvPr/>
        </p:nvSpPr>
        <p:spPr>
          <a:xfrm>
            <a:off x="320040" y="1078992"/>
            <a:ext cx="1097280" cy="36576"/>
          </a:xfrm>
          <a:prstGeom prst="rect">
            <a:avLst/>
          </a:prstGeom>
          <a:solidFill>
            <a:srgbClr val="F5C518"/>
          </a:solidFill>
          <a:ln w="12700">
            <a:solidFill>
              <a:srgbClr val="F5C518"/>
            </a:solidFill>
            <a:prstDash val="solid"/>
          </a:ln>
        </p:spPr>
      </p:sp>
      <p:sp>
        <p:nvSpPr>
          <p:cNvPr id="27" name="Shape 25"/>
          <p:cNvSpPr/>
          <p:nvPr/>
        </p:nvSpPr>
        <p:spPr>
          <a:xfrm>
            <a:off x="1463040" y="1078992"/>
            <a:ext cx="7360920" cy="36576"/>
          </a:xfrm>
          <a:prstGeom prst="rect">
            <a:avLst/>
          </a:prstGeom>
          <a:solidFill>
            <a:srgbClr val="1A2E45"/>
          </a:solidFill>
          <a:ln w="12700">
            <a:solidFill>
              <a:srgbClr val="1A2E45"/>
            </a:solidFill>
            <a:prstDash val="solid"/>
          </a:ln>
        </p:spPr>
      </p:sp>
      <p:sp>
        <p:nvSpPr>
          <p:cNvPr id="28" name="Shape 26"/>
          <p:cNvSpPr/>
          <p:nvPr/>
        </p:nvSpPr>
        <p:spPr>
          <a:xfrm>
            <a:off x="356616" y="1243584"/>
            <a:ext cx="2029968" cy="3547872"/>
          </a:xfrm>
          <a:prstGeom prst="rect">
            <a:avLst/>
          </a:prstGeom>
          <a:solidFill>
            <a:srgbClr val="000000">
              <a:alpha val="28000"/>
            </a:srgbClr>
          </a:solidFill>
          <a:ln w="12700">
            <a:solidFill>
              <a:srgbClr val="000000">
                <a:alpha val="0"/>
              </a:srgbClr>
            </a:solidFill>
            <a:prstDash val="solid"/>
          </a:ln>
        </p:spPr>
      </p:sp>
      <p:sp>
        <p:nvSpPr>
          <p:cNvPr id="29" name="Shape 27"/>
          <p:cNvSpPr/>
          <p:nvPr/>
        </p:nvSpPr>
        <p:spPr>
          <a:xfrm>
            <a:off x="320040" y="1207008"/>
            <a:ext cx="2029968" cy="3547872"/>
          </a:xfrm>
          <a:prstGeom prst="rect">
            <a:avLst/>
          </a:prstGeom>
          <a:solidFill>
            <a:srgbClr val="0A1628">
              <a:alpha val="82000"/>
            </a:srgbClr>
          </a:solidFill>
          <a:ln w="12700">
            <a:solidFill>
              <a:srgbClr val="1E3A5F"/>
            </a:solidFill>
            <a:prstDash val="solid"/>
          </a:ln>
        </p:spPr>
      </p:sp>
      <p:sp>
        <p:nvSpPr>
          <p:cNvPr id="30" name="Shape 28"/>
          <p:cNvSpPr/>
          <p:nvPr/>
        </p:nvSpPr>
        <p:spPr>
          <a:xfrm>
            <a:off x="320040" y="1207008"/>
            <a:ext cx="2029968" cy="27432"/>
          </a:xfrm>
          <a:prstGeom prst="rect">
            <a:avLst/>
          </a:prstGeom>
          <a:solidFill>
            <a:srgbClr val="FFFFFF">
              <a:alpha val="26000"/>
            </a:srgbClr>
          </a:solidFill>
          <a:ln w="12700">
            <a:solidFill>
              <a:srgbClr val="FFFFFF">
                <a:alpha val="0"/>
              </a:srgbClr>
            </a:solidFill>
            <a:prstDash val="solid"/>
          </a:ln>
        </p:spPr>
      </p:sp>
      <p:sp>
        <p:nvSpPr>
          <p:cNvPr id="31" name="Shape 29"/>
          <p:cNvSpPr/>
          <p:nvPr/>
        </p:nvSpPr>
        <p:spPr>
          <a:xfrm>
            <a:off x="320040" y="1207008"/>
            <a:ext cx="27432" cy="3547872"/>
          </a:xfrm>
          <a:prstGeom prst="rect">
            <a:avLst/>
          </a:prstGeom>
          <a:solidFill>
            <a:srgbClr val="FFFFFF">
              <a:alpha val="18000"/>
            </a:srgbClr>
          </a:solidFill>
          <a:ln w="12700">
            <a:solidFill>
              <a:srgbClr val="FFFFFF">
                <a:alpha val="0"/>
              </a:srgbClr>
            </a:solidFill>
            <a:prstDash val="solid"/>
          </a:ln>
        </p:spPr>
      </p:sp>
      <p:sp>
        <p:nvSpPr>
          <p:cNvPr id="32" name="Shape 30"/>
          <p:cNvSpPr/>
          <p:nvPr/>
        </p:nvSpPr>
        <p:spPr>
          <a:xfrm>
            <a:off x="320040" y="1207008"/>
            <a:ext cx="2029968" cy="50292"/>
          </a:xfrm>
          <a:prstGeom prst="rect">
            <a:avLst/>
          </a:prstGeom>
          <a:solidFill>
            <a:srgbClr val="00B4FF"/>
          </a:solidFill>
          <a:ln w="12700">
            <a:solidFill>
              <a:srgbClr val="00B4FF"/>
            </a:solidFill>
            <a:prstDash val="solid"/>
          </a:ln>
        </p:spPr>
      </p:sp>
      <p:sp>
        <p:nvSpPr>
          <p:cNvPr id="33" name="Text 31"/>
          <p:cNvSpPr/>
          <p:nvPr/>
        </p:nvSpPr>
        <p:spPr>
          <a:xfrm>
            <a:off x="320040" y="1298448"/>
            <a:ext cx="2029968" cy="594360"/>
          </a:xfrm>
          <a:prstGeom prst="rect">
            <a:avLst/>
          </a:prstGeom>
          <a:noFill/>
          <a:ln/>
        </p:spPr>
        <p:txBody>
          <a:bodyPr wrap="square" lIns="0" tIns="0" rIns="0" bIns="0" rtlCol="0" anchor="ctr"/>
          <a:lstStyle/>
          <a:p>
            <a:pPr marL="0" indent="0" algn="ctr">
              <a:buNone/>
            </a:pPr>
            <a:r>
              <a:rPr lang="en-US" sz="3600" b="1" dirty="0">
                <a:solidFill>
                  <a:srgbClr val="00B4FF"/>
                </a:solidFill>
              </a:rPr>
              <a:t>01</a:t>
            </a:r>
            <a:endParaRPr lang="en-US" sz="3600" dirty="0"/>
          </a:p>
        </p:txBody>
      </p:sp>
      <p:sp>
        <p:nvSpPr>
          <p:cNvPr id="34" name="Text 32"/>
          <p:cNvSpPr/>
          <p:nvPr/>
        </p:nvSpPr>
        <p:spPr>
          <a:xfrm>
            <a:off x="411480" y="1920240"/>
            <a:ext cx="1847088" cy="548640"/>
          </a:xfrm>
          <a:prstGeom prst="rect">
            <a:avLst/>
          </a:prstGeom>
          <a:noFill/>
          <a:ln/>
        </p:spPr>
        <p:txBody>
          <a:bodyPr wrap="square" lIns="0" tIns="0" rIns="0" bIns="0" rtlCol="0" anchor="ctr"/>
          <a:lstStyle/>
          <a:p>
            <a:pPr marL="0" indent="0" algn="ctr">
              <a:buNone/>
            </a:pPr>
            <a:r>
              <a:rPr lang="en-US" sz="1100" b="1" dirty="0">
                <a:solidFill>
                  <a:srgbClr val="FFFFFF"/>
                </a:solidFill>
              </a:rPr>
              <a:t>Orientation</a:t>
            </a:r>
            <a:endParaRPr lang="en-US" sz="1100" dirty="0"/>
          </a:p>
          <a:p>
            <a:pPr marL="0" indent="0" algn="ctr">
              <a:buNone/>
            </a:pPr>
            <a:r>
              <a:rPr lang="en-US" sz="1100" b="1" dirty="0">
                <a:solidFill>
                  <a:srgbClr val="FFFFFF"/>
                </a:solidFill>
              </a:rPr>
              <a:t>&amp; Data Loading</a:t>
            </a:r>
            <a:endParaRPr lang="en-US" sz="1100" dirty="0"/>
          </a:p>
        </p:txBody>
      </p:sp>
      <p:sp>
        <p:nvSpPr>
          <p:cNvPr id="35" name="Shape 33"/>
          <p:cNvSpPr/>
          <p:nvPr/>
        </p:nvSpPr>
        <p:spPr>
          <a:xfrm>
            <a:off x="548640" y="2523744"/>
            <a:ext cx="1572768" cy="219456"/>
          </a:xfrm>
          <a:prstGeom prst="rect">
            <a:avLst/>
          </a:prstGeom>
          <a:solidFill>
            <a:srgbClr val="003E7A"/>
          </a:solidFill>
          <a:ln w="12700">
            <a:solidFill>
              <a:srgbClr val="00B4FF"/>
            </a:solidFill>
            <a:prstDash val="solid"/>
          </a:ln>
        </p:spPr>
      </p:sp>
      <p:sp>
        <p:nvSpPr>
          <p:cNvPr id="36" name="Text 34"/>
          <p:cNvSpPr/>
          <p:nvPr/>
        </p:nvSpPr>
        <p:spPr>
          <a:xfrm>
            <a:off x="548640" y="2523744"/>
            <a:ext cx="1572768" cy="219456"/>
          </a:xfrm>
          <a:prstGeom prst="rect">
            <a:avLst/>
          </a:prstGeom>
          <a:noFill/>
          <a:ln/>
        </p:spPr>
        <p:txBody>
          <a:bodyPr wrap="square" lIns="0" tIns="0" rIns="0" bIns="0" rtlCol="0" anchor="ctr"/>
          <a:lstStyle/>
          <a:p>
            <a:pPr marL="0" indent="0" algn="ctr">
              <a:buNone/>
            </a:pPr>
            <a:r>
              <a:rPr lang="en-US" sz="800" b="1" dirty="0">
                <a:solidFill>
                  <a:srgbClr val="00B4FF"/>
                </a:solidFill>
              </a:rPr>
              <a:t>Weeks 1–2</a:t>
            </a:r>
            <a:endParaRPr lang="en-US" sz="800" dirty="0"/>
          </a:p>
        </p:txBody>
      </p:sp>
      <p:sp>
        <p:nvSpPr>
          <p:cNvPr id="37" name="Shape 35"/>
          <p:cNvSpPr/>
          <p:nvPr/>
        </p:nvSpPr>
        <p:spPr>
          <a:xfrm>
            <a:off x="502920" y="2816352"/>
            <a:ext cx="1664208" cy="27432"/>
          </a:xfrm>
          <a:prstGeom prst="rect">
            <a:avLst/>
          </a:prstGeom>
          <a:solidFill>
            <a:srgbClr val="1A2E45"/>
          </a:solidFill>
          <a:ln w="12700">
            <a:solidFill>
              <a:srgbClr val="1A2E45"/>
            </a:solidFill>
            <a:prstDash val="solid"/>
          </a:ln>
        </p:spPr>
      </p:sp>
      <p:sp>
        <p:nvSpPr>
          <p:cNvPr id="38" name="Text 36"/>
          <p:cNvSpPr/>
          <p:nvPr/>
        </p:nvSpPr>
        <p:spPr>
          <a:xfrm>
            <a:off x="429768" y="2889504"/>
            <a:ext cx="1810512" cy="1792224"/>
          </a:xfrm>
          <a:prstGeom prst="rect">
            <a:avLst/>
          </a:prstGeom>
          <a:noFill/>
          <a:ln/>
        </p:spPr>
        <p:txBody>
          <a:bodyPr wrap="square" lIns="0" tIns="0" rIns="0" bIns="0" rtlCol="0" anchor="ctr"/>
          <a:lstStyle/>
          <a:p>
            <a:pPr marL="0" indent="0">
              <a:buNone/>
            </a:pPr>
            <a:r>
              <a:rPr lang="en-US" sz="880" dirty="0">
                <a:solidFill>
                  <a:srgbClr val="D4E6F1"/>
                </a:solidFill>
              </a:rPr>
              <a:t>Studied hotel_booking_main.xlsx — 36 columns, 1,19,390 rows. Loaded into Power BI via Excel connector. Explored all column definitions and data quality issues.</a:t>
            </a:r>
            <a:endParaRPr lang="en-US" sz="880" dirty="0"/>
          </a:p>
        </p:txBody>
      </p:sp>
      <p:sp>
        <p:nvSpPr>
          <p:cNvPr id="39" name="Shape 37"/>
          <p:cNvSpPr/>
          <p:nvPr/>
        </p:nvSpPr>
        <p:spPr>
          <a:xfrm>
            <a:off x="2350008" y="2066544"/>
            <a:ext cx="146304" cy="0"/>
          </a:xfrm>
          <a:prstGeom prst="line">
            <a:avLst/>
          </a:prstGeom>
          <a:noFill/>
          <a:ln w="12700">
            <a:solidFill>
              <a:srgbClr val="6B8CAE"/>
            </a:solidFill>
            <a:prstDash val="solid"/>
          </a:ln>
        </p:spPr>
      </p:sp>
      <p:sp>
        <p:nvSpPr>
          <p:cNvPr id="40" name="Shape 38"/>
          <p:cNvSpPr/>
          <p:nvPr/>
        </p:nvSpPr>
        <p:spPr>
          <a:xfrm>
            <a:off x="2532888" y="1243584"/>
            <a:ext cx="2029968" cy="3547872"/>
          </a:xfrm>
          <a:prstGeom prst="rect">
            <a:avLst/>
          </a:prstGeom>
          <a:solidFill>
            <a:srgbClr val="000000">
              <a:alpha val="28000"/>
            </a:srgbClr>
          </a:solidFill>
          <a:ln w="12700">
            <a:solidFill>
              <a:srgbClr val="000000">
                <a:alpha val="0"/>
              </a:srgbClr>
            </a:solidFill>
            <a:prstDash val="solid"/>
          </a:ln>
        </p:spPr>
      </p:sp>
      <p:sp>
        <p:nvSpPr>
          <p:cNvPr id="41" name="Shape 39"/>
          <p:cNvSpPr/>
          <p:nvPr/>
        </p:nvSpPr>
        <p:spPr>
          <a:xfrm>
            <a:off x="2496312" y="1207008"/>
            <a:ext cx="2029968" cy="3547872"/>
          </a:xfrm>
          <a:prstGeom prst="rect">
            <a:avLst/>
          </a:prstGeom>
          <a:solidFill>
            <a:srgbClr val="0A1628">
              <a:alpha val="82000"/>
            </a:srgbClr>
          </a:solidFill>
          <a:ln w="12700">
            <a:solidFill>
              <a:srgbClr val="1E3A5F"/>
            </a:solidFill>
            <a:prstDash val="solid"/>
          </a:ln>
        </p:spPr>
      </p:sp>
      <p:sp>
        <p:nvSpPr>
          <p:cNvPr id="42" name="Shape 40"/>
          <p:cNvSpPr/>
          <p:nvPr/>
        </p:nvSpPr>
        <p:spPr>
          <a:xfrm>
            <a:off x="2496312" y="1207008"/>
            <a:ext cx="2029968" cy="27432"/>
          </a:xfrm>
          <a:prstGeom prst="rect">
            <a:avLst/>
          </a:prstGeom>
          <a:solidFill>
            <a:srgbClr val="FFFFFF">
              <a:alpha val="26000"/>
            </a:srgbClr>
          </a:solidFill>
          <a:ln w="12700">
            <a:solidFill>
              <a:srgbClr val="FFFFFF">
                <a:alpha val="0"/>
              </a:srgbClr>
            </a:solidFill>
            <a:prstDash val="solid"/>
          </a:ln>
        </p:spPr>
      </p:sp>
      <p:sp>
        <p:nvSpPr>
          <p:cNvPr id="43" name="Shape 41"/>
          <p:cNvSpPr/>
          <p:nvPr/>
        </p:nvSpPr>
        <p:spPr>
          <a:xfrm>
            <a:off x="2496312" y="1207008"/>
            <a:ext cx="27432" cy="3547872"/>
          </a:xfrm>
          <a:prstGeom prst="rect">
            <a:avLst/>
          </a:prstGeom>
          <a:solidFill>
            <a:srgbClr val="FFFFFF">
              <a:alpha val="18000"/>
            </a:srgbClr>
          </a:solidFill>
          <a:ln w="12700">
            <a:solidFill>
              <a:srgbClr val="FFFFFF">
                <a:alpha val="0"/>
              </a:srgbClr>
            </a:solidFill>
            <a:prstDash val="solid"/>
          </a:ln>
        </p:spPr>
      </p:sp>
      <p:sp>
        <p:nvSpPr>
          <p:cNvPr id="44" name="Shape 42"/>
          <p:cNvSpPr/>
          <p:nvPr/>
        </p:nvSpPr>
        <p:spPr>
          <a:xfrm>
            <a:off x="2496312" y="1207008"/>
            <a:ext cx="2029968" cy="50292"/>
          </a:xfrm>
          <a:prstGeom prst="rect">
            <a:avLst/>
          </a:prstGeom>
          <a:solidFill>
            <a:srgbClr val="F5C518"/>
          </a:solidFill>
          <a:ln w="12700">
            <a:solidFill>
              <a:srgbClr val="F5C518"/>
            </a:solidFill>
            <a:prstDash val="solid"/>
          </a:ln>
        </p:spPr>
      </p:sp>
      <p:sp>
        <p:nvSpPr>
          <p:cNvPr id="45" name="Text 43"/>
          <p:cNvSpPr/>
          <p:nvPr/>
        </p:nvSpPr>
        <p:spPr>
          <a:xfrm>
            <a:off x="2496312" y="1298448"/>
            <a:ext cx="2029968" cy="594360"/>
          </a:xfrm>
          <a:prstGeom prst="rect">
            <a:avLst/>
          </a:prstGeom>
          <a:noFill/>
          <a:ln/>
        </p:spPr>
        <p:txBody>
          <a:bodyPr wrap="square" lIns="0" tIns="0" rIns="0" bIns="0" rtlCol="0" anchor="ctr"/>
          <a:lstStyle/>
          <a:p>
            <a:pPr marL="0" indent="0" algn="ctr">
              <a:buNone/>
            </a:pPr>
            <a:r>
              <a:rPr lang="en-US" sz="3600" b="1" dirty="0">
                <a:solidFill>
                  <a:srgbClr val="F5C518"/>
                </a:solidFill>
              </a:rPr>
              <a:t>02</a:t>
            </a:r>
            <a:endParaRPr lang="en-US" sz="3600" dirty="0"/>
          </a:p>
        </p:txBody>
      </p:sp>
      <p:sp>
        <p:nvSpPr>
          <p:cNvPr id="46" name="Text 44"/>
          <p:cNvSpPr/>
          <p:nvPr/>
        </p:nvSpPr>
        <p:spPr>
          <a:xfrm>
            <a:off x="2587752" y="1920240"/>
            <a:ext cx="1847088" cy="548640"/>
          </a:xfrm>
          <a:prstGeom prst="rect">
            <a:avLst/>
          </a:prstGeom>
          <a:noFill/>
          <a:ln/>
        </p:spPr>
        <p:txBody>
          <a:bodyPr wrap="square" lIns="0" tIns="0" rIns="0" bIns="0" rtlCol="0" anchor="ctr"/>
          <a:lstStyle/>
          <a:p>
            <a:pPr marL="0" indent="0" algn="ctr">
              <a:buNone/>
            </a:pPr>
            <a:r>
              <a:rPr lang="en-US" sz="1100" b="1" dirty="0">
                <a:solidFill>
                  <a:srgbClr val="FFFFFF"/>
                </a:solidFill>
              </a:rPr>
              <a:t>Data Transform</a:t>
            </a:r>
            <a:endParaRPr lang="en-US" sz="1100" dirty="0"/>
          </a:p>
          <a:p>
            <a:pPr marL="0" indent="0" algn="ctr">
              <a:buNone/>
            </a:pPr>
            <a:r>
              <a:rPr lang="en-US" sz="1100" b="1" dirty="0">
                <a:solidFill>
                  <a:srgbClr val="FFFFFF"/>
                </a:solidFill>
              </a:rPr>
              <a:t>&amp; Modelling</a:t>
            </a:r>
            <a:endParaRPr lang="en-US" sz="1100" dirty="0"/>
          </a:p>
        </p:txBody>
      </p:sp>
      <p:sp>
        <p:nvSpPr>
          <p:cNvPr id="47" name="Shape 45"/>
          <p:cNvSpPr/>
          <p:nvPr/>
        </p:nvSpPr>
        <p:spPr>
          <a:xfrm>
            <a:off x="2724912" y="2523744"/>
            <a:ext cx="1572768" cy="219456"/>
          </a:xfrm>
          <a:prstGeom prst="rect">
            <a:avLst/>
          </a:prstGeom>
          <a:solidFill>
            <a:srgbClr val="003E7A"/>
          </a:solidFill>
          <a:ln w="12700">
            <a:solidFill>
              <a:srgbClr val="F5C518"/>
            </a:solidFill>
            <a:prstDash val="solid"/>
          </a:ln>
        </p:spPr>
      </p:sp>
      <p:sp>
        <p:nvSpPr>
          <p:cNvPr id="48" name="Text 46"/>
          <p:cNvSpPr/>
          <p:nvPr/>
        </p:nvSpPr>
        <p:spPr>
          <a:xfrm>
            <a:off x="2724912" y="2523744"/>
            <a:ext cx="1572768" cy="219456"/>
          </a:xfrm>
          <a:prstGeom prst="rect">
            <a:avLst/>
          </a:prstGeom>
          <a:noFill/>
          <a:ln/>
        </p:spPr>
        <p:txBody>
          <a:bodyPr wrap="square" lIns="0" tIns="0" rIns="0" bIns="0" rtlCol="0" anchor="ctr"/>
          <a:lstStyle/>
          <a:p>
            <a:pPr marL="0" indent="0" algn="ctr">
              <a:buNone/>
            </a:pPr>
            <a:r>
              <a:rPr lang="en-US" sz="800" b="1" dirty="0">
                <a:solidFill>
                  <a:srgbClr val="F5C518"/>
                </a:solidFill>
              </a:rPr>
              <a:t>Weeks 3–4</a:t>
            </a:r>
            <a:endParaRPr lang="en-US" sz="800" dirty="0"/>
          </a:p>
        </p:txBody>
      </p:sp>
      <p:sp>
        <p:nvSpPr>
          <p:cNvPr id="49" name="Shape 47"/>
          <p:cNvSpPr/>
          <p:nvPr/>
        </p:nvSpPr>
        <p:spPr>
          <a:xfrm>
            <a:off x="2679192" y="2816352"/>
            <a:ext cx="1664208" cy="27432"/>
          </a:xfrm>
          <a:prstGeom prst="rect">
            <a:avLst/>
          </a:prstGeom>
          <a:solidFill>
            <a:srgbClr val="1A2E45"/>
          </a:solidFill>
          <a:ln w="12700">
            <a:solidFill>
              <a:srgbClr val="1A2E45"/>
            </a:solidFill>
            <a:prstDash val="solid"/>
          </a:ln>
        </p:spPr>
      </p:sp>
      <p:sp>
        <p:nvSpPr>
          <p:cNvPr id="50" name="Text 48"/>
          <p:cNvSpPr/>
          <p:nvPr/>
        </p:nvSpPr>
        <p:spPr>
          <a:xfrm>
            <a:off x="2606040" y="2889504"/>
            <a:ext cx="1810512" cy="1792224"/>
          </a:xfrm>
          <a:prstGeom prst="rect">
            <a:avLst/>
          </a:prstGeom>
          <a:noFill/>
          <a:ln/>
        </p:spPr>
        <p:txBody>
          <a:bodyPr wrap="square" lIns="0" tIns="0" rIns="0" bIns="0" rtlCol="0" anchor="ctr"/>
          <a:lstStyle/>
          <a:p>
            <a:pPr marL="0" indent="0">
              <a:buNone/>
            </a:pPr>
            <a:r>
              <a:rPr lang="en-US" sz="880" dirty="0">
                <a:solidFill>
                  <a:srgbClr val="D4E6F1"/>
                </a:solidFill>
              </a:rPr>
              <a:t>Power Query cleaning: nulls replaced, 6 columns removed, ADR=0 filtered. Created 4 custom columns using M language. Final: 1,17,430 rows × 32 columns.</a:t>
            </a:r>
            <a:endParaRPr lang="en-US" sz="880" dirty="0"/>
          </a:p>
        </p:txBody>
      </p:sp>
      <p:sp>
        <p:nvSpPr>
          <p:cNvPr id="51" name="Shape 49"/>
          <p:cNvSpPr/>
          <p:nvPr/>
        </p:nvSpPr>
        <p:spPr>
          <a:xfrm>
            <a:off x="4526280" y="2066544"/>
            <a:ext cx="146304" cy="0"/>
          </a:xfrm>
          <a:prstGeom prst="line">
            <a:avLst/>
          </a:prstGeom>
          <a:noFill/>
          <a:ln w="12700">
            <a:solidFill>
              <a:srgbClr val="6B8CAE"/>
            </a:solidFill>
            <a:prstDash val="solid"/>
          </a:ln>
        </p:spPr>
      </p:sp>
      <p:sp>
        <p:nvSpPr>
          <p:cNvPr id="52" name="Shape 50"/>
          <p:cNvSpPr/>
          <p:nvPr/>
        </p:nvSpPr>
        <p:spPr>
          <a:xfrm>
            <a:off x="4709160" y="1243584"/>
            <a:ext cx="2029968" cy="3547872"/>
          </a:xfrm>
          <a:prstGeom prst="rect">
            <a:avLst/>
          </a:prstGeom>
          <a:solidFill>
            <a:srgbClr val="000000">
              <a:alpha val="28000"/>
            </a:srgbClr>
          </a:solidFill>
          <a:ln w="12700">
            <a:solidFill>
              <a:srgbClr val="000000">
                <a:alpha val="0"/>
              </a:srgbClr>
            </a:solidFill>
            <a:prstDash val="solid"/>
          </a:ln>
        </p:spPr>
      </p:sp>
      <p:sp>
        <p:nvSpPr>
          <p:cNvPr id="53" name="Shape 51"/>
          <p:cNvSpPr/>
          <p:nvPr/>
        </p:nvSpPr>
        <p:spPr>
          <a:xfrm>
            <a:off x="4672584" y="1207008"/>
            <a:ext cx="2029968" cy="3547872"/>
          </a:xfrm>
          <a:prstGeom prst="rect">
            <a:avLst/>
          </a:prstGeom>
          <a:solidFill>
            <a:srgbClr val="0A1628">
              <a:alpha val="82000"/>
            </a:srgbClr>
          </a:solidFill>
          <a:ln w="12700">
            <a:solidFill>
              <a:srgbClr val="1E3A5F"/>
            </a:solidFill>
            <a:prstDash val="solid"/>
          </a:ln>
        </p:spPr>
      </p:sp>
      <p:sp>
        <p:nvSpPr>
          <p:cNvPr id="54" name="Shape 52"/>
          <p:cNvSpPr/>
          <p:nvPr/>
        </p:nvSpPr>
        <p:spPr>
          <a:xfrm>
            <a:off x="4672584" y="1207008"/>
            <a:ext cx="2029968" cy="27432"/>
          </a:xfrm>
          <a:prstGeom prst="rect">
            <a:avLst/>
          </a:prstGeom>
          <a:solidFill>
            <a:srgbClr val="FFFFFF">
              <a:alpha val="26000"/>
            </a:srgbClr>
          </a:solidFill>
          <a:ln w="12700">
            <a:solidFill>
              <a:srgbClr val="FFFFFF">
                <a:alpha val="0"/>
              </a:srgbClr>
            </a:solidFill>
            <a:prstDash val="solid"/>
          </a:ln>
        </p:spPr>
      </p:sp>
      <p:sp>
        <p:nvSpPr>
          <p:cNvPr id="55" name="Shape 53"/>
          <p:cNvSpPr/>
          <p:nvPr/>
        </p:nvSpPr>
        <p:spPr>
          <a:xfrm>
            <a:off x="4672584" y="1207008"/>
            <a:ext cx="27432" cy="3547872"/>
          </a:xfrm>
          <a:prstGeom prst="rect">
            <a:avLst/>
          </a:prstGeom>
          <a:solidFill>
            <a:srgbClr val="FFFFFF">
              <a:alpha val="18000"/>
            </a:srgbClr>
          </a:solidFill>
          <a:ln w="12700">
            <a:solidFill>
              <a:srgbClr val="FFFFFF">
                <a:alpha val="0"/>
              </a:srgbClr>
            </a:solidFill>
            <a:prstDash val="solid"/>
          </a:ln>
        </p:spPr>
      </p:sp>
      <p:sp>
        <p:nvSpPr>
          <p:cNvPr id="56" name="Shape 54"/>
          <p:cNvSpPr/>
          <p:nvPr/>
        </p:nvSpPr>
        <p:spPr>
          <a:xfrm>
            <a:off x="4672584" y="1207008"/>
            <a:ext cx="2029968" cy="50292"/>
          </a:xfrm>
          <a:prstGeom prst="rect">
            <a:avLst/>
          </a:prstGeom>
          <a:solidFill>
            <a:srgbClr val="00B4FF"/>
          </a:solidFill>
          <a:ln w="12700">
            <a:solidFill>
              <a:srgbClr val="00B4FF"/>
            </a:solidFill>
            <a:prstDash val="solid"/>
          </a:ln>
        </p:spPr>
      </p:sp>
      <p:sp>
        <p:nvSpPr>
          <p:cNvPr id="57" name="Text 55"/>
          <p:cNvSpPr/>
          <p:nvPr/>
        </p:nvSpPr>
        <p:spPr>
          <a:xfrm>
            <a:off x="4672584" y="1298448"/>
            <a:ext cx="2029968" cy="594360"/>
          </a:xfrm>
          <a:prstGeom prst="rect">
            <a:avLst/>
          </a:prstGeom>
          <a:noFill/>
          <a:ln/>
        </p:spPr>
        <p:txBody>
          <a:bodyPr wrap="square" lIns="0" tIns="0" rIns="0" bIns="0" rtlCol="0" anchor="ctr"/>
          <a:lstStyle/>
          <a:p>
            <a:pPr marL="0" indent="0" algn="ctr">
              <a:buNone/>
            </a:pPr>
            <a:r>
              <a:rPr lang="en-US" sz="3600" b="1" dirty="0">
                <a:solidFill>
                  <a:srgbClr val="00B4FF"/>
                </a:solidFill>
              </a:rPr>
              <a:t>03</a:t>
            </a:r>
            <a:endParaRPr lang="en-US" sz="3600" dirty="0"/>
          </a:p>
        </p:txBody>
      </p:sp>
      <p:sp>
        <p:nvSpPr>
          <p:cNvPr id="58" name="Text 56"/>
          <p:cNvSpPr/>
          <p:nvPr/>
        </p:nvSpPr>
        <p:spPr>
          <a:xfrm>
            <a:off x="4764024" y="1920240"/>
            <a:ext cx="1847088" cy="548640"/>
          </a:xfrm>
          <a:prstGeom prst="rect">
            <a:avLst/>
          </a:prstGeom>
          <a:noFill/>
          <a:ln/>
        </p:spPr>
        <p:txBody>
          <a:bodyPr wrap="square" lIns="0" tIns="0" rIns="0" bIns="0" rtlCol="0" anchor="ctr"/>
          <a:lstStyle/>
          <a:p>
            <a:pPr marL="0" indent="0" algn="ctr">
              <a:buNone/>
            </a:pPr>
            <a:r>
              <a:rPr lang="en-US" sz="1100" b="1" dirty="0">
                <a:solidFill>
                  <a:srgbClr val="FFFFFF"/>
                </a:solidFill>
              </a:rPr>
              <a:t>DAX &amp; Business</a:t>
            </a:r>
            <a:endParaRPr lang="en-US" sz="1100" dirty="0"/>
          </a:p>
          <a:p>
            <a:pPr marL="0" indent="0" algn="ctr">
              <a:buNone/>
            </a:pPr>
            <a:r>
              <a:rPr lang="en-US" sz="1100" b="1" dirty="0">
                <a:solidFill>
                  <a:srgbClr val="FFFFFF"/>
                </a:solidFill>
              </a:rPr>
              <a:t>Metrics</a:t>
            </a:r>
            <a:endParaRPr lang="en-US" sz="1100" dirty="0"/>
          </a:p>
        </p:txBody>
      </p:sp>
      <p:sp>
        <p:nvSpPr>
          <p:cNvPr id="59" name="Shape 57"/>
          <p:cNvSpPr/>
          <p:nvPr/>
        </p:nvSpPr>
        <p:spPr>
          <a:xfrm>
            <a:off x="4901184" y="2523744"/>
            <a:ext cx="1572768" cy="219456"/>
          </a:xfrm>
          <a:prstGeom prst="rect">
            <a:avLst/>
          </a:prstGeom>
          <a:solidFill>
            <a:srgbClr val="003E7A"/>
          </a:solidFill>
          <a:ln w="12700">
            <a:solidFill>
              <a:srgbClr val="00B4FF"/>
            </a:solidFill>
            <a:prstDash val="solid"/>
          </a:ln>
        </p:spPr>
      </p:sp>
      <p:sp>
        <p:nvSpPr>
          <p:cNvPr id="60" name="Text 58"/>
          <p:cNvSpPr/>
          <p:nvPr/>
        </p:nvSpPr>
        <p:spPr>
          <a:xfrm>
            <a:off x="4901184" y="2523744"/>
            <a:ext cx="1572768" cy="219456"/>
          </a:xfrm>
          <a:prstGeom prst="rect">
            <a:avLst/>
          </a:prstGeom>
          <a:noFill/>
          <a:ln/>
        </p:spPr>
        <p:txBody>
          <a:bodyPr wrap="square" lIns="0" tIns="0" rIns="0" bIns="0" rtlCol="0" anchor="ctr"/>
          <a:lstStyle/>
          <a:p>
            <a:pPr marL="0" indent="0" algn="ctr">
              <a:buNone/>
            </a:pPr>
            <a:r>
              <a:rPr lang="en-US" sz="800" b="1" dirty="0">
                <a:solidFill>
                  <a:srgbClr val="00B4FF"/>
                </a:solidFill>
              </a:rPr>
              <a:t>Week 5</a:t>
            </a:r>
            <a:endParaRPr lang="en-US" sz="800" dirty="0"/>
          </a:p>
        </p:txBody>
      </p:sp>
      <p:sp>
        <p:nvSpPr>
          <p:cNvPr id="61" name="Shape 59"/>
          <p:cNvSpPr/>
          <p:nvPr/>
        </p:nvSpPr>
        <p:spPr>
          <a:xfrm>
            <a:off x="4855464" y="2816352"/>
            <a:ext cx="1664208" cy="27432"/>
          </a:xfrm>
          <a:prstGeom prst="rect">
            <a:avLst/>
          </a:prstGeom>
          <a:solidFill>
            <a:srgbClr val="1A2E45"/>
          </a:solidFill>
          <a:ln w="12700">
            <a:solidFill>
              <a:srgbClr val="1A2E45"/>
            </a:solidFill>
            <a:prstDash val="solid"/>
          </a:ln>
        </p:spPr>
      </p:sp>
      <p:sp>
        <p:nvSpPr>
          <p:cNvPr id="62" name="Text 60"/>
          <p:cNvSpPr/>
          <p:nvPr/>
        </p:nvSpPr>
        <p:spPr>
          <a:xfrm>
            <a:off x="4782312" y="2889504"/>
            <a:ext cx="1810512" cy="1792224"/>
          </a:xfrm>
          <a:prstGeom prst="rect">
            <a:avLst/>
          </a:prstGeom>
          <a:noFill/>
          <a:ln/>
        </p:spPr>
        <p:txBody>
          <a:bodyPr wrap="square" lIns="0" tIns="0" rIns="0" bIns="0" rtlCol="0" anchor="ctr"/>
          <a:lstStyle/>
          <a:p>
            <a:pPr marL="0" indent="0">
              <a:buNone/>
            </a:pPr>
            <a:r>
              <a:rPr lang="en-US" sz="880" dirty="0">
                <a:solidFill>
                  <a:srgbClr val="D4E6F1"/>
                </a:solidFill>
              </a:rPr>
              <a:t>Created 13 DAX measures: Total Revenue, ADR, RevPAR, Occupancy %, Cancellation Rate, No Show, Repeat Guest %, Revenue per Booking &amp; more.</a:t>
            </a:r>
            <a:endParaRPr lang="en-US" sz="880" dirty="0"/>
          </a:p>
        </p:txBody>
      </p:sp>
      <p:sp>
        <p:nvSpPr>
          <p:cNvPr id="63" name="Shape 61"/>
          <p:cNvSpPr/>
          <p:nvPr/>
        </p:nvSpPr>
        <p:spPr>
          <a:xfrm>
            <a:off x="6702552" y="2066544"/>
            <a:ext cx="146304" cy="0"/>
          </a:xfrm>
          <a:prstGeom prst="line">
            <a:avLst/>
          </a:prstGeom>
          <a:noFill/>
          <a:ln w="12700">
            <a:solidFill>
              <a:srgbClr val="6B8CAE"/>
            </a:solidFill>
            <a:prstDash val="solid"/>
          </a:ln>
        </p:spPr>
      </p:sp>
      <p:sp>
        <p:nvSpPr>
          <p:cNvPr id="64" name="Shape 62"/>
          <p:cNvSpPr/>
          <p:nvPr/>
        </p:nvSpPr>
        <p:spPr>
          <a:xfrm>
            <a:off x="6885432" y="1243584"/>
            <a:ext cx="2029968" cy="3547872"/>
          </a:xfrm>
          <a:prstGeom prst="rect">
            <a:avLst/>
          </a:prstGeom>
          <a:solidFill>
            <a:srgbClr val="000000">
              <a:alpha val="28000"/>
            </a:srgbClr>
          </a:solidFill>
          <a:ln w="12700">
            <a:solidFill>
              <a:srgbClr val="000000">
                <a:alpha val="0"/>
              </a:srgbClr>
            </a:solidFill>
            <a:prstDash val="solid"/>
          </a:ln>
        </p:spPr>
      </p:sp>
      <p:sp>
        <p:nvSpPr>
          <p:cNvPr id="65" name="Shape 63"/>
          <p:cNvSpPr/>
          <p:nvPr/>
        </p:nvSpPr>
        <p:spPr>
          <a:xfrm>
            <a:off x="6848856" y="1207008"/>
            <a:ext cx="2029968" cy="3547872"/>
          </a:xfrm>
          <a:prstGeom prst="rect">
            <a:avLst/>
          </a:prstGeom>
          <a:solidFill>
            <a:srgbClr val="0A1628">
              <a:alpha val="82000"/>
            </a:srgbClr>
          </a:solidFill>
          <a:ln w="12700">
            <a:solidFill>
              <a:srgbClr val="1E3A5F"/>
            </a:solidFill>
            <a:prstDash val="solid"/>
          </a:ln>
        </p:spPr>
      </p:sp>
      <p:sp>
        <p:nvSpPr>
          <p:cNvPr id="66" name="Shape 64"/>
          <p:cNvSpPr/>
          <p:nvPr/>
        </p:nvSpPr>
        <p:spPr>
          <a:xfrm>
            <a:off x="6848856" y="1207008"/>
            <a:ext cx="2029968" cy="27432"/>
          </a:xfrm>
          <a:prstGeom prst="rect">
            <a:avLst/>
          </a:prstGeom>
          <a:solidFill>
            <a:srgbClr val="FFFFFF">
              <a:alpha val="26000"/>
            </a:srgbClr>
          </a:solidFill>
          <a:ln w="12700">
            <a:solidFill>
              <a:srgbClr val="FFFFFF">
                <a:alpha val="0"/>
              </a:srgbClr>
            </a:solidFill>
            <a:prstDash val="solid"/>
          </a:ln>
        </p:spPr>
      </p:sp>
      <p:sp>
        <p:nvSpPr>
          <p:cNvPr id="67" name="Shape 65"/>
          <p:cNvSpPr/>
          <p:nvPr/>
        </p:nvSpPr>
        <p:spPr>
          <a:xfrm>
            <a:off x="6848856" y="1207008"/>
            <a:ext cx="27432" cy="3547872"/>
          </a:xfrm>
          <a:prstGeom prst="rect">
            <a:avLst/>
          </a:prstGeom>
          <a:solidFill>
            <a:srgbClr val="FFFFFF">
              <a:alpha val="18000"/>
            </a:srgbClr>
          </a:solidFill>
          <a:ln w="12700">
            <a:solidFill>
              <a:srgbClr val="FFFFFF">
                <a:alpha val="0"/>
              </a:srgbClr>
            </a:solidFill>
            <a:prstDash val="solid"/>
          </a:ln>
        </p:spPr>
      </p:sp>
      <p:sp>
        <p:nvSpPr>
          <p:cNvPr id="68" name="Shape 66"/>
          <p:cNvSpPr/>
          <p:nvPr/>
        </p:nvSpPr>
        <p:spPr>
          <a:xfrm>
            <a:off x="6848856" y="1207008"/>
            <a:ext cx="2029968" cy="50292"/>
          </a:xfrm>
          <a:prstGeom prst="rect">
            <a:avLst/>
          </a:prstGeom>
          <a:solidFill>
            <a:srgbClr val="F5C518"/>
          </a:solidFill>
          <a:ln w="12700">
            <a:solidFill>
              <a:srgbClr val="F5C518"/>
            </a:solidFill>
            <a:prstDash val="solid"/>
          </a:ln>
        </p:spPr>
      </p:sp>
      <p:sp>
        <p:nvSpPr>
          <p:cNvPr id="69" name="Text 67"/>
          <p:cNvSpPr/>
          <p:nvPr/>
        </p:nvSpPr>
        <p:spPr>
          <a:xfrm>
            <a:off x="6848856" y="1298448"/>
            <a:ext cx="2029968" cy="594360"/>
          </a:xfrm>
          <a:prstGeom prst="rect">
            <a:avLst/>
          </a:prstGeom>
          <a:noFill/>
          <a:ln/>
        </p:spPr>
        <p:txBody>
          <a:bodyPr wrap="square" lIns="0" tIns="0" rIns="0" bIns="0" rtlCol="0" anchor="ctr"/>
          <a:lstStyle/>
          <a:p>
            <a:pPr marL="0" indent="0" algn="ctr">
              <a:buNone/>
            </a:pPr>
            <a:r>
              <a:rPr lang="en-US" sz="3600" b="1" dirty="0">
                <a:solidFill>
                  <a:srgbClr val="F5C518"/>
                </a:solidFill>
              </a:rPr>
              <a:t>04</a:t>
            </a:r>
            <a:endParaRPr lang="en-US" sz="3600" dirty="0"/>
          </a:p>
        </p:txBody>
      </p:sp>
      <p:sp>
        <p:nvSpPr>
          <p:cNvPr id="70" name="Text 68"/>
          <p:cNvSpPr/>
          <p:nvPr/>
        </p:nvSpPr>
        <p:spPr>
          <a:xfrm>
            <a:off x="6940296" y="1920240"/>
            <a:ext cx="1847088" cy="548640"/>
          </a:xfrm>
          <a:prstGeom prst="rect">
            <a:avLst/>
          </a:prstGeom>
          <a:noFill/>
          <a:ln/>
        </p:spPr>
        <p:txBody>
          <a:bodyPr wrap="square" lIns="0" tIns="0" rIns="0" bIns="0" rtlCol="0" anchor="ctr"/>
          <a:lstStyle/>
          <a:p>
            <a:pPr marL="0" indent="0" algn="ctr">
              <a:buNone/>
            </a:pPr>
            <a:r>
              <a:rPr lang="en-US" sz="1100" b="1" dirty="0">
                <a:solidFill>
                  <a:srgbClr val="FFFFFF"/>
                </a:solidFill>
              </a:rPr>
              <a:t>Visualization</a:t>
            </a:r>
            <a:endParaRPr lang="en-US" sz="1100" dirty="0"/>
          </a:p>
          <a:p>
            <a:pPr marL="0" indent="0" algn="ctr">
              <a:buNone/>
            </a:pPr>
            <a:r>
              <a:rPr lang="en-US" sz="1100" b="1" dirty="0">
                <a:solidFill>
                  <a:srgbClr val="FFFFFF"/>
                </a:solidFill>
              </a:rPr>
              <a:t>&amp; Storytelling</a:t>
            </a:r>
            <a:endParaRPr lang="en-US" sz="1100" dirty="0"/>
          </a:p>
        </p:txBody>
      </p:sp>
      <p:sp>
        <p:nvSpPr>
          <p:cNvPr id="71" name="Shape 69"/>
          <p:cNvSpPr/>
          <p:nvPr/>
        </p:nvSpPr>
        <p:spPr>
          <a:xfrm>
            <a:off x="7077456" y="2523744"/>
            <a:ext cx="1572768" cy="219456"/>
          </a:xfrm>
          <a:prstGeom prst="rect">
            <a:avLst/>
          </a:prstGeom>
          <a:solidFill>
            <a:srgbClr val="003E7A"/>
          </a:solidFill>
          <a:ln w="12700">
            <a:solidFill>
              <a:srgbClr val="F5C518"/>
            </a:solidFill>
            <a:prstDash val="solid"/>
          </a:ln>
        </p:spPr>
      </p:sp>
      <p:sp>
        <p:nvSpPr>
          <p:cNvPr id="72" name="Text 70"/>
          <p:cNvSpPr/>
          <p:nvPr/>
        </p:nvSpPr>
        <p:spPr>
          <a:xfrm>
            <a:off x="7077456" y="2523744"/>
            <a:ext cx="1572768" cy="219456"/>
          </a:xfrm>
          <a:prstGeom prst="rect">
            <a:avLst/>
          </a:prstGeom>
          <a:noFill/>
          <a:ln/>
        </p:spPr>
        <p:txBody>
          <a:bodyPr wrap="square" lIns="0" tIns="0" rIns="0" bIns="0" rtlCol="0" anchor="ctr"/>
          <a:lstStyle/>
          <a:p>
            <a:pPr marL="0" indent="0" algn="ctr">
              <a:buNone/>
            </a:pPr>
            <a:r>
              <a:rPr lang="en-US" sz="800" b="1" dirty="0">
                <a:solidFill>
                  <a:srgbClr val="F5C518"/>
                </a:solidFill>
              </a:rPr>
              <a:t>Weeks 6–8</a:t>
            </a:r>
            <a:endParaRPr lang="en-US" sz="800" dirty="0"/>
          </a:p>
        </p:txBody>
      </p:sp>
      <p:sp>
        <p:nvSpPr>
          <p:cNvPr id="73" name="Shape 71"/>
          <p:cNvSpPr/>
          <p:nvPr/>
        </p:nvSpPr>
        <p:spPr>
          <a:xfrm>
            <a:off x="7031736" y="2816352"/>
            <a:ext cx="1664208" cy="27432"/>
          </a:xfrm>
          <a:prstGeom prst="rect">
            <a:avLst/>
          </a:prstGeom>
          <a:solidFill>
            <a:srgbClr val="1A2E45"/>
          </a:solidFill>
          <a:ln w="12700">
            <a:solidFill>
              <a:srgbClr val="1A2E45"/>
            </a:solidFill>
            <a:prstDash val="solid"/>
          </a:ln>
        </p:spPr>
      </p:sp>
      <p:sp>
        <p:nvSpPr>
          <p:cNvPr id="74" name="Text 72"/>
          <p:cNvSpPr/>
          <p:nvPr/>
        </p:nvSpPr>
        <p:spPr>
          <a:xfrm>
            <a:off x="6958584" y="2889504"/>
            <a:ext cx="1810512" cy="1792224"/>
          </a:xfrm>
          <a:prstGeom prst="rect">
            <a:avLst/>
          </a:prstGeom>
          <a:noFill/>
          <a:ln/>
        </p:spPr>
        <p:txBody>
          <a:bodyPr wrap="square" lIns="0" tIns="0" rIns="0" bIns="0" rtlCol="0" anchor="ctr"/>
          <a:lstStyle/>
          <a:p>
            <a:pPr marL="0" indent="0">
              <a:buNone/>
            </a:pPr>
            <a:r>
              <a:rPr lang="en-US" sz="880" dirty="0">
                <a:solidFill>
                  <a:srgbClr val="D4E6F1"/>
                </a:solidFill>
              </a:rPr>
              <a:t>5 interactive dashboards with KPI cards, multi-chart layouts, cross-filtering slicers &amp; consistent dark theme. Reviewed with mentor and submitted.</a:t>
            </a:r>
            <a:endParaRPr lang="en-US" sz="880" dirty="0"/>
          </a:p>
        </p:txBody>
      </p:sp>
      <p:sp>
        <p:nvSpPr>
          <p:cNvPr id="75" name="Shape 73"/>
          <p:cNvSpPr/>
          <p:nvPr/>
        </p:nvSpPr>
        <p:spPr>
          <a:xfrm>
            <a:off x="0" y="4983480"/>
            <a:ext cx="9144000" cy="160020"/>
          </a:xfrm>
          <a:prstGeom prst="rect">
            <a:avLst/>
          </a:prstGeom>
          <a:solidFill>
            <a:srgbClr val="1A2E45"/>
          </a:solidFill>
          <a:ln w="12700">
            <a:solidFill>
              <a:srgbClr val="1A2E45"/>
            </a:solidFill>
            <a:prstDash val="solid"/>
          </a:ln>
        </p:spPr>
      </p:sp>
      <p:sp>
        <p:nvSpPr>
          <p:cNvPr id="76" name="Shape 74"/>
          <p:cNvSpPr/>
          <p:nvPr/>
        </p:nvSpPr>
        <p:spPr>
          <a:xfrm>
            <a:off x="0" y="4983480"/>
            <a:ext cx="36576" cy="160020"/>
          </a:xfrm>
          <a:prstGeom prst="rect">
            <a:avLst/>
          </a:prstGeom>
          <a:solidFill>
            <a:srgbClr val="F5C518"/>
          </a:solidFill>
          <a:ln w="12700">
            <a:solidFill>
              <a:srgbClr val="F5C518"/>
            </a:solidFill>
            <a:prstDash val="solid"/>
          </a:ln>
        </p:spPr>
      </p:sp>
      <p:sp>
        <p:nvSpPr>
          <p:cNvPr id="77" name="Text 75"/>
          <p:cNvSpPr/>
          <p:nvPr/>
        </p:nvSpPr>
        <p:spPr>
          <a:xfrm>
            <a:off x="137160" y="4983480"/>
            <a:ext cx="8229600" cy="160020"/>
          </a:xfrm>
          <a:prstGeom prst="rect">
            <a:avLst/>
          </a:prstGeom>
          <a:noFill/>
          <a:ln/>
        </p:spPr>
        <p:txBody>
          <a:bodyPr wrap="square" lIns="0" tIns="0" rIns="0" bIns="0" rtlCol="0" anchor="ctr"/>
          <a:lstStyle/>
          <a:p>
            <a:pPr marL="0" indent="0">
              <a:buNone/>
            </a:pPr>
            <a:r>
              <a:rPr lang="en-US" sz="750" dirty="0">
                <a:solidFill>
                  <a:srgbClr val="6B8CAE"/>
                </a:solidFill>
              </a:rPr>
              <a:t>HotelRevAI  ·  Infosys Springboard Internship 6.0  ·  Batch 13 — Group 2, Team D</a:t>
            </a:r>
            <a:endParaRPr lang="en-US" sz="750" dirty="0"/>
          </a:p>
        </p:txBody>
      </p:sp>
      <p:sp>
        <p:nvSpPr>
          <p:cNvPr id="78" name="Text 76"/>
          <p:cNvSpPr/>
          <p:nvPr/>
        </p:nvSpPr>
        <p:spPr>
          <a:xfrm>
            <a:off x="8686800" y="4983480"/>
            <a:ext cx="411480" cy="160020"/>
          </a:xfrm>
          <a:prstGeom prst="rect">
            <a:avLst/>
          </a:prstGeom>
          <a:noFill/>
          <a:ln/>
        </p:spPr>
        <p:txBody>
          <a:bodyPr wrap="square" lIns="0" tIns="0" rIns="0" bIns="0" rtlCol="0" anchor="ctr"/>
          <a:lstStyle/>
          <a:p>
            <a:pPr marL="0" indent="0" algn="r">
              <a:buNone/>
            </a:pPr>
            <a:r>
              <a:rPr lang="en-US" sz="750" b="1" dirty="0">
                <a:solidFill>
                  <a:srgbClr val="F5C518"/>
                </a:solidFill>
              </a:rPr>
              <a:t>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A14"/>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0D2137"/>
            </a:solidFill>
            <a:prstDash val="solid"/>
          </a:ln>
        </p:spPr>
      </p:sp>
      <p:sp>
        <p:nvSpPr>
          <p:cNvPr id="3" name="Shape 1"/>
          <p:cNvSpPr/>
          <p:nvPr/>
        </p:nvSpPr>
        <p:spPr>
          <a:xfrm>
            <a:off x="914400" y="0"/>
            <a:ext cx="0" cy="5143500"/>
          </a:xfrm>
          <a:prstGeom prst="line">
            <a:avLst/>
          </a:prstGeom>
          <a:noFill/>
          <a:ln w="6350">
            <a:solidFill>
              <a:srgbClr val="0D2137"/>
            </a:solidFill>
            <a:prstDash val="solid"/>
          </a:ln>
        </p:spPr>
      </p:sp>
      <p:sp>
        <p:nvSpPr>
          <p:cNvPr id="4" name="Shape 2"/>
          <p:cNvSpPr/>
          <p:nvPr/>
        </p:nvSpPr>
        <p:spPr>
          <a:xfrm>
            <a:off x="1828800" y="0"/>
            <a:ext cx="0" cy="5143500"/>
          </a:xfrm>
          <a:prstGeom prst="line">
            <a:avLst/>
          </a:prstGeom>
          <a:noFill/>
          <a:ln w="6350">
            <a:solidFill>
              <a:srgbClr val="0D2137"/>
            </a:solidFill>
            <a:prstDash val="solid"/>
          </a:ln>
        </p:spPr>
      </p:sp>
      <p:sp>
        <p:nvSpPr>
          <p:cNvPr id="5" name="Shape 3"/>
          <p:cNvSpPr/>
          <p:nvPr/>
        </p:nvSpPr>
        <p:spPr>
          <a:xfrm>
            <a:off x="2743200" y="0"/>
            <a:ext cx="0" cy="5143500"/>
          </a:xfrm>
          <a:prstGeom prst="line">
            <a:avLst/>
          </a:prstGeom>
          <a:noFill/>
          <a:ln w="6350">
            <a:solidFill>
              <a:srgbClr val="0D2137"/>
            </a:solidFill>
            <a:prstDash val="solid"/>
          </a:ln>
        </p:spPr>
      </p:sp>
      <p:sp>
        <p:nvSpPr>
          <p:cNvPr id="6" name="Shape 4"/>
          <p:cNvSpPr/>
          <p:nvPr/>
        </p:nvSpPr>
        <p:spPr>
          <a:xfrm>
            <a:off x="3657600" y="0"/>
            <a:ext cx="0" cy="5143500"/>
          </a:xfrm>
          <a:prstGeom prst="line">
            <a:avLst/>
          </a:prstGeom>
          <a:noFill/>
          <a:ln w="6350">
            <a:solidFill>
              <a:srgbClr val="0D2137"/>
            </a:solidFill>
            <a:prstDash val="solid"/>
          </a:ln>
        </p:spPr>
      </p:sp>
      <p:sp>
        <p:nvSpPr>
          <p:cNvPr id="7" name="Shape 5"/>
          <p:cNvSpPr/>
          <p:nvPr/>
        </p:nvSpPr>
        <p:spPr>
          <a:xfrm>
            <a:off x="4572000" y="0"/>
            <a:ext cx="0" cy="5143500"/>
          </a:xfrm>
          <a:prstGeom prst="line">
            <a:avLst/>
          </a:prstGeom>
          <a:noFill/>
          <a:ln w="6350">
            <a:solidFill>
              <a:srgbClr val="0D2137"/>
            </a:solidFill>
            <a:prstDash val="solid"/>
          </a:ln>
        </p:spPr>
      </p:sp>
      <p:sp>
        <p:nvSpPr>
          <p:cNvPr id="8" name="Shape 6"/>
          <p:cNvSpPr/>
          <p:nvPr/>
        </p:nvSpPr>
        <p:spPr>
          <a:xfrm>
            <a:off x="5486400" y="0"/>
            <a:ext cx="0" cy="5143500"/>
          </a:xfrm>
          <a:prstGeom prst="line">
            <a:avLst/>
          </a:prstGeom>
          <a:noFill/>
          <a:ln w="6350">
            <a:solidFill>
              <a:srgbClr val="0D2137"/>
            </a:solidFill>
            <a:prstDash val="solid"/>
          </a:ln>
        </p:spPr>
      </p:sp>
      <p:sp>
        <p:nvSpPr>
          <p:cNvPr id="9" name="Shape 7"/>
          <p:cNvSpPr/>
          <p:nvPr/>
        </p:nvSpPr>
        <p:spPr>
          <a:xfrm>
            <a:off x="6400800" y="0"/>
            <a:ext cx="0" cy="5143500"/>
          </a:xfrm>
          <a:prstGeom prst="line">
            <a:avLst/>
          </a:prstGeom>
          <a:noFill/>
          <a:ln w="6350">
            <a:solidFill>
              <a:srgbClr val="0D2137"/>
            </a:solidFill>
            <a:prstDash val="solid"/>
          </a:ln>
        </p:spPr>
      </p:sp>
      <p:sp>
        <p:nvSpPr>
          <p:cNvPr id="10" name="Shape 8"/>
          <p:cNvSpPr/>
          <p:nvPr/>
        </p:nvSpPr>
        <p:spPr>
          <a:xfrm>
            <a:off x="7315200" y="0"/>
            <a:ext cx="0" cy="5143500"/>
          </a:xfrm>
          <a:prstGeom prst="line">
            <a:avLst/>
          </a:prstGeom>
          <a:noFill/>
          <a:ln w="6350">
            <a:solidFill>
              <a:srgbClr val="0D2137"/>
            </a:solidFill>
            <a:prstDash val="solid"/>
          </a:ln>
        </p:spPr>
      </p:sp>
      <p:sp>
        <p:nvSpPr>
          <p:cNvPr id="11" name="Shape 9"/>
          <p:cNvSpPr/>
          <p:nvPr/>
        </p:nvSpPr>
        <p:spPr>
          <a:xfrm>
            <a:off x="8229600" y="0"/>
            <a:ext cx="0" cy="5143500"/>
          </a:xfrm>
          <a:prstGeom prst="line">
            <a:avLst/>
          </a:prstGeom>
          <a:noFill/>
          <a:ln w="6350">
            <a:solidFill>
              <a:srgbClr val="0D2137"/>
            </a:solidFill>
            <a:prstDash val="solid"/>
          </a:ln>
        </p:spPr>
      </p:sp>
      <p:sp>
        <p:nvSpPr>
          <p:cNvPr id="12" name="Shape 10"/>
          <p:cNvSpPr/>
          <p:nvPr/>
        </p:nvSpPr>
        <p:spPr>
          <a:xfrm>
            <a:off x="9144000" y="0"/>
            <a:ext cx="0" cy="5143500"/>
          </a:xfrm>
          <a:prstGeom prst="line">
            <a:avLst/>
          </a:prstGeom>
          <a:noFill/>
          <a:ln w="6350">
            <a:solidFill>
              <a:srgbClr val="0D2137"/>
            </a:solidFill>
            <a:prstDash val="solid"/>
          </a:ln>
        </p:spPr>
      </p:sp>
      <p:sp>
        <p:nvSpPr>
          <p:cNvPr id="13" name="Shape 11"/>
          <p:cNvSpPr/>
          <p:nvPr/>
        </p:nvSpPr>
        <p:spPr>
          <a:xfrm>
            <a:off x="0" y="0"/>
            <a:ext cx="9144000" cy="0"/>
          </a:xfrm>
          <a:prstGeom prst="line">
            <a:avLst/>
          </a:prstGeom>
          <a:noFill/>
          <a:ln w="6350">
            <a:solidFill>
              <a:srgbClr val="0D2137"/>
            </a:solidFill>
            <a:prstDash val="solid"/>
          </a:ln>
        </p:spPr>
      </p:sp>
      <p:sp>
        <p:nvSpPr>
          <p:cNvPr id="14" name="Shape 12"/>
          <p:cNvSpPr/>
          <p:nvPr/>
        </p:nvSpPr>
        <p:spPr>
          <a:xfrm>
            <a:off x="0" y="859536"/>
            <a:ext cx="9144000" cy="0"/>
          </a:xfrm>
          <a:prstGeom prst="line">
            <a:avLst/>
          </a:prstGeom>
          <a:noFill/>
          <a:ln w="6350">
            <a:solidFill>
              <a:srgbClr val="0D2137"/>
            </a:solidFill>
            <a:prstDash val="solid"/>
          </a:ln>
        </p:spPr>
      </p:sp>
      <p:sp>
        <p:nvSpPr>
          <p:cNvPr id="15" name="Shape 13"/>
          <p:cNvSpPr/>
          <p:nvPr/>
        </p:nvSpPr>
        <p:spPr>
          <a:xfrm>
            <a:off x="0" y="1719072"/>
            <a:ext cx="9144000" cy="0"/>
          </a:xfrm>
          <a:prstGeom prst="line">
            <a:avLst/>
          </a:prstGeom>
          <a:noFill/>
          <a:ln w="6350">
            <a:solidFill>
              <a:srgbClr val="0D2137"/>
            </a:solidFill>
            <a:prstDash val="solid"/>
          </a:ln>
        </p:spPr>
      </p:sp>
      <p:sp>
        <p:nvSpPr>
          <p:cNvPr id="16" name="Shape 14"/>
          <p:cNvSpPr/>
          <p:nvPr/>
        </p:nvSpPr>
        <p:spPr>
          <a:xfrm>
            <a:off x="0" y="2578608"/>
            <a:ext cx="9144000" cy="0"/>
          </a:xfrm>
          <a:prstGeom prst="line">
            <a:avLst/>
          </a:prstGeom>
          <a:noFill/>
          <a:ln w="6350">
            <a:solidFill>
              <a:srgbClr val="0D2137"/>
            </a:solidFill>
            <a:prstDash val="solid"/>
          </a:ln>
        </p:spPr>
      </p:sp>
      <p:sp>
        <p:nvSpPr>
          <p:cNvPr id="17" name="Shape 15"/>
          <p:cNvSpPr/>
          <p:nvPr/>
        </p:nvSpPr>
        <p:spPr>
          <a:xfrm>
            <a:off x="0" y="3438144"/>
            <a:ext cx="9144000" cy="0"/>
          </a:xfrm>
          <a:prstGeom prst="line">
            <a:avLst/>
          </a:prstGeom>
          <a:noFill/>
          <a:ln w="6350">
            <a:solidFill>
              <a:srgbClr val="0D2137"/>
            </a:solidFill>
            <a:prstDash val="solid"/>
          </a:ln>
        </p:spPr>
      </p:sp>
      <p:sp>
        <p:nvSpPr>
          <p:cNvPr id="18" name="Shape 16"/>
          <p:cNvSpPr/>
          <p:nvPr/>
        </p:nvSpPr>
        <p:spPr>
          <a:xfrm>
            <a:off x="0" y="4297680"/>
            <a:ext cx="9144000" cy="0"/>
          </a:xfrm>
          <a:prstGeom prst="line">
            <a:avLst/>
          </a:prstGeom>
          <a:noFill/>
          <a:ln w="6350">
            <a:solidFill>
              <a:srgbClr val="0D2137"/>
            </a:solidFill>
            <a:prstDash val="solid"/>
          </a:ln>
        </p:spPr>
      </p:sp>
      <p:sp>
        <p:nvSpPr>
          <p:cNvPr id="19" name="Shape 17"/>
          <p:cNvSpPr/>
          <p:nvPr/>
        </p:nvSpPr>
        <p:spPr>
          <a:xfrm>
            <a:off x="0" y="5157216"/>
            <a:ext cx="9144000" cy="0"/>
          </a:xfrm>
          <a:prstGeom prst="line">
            <a:avLst/>
          </a:prstGeom>
          <a:noFill/>
          <a:ln w="6350">
            <a:solidFill>
              <a:srgbClr val="0D2137"/>
            </a:solidFill>
            <a:prstDash val="solid"/>
          </a:ln>
        </p:spPr>
      </p:sp>
      <p:sp>
        <p:nvSpPr>
          <p:cNvPr id="20" name="Shape 18"/>
          <p:cNvSpPr/>
          <p:nvPr/>
        </p:nvSpPr>
        <p:spPr>
          <a:xfrm>
            <a:off x="6858000" y="-640080"/>
            <a:ext cx="2743200" cy="2743200"/>
          </a:xfrm>
          <a:prstGeom prst="ellipse">
            <a:avLst/>
          </a:prstGeom>
          <a:solidFill>
            <a:srgbClr val="F5C518">
              <a:alpha val="12000"/>
            </a:srgbClr>
          </a:solidFill>
          <a:ln w="12700">
            <a:solidFill>
              <a:srgbClr val="F5C518">
                <a:alpha val="5000"/>
              </a:srgbClr>
            </a:solidFill>
            <a:prstDash val="solid"/>
          </a:ln>
        </p:spPr>
      </p:sp>
      <p:sp>
        <p:nvSpPr>
          <p:cNvPr id="21" name="Shape 19"/>
          <p:cNvSpPr/>
          <p:nvPr/>
        </p:nvSpPr>
        <p:spPr>
          <a:xfrm>
            <a:off x="7543800" y="45720"/>
            <a:ext cx="1371600" cy="1371600"/>
          </a:xfrm>
          <a:prstGeom prst="ellipse">
            <a:avLst/>
          </a:prstGeom>
          <a:solidFill>
            <a:srgbClr val="F5C518">
              <a:alpha val="4000"/>
            </a:srgbClr>
          </a:solidFill>
          <a:ln w="12700">
            <a:solidFill>
              <a:srgbClr val="F5C518">
                <a:alpha val="0"/>
              </a:srgbClr>
            </a:solidFill>
            <a:prstDash val="solid"/>
          </a:ln>
        </p:spPr>
      </p:sp>
      <p:sp>
        <p:nvSpPr>
          <p:cNvPr id="22" name="Shape 20"/>
          <p:cNvSpPr/>
          <p:nvPr/>
        </p:nvSpPr>
        <p:spPr>
          <a:xfrm>
            <a:off x="0" y="0"/>
            <a:ext cx="9144000" cy="50292"/>
          </a:xfrm>
          <a:prstGeom prst="rect">
            <a:avLst/>
          </a:prstGeom>
          <a:solidFill>
            <a:srgbClr val="F5C518"/>
          </a:solidFill>
          <a:ln w="12700">
            <a:solidFill>
              <a:srgbClr val="F5C518"/>
            </a:solidFill>
            <a:prstDash val="solid"/>
          </a:ln>
        </p:spPr>
      </p:sp>
      <p:sp>
        <p:nvSpPr>
          <p:cNvPr id="23" name="Shape 21"/>
          <p:cNvSpPr/>
          <p:nvPr/>
        </p:nvSpPr>
        <p:spPr>
          <a:xfrm>
            <a:off x="320040" y="182880"/>
            <a:ext cx="1737360" cy="246888"/>
          </a:xfrm>
          <a:prstGeom prst="rect">
            <a:avLst/>
          </a:prstGeom>
          <a:solidFill>
            <a:srgbClr val="003E7A"/>
          </a:solidFill>
          <a:ln w="12700">
            <a:solidFill>
              <a:srgbClr val="00B4FF"/>
            </a:solidFill>
            <a:prstDash val="solid"/>
          </a:ln>
        </p:spPr>
      </p:sp>
      <p:sp>
        <p:nvSpPr>
          <p:cNvPr id="24" name="Text 22"/>
          <p:cNvSpPr/>
          <p:nvPr/>
        </p:nvSpPr>
        <p:spPr>
          <a:xfrm>
            <a:off x="320040" y="182880"/>
            <a:ext cx="1737360" cy="246888"/>
          </a:xfrm>
          <a:prstGeom prst="rect">
            <a:avLst/>
          </a:prstGeom>
          <a:noFill/>
          <a:ln/>
        </p:spPr>
        <p:txBody>
          <a:bodyPr wrap="square" lIns="0" tIns="0" rIns="0" bIns="0" rtlCol="0" anchor="ctr"/>
          <a:lstStyle/>
          <a:p>
            <a:pPr marL="0" indent="0" algn="ctr">
              <a:buNone/>
            </a:pPr>
            <a:r>
              <a:rPr lang="en-US" sz="700" b="1" kern="0" spc="200" dirty="0">
                <a:solidFill>
                  <a:srgbClr val="00B4FF"/>
                </a:solidFill>
              </a:rPr>
              <a:t>BUSINESS METRICS</a:t>
            </a:r>
            <a:endParaRPr lang="en-US" sz="700" dirty="0"/>
          </a:p>
        </p:txBody>
      </p:sp>
      <p:sp>
        <p:nvSpPr>
          <p:cNvPr id="25" name="Text 23"/>
          <p:cNvSpPr/>
          <p:nvPr/>
        </p:nvSpPr>
        <p:spPr>
          <a:xfrm>
            <a:off x="320040" y="521208"/>
            <a:ext cx="8503920" cy="512064"/>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DAX Measures &amp; KPIs</a:t>
            </a:r>
            <a:endParaRPr lang="en-US" sz="2800" dirty="0"/>
          </a:p>
        </p:txBody>
      </p:sp>
      <p:sp>
        <p:nvSpPr>
          <p:cNvPr id="26" name="Shape 24"/>
          <p:cNvSpPr/>
          <p:nvPr/>
        </p:nvSpPr>
        <p:spPr>
          <a:xfrm>
            <a:off x="320040" y="1078992"/>
            <a:ext cx="1097280" cy="36576"/>
          </a:xfrm>
          <a:prstGeom prst="rect">
            <a:avLst/>
          </a:prstGeom>
          <a:solidFill>
            <a:srgbClr val="F5C518"/>
          </a:solidFill>
          <a:ln w="12700">
            <a:solidFill>
              <a:srgbClr val="F5C518"/>
            </a:solidFill>
            <a:prstDash val="solid"/>
          </a:ln>
        </p:spPr>
      </p:sp>
      <p:sp>
        <p:nvSpPr>
          <p:cNvPr id="27" name="Shape 25"/>
          <p:cNvSpPr/>
          <p:nvPr/>
        </p:nvSpPr>
        <p:spPr>
          <a:xfrm>
            <a:off x="1463040" y="1078992"/>
            <a:ext cx="7360920" cy="36576"/>
          </a:xfrm>
          <a:prstGeom prst="rect">
            <a:avLst/>
          </a:prstGeom>
          <a:solidFill>
            <a:srgbClr val="1A2E45"/>
          </a:solidFill>
          <a:ln w="12700">
            <a:solidFill>
              <a:srgbClr val="1A2E45"/>
            </a:solidFill>
            <a:prstDash val="solid"/>
          </a:ln>
        </p:spPr>
      </p:sp>
      <p:sp>
        <p:nvSpPr>
          <p:cNvPr id="28" name="Shape 26"/>
          <p:cNvSpPr/>
          <p:nvPr/>
        </p:nvSpPr>
        <p:spPr>
          <a:xfrm>
            <a:off x="292608" y="1243584"/>
            <a:ext cx="1682496" cy="731520"/>
          </a:xfrm>
          <a:prstGeom prst="rect">
            <a:avLst/>
          </a:prstGeom>
          <a:solidFill>
            <a:srgbClr val="000000">
              <a:alpha val="28000"/>
            </a:srgbClr>
          </a:solidFill>
          <a:ln w="12700">
            <a:solidFill>
              <a:srgbClr val="000000">
                <a:alpha val="0"/>
              </a:srgbClr>
            </a:solidFill>
            <a:prstDash val="solid"/>
          </a:ln>
        </p:spPr>
      </p:sp>
      <p:sp>
        <p:nvSpPr>
          <p:cNvPr id="29" name="Shape 27"/>
          <p:cNvSpPr/>
          <p:nvPr/>
        </p:nvSpPr>
        <p:spPr>
          <a:xfrm>
            <a:off x="256032" y="1207008"/>
            <a:ext cx="1682496" cy="731520"/>
          </a:xfrm>
          <a:prstGeom prst="rect">
            <a:avLst/>
          </a:prstGeom>
          <a:solidFill>
            <a:srgbClr val="0A1628">
              <a:alpha val="82000"/>
            </a:srgbClr>
          </a:solidFill>
          <a:ln w="12700">
            <a:solidFill>
              <a:srgbClr val="1E3A5F"/>
            </a:solidFill>
            <a:prstDash val="solid"/>
          </a:ln>
        </p:spPr>
      </p:sp>
      <p:sp>
        <p:nvSpPr>
          <p:cNvPr id="30" name="Shape 28"/>
          <p:cNvSpPr/>
          <p:nvPr/>
        </p:nvSpPr>
        <p:spPr>
          <a:xfrm>
            <a:off x="256032" y="1207008"/>
            <a:ext cx="1682496" cy="27432"/>
          </a:xfrm>
          <a:prstGeom prst="rect">
            <a:avLst/>
          </a:prstGeom>
          <a:solidFill>
            <a:srgbClr val="FFFFFF">
              <a:alpha val="26000"/>
            </a:srgbClr>
          </a:solidFill>
          <a:ln w="12700">
            <a:solidFill>
              <a:srgbClr val="FFFFFF">
                <a:alpha val="0"/>
              </a:srgbClr>
            </a:solidFill>
            <a:prstDash val="solid"/>
          </a:ln>
        </p:spPr>
      </p:sp>
      <p:sp>
        <p:nvSpPr>
          <p:cNvPr id="31" name="Shape 29"/>
          <p:cNvSpPr/>
          <p:nvPr/>
        </p:nvSpPr>
        <p:spPr>
          <a:xfrm>
            <a:off x="256032" y="1207008"/>
            <a:ext cx="27432" cy="731520"/>
          </a:xfrm>
          <a:prstGeom prst="rect">
            <a:avLst/>
          </a:prstGeom>
          <a:solidFill>
            <a:srgbClr val="FFFFFF">
              <a:alpha val="18000"/>
            </a:srgbClr>
          </a:solidFill>
          <a:ln w="12700">
            <a:solidFill>
              <a:srgbClr val="FFFFFF">
                <a:alpha val="0"/>
              </a:srgbClr>
            </a:solidFill>
            <a:prstDash val="solid"/>
          </a:ln>
        </p:spPr>
      </p:sp>
      <p:sp>
        <p:nvSpPr>
          <p:cNvPr id="32" name="Shape 30"/>
          <p:cNvSpPr/>
          <p:nvPr/>
        </p:nvSpPr>
        <p:spPr>
          <a:xfrm>
            <a:off x="256032" y="1207008"/>
            <a:ext cx="1682496" cy="50292"/>
          </a:xfrm>
          <a:prstGeom prst="rect">
            <a:avLst/>
          </a:prstGeom>
          <a:solidFill>
            <a:srgbClr val="F5C518"/>
          </a:solidFill>
          <a:ln w="12700">
            <a:solidFill>
              <a:srgbClr val="F5C518"/>
            </a:solidFill>
            <a:prstDash val="solid"/>
          </a:ln>
        </p:spPr>
      </p:sp>
      <p:sp>
        <p:nvSpPr>
          <p:cNvPr id="33" name="Text 31"/>
          <p:cNvSpPr/>
          <p:nvPr/>
        </p:nvSpPr>
        <p:spPr>
          <a:xfrm>
            <a:off x="256032" y="1298448"/>
            <a:ext cx="1682496" cy="310896"/>
          </a:xfrm>
          <a:prstGeom prst="rect">
            <a:avLst/>
          </a:prstGeom>
          <a:noFill/>
          <a:ln/>
        </p:spPr>
        <p:txBody>
          <a:bodyPr wrap="square" lIns="0" tIns="0" rIns="0" bIns="0" rtlCol="0" anchor="ctr"/>
          <a:lstStyle/>
          <a:p>
            <a:pPr marL="0" indent="0" algn="ctr">
              <a:buNone/>
            </a:pPr>
            <a:r>
              <a:rPr lang="en-US" sz="1600" b="1" dirty="0">
                <a:solidFill>
                  <a:srgbClr val="F5C518"/>
                </a:solidFill>
              </a:rPr>
              <a:t>$42.72M</a:t>
            </a:r>
            <a:endParaRPr lang="en-US" sz="1600" dirty="0"/>
          </a:p>
        </p:txBody>
      </p:sp>
      <p:sp>
        <p:nvSpPr>
          <p:cNvPr id="34" name="Text 32"/>
          <p:cNvSpPr/>
          <p:nvPr/>
        </p:nvSpPr>
        <p:spPr>
          <a:xfrm>
            <a:off x="256032" y="1609344"/>
            <a:ext cx="1682496" cy="182880"/>
          </a:xfrm>
          <a:prstGeom prst="rect">
            <a:avLst/>
          </a:prstGeom>
          <a:noFill/>
          <a:ln/>
        </p:spPr>
        <p:txBody>
          <a:bodyPr wrap="square" lIns="0" tIns="0" rIns="0" bIns="0" rtlCol="0" anchor="ctr"/>
          <a:lstStyle/>
          <a:p>
            <a:pPr marL="0" indent="0" algn="ctr">
              <a:buNone/>
            </a:pPr>
            <a:r>
              <a:rPr lang="en-US" sz="800" b="1" dirty="0">
                <a:solidFill>
                  <a:srgbClr val="FFFFFF"/>
                </a:solidFill>
              </a:rPr>
              <a:t>Total Revenue</a:t>
            </a:r>
            <a:endParaRPr lang="en-US" sz="800" dirty="0"/>
          </a:p>
        </p:txBody>
      </p:sp>
      <p:sp>
        <p:nvSpPr>
          <p:cNvPr id="35" name="Text 33"/>
          <p:cNvSpPr/>
          <p:nvPr/>
        </p:nvSpPr>
        <p:spPr>
          <a:xfrm>
            <a:off x="256032" y="1773936"/>
            <a:ext cx="1682496" cy="137160"/>
          </a:xfrm>
          <a:prstGeom prst="rect">
            <a:avLst/>
          </a:prstGeom>
          <a:noFill/>
          <a:ln/>
        </p:spPr>
        <p:txBody>
          <a:bodyPr wrap="square" lIns="0" tIns="0" rIns="0" bIns="0" rtlCol="0" anchor="ctr"/>
          <a:lstStyle/>
          <a:p>
            <a:pPr marL="0" indent="0" algn="ctr">
              <a:buNone/>
            </a:pPr>
            <a:r>
              <a:rPr lang="en-US" sz="700" i="1" dirty="0">
                <a:solidFill>
                  <a:srgbClr val="6B8CAE"/>
                </a:solidFill>
                <a:latin typeface="Consolas" pitchFamily="34" charset="0"/>
                <a:ea typeface="Consolas" pitchFamily="34" charset="-122"/>
                <a:cs typeface="Consolas" pitchFamily="34" charset="-120"/>
              </a:rPr>
              <a:t>SUMX(adr × nights)</a:t>
            </a:r>
            <a:endParaRPr lang="en-US" sz="700" dirty="0"/>
          </a:p>
        </p:txBody>
      </p:sp>
      <p:sp>
        <p:nvSpPr>
          <p:cNvPr id="36" name="Shape 34"/>
          <p:cNvSpPr/>
          <p:nvPr/>
        </p:nvSpPr>
        <p:spPr>
          <a:xfrm>
            <a:off x="2034540" y="1243584"/>
            <a:ext cx="1682496" cy="731520"/>
          </a:xfrm>
          <a:prstGeom prst="rect">
            <a:avLst/>
          </a:prstGeom>
          <a:solidFill>
            <a:srgbClr val="000000">
              <a:alpha val="28000"/>
            </a:srgbClr>
          </a:solidFill>
          <a:ln w="12700">
            <a:solidFill>
              <a:srgbClr val="000000">
                <a:alpha val="0"/>
              </a:srgbClr>
            </a:solidFill>
            <a:prstDash val="solid"/>
          </a:ln>
        </p:spPr>
      </p:sp>
      <p:sp>
        <p:nvSpPr>
          <p:cNvPr id="37" name="Shape 35"/>
          <p:cNvSpPr/>
          <p:nvPr/>
        </p:nvSpPr>
        <p:spPr>
          <a:xfrm>
            <a:off x="1997964" y="1207008"/>
            <a:ext cx="1682496" cy="731520"/>
          </a:xfrm>
          <a:prstGeom prst="rect">
            <a:avLst/>
          </a:prstGeom>
          <a:solidFill>
            <a:srgbClr val="0A1628">
              <a:alpha val="82000"/>
            </a:srgbClr>
          </a:solidFill>
          <a:ln w="12700">
            <a:solidFill>
              <a:srgbClr val="1E3A5F"/>
            </a:solidFill>
            <a:prstDash val="solid"/>
          </a:ln>
        </p:spPr>
      </p:sp>
      <p:sp>
        <p:nvSpPr>
          <p:cNvPr id="38" name="Shape 36"/>
          <p:cNvSpPr/>
          <p:nvPr/>
        </p:nvSpPr>
        <p:spPr>
          <a:xfrm>
            <a:off x="1997964" y="1207008"/>
            <a:ext cx="1682496" cy="27432"/>
          </a:xfrm>
          <a:prstGeom prst="rect">
            <a:avLst/>
          </a:prstGeom>
          <a:solidFill>
            <a:srgbClr val="FFFFFF">
              <a:alpha val="26000"/>
            </a:srgbClr>
          </a:solidFill>
          <a:ln w="12700">
            <a:solidFill>
              <a:srgbClr val="FFFFFF">
                <a:alpha val="0"/>
              </a:srgbClr>
            </a:solidFill>
            <a:prstDash val="solid"/>
          </a:ln>
        </p:spPr>
      </p:sp>
      <p:sp>
        <p:nvSpPr>
          <p:cNvPr id="39" name="Shape 37"/>
          <p:cNvSpPr/>
          <p:nvPr/>
        </p:nvSpPr>
        <p:spPr>
          <a:xfrm>
            <a:off x="1997964" y="1207008"/>
            <a:ext cx="27432" cy="731520"/>
          </a:xfrm>
          <a:prstGeom prst="rect">
            <a:avLst/>
          </a:prstGeom>
          <a:solidFill>
            <a:srgbClr val="FFFFFF">
              <a:alpha val="18000"/>
            </a:srgbClr>
          </a:solidFill>
          <a:ln w="12700">
            <a:solidFill>
              <a:srgbClr val="FFFFFF">
                <a:alpha val="0"/>
              </a:srgbClr>
            </a:solidFill>
            <a:prstDash val="solid"/>
          </a:ln>
        </p:spPr>
      </p:sp>
      <p:sp>
        <p:nvSpPr>
          <p:cNvPr id="40" name="Shape 38"/>
          <p:cNvSpPr/>
          <p:nvPr/>
        </p:nvSpPr>
        <p:spPr>
          <a:xfrm>
            <a:off x="1997964" y="1207008"/>
            <a:ext cx="1682496" cy="50292"/>
          </a:xfrm>
          <a:prstGeom prst="rect">
            <a:avLst/>
          </a:prstGeom>
          <a:solidFill>
            <a:srgbClr val="00B4FF"/>
          </a:solidFill>
          <a:ln w="12700">
            <a:solidFill>
              <a:srgbClr val="00B4FF"/>
            </a:solidFill>
            <a:prstDash val="solid"/>
          </a:ln>
        </p:spPr>
      </p:sp>
      <p:sp>
        <p:nvSpPr>
          <p:cNvPr id="41" name="Text 39"/>
          <p:cNvSpPr/>
          <p:nvPr/>
        </p:nvSpPr>
        <p:spPr>
          <a:xfrm>
            <a:off x="1997964" y="1298448"/>
            <a:ext cx="1682496" cy="310896"/>
          </a:xfrm>
          <a:prstGeom prst="rect">
            <a:avLst/>
          </a:prstGeom>
          <a:noFill/>
          <a:ln/>
        </p:spPr>
        <p:txBody>
          <a:bodyPr wrap="square" lIns="0" tIns="0" rIns="0" bIns="0" rtlCol="0" anchor="ctr"/>
          <a:lstStyle/>
          <a:p>
            <a:pPr marL="0" indent="0" algn="ctr">
              <a:buNone/>
            </a:pPr>
            <a:r>
              <a:rPr lang="en-US" sz="1600" b="1" dirty="0">
                <a:solidFill>
                  <a:srgbClr val="00B4FF"/>
                </a:solidFill>
              </a:rPr>
              <a:t>119.39K</a:t>
            </a:r>
            <a:endParaRPr lang="en-US" sz="1600" dirty="0"/>
          </a:p>
        </p:txBody>
      </p:sp>
      <p:sp>
        <p:nvSpPr>
          <p:cNvPr id="42" name="Text 40"/>
          <p:cNvSpPr/>
          <p:nvPr/>
        </p:nvSpPr>
        <p:spPr>
          <a:xfrm>
            <a:off x="1997964" y="1609344"/>
            <a:ext cx="1682496" cy="182880"/>
          </a:xfrm>
          <a:prstGeom prst="rect">
            <a:avLst/>
          </a:prstGeom>
          <a:noFill/>
          <a:ln/>
        </p:spPr>
        <p:txBody>
          <a:bodyPr wrap="square" lIns="0" tIns="0" rIns="0" bIns="0" rtlCol="0" anchor="ctr"/>
          <a:lstStyle/>
          <a:p>
            <a:pPr marL="0" indent="0" algn="ctr">
              <a:buNone/>
            </a:pPr>
            <a:r>
              <a:rPr lang="en-US" sz="800" b="1" dirty="0">
                <a:solidFill>
                  <a:srgbClr val="FFFFFF"/>
                </a:solidFill>
              </a:rPr>
              <a:t>Total Bookings</a:t>
            </a:r>
            <a:endParaRPr lang="en-US" sz="800" dirty="0"/>
          </a:p>
        </p:txBody>
      </p:sp>
      <p:sp>
        <p:nvSpPr>
          <p:cNvPr id="43" name="Text 41"/>
          <p:cNvSpPr/>
          <p:nvPr/>
        </p:nvSpPr>
        <p:spPr>
          <a:xfrm>
            <a:off x="1997964" y="1773936"/>
            <a:ext cx="1682496" cy="137160"/>
          </a:xfrm>
          <a:prstGeom prst="rect">
            <a:avLst/>
          </a:prstGeom>
          <a:noFill/>
          <a:ln/>
        </p:spPr>
        <p:txBody>
          <a:bodyPr wrap="square" lIns="0" tIns="0" rIns="0" bIns="0" rtlCol="0" anchor="ctr"/>
          <a:lstStyle/>
          <a:p>
            <a:pPr marL="0" indent="0" algn="ctr">
              <a:buNone/>
            </a:pPr>
            <a:r>
              <a:rPr lang="en-US" sz="700" i="1" dirty="0">
                <a:solidFill>
                  <a:srgbClr val="6B8CAE"/>
                </a:solidFill>
                <a:latin typeface="Consolas" pitchFamily="34" charset="0"/>
                <a:ea typeface="Consolas" pitchFamily="34" charset="-122"/>
                <a:cs typeface="Consolas" pitchFamily="34" charset="-120"/>
              </a:rPr>
              <a:t>COUNTROWS()</a:t>
            </a:r>
            <a:endParaRPr lang="en-US" sz="700" dirty="0"/>
          </a:p>
        </p:txBody>
      </p:sp>
      <p:sp>
        <p:nvSpPr>
          <p:cNvPr id="44" name="Shape 42"/>
          <p:cNvSpPr/>
          <p:nvPr/>
        </p:nvSpPr>
        <p:spPr>
          <a:xfrm>
            <a:off x="3776472" y="1243584"/>
            <a:ext cx="1682496" cy="731520"/>
          </a:xfrm>
          <a:prstGeom prst="rect">
            <a:avLst/>
          </a:prstGeom>
          <a:solidFill>
            <a:srgbClr val="000000">
              <a:alpha val="28000"/>
            </a:srgbClr>
          </a:solidFill>
          <a:ln w="12700">
            <a:solidFill>
              <a:srgbClr val="000000">
                <a:alpha val="0"/>
              </a:srgbClr>
            </a:solidFill>
            <a:prstDash val="solid"/>
          </a:ln>
        </p:spPr>
      </p:sp>
      <p:sp>
        <p:nvSpPr>
          <p:cNvPr id="45" name="Shape 43"/>
          <p:cNvSpPr/>
          <p:nvPr/>
        </p:nvSpPr>
        <p:spPr>
          <a:xfrm>
            <a:off x="3739896" y="1207008"/>
            <a:ext cx="1682496" cy="731520"/>
          </a:xfrm>
          <a:prstGeom prst="rect">
            <a:avLst/>
          </a:prstGeom>
          <a:solidFill>
            <a:srgbClr val="0A1628">
              <a:alpha val="82000"/>
            </a:srgbClr>
          </a:solidFill>
          <a:ln w="12700">
            <a:solidFill>
              <a:srgbClr val="1E3A5F"/>
            </a:solidFill>
            <a:prstDash val="solid"/>
          </a:ln>
        </p:spPr>
      </p:sp>
      <p:sp>
        <p:nvSpPr>
          <p:cNvPr id="46" name="Shape 44"/>
          <p:cNvSpPr/>
          <p:nvPr/>
        </p:nvSpPr>
        <p:spPr>
          <a:xfrm>
            <a:off x="3739896" y="1207008"/>
            <a:ext cx="1682496" cy="27432"/>
          </a:xfrm>
          <a:prstGeom prst="rect">
            <a:avLst/>
          </a:prstGeom>
          <a:solidFill>
            <a:srgbClr val="FFFFFF">
              <a:alpha val="26000"/>
            </a:srgbClr>
          </a:solidFill>
          <a:ln w="12700">
            <a:solidFill>
              <a:srgbClr val="FFFFFF">
                <a:alpha val="0"/>
              </a:srgbClr>
            </a:solidFill>
            <a:prstDash val="solid"/>
          </a:ln>
        </p:spPr>
      </p:sp>
      <p:sp>
        <p:nvSpPr>
          <p:cNvPr id="47" name="Shape 45"/>
          <p:cNvSpPr/>
          <p:nvPr/>
        </p:nvSpPr>
        <p:spPr>
          <a:xfrm>
            <a:off x="3739896" y="1207008"/>
            <a:ext cx="27432" cy="731520"/>
          </a:xfrm>
          <a:prstGeom prst="rect">
            <a:avLst/>
          </a:prstGeom>
          <a:solidFill>
            <a:srgbClr val="FFFFFF">
              <a:alpha val="18000"/>
            </a:srgbClr>
          </a:solidFill>
          <a:ln w="12700">
            <a:solidFill>
              <a:srgbClr val="FFFFFF">
                <a:alpha val="0"/>
              </a:srgbClr>
            </a:solidFill>
            <a:prstDash val="solid"/>
          </a:ln>
        </p:spPr>
      </p:sp>
      <p:sp>
        <p:nvSpPr>
          <p:cNvPr id="48" name="Shape 46"/>
          <p:cNvSpPr/>
          <p:nvPr/>
        </p:nvSpPr>
        <p:spPr>
          <a:xfrm>
            <a:off x="3739896" y="1207008"/>
            <a:ext cx="1682496" cy="50292"/>
          </a:xfrm>
          <a:prstGeom prst="rect">
            <a:avLst/>
          </a:prstGeom>
          <a:solidFill>
            <a:srgbClr val="00B4FF"/>
          </a:solidFill>
          <a:ln w="12700">
            <a:solidFill>
              <a:srgbClr val="00B4FF"/>
            </a:solidFill>
            <a:prstDash val="solid"/>
          </a:ln>
        </p:spPr>
      </p:sp>
      <p:sp>
        <p:nvSpPr>
          <p:cNvPr id="49" name="Text 47"/>
          <p:cNvSpPr/>
          <p:nvPr/>
        </p:nvSpPr>
        <p:spPr>
          <a:xfrm>
            <a:off x="3739896" y="1298448"/>
            <a:ext cx="1682496" cy="310896"/>
          </a:xfrm>
          <a:prstGeom prst="rect">
            <a:avLst/>
          </a:prstGeom>
          <a:noFill/>
          <a:ln/>
        </p:spPr>
        <p:txBody>
          <a:bodyPr wrap="square" lIns="0" tIns="0" rIns="0" bIns="0" rtlCol="0" anchor="ctr"/>
          <a:lstStyle/>
          <a:p>
            <a:pPr marL="0" indent="0" algn="ctr">
              <a:buNone/>
            </a:pPr>
            <a:r>
              <a:rPr lang="en-US" sz="1600" b="1" dirty="0">
                <a:solidFill>
                  <a:srgbClr val="00B4FF"/>
                </a:solidFill>
              </a:rPr>
              <a:t>$101.83</a:t>
            </a:r>
            <a:endParaRPr lang="en-US" sz="1600" dirty="0"/>
          </a:p>
        </p:txBody>
      </p:sp>
      <p:sp>
        <p:nvSpPr>
          <p:cNvPr id="50" name="Text 48"/>
          <p:cNvSpPr/>
          <p:nvPr/>
        </p:nvSpPr>
        <p:spPr>
          <a:xfrm>
            <a:off x="3739896" y="1609344"/>
            <a:ext cx="1682496" cy="182880"/>
          </a:xfrm>
          <a:prstGeom prst="rect">
            <a:avLst/>
          </a:prstGeom>
          <a:noFill/>
          <a:ln/>
        </p:spPr>
        <p:txBody>
          <a:bodyPr wrap="square" lIns="0" tIns="0" rIns="0" bIns="0" rtlCol="0" anchor="ctr"/>
          <a:lstStyle/>
          <a:p>
            <a:pPr marL="0" indent="0" algn="ctr">
              <a:buNone/>
            </a:pPr>
            <a:r>
              <a:rPr lang="en-US" sz="800" b="1" dirty="0">
                <a:solidFill>
                  <a:srgbClr val="FFFFFF"/>
                </a:solidFill>
              </a:rPr>
              <a:t>Avg Daily Rate</a:t>
            </a:r>
            <a:endParaRPr lang="en-US" sz="800" dirty="0"/>
          </a:p>
        </p:txBody>
      </p:sp>
      <p:sp>
        <p:nvSpPr>
          <p:cNvPr id="51" name="Text 49"/>
          <p:cNvSpPr/>
          <p:nvPr/>
        </p:nvSpPr>
        <p:spPr>
          <a:xfrm>
            <a:off x="3739896" y="1773936"/>
            <a:ext cx="1682496" cy="137160"/>
          </a:xfrm>
          <a:prstGeom prst="rect">
            <a:avLst/>
          </a:prstGeom>
          <a:noFill/>
          <a:ln/>
        </p:spPr>
        <p:txBody>
          <a:bodyPr wrap="square" lIns="0" tIns="0" rIns="0" bIns="0" rtlCol="0" anchor="ctr"/>
          <a:lstStyle/>
          <a:p>
            <a:pPr marL="0" indent="0" algn="ctr">
              <a:buNone/>
            </a:pPr>
            <a:r>
              <a:rPr lang="en-US" sz="700" i="1" dirty="0">
                <a:solidFill>
                  <a:srgbClr val="6B8CAE"/>
                </a:solidFill>
                <a:latin typeface="Consolas" pitchFamily="34" charset="0"/>
                <a:ea typeface="Consolas" pitchFamily="34" charset="-122"/>
                <a:cs typeface="Consolas" pitchFamily="34" charset="-120"/>
              </a:rPr>
              <a:t>AVERAGE(adr)</a:t>
            </a:r>
            <a:endParaRPr lang="en-US" sz="700" dirty="0"/>
          </a:p>
        </p:txBody>
      </p:sp>
      <p:sp>
        <p:nvSpPr>
          <p:cNvPr id="52" name="Shape 50"/>
          <p:cNvSpPr/>
          <p:nvPr/>
        </p:nvSpPr>
        <p:spPr>
          <a:xfrm>
            <a:off x="5518404" y="1243584"/>
            <a:ext cx="1682496" cy="731520"/>
          </a:xfrm>
          <a:prstGeom prst="rect">
            <a:avLst/>
          </a:prstGeom>
          <a:solidFill>
            <a:srgbClr val="000000">
              <a:alpha val="28000"/>
            </a:srgbClr>
          </a:solidFill>
          <a:ln w="12700">
            <a:solidFill>
              <a:srgbClr val="000000">
                <a:alpha val="0"/>
              </a:srgbClr>
            </a:solidFill>
            <a:prstDash val="solid"/>
          </a:ln>
        </p:spPr>
      </p:sp>
      <p:sp>
        <p:nvSpPr>
          <p:cNvPr id="53" name="Shape 51"/>
          <p:cNvSpPr/>
          <p:nvPr/>
        </p:nvSpPr>
        <p:spPr>
          <a:xfrm>
            <a:off x="5481828" y="1207008"/>
            <a:ext cx="1682496" cy="731520"/>
          </a:xfrm>
          <a:prstGeom prst="rect">
            <a:avLst/>
          </a:prstGeom>
          <a:solidFill>
            <a:srgbClr val="0A1628">
              <a:alpha val="82000"/>
            </a:srgbClr>
          </a:solidFill>
          <a:ln w="12700">
            <a:solidFill>
              <a:srgbClr val="1E3A5F"/>
            </a:solidFill>
            <a:prstDash val="solid"/>
          </a:ln>
        </p:spPr>
      </p:sp>
      <p:sp>
        <p:nvSpPr>
          <p:cNvPr id="54" name="Shape 52"/>
          <p:cNvSpPr/>
          <p:nvPr/>
        </p:nvSpPr>
        <p:spPr>
          <a:xfrm>
            <a:off x="5481828" y="1207008"/>
            <a:ext cx="1682496" cy="27432"/>
          </a:xfrm>
          <a:prstGeom prst="rect">
            <a:avLst/>
          </a:prstGeom>
          <a:solidFill>
            <a:srgbClr val="FFFFFF">
              <a:alpha val="26000"/>
            </a:srgbClr>
          </a:solidFill>
          <a:ln w="12700">
            <a:solidFill>
              <a:srgbClr val="FFFFFF">
                <a:alpha val="0"/>
              </a:srgbClr>
            </a:solidFill>
            <a:prstDash val="solid"/>
          </a:ln>
        </p:spPr>
      </p:sp>
      <p:sp>
        <p:nvSpPr>
          <p:cNvPr id="55" name="Shape 53"/>
          <p:cNvSpPr/>
          <p:nvPr/>
        </p:nvSpPr>
        <p:spPr>
          <a:xfrm>
            <a:off x="5481828" y="1207008"/>
            <a:ext cx="27432" cy="731520"/>
          </a:xfrm>
          <a:prstGeom prst="rect">
            <a:avLst/>
          </a:prstGeom>
          <a:solidFill>
            <a:srgbClr val="FFFFFF">
              <a:alpha val="18000"/>
            </a:srgbClr>
          </a:solidFill>
          <a:ln w="12700">
            <a:solidFill>
              <a:srgbClr val="FFFFFF">
                <a:alpha val="0"/>
              </a:srgbClr>
            </a:solidFill>
            <a:prstDash val="solid"/>
          </a:ln>
        </p:spPr>
      </p:sp>
      <p:sp>
        <p:nvSpPr>
          <p:cNvPr id="56" name="Shape 54"/>
          <p:cNvSpPr/>
          <p:nvPr/>
        </p:nvSpPr>
        <p:spPr>
          <a:xfrm>
            <a:off x="5481828" y="1207008"/>
            <a:ext cx="1682496" cy="50292"/>
          </a:xfrm>
          <a:prstGeom prst="rect">
            <a:avLst/>
          </a:prstGeom>
          <a:solidFill>
            <a:srgbClr val="F5C518"/>
          </a:solidFill>
          <a:ln w="12700">
            <a:solidFill>
              <a:srgbClr val="F5C518"/>
            </a:solidFill>
            <a:prstDash val="solid"/>
          </a:ln>
        </p:spPr>
      </p:sp>
      <p:sp>
        <p:nvSpPr>
          <p:cNvPr id="57" name="Text 55"/>
          <p:cNvSpPr/>
          <p:nvPr/>
        </p:nvSpPr>
        <p:spPr>
          <a:xfrm>
            <a:off x="5481828" y="1298448"/>
            <a:ext cx="1682496" cy="310896"/>
          </a:xfrm>
          <a:prstGeom prst="rect">
            <a:avLst/>
          </a:prstGeom>
          <a:noFill/>
          <a:ln/>
        </p:spPr>
        <p:txBody>
          <a:bodyPr wrap="square" lIns="0" tIns="0" rIns="0" bIns="0" rtlCol="0" anchor="ctr"/>
          <a:lstStyle/>
          <a:p>
            <a:pPr marL="0" indent="0" algn="ctr">
              <a:buNone/>
            </a:pPr>
            <a:r>
              <a:rPr lang="en-US" sz="1600" b="1" dirty="0">
                <a:solidFill>
                  <a:srgbClr val="F5C518"/>
                </a:solidFill>
              </a:rPr>
              <a:t>64.11%</a:t>
            </a:r>
            <a:endParaRPr lang="en-US" sz="1600" dirty="0"/>
          </a:p>
        </p:txBody>
      </p:sp>
      <p:sp>
        <p:nvSpPr>
          <p:cNvPr id="58" name="Text 56"/>
          <p:cNvSpPr/>
          <p:nvPr/>
        </p:nvSpPr>
        <p:spPr>
          <a:xfrm>
            <a:off x="5481828" y="1609344"/>
            <a:ext cx="1682496" cy="182880"/>
          </a:xfrm>
          <a:prstGeom prst="rect">
            <a:avLst/>
          </a:prstGeom>
          <a:noFill/>
          <a:ln/>
        </p:spPr>
        <p:txBody>
          <a:bodyPr wrap="square" lIns="0" tIns="0" rIns="0" bIns="0" rtlCol="0" anchor="ctr"/>
          <a:lstStyle/>
          <a:p>
            <a:pPr marL="0" indent="0" algn="ctr">
              <a:buNone/>
            </a:pPr>
            <a:r>
              <a:rPr lang="en-US" sz="800" b="1" dirty="0">
                <a:solidFill>
                  <a:srgbClr val="FFFFFF"/>
                </a:solidFill>
              </a:rPr>
              <a:t>RevPAR</a:t>
            </a:r>
            <a:endParaRPr lang="en-US" sz="800" dirty="0"/>
          </a:p>
        </p:txBody>
      </p:sp>
      <p:sp>
        <p:nvSpPr>
          <p:cNvPr id="59" name="Text 57"/>
          <p:cNvSpPr/>
          <p:nvPr/>
        </p:nvSpPr>
        <p:spPr>
          <a:xfrm>
            <a:off x="5481828" y="1773936"/>
            <a:ext cx="1682496" cy="137160"/>
          </a:xfrm>
          <a:prstGeom prst="rect">
            <a:avLst/>
          </a:prstGeom>
          <a:noFill/>
          <a:ln/>
        </p:spPr>
        <p:txBody>
          <a:bodyPr wrap="square" lIns="0" tIns="0" rIns="0" bIns="0" rtlCol="0" anchor="ctr"/>
          <a:lstStyle/>
          <a:p>
            <a:pPr marL="0" indent="0" algn="ctr">
              <a:buNone/>
            </a:pPr>
            <a:r>
              <a:rPr lang="en-US" sz="700" i="1" dirty="0">
                <a:solidFill>
                  <a:srgbClr val="6B8CAE"/>
                </a:solidFill>
                <a:latin typeface="Consolas" pitchFamily="34" charset="0"/>
                <a:ea typeface="Consolas" pitchFamily="34" charset="-122"/>
                <a:cs typeface="Consolas" pitchFamily="34" charset="-120"/>
              </a:rPr>
              <a:t>Revenue / Capacity</a:t>
            </a:r>
            <a:endParaRPr lang="en-US" sz="700" dirty="0"/>
          </a:p>
        </p:txBody>
      </p:sp>
      <p:sp>
        <p:nvSpPr>
          <p:cNvPr id="60" name="Shape 58"/>
          <p:cNvSpPr/>
          <p:nvPr/>
        </p:nvSpPr>
        <p:spPr>
          <a:xfrm>
            <a:off x="7260336" y="1243584"/>
            <a:ext cx="1682496" cy="731520"/>
          </a:xfrm>
          <a:prstGeom prst="rect">
            <a:avLst/>
          </a:prstGeom>
          <a:solidFill>
            <a:srgbClr val="000000">
              <a:alpha val="28000"/>
            </a:srgbClr>
          </a:solidFill>
          <a:ln w="12700">
            <a:solidFill>
              <a:srgbClr val="000000">
                <a:alpha val="0"/>
              </a:srgbClr>
            </a:solidFill>
            <a:prstDash val="solid"/>
          </a:ln>
        </p:spPr>
      </p:sp>
      <p:sp>
        <p:nvSpPr>
          <p:cNvPr id="61" name="Shape 59"/>
          <p:cNvSpPr/>
          <p:nvPr/>
        </p:nvSpPr>
        <p:spPr>
          <a:xfrm>
            <a:off x="7223760" y="1207008"/>
            <a:ext cx="1682496" cy="731520"/>
          </a:xfrm>
          <a:prstGeom prst="rect">
            <a:avLst/>
          </a:prstGeom>
          <a:solidFill>
            <a:srgbClr val="0A1628">
              <a:alpha val="82000"/>
            </a:srgbClr>
          </a:solidFill>
          <a:ln w="12700">
            <a:solidFill>
              <a:srgbClr val="1E3A5F"/>
            </a:solidFill>
            <a:prstDash val="solid"/>
          </a:ln>
        </p:spPr>
      </p:sp>
      <p:sp>
        <p:nvSpPr>
          <p:cNvPr id="62" name="Shape 60"/>
          <p:cNvSpPr/>
          <p:nvPr/>
        </p:nvSpPr>
        <p:spPr>
          <a:xfrm>
            <a:off x="7223760" y="1207008"/>
            <a:ext cx="1682496" cy="27432"/>
          </a:xfrm>
          <a:prstGeom prst="rect">
            <a:avLst/>
          </a:prstGeom>
          <a:solidFill>
            <a:srgbClr val="FFFFFF">
              <a:alpha val="26000"/>
            </a:srgbClr>
          </a:solidFill>
          <a:ln w="12700">
            <a:solidFill>
              <a:srgbClr val="FFFFFF">
                <a:alpha val="0"/>
              </a:srgbClr>
            </a:solidFill>
            <a:prstDash val="solid"/>
          </a:ln>
        </p:spPr>
      </p:sp>
      <p:sp>
        <p:nvSpPr>
          <p:cNvPr id="63" name="Shape 61"/>
          <p:cNvSpPr/>
          <p:nvPr/>
        </p:nvSpPr>
        <p:spPr>
          <a:xfrm>
            <a:off x="7223760" y="1207008"/>
            <a:ext cx="27432" cy="731520"/>
          </a:xfrm>
          <a:prstGeom prst="rect">
            <a:avLst/>
          </a:prstGeom>
          <a:solidFill>
            <a:srgbClr val="FFFFFF">
              <a:alpha val="18000"/>
            </a:srgbClr>
          </a:solidFill>
          <a:ln w="12700">
            <a:solidFill>
              <a:srgbClr val="FFFFFF">
                <a:alpha val="0"/>
              </a:srgbClr>
            </a:solidFill>
            <a:prstDash val="solid"/>
          </a:ln>
        </p:spPr>
      </p:sp>
      <p:sp>
        <p:nvSpPr>
          <p:cNvPr id="64" name="Shape 62"/>
          <p:cNvSpPr/>
          <p:nvPr/>
        </p:nvSpPr>
        <p:spPr>
          <a:xfrm>
            <a:off x="7223760" y="1207008"/>
            <a:ext cx="1682496" cy="50292"/>
          </a:xfrm>
          <a:prstGeom prst="rect">
            <a:avLst/>
          </a:prstGeom>
          <a:solidFill>
            <a:srgbClr val="00D4AA"/>
          </a:solidFill>
          <a:ln w="12700">
            <a:solidFill>
              <a:srgbClr val="00D4AA"/>
            </a:solidFill>
            <a:prstDash val="solid"/>
          </a:ln>
        </p:spPr>
      </p:sp>
      <p:sp>
        <p:nvSpPr>
          <p:cNvPr id="65" name="Text 63"/>
          <p:cNvSpPr/>
          <p:nvPr/>
        </p:nvSpPr>
        <p:spPr>
          <a:xfrm>
            <a:off x="7223760" y="1298448"/>
            <a:ext cx="1682496" cy="310896"/>
          </a:xfrm>
          <a:prstGeom prst="rect">
            <a:avLst/>
          </a:prstGeom>
          <a:noFill/>
          <a:ln/>
        </p:spPr>
        <p:txBody>
          <a:bodyPr wrap="square" lIns="0" tIns="0" rIns="0" bIns="0" rtlCol="0" anchor="ctr"/>
          <a:lstStyle/>
          <a:p>
            <a:pPr marL="0" indent="0" algn="ctr">
              <a:buNone/>
            </a:pPr>
            <a:r>
              <a:rPr lang="en-US" sz="1600" b="1" dirty="0">
                <a:solidFill>
                  <a:srgbClr val="00D4AA"/>
                </a:solidFill>
              </a:rPr>
              <a:t>62.96%</a:t>
            </a:r>
            <a:endParaRPr lang="en-US" sz="1600" dirty="0"/>
          </a:p>
        </p:txBody>
      </p:sp>
      <p:sp>
        <p:nvSpPr>
          <p:cNvPr id="66" name="Text 64"/>
          <p:cNvSpPr/>
          <p:nvPr/>
        </p:nvSpPr>
        <p:spPr>
          <a:xfrm>
            <a:off x="7223760" y="1609344"/>
            <a:ext cx="1682496" cy="182880"/>
          </a:xfrm>
          <a:prstGeom prst="rect">
            <a:avLst/>
          </a:prstGeom>
          <a:noFill/>
          <a:ln/>
        </p:spPr>
        <p:txBody>
          <a:bodyPr wrap="square" lIns="0" tIns="0" rIns="0" bIns="0" rtlCol="0" anchor="ctr"/>
          <a:lstStyle/>
          <a:p>
            <a:pPr marL="0" indent="0" algn="ctr">
              <a:buNone/>
            </a:pPr>
            <a:r>
              <a:rPr lang="en-US" sz="800" b="1" dirty="0">
                <a:solidFill>
                  <a:srgbClr val="FFFFFF"/>
                </a:solidFill>
              </a:rPr>
              <a:t>Occupancy %</a:t>
            </a:r>
            <a:endParaRPr lang="en-US" sz="800" dirty="0"/>
          </a:p>
        </p:txBody>
      </p:sp>
      <p:sp>
        <p:nvSpPr>
          <p:cNvPr id="67" name="Text 65"/>
          <p:cNvSpPr/>
          <p:nvPr/>
        </p:nvSpPr>
        <p:spPr>
          <a:xfrm>
            <a:off x="7223760" y="1773936"/>
            <a:ext cx="1682496" cy="137160"/>
          </a:xfrm>
          <a:prstGeom prst="rect">
            <a:avLst/>
          </a:prstGeom>
          <a:noFill/>
          <a:ln/>
        </p:spPr>
        <p:txBody>
          <a:bodyPr wrap="square" lIns="0" tIns="0" rIns="0" bIns="0" rtlCol="0" anchor="ctr"/>
          <a:lstStyle/>
          <a:p>
            <a:pPr marL="0" indent="0" algn="ctr">
              <a:buNone/>
            </a:pPr>
            <a:r>
              <a:rPr lang="en-US" sz="700" i="1" dirty="0">
                <a:solidFill>
                  <a:srgbClr val="6B8CAE"/>
                </a:solidFill>
                <a:latin typeface="Consolas" pitchFamily="34" charset="0"/>
                <a:ea typeface="Consolas" pitchFamily="34" charset="-122"/>
                <a:cs typeface="Consolas" pitchFamily="34" charset="-120"/>
              </a:rPr>
              <a:t>Check-Out / Total</a:t>
            </a:r>
            <a:endParaRPr lang="en-US" sz="700" dirty="0"/>
          </a:p>
        </p:txBody>
      </p:sp>
      <p:sp>
        <p:nvSpPr>
          <p:cNvPr id="68" name="Shape 66"/>
          <p:cNvSpPr/>
          <p:nvPr/>
        </p:nvSpPr>
        <p:spPr>
          <a:xfrm>
            <a:off x="292608" y="2066544"/>
            <a:ext cx="1682496" cy="731520"/>
          </a:xfrm>
          <a:prstGeom prst="rect">
            <a:avLst/>
          </a:prstGeom>
          <a:solidFill>
            <a:srgbClr val="000000">
              <a:alpha val="28000"/>
            </a:srgbClr>
          </a:solidFill>
          <a:ln w="12700">
            <a:solidFill>
              <a:srgbClr val="000000">
                <a:alpha val="0"/>
              </a:srgbClr>
            </a:solidFill>
            <a:prstDash val="solid"/>
          </a:ln>
        </p:spPr>
      </p:sp>
      <p:sp>
        <p:nvSpPr>
          <p:cNvPr id="69" name="Shape 67"/>
          <p:cNvSpPr/>
          <p:nvPr/>
        </p:nvSpPr>
        <p:spPr>
          <a:xfrm>
            <a:off x="256032" y="2029968"/>
            <a:ext cx="1682496" cy="731520"/>
          </a:xfrm>
          <a:prstGeom prst="rect">
            <a:avLst/>
          </a:prstGeom>
          <a:solidFill>
            <a:srgbClr val="0A1628">
              <a:alpha val="82000"/>
            </a:srgbClr>
          </a:solidFill>
          <a:ln w="12700">
            <a:solidFill>
              <a:srgbClr val="1E3A5F"/>
            </a:solidFill>
            <a:prstDash val="solid"/>
          </a:ln>
        </p:spPr>
      </p:sp>
      <p:sp>
        <p:nvSpPr>
          <p:cNvPr id="70" name="Shape 68"/>
          <p:cNvSpPr/>
          <p:nvPr/>
        </p:nvSpPr>
        <p:spPr>
          <a:xfrm>
            <a:off x="256032" y="2029968"/>
            <a:ext cx="1682496" cy="27432"/>
          </a:xfrm>
          <a:prstGeom prst="rect">
            <a:avLst/>
          </a:prstGeom>
          <a:solidFill>
            <a:srgbClr val="FFFFFF">
              <a:alpha val="26000"/>
            </a:srgbClr>
          </a:solidFill>
          <a:ln w="12700">
            <a:solidFill>
              <a:srgbClr val="FFFFFF">
                <a:alpha val="0"/>
              </a:srgbClr>
            </a:solidFill>
            <a:prstDash val="solid"/>
          </a:ln>
        </p:spPr>
      </p:sp>
      <p:sp>
        <p:nvSpPr>
          <p:cNvPr id="71" name="Shape 69"/>
          <p:cNvSpPr/>
          <p:nvPr/>
        </p:nvSpPr>
        <p:spPr>
          <a:xfrm>
            <a:off x="256032" y="2029968"/>
            <a:ext cx="27432" cy="731520"/>
          </a:xfrm>
          <a:prstGeom prst="rect">
            <a:avLst/>
          </a:prstGeom>
          <a:solidFill>
            <a:srgbClr val="FFFFFF">
              <a:alpha val="18000"/>
            </a:srgbClr>
          </a:solidFill>
          <a:ln w="12700">
            <a:solidFill>
              <a:srgbClr val="FFFFFF">
                <a:alpha val="0"/>
              </a:srgbClr>
            </a:solidFill>
            <a:prstDash val="solid"/>
          </a:ln>
        </p:spPr>
      </p:sp>
      <p:sp>
        <p:nvSpPr>
          <p:cNvPr id="72" name="Shape 70"/>
          <p:cNvSpPr/>
          <p:nvPr/>
        </p:nvSpPr>
        <p:spPr>
          <a:xfrm>
            <a:off x="256032" y="2029968"/>
            <a:ext cx="1682496" cy="50292"/>
          </a:xfrm>
          <a:prstGeom prst="rect">
            <a:avLst/>
          </a:prstGeom>
          <a:solidFill>
            <a:srgbClr val="FF6B6B"/>
          </a:solidFill>
          <a:ln w="12700">
            <a:solidFill>
              <a:srgbClr val="FF6B6B"/>
            </a:solidFill>
            <a:prstDash val="solid"/>
          </a:ln>
        </p:spPr>
      </p:sp>
      <p:sp>
        <p:nvSpPr>
          <p:cNvPr id="73" name="Text 71"/>
          <p:cNvSpPr/>
          <p:nvPr/>
        </p:nvSpPr>
        <p:spPr>
          <a:xfrm>
            <a:off x="256032" y="2121408"/>
            <a:ext cx="1682496" cy="310896"/>
          </a:xfrm>
          <a:prstGeom prst="rect">
            <a:avLst/>
          </a:prstGeom>
          <a:noFill/>
          <a:ln/>
        </p:spPr>
        <p:txBody>
          <a:bodyPr wrap="square" lIns="0" tIns="0" rIns="0" bIns="0" rtlCol="0" anchor="ctr"/>
          <a:lstStyle/>
          <a:p>
            <a:pPr marL="0" indent="0" algn="ctr">
              <a:buNone/>
            </a:pPr>
            <a:r>
              <a:rPr lang="en-US" sz="1600" b="1" dirty="0">
                <a:solidFill>
                  <a:srgbClr val="FF6B6B"/>
                </a:solidFill>
              </a:rPr>
              <a:t>37.04%</a:t>
            </a:r>
            <a:endParaRPr lang="en-US" sz="1600" dirty="0"/>
          </a:p>
        </p:txBody>
      </p:sp>
      <p:sp>
        <p:nvSpPr>
          <p:cNvPr id="74" name="Text 72"/>
          <p:cNvSpPr/>
          <p:nvPr/>
        </p:nvSpPr>
        <p:spPr>
          <a:xfrm>
            <a:off x="256032" y="2432304"/>
            <a:ext cx="1682496" cy="182880"/>
          </a:xfrm>
          <a:prstGeom prst="rect">
            <a:avLst/>
          </a:prstGeom>
          <a:noFill/>
          <a:ln/>
        </p:spPr>
        <p:txBody>
          <a:bodyPr wrap="square" lIns="0" tIns="0" rIns="0" bIns="0" rtlCol="0" anchor="ctr"/>
          <a:lstStyle/>
          <a:p>
            <a:pPr marL="0" indent="0" algn="ctr">
              <a:buNone/>
            </a:pPr>
            <a:r>
              <a:rPr lang="en-US" sz="800" b="1" dirty="0">
                <a:solidFill>
                  <a:srgbClr val="FFFFFF"/>
                </a:solidFill>
              </a:rPr>
              <a:t>Cancellation Rate</a:t>
            </a:r>
            <a:endParaRPr lang="en-US" sz="800" dirty="0"/>
          </a:p>
        </p:txBody>
      </p:sp>
      <p:sp>
        <p:nvSpPr>
          <p:cNvPr id="75" name="Text 73"/>
          <p:cNvSpPr/>
          <p:nvPr/>
        </p:nvSpPr>
        <p:spPr>
          <a:xfrm>
            <a:off x="256032" y="2596896"/>
            <a:ext cx="1682496" cy="137160"/>
          </a:xfrm>
          <a:prstGeom prst="rect">
            <a:avLst/>
          </a:prstGeom>
          <a:noFill/>
          <a:ln/>
        </p:spPr>
        <p:txBody>
          <a:bodyPr wrap="square" lIns="0" tIns="0" rIns="0" bIns="0" rtlCol="0" anchor="ctr"/>
          <a:lstStyle/>
          <a:p>
            <a:pPr marL="0" indent="0" algn="ctr">
              <a:buNone/>
            </a:pPr>
            <a:r>
              <a:rPr lang="en-US" sz="700" i="1" dirty="0">
                <a:solidFill>
                  <a:srgbClr val="6B8CAE"/>
                </a:solidFill>
                <a:latin typeface="Consolas" pitchFamily="34" charset="0"/>
                <a:ea typeface="Consolas" pitchFamily="34" charset="-122"/>
                <a:cs typeface="Consolas" pitchFamily="34" charset="-120"/>
              </a:rPr>
              <a:t>Cancelled / Total</a:t>
            </a:r>
            <a:endParaRPr lang="en-US" sz="700" dirty="0"/>
          </a:p>
        </p:txBody>
      </p:sp>
      <p:sp>
        <p:nvSpPr>
          <p:cNvPr id="76" name="Shape 74"/>
          <p:cNvSpPr/>
          <p:nvPr/>
        </p:nvSpPr>
        <p:spPr>
          <a:xfrm>
            <a:off x="2034540" y="2066544"/>
            <a:ext cx="1682496" cy="731520"/>
          </a:xfrm>
          <a:prstGeom prst="rect">
            <a:avLst/>
          </a:prstGeom>
          <a:solidFill>
            <a:srgbClr val="000000">
              <a:alpha val="28000"/>
            </a:srgbClr>
          </a:solidFill>
          <a:ln w="12700">
            <a:solidFill>
              <a:srgbClr val="000000">
                <a:alpha val="0"/>
              </a:srgbClr>
            </a:solidFill>
            <a:prstDash val="solid"/>
          </a:ln>
        </p:spPr>
      </p:sp>
      <p:sp>
        <p:nvSpPr>
          <p:cNvPr id="77" name="Shape 75"/>
          <p:cNvSpPr/>
          <p:nvPr/>
        </p:nvSpPr>
        <p:spPr>
          <a:xfrm>
            <a:off x="1997964" y="2029968"/>
            <a:ext cx="1682496" cy="731520"/>
          </a:xfrm>
          <a:prstGeom prst="rect">
            <a:avLst/>
          </a:prstGeom>
          <a:solidFill>
            <a:srgbClr val="0A1628">
              <a:alpha val="82000"/>
            </a:srgbClr>
          </a:solidFill>
          <a:ln w="12700">
            <a:solidFill>
              <a:srgbClr val="1E3A5F"/>
            </a:solidFill>
            <a:prstDash val="solid"/>
          </a:ln>
        </p:spPr>
      </p:sp>
      <p:sp>
        <p:nvSpPr>
          <p:cNvPr id="78" name="Shape 76"/>
          <p:cNvSpPr/>
          <p:nvPr/>
        </p:nvSpPr>
        <p:spPr>
          <a:xfrm>
            <a:off x="1997964" y="2029968"/>
            <a:ext cx="1682496" cy="27432"/>
          </a:xfrm>
          <a:prstGeom prst="rect">
            <a:avLst/>
          </a:prstGeom>
          <a:solidFill>
            <a:srgbClr val="FFFFFF">
              <a:alpha val="26000"/>
            </a:srgbClr>
          </a:solidFill>
          <a:ln w="12700">
            <a:solidFill>
              <a:srgbClr val="FFFFFF">
                <a:alpha val="0"/>
              </a:srgbClr>
            </a:solidFill>
            <a:prstDash val="solid"/>
          </a:ln>
        </p:spPr>
      </p:sp>
      <p:sp>
        <p:nvSpPr>
          <p:cNvPr id="79" name="Shape 77"/>
          <p:cNvSpPr/>
          <p:nvPr/>
        </p:nvSpPr>
        <p:spPr>
          <a:xfrm>
            <a:off x="1997964" y="2029968"/>
            <a:ext cx="27432" cy="731520"/>
          </a:xfrm>
          <a:prstGeom prst="rect">
            <a:avLst/>
          </a:prstGeom>
          <a:solidFill>
            <a:srgbClr val="FFFFFF">
              <a:alpha val="18000"/>
            </a:srgbClr>
          </a:solidFill>
          <a:ln w="12700">
            <a:solidFill>
              <a:srgbClr val="FFFFFF">
                <a:alpha val="0"/>
              </a:srgbClr>
            </a:solidFill>
            <a:prstDash val="solid"/>
          </a:ln>
        </p:spPr>
      </p:sp>
      <p:sp>
        <p:nvSpPr>
          <p:cNvPr id="80" name="Shape 78"/>
          <p:cNvSpPr/>
          <p:nvPr/>
        </p:nvSpPr>
        <p:spPr>
          <a:xfrm>
            <a:off x="1997964" y="2029968"/>
            <a:ext cx="1682496" cy="50292"/>
          </a:xfrm>
          <a:prstGeom prst="rect">
            <a:avLst/>
          </a:prstGeom>
          <a:solidFill>
            <a:srgbClr val="00B4FF"/>
          </a:solidFill>
          <a:ln w="12700">
            <a:solidFill>
              <a:srgbClr val="00B4FF"/>
            </a:solidFill>
            <a:prstDash val="solid"/>
          </a:ln>
        </p:spPr>
      </p:sp>
      <p:sp>
        <p:nvSpPr>
          <p:cNvPr id="81" name="Text 79"/>
          <p:cNvSpPr/>
          <p:nvPr/>
        </p:nvSpPr>
        <p:spPr>
          <a:xfrm>
            <a:off x="1997964" y="2121408"/>
            <a:ext cx="1682496" cy="310896"/>
          </a:xfrm>
          <a:prstGeom prst="rect">
            <a:avLst/>
          </a:prstGeom>
          <a:noFill/>
          <a:ln/>
        </p:spPr>
        <p:txBody>
          <a:bodyPr wrap="square" lIns="0" tIns="0" rIns="0" bIns="0" rtlCol="0" anchor="ctr"/>
          <a:lstStyle/>
          <a:p>
            <a:pPr marL="0" indent="0" algn="ctr">
              <a:buNone/>
            </a:pPr>
            <a:r>
              <a:rPr lang="en-US" sz="1600" b="1" dirty="0">
                <a:solidFill>
                  <a:srgbClr val="00B4FF"/>
                </a:solidFill>
              </a:rPr>
              <a:t>104 days</a:t>
            </a:r>
            <a:endParaRPr lang="en-US" sz="1600" dirty="0"/>
          </a:p>
        </p:txBody>
      </p:sp>
      <p:sp>
        <p:nvSpPr>
          <p:cNvPr id="82" name="Text 80"/>
          <p:cNvSpPr/>
          <p:nvPr/>
        </p:nvSpPr>
        <p:spPr>
          <a:xfrm>
            <a:off x="1997964" y="2432304"/>
            <a:ext cx="1682496" cy="182880"/>
          </a:xfrm>
          <a:prstGeom prst="rect">
            <a:avLst/>
          </a:prstGeom>
          <a:noFill/>
          <a:ln/>
        </p:spPr>
        <p:txBody>
          <a:bodyPr wrap="square" lIns="0" tIns="0" rIns="0" bIns="0" rtlCol="0" anchor="ctr"/>
          <a:lstStyle/>
          <a:p>
            <a:pPr marL="0" indent="0" algn="ctr">
              <a:buNone/>
            </a:pPr>
            <a:r>
              <a:rPr lang="en-US" sz="800" b="1" dirty="0">
                <a:solidFill>
                  <a:srgbClr val="FFFFFF"/>
                </a:solidFill>
              </a:rPr>
              <a:t>Avg Lead Time</a:t>
            </a:r>
            <a:endParaRPr lang="en-US" sz="800" dirty="0"/>
          </a:p>
        </p:txBody>
      </p:sp>
      <p:sp>
        <p:nvSpPr>
          <p:cNvPr id="83" name="Text 81"/>
          <p:cNvSpPr/>
          <p:nvPr/>
        </p:nvSpPr>
        <p:spPr>
          <a:xfrm>
            <a:off x="1997964" y="2596896"/>
            <a:ext cx="1682496" cy="137160"/>
          </a:xfrm>
          <a:prstGeom prst="rect">
            <a:avLst/>
          </a:prstGeom>
          <a:noFill/>
          <a:ln/>
        </p:spPr>
        <p:txBody>
          <a:bodyPr wrap="square" lIns="0" tIns="0" rIns="0" bIns="0" rtlCol="0" anchor="ctr"/>
          <a:lstStyle/>
          <a:p>
            <a:pPr marL="0" indent="0" algn="ctr">
              <a:buNone/>
            </a:pPr>
            <a:r>
              <a:rPr lang="en-US" sz="700" i="1" dirty="0">
                <a:solidFill>
                  <a:srgbClr val="6B8CAE"/>
                </a:solidFill>
                <a:latin typeface="Consolas" pitchFamily="34" charset="0"/>
                <a:ea typeface="Consolas" pitchFamily="34" charset="-122"/>
                <a:cs typeface="Consolas" pitchFamily="34" charset="-120"/>
              </a:rPr>
              <a:t>AVERAGE(lead_time)</a:t>
            </a:r>
            <a:endParaRPr lang="en-US" sz="700" dirty="0"/>
          </a:p>
        </p:txBody>
      </p:sp>
      <p:sp>
        <p:nvSpPr>
          <p:cNvPr id="84" name="Shape 82"/>
          <p:cNvSpPr/>
          <p:nvPr/>
        </p:nvSpPr>
        <p:spPr>
          <a:xfrm>
            <a:off x="3776472" y="2066544"/>
            <a:ext cx="1682496" cy="731520"/>
          </a:xfrm>
          <a:prstGeom prst="rect">
            <a:avLst/>
          </a:prstGeom>
          <a:solidFill>
            <a:srgbClr val="000000">
              <a:alpha val="28000"/>
            </a:srgbClr>
          </a:solidFill>
          <a:ln w="12700">
            <a:solidFill>
              <a:srgbClr val="000000">
                <a:alpha val="0"/>
              </a:srgbClr>
            </a:solidFill>
            <a:prstDash val="solid"/>
          </a:ln>
        </p:spPr>
      </p:sp>
      <p:sp>
        <p:nvSpPr>
          <p:cNvPr id="85" name="Shape 83"/>
          <p:cNvSpPr/>
          <p:nvPr/>
        </p:nvSpPr>
        <p:spPr>
          <a:xfrm>
            <a:off x="3739896" y="2029968"/>
            <a:ext cx="1682496" cy="731520"/>
          </a:xfrm>
          <a:prstGeom prst="rect">
            <a:avLst/>
          </a:prstGeom>
          <a:solidFill>
            <a:srgbClr val="0A1628">
              <a:alpha val="82000"/>
            </a:srgbClr>
          </a:solidFill>
          <a:ln w="12700">
            <a:solidFill>
              <a:srgbClr val="1E3A5F"/>
            </a:solidFill>
            <a:prstDash val="solid"/>
          </a:ln>
        </p:spPr>
      </p:sp>
      <p:sp>
        <p:nvSpPr>
          <p:cNvPr id="86" name="Shape 84"/>
          <p:cNvSpPr/>
          <p:nvPr/>
        </p:nvSpPr>
        <p:spPr>
          <a:xfrm>
            <a:off x="3739896" y="2029968"/>
            <a:ext cx="1682496" cy="27432"/>
          </a:xfrm>
          <a:prstGeom prst="rect">
            <a:avLst/>
          </a:prstGeom>
          <a:solidFill>
            <a:srgbClr val="FFFFFF">
              <a:alpha val="26000"/>
            </a:srgbClr>
          </a:solidFill>
          <a:ln w="12700">
            <a:solidFill>
              <a:srgbClr val="FFFFFF">
                <a:alpha val="0"/>
              </a:srgbClr>
            </a:solidFill>
            <a:prstDash val="solid"/>
          </a:ln>
        </p:spPr>
      </p:sp>
      <p:sp>
        <p:nvSpPr>
          <p:cNvPr id="87" name="Shape 85"/>
          <p:cNvSpPr/>
          <p:nvPr/>
        </p:nvSpPr>
        <p:spPr>
          <a:xfrm>
            <a:off x="3739896" y="2029968"/>
            <a:ext cx="27432" cy="731520"/>
          </a:xfrm>
          <a:prstGeom prst="rect">
            <a:avLst/>
          </a:prstGeom>
          <a:solidFill>
            <a:srgbClr val="FFFFFF">
              <a:alpha val="18000"/>
            </a:srgbClr>
          </a:solidFill>
          <a:ln w="12700">
            <a:solidFill>
              <a:srgbClr val="FFFFFF">
                <a:alpha val="0"/>
              </a:srgbClr>
            </a:solidFill>
            <a:prstDash val="solid"/>
          </a:ln>
        </p:spPr>
      </p:sp>
      <p:sp>
        <p:nvSpPr>
          <p:cNvPr id="88" name="Shape 86"/>
          <p:cNvSpPr/>
          <p:nvPr/>
        </p:nvSpPr>
        <p:spPr>
          <a:xfrm>
            <a:off x="3739896" y="2029968"/>
            <a:ext cx="1682496" cy="50292"/>
          </a:xfrm>
          <a:prstGeom prst="rect">
            <a:avLst/>
          </a:prstGeom>
          <a:solidFill>
            <a:srgbClr val="F5C518"/>
          </a:solidFill>
          <a:ln w="12700">
            <a:solidFill>
              <a:srgbClr val="F5C518"/>
            </a:solidFill>
            <a:prstDash val="solid"/>
          </a:ln>
        </p:spPr>
      </p:sp>
      <p:sp>
        <p:nvSpPr>
          <p:cNvPr id="89" name="Text 87"/>
          <p:cNvSpPr/>
          <p:nvPr/>
        </p:nvSpPr>
        <p:spPr>
          <a:xfrm>
            <a:off x="3739896" y="2121408"/>
            <a:ext cx="1682496" cy="310896"/>
          </a:xfrm>
          <a:prstGeom prst="rect">
            <a:avLst/>
          </a:prstGeom>
          <a:noFill/>
          <a:ln/>
        </p:spPr>
        <p:txBody>
          <a:bodyPr wrap="square" lIns="0" tIns="0" rIns="0" bIns="0" rtlCol="0" anchor="ctr"/>
          <a:lstStyle/>
          <a:p>
            <a:pPr marL="0" indent="0" algn="ctr">
              <a:buNone/>
            </a:pPr>
            <a:r>
              <a:rPr lang="en-US" sz="1600" b="1" dirty="0">
                <a:solidFill>
                  <a:srgbClr val="F5C518"/>
                </a:solidFill>
              </a:rPr>
              <a:t>409.26K</a:t>
            </a:r>
            <a:endParaRPr lang="en-US" sz="1600" dirty="0"/>
          </a:p>
        </p:txBody>
      </p:sp>
      <p:sp>
        <p:nvSpPr>
          <p:cNvPr id="90" name="Text 88"/>
          <p:cNvSpPr/>
          <p:nvPr/>
        </p:nvSpPr>
        <p:spPr>
          <a:xfrm>
            <a:off x="3739896" y="2432304"/>
            <a:ext cx="1682496" cy="182880"/>
          </a:xfrm>
          <a:prstGeom prst="rect">
            <a:avLst/>
          </a:prstGeom>
          <a:noFill/>
          <a:ln/>
        </p:spPr>
        <p:txBody>
          <a:bodyPr wrap="square" lIns="0" tIns="0" rIns="0" bIns="0" rtlCol="0" anchor="ctr"/>
          <a:lstStyle/>
          <a:p>
            <a:pPr marL="0" indent="0" algn="ctr">
              <a:buNone/>
            </a:pPr>
            <a:r>
              <a:rPr lang="en-US" sz="800" b="1" dirty="0">
                <a:solidFill>
                  <a:srgbClr val="FFFFFF"/>
                </a:solidFill>
              </a:rPr>
              <a:t>Total Nights Stayed</a:t>
            </a:r>
            <a:endParaRPr lang="en-US" sz="800" dirty="0"/>
          </a:p>
        </p:txBody>
      </p:sp>
      <p:sp>
        <p:nvSpPr>
          <p:cNvPr id="91" name="Text 89"/>
          <p:cNvSpPr/>
          <p:nvPr/>
        </p:nvSpPr>
        <p:spPr>
          <a:xfrm>
            <a:off x="3739896" y="2596896"/>
            <a:ext cx="1682496" cy="137160"/>
          </a:xfrm>
          <a:prstGeom prst="rect">
            <a:avLst/>
          </a:prstGeom>
          <a:noFill/>
          <a:ln/>
        </p:spPr>
        <p:txBody>
          <a:bodyPr wrap="square" lIns="0" tIns="0" rIns="0" bIns="0" rtlCol="0" anchor="ctr"/>
          <a:lstStyle/>
          <a:p>
            <a:pPr marL="0" indent="0" algn="ctr">
              <a:buNone/>
            </a:pPr>
            <a:r>
              <a:rPr lang="en-US" sz="700" i="1" dirty="0">
                <a:solidFill>
                  <a:srgbClr val="6B8CAE"/>
                </a:solidFill>
                <a:latin typeface="Consolas" pitchFamily="34" charset="0"/>
                <a:ea typeface="Consolas" pitchFamily="34" charset="-122"/>
                <a:cs typeface="Consolas" pitchFamily="34" charset="-120"/>
              </a:rPr>
              <a:t>SUM(total_nights)</a:t>
            </a:r>
            <a:endParaRPr lang="en-US" sz="700" dirty="0"/>
          </a:p>
        </p:txBody>
      </p:sp>
      <p:sp>
        <p:nvSpPr>
          <p:cNvPr id="92" name="Shape 90"/>
          <p:cNvSpPr/>
          <p:nvPr/>
        </p:nvSpPr>
        <p:spPr>
          <a:xfrm>
            <a:off x="5518404" y="2066544"/>
            <a:ext cx="1682496" cy="731520"/>
          </a:xfrm>
          <a:prstGeom prst="rect">
            <a:avLst/>
          </a:prstGeom>
          <a:solidFill>
            <a:srgbClr val="000000">
              <a:alpha val="28000"/>
            </a:srgbClr>
          </a:solidFill>
          <a:ln w="12700">
            <a:solidFill>
              <a:srgbClr val="000000">
                <a:alpha val="0"/>
              </a:srgbClr>
            </a:solidFill>
            <a:prstDash val="solid"/>
          </a:ln>
        </p:spPr>
      </p:sp>
      <p:sp>
        <p:nvSpPr>
          <p:cNvPr id="93" name="Shape 91"/>
          <p:cNvSpPr/>
          <p:nvPr/>
        </p:nvSpPr>
        <p:spPr>
          <a:xfrm>
            <a:off x="5481828" y="2029968"/>
            <a:ext cx="1682496" cy="731520"/>
          </a:xfrm>
          <a:prstGeom prst="rect">
            <a:avLst/>
          </a:prstGeom>
          <a:solidFill>
            <a:srgbClr val="0A1628">
              <a:alpha val="82000"/>
            </a:srgbClr>
          </a:solidFill>
          <a:ln w="12700">
            <a:solidFill>
              <a:srgbClr val="1E3A5F"/>
            </a:solidFill>
            <a:prstDash val="solid"/>
          </a:ln>
        </p:spPr>
      </p:sp>
      <p:sp>
        <p:nvSpPr>
          <p:cNvPr id="94" name="Shape 92"/>
          <p:cNvSpPr/>
          <p:nvPr/>
        </p:nvSpPr>
        <p:spPr>
          <a:xfrm>
            <a:off x="5481828" y="2029968"/>
            <a:ext cx="1682496" cy="27432"/>
          </a:xfrm>
          <a:prstGeom prst="rect">
            <a:avLst/>
          </a:prstGeom>
          <a:solidFill>
            <a:srgbClr val="FFFFFF">
              <a:alpha val="26000"/>
            </a:srgbClr>
          </a:solidFill>
          <a:ln w="12700">
            <a:solidFill>
              <a:srgbClr val="FFFFFF">
                <a:alpha val="0"/>
              </a:srgbClr>
            </a:solidFill>
            <a:prstDash val="solid"/>
          </a:ln>
        </p:spPr>
      </p:sp>
      <p:sp>
        <p:nvSpPr>
          <p:cNvPr id="95" name="Shape 93"/>
          <p:cNvSpPr/>
          <p:nvPr/>
        </p:nvSpPr>
        <p:spPr>
          <a:xfrm>
            <a:off x="5481828" y="2029968"/>
            <a:ext cx="27432" cy="731520"/>
          </a:xfrm>
          <a:prstGeom prst="rect">
            <a:avLst/>
          </a:prstGeom>
          <a:solidFill>
            <a:srgbClr val="FFFFFF">
              <a:alpha val="18000"/>
            </a:srgbClr>
          </a:solidFill>
          <a:ln w="12700">
            <a:solidFill>
              <a:srgbClr val="FFFFFF">
                <a:alpha val="0"/>
              </a:srgbClr>
            </a:solidFill>
            <a:prstDash val="solid"/>
          </a:ln>
        </p:spPr>
      </p:sp>
      <p:sp>
        <p:nvSpPr>
          <p:cNvPr id="96" name="Shape 94"/>
          <p:cNvSpPr/>
          <p:nvPr/>
        </p:nvSpPr>
        <p:spPr>
          <a:xfrm>
            <a:off x="5481828" y="2029968"/>
            <a:ext cx="1682496" cy="50292"/>
          </a:xfrm>
          <a:prstGeom prst="rect">
            <a:avLst/>
          </a:prstGeom>
          <a:solidFill>
            <a:srgbClr val="00D4AA"/>
          </a:solidFill>
          <a:ln w="12700">
            <a:solidFill>
              <a:srgbClr val="00D4AA"/>
            </a:solidFill>
            <a:prstDash val="solid"/>
          </a:ln>
        </p:spPr>
      </p:sp>
      <p:sp>
        <p:nvSpPr>
          <p:cNvPr id="97" name="Text 95"/>
          <p:cNvSpPr/>
          <p:nvPr/>
        </p:nvSpPr>
        <p:spPr>
          <a:xfrm>
            <a:off x="5481828" y="2121408"/>
            <a:ext cx="1682496" cy="310896"/>
          </a:xfrm>
          <a:prstGeom prst="rect">
            <a:avLst/>
          </a:prstGeom>
          <a:noFill/>
          <a:ln/>
        </p:spPr>
        <p:txBody>
          <a:bodyPr wrap="square" lIns="0" tIns="0" rIns="0" bIns="0" rtlCol="0" anchor="ctr"/>
          <a:lstStyle/>
          <a:p>
            <a:pPr marL="0" indent="0" algn="ctr">
              <a:buNone/>
            </a:pPr>
            <a:r>
              <a:rPr lang="en-US" sz="1600" b="1" dirty="0">
                <a:solidFill>
                  <a:srgbClr val="00D4AA"/>
                </a:solidFill>
              </a:rPr>
              <a:t>3.19%</a:t>
            </a:r>
            <a:endParaRPr lang="en-US" sz="1600" dirty="0"/>
          </a:p>
        </p:txBody>
      </p:sp>
      <p:sp>
        <p:nvSpPr>
          <p:cNvPr id="98" name="Text 96"/>
          <p:cNvSpPr/>
          <p:nvPr/>
        </p:nvSpPr>
        <p:spPr>
          <a:xfrm>
            <a:off x="5481828" y="2432304"/>
            <a:ext cx="1682496" cy="182880"/>
          </a:xfrm>
          <a:prstGeom prst="rect">
            <a:avLst/>
          </a:prstGeom>
          <a:noFill/>
          <a:ln/>
        </p:spPr>
        <p:txBody>
          <a:bodyPr wrap="square" lIns="0" tIns="0" rIns="0" bIns="0" rtlCol="0" anchor="ctr"/>
          <a:lstStyle/>
          <a:p>
            <a:pPr marL="0" indent="0" algn="ctr">
              <a:buNone/>
            </a:pPr>
            <a:r>
              <a:rPr lang="en-US" sz="800" b="1" dirty="0">
                <a:solidFill>
                  <a:srgbClr val="FFFFFF"/>
                </a:solidFill>
              </a:rPr>
              <a:t>Repeat Guest %</a:t>
            </a:r>
            <a:endParaRPr lang="en-US" sz="800" dirty="0"/>
          </a:p>
        </p:txBody>
      </p:sp>
      <p:sp>
        <p:nvSpPr>
          <p:cNvPr id="99" name="Text 97"/>
          <p:cNvSpPr/>
          <p:nvPr/>
        </p:nvSpPr>
        <p:spPr>
          <a:xfrm>
            <a:off x="5481828" y="2596896"/>
            <a:ext cx="1682496" cy="137160"/>
          </a:xfrm>
          <a:prstGeom prst="rect">
            <a:avLst/>
          </a:prstGeom>
          <a:noFill/>
          <a:ln/>
        </p:spPr>
        <p:txBody>
          <a:bodyPr wrap="square" lIns="0" tIns="0" rIns="0" bIns="0" rtlCol="0" anchor="ctr"/>
          <a:lstStyle/>
          <a:p>
            <a:pPr marL="0" indent="0" algn="ctr">
              <a:buNone/>
            </a:pPr>
            <a:r>
              <a:rPr lang="en-US" sz="700" i="1" dirty="0">
                <a:solidFill>
                  <a:srgbClr val="6B8CAE"/>
                </a:solidFill>
                <a:latin typeface="Consolas" pitchFamily="34" charset="0"/>
                <a:ea typeface="Consolas" pitchFamily="34" charset="-122"/>
                <a:cs typeface="Consolas" pitchFamily="34" charset="-120"/>
              </a:rPr>
              <a:t>Repeat / Total × 100</a:t>
            </a:r>
            <a:endParaRPr lang="en-US" sz="700" dirty="0"/>
          </a:p>
        </p:txBody>
      </p:sp>
      <p:sp>
        <p:nvSpPr>
          <p:cNvPr id="100" name="Shape 98"/>
          <p:cNvSpPr/>
          <p:nvPr/>
        </p:nvSpPr>
        <p:spPr>
          <a:xfrm>
            <a:off x="7260336" y="2066544"/>
            <a:ext cx="1682496" cy="731520"/>
          </a:xfrm>
          <a:prstGeom prst="rect">
            <a:avLst/>
          </a:prstGeom>
          <a:solidFill>
            <a:srgbClr val="000000">
              <a:alpha val="28000"/>
            </a:srgbClr>
          </a:solidFill>
          <a:ln w="12700">
            <a:solidFill>
              <a:srgbClr val="000000">
                <a:alpha val="0"/>
              </a:srgbClr>
            </a:solidFill>
            <a:prstDash val="solid"/>
          </a:ln>
        </p:spPr>
      </p:sp>
      <p:sp>
        <p:nvSpPr>
          <p:cNvPr id="101" name="Shape 99"/>
          <p:cNvSpPr/>
          <p:nvPr/>
        </p:nvSpPr>
        <p:spPr>
          <a:xfrm>
            <a:off x="7223760" y="2029968"/>
            <a:ext cx="1682496" cy="731520"/>
          </a:xfrm>
          <a:prstGeom prst="rect">
            <a:avLst/>
          </a:prstGeom>
          <a:solidFill>
            <a:srgbClr val="0A1628">
              <a:alpha val="82000"/>
            </a:srgbClr>
          </a:solidFill>
          <a:ln w="12700">
            <a:solidFill>
              <a:srgbClr val="1E3A5F"/>
            </a:solidFill>
            <a:prstDash val="solid"/>
          </a:ln>
        </p:spPr>
      </p:sp>
      <p:sp>
        <p:nvSpPr>
          <p:cNvPr id="102" name="Shape 100"/>
          <p:cNvSpPr/>
          <p:nvPr/>
        </p:nvSpPr>
        <p:spPr>
          <a:xfrm>
            <a:off x="7223760" y="2029968"/>
            <a:ext cx="1682496" cy="27432"/>
          </a:xfrm>
          <a:prstGeom prst="rect">
            <a:avLst/>
          </a:prstGeom>
          <a:solidFill>
            <a:srgbClr val="FFFFFF">
              <a:alpha val="26000"/>
            </a:srgbClr>
          </a:solidFill>
          <a:ln w="12700">
            <a:solidFill>
              <a:srgbClr val="FFFFFF">
                <a:alpha val="0"/>
              </a:srgbClr>
            </a:solidFill>
            <a:prstDash val="solid"/>
          </a:ln>
        </p:spPr>
      </p:sp>
      <p:sp>
        <p:nvSpPr>
          <p:cNvPr id="103" name="Shape 101"/>
          <p:cNvSpPr/>
          <p:nvPr/>
        </p:nvSpPr>
        <p:spPr>
          <a:xfrm>
            <a:off x="7223760" y="2029968"/>
            <a:ext cx="27432" cy="731520"/>
          </a:xfrm>
          <a:prstGeom prst="rect">
            <a:avLst/>
          </a:prstGeom>
          <a:solidFill>
            <a:srgbClr val="FFFFFF">
              <a:alpha val="18000"/>
            </a:srgbClr>
          </a:solidFill>
          <a:ln w="12700">
            <a:solidFill>
              <a:srgbClr val="FFFFFF">
                <a:alpha val="0"/>
              </a:srgbClr>
            </a:solidFill>
            <a:prstDash val="solid"/>
          </a:ln>
        </p:spPr>
      </p:sp>
      <p:sp>
        <p:nvSpPr>
          <p:cNvPr id="104" name="Shape 102"/>
          <p:cNvSpPr/>
          <p:nvPr/>
        </p:nvSpPr>
        <p:spPr>
          <a:xfrm>
            <a:off x="7223760" y="2029968"/>
            <a:ext cx="1682496" cy="50292"/>
          </a:xfrm>
          <a:prstGeom prst="rect">
            <a:avLst/>
          </a:prstGeom>
          <a:solidFill>
            <a:srgbClr val="FF6B6B"/>
          </a:solidFill>
          <a:ln w="12700">
            <a:solidFill>
              <a:srgbClr val="FF6B6B"/>
            </a:solidFill>
            <a:prstDash val="solid"/>
          </a:ln>
        </p:spPr>
      </p:sp>
      <p:sp>
        <p:nvSpPr>
          <p:cNvPr id="105" name="Text 103"/>
          <p:cNvSpPr/>
          <p:nvPr/>
        </p:nvSpPr>
        <p:spPr>
          <a:xfrm>
            <a:off x="7223760" y="2121408"/>
            <a:ext cx="1682496" cy="310896"/>
          </a:xfrm>
          <a:prstGeom prst="rect">
            <a:avLst/>
          </a:prstGeom>
          <a:noFill/>
          <a:ln/>
        </p:spPr>
        <p:txBody>
          <a:bodyPr wrap="square" lIns="0" tIns="0" rIns="0" bIns="0" rtlCol="0" anchor="ctr"/>
          <a:lstStyle/>
          <a:p>
            <a:pPr marL="0" indent="0" algn="ctr">
              <a:buNone/>
            </a:pPr>
            <a:r>
              <a:rPr lang="en-US" sz="1600" b="1" dirty="0">
                <a:solidFill>
                  <a:srgbClr val="FF6B6B"/>
                </a:solidFill>
              </a:rPr>
              <a:t>1.21K</a:t>
            </a:r>
            <a:endParaRPr lang="en-US" sz="1600" dirty="0"/>
          </a:p>
        </p:txBody>
      </p:sp>
      <p:sp>
        <p:nvSpPr>
          <p:cNvPr id="106" name="Text 104"/>
          <p:cNvSpPr/>
          <p:nvPr/>
        </p:nvSpPr>
        <p:spPr>
          <a:xfrm>
            <a:off x="7223760" y="2432304"/>
            <a:ext cx="1682496" cy="182880"/>
          </a:xfrm>
          <a:prstGeom prst="rect">
            <a:avLst/>
          </a:prstGeom>
          <a:noFill/>
          <a:ln/>
        </p:spPr>
        <p:txBody>
          <a:bodyPr wrap="square" lIns="0" tIns="0" rIns="0" bIns="0" rtlCol="0" anchor="ctr"/>
          <a:lstStyle/>
          <a:p>
            <a:pPr marL="0" indent="0" algn="ctr">
              <a:buNone/>
            </a:pPr>
            <a:r>
              <a:rPr lang="en-US" sz="800" b="1" dirty="0">
                <a:solidFill>
                  <a:srgbClr val="FFFFFF"/>
                </a:solidFill>
              </a:rPr>
              <a:t>No Show Count</a:t>
            </a:r>
            <a:endParaRPr lang="en-US" sz="800" dirty="0"/>
          </a:p>
        </p:txBody>
      </p:sp>
      <p:sp>
        <p:nvSpPr>
          <p:cNvPr id="107" name="Text 105"/>
          <p:cNvSpPr/>
          <p:nvPr/>
        </p:nvSpPr>
        <p:spPr>
          <a:xfrm>
            <a:off x="7223760" y="2596896"/>
            <a:ext cx="1682496" cy="137160"/>
          </a:xfrm>
          <a:prstGeom prst="rect">
            <a:avLst/>
          </a:prstGeom>
          <a:noFill/>
          <a:ln/>
        </p:spPr>
        <p:txBody>
          <a:bodyPr wrap="square" lIns="0" tIns="0" rIns="0" bIns="0" rtlCol="0" anchor="ctr"/>
          <a:lstStyle/>
          <a:p>
            <a:pPr marL="0" indent="0" algn="ctr">
              <a:buNone/>
            </a:pPr>
            <a:r>
              <a:rPr lang="en-US" sz="700" i="1" dirty="0">
                <a:solidFill>
                  <a:srgbClr val="6B8CAE"/>
                </a:solidFill>
                <a:latin typeface="Consolas" pitchFamily="34" charset="0"/>
                <a:ea typeface="Consolas" pitchFamily="34" charset="-122"/>
                <a:cs typeface="Consolas" pitchFamily="34" charset="-120"/>
              </a:rPr>
              <a:t>COUNTROWS(No-Show)</a:t>
            </a:r>
            <a:endParaRPr lang="en-US" sz="700" dirty="0"/>
          </a:p>
        </p:txBody>
      </p:sp>
      <p:sp>
        <p:nvSpPr>
          <p:cNvPr id="108" name="Shape 106"/>
          <p:cNvSpPr/>
          <p:nvPr/>
        </p:nvSpPr>
        <p:spPr>
          <a:xfrm>
            <a:off x="292608" y="2889504"/>
            <a:ext cx="1682496" cy="731520"/>
          </a:xfrm>
          <a:prstGeom prst="rect">
            <a:avLst/>
          </a:prstGeom>
          <a:solidFill>
            <a:srgbClr val="000000">
              <a:alpha val="28000"/>
            </a:srgbClr>
          </a:solidFill>
          <a:ln w="12700">
            <a:solidFill>
              <a:srgbClr val="000000">
                <a:alpha val="0"/>
              </a:srgbClr>
            </a:solidFill>
            <a:prstDash val="solid"/>
          </a:ln>
        </p:spPr>
      </p:sp>
      <p:sp>
        <p:nvSpPr>
          <p:cNvPr id="109" name="Shape 107"/>
          <p:cNvSpPr/>
          <p:nvPr/>
        </p:nvSpPr>
        <p:spPr>
          <a:xfrm>
            <a:off x="256032" y="2852928"/>
            <a:ext cx="1682496" cy="731520"/>
          </a:xfrm>
          <a:prstGeom prst="rect">
            <a:avLst/>
          </a:prstGeom>
          <a:solidFill>
            <a:srgbClr val="0A1628">
              <a:alpha val="82000"/>
            </a:srgbClr>
          </a:solidFill>
          <a:ln w="12700">
            <a:solidFill>
              <a:srgbClr val="1E3A5F"/>
            </a:solidFill>
            <a:prstDash val="solid"/>
          </a:ln>
        </p:spPr>
      </p:sp>
      <p:sp>
        <p:nvSpPr>
          <p:cNvPr id="110" name="Shape 108"/>
          <p:cNvSpPr/>
          <p:nvPr/>
        </p:nvSpPr>
        <p:spPr>
          <a:xfrm>
            <a:off x="256032" y="2852928"/>
            <a:ext cx="1682496" cy="27432"/>
          </a:xfrm>
          <a:prstGeom prst="rect">
            <a:avLst/>
          </a:prstGeom>
          <a:solidFill>
            <a:srgbClr val="FFFFFF">
              <a:alpha val="26000"/>
            </a:srgbClr>
          </a:solidFill>
          <a:ln w="12700">
            <a:solidFill>
              <a:srgbClr val="FFFFFF">
                <a:alpha val="0"/>
              </a:srgbClr>
            </a:solidFill>
            <a:prstDash val="solid"/>
          </a:ln>
        </p:spPr>
      </p:sp>
      <p:sp>
        <p:nvSpPr>
          <p:cNvPr id="111" name="Shape 109"/>
          <p:cNvSpPr/>
          <p:nvPr/>
        </p:nvSpPr>
        <p:spPr>
          <a:xfrm>
            <a:off x="256032" y="2852928"/>
            <a:ext cx="27432" cy="731520"/>
          </a:xfrm>
          <a:prstGeom prst="rect">
            <a:avLst/>
          </a:prstGeom>
          <a:solidFill>
            <a:srgbClr val="FFFFFF">
              <a:alpha val="18000"/>
            </a:srgbClr>
          </a:solidFill>
          <a:ln w="12700">
            <a:solidFill>
              <a:srgbClr val="FFFFFF">
                <a:alpha val="0"/>
              </a:srgbClr>
            </a:solidFill>
            <a:prstDash val="solid"/>
          </a:ln>
        </p:spPr>
      </p:sp>
      <p:sp>
        <p:nvSpPr>
          <p:cNvPr id="112" name="Shape 110"/>
          <p:cNvSpPr/>
          <p:nvPr/>
        </p:nvSpPr>
        <p:spPr>
          <a:xfrm>
            <a:off x="256032" y="2852928"/>
            <a:ext cx="1682496" cy="50292"/>
          </a:xfrm>
          <a:prstGeom prst="rect">
            <a:avLst/>
          </a:prstGeom>
          <a:solidFill>
            <a:srgbClr val="FF6B6B"/>
          </a:solidFill>
          <a:ln w="12700">
            <a:solidFill>
              <a:srgbClr val="FF6B6B"/>
            </a:solidFill>
            <a:prstDash val="solid"/>
          </a:ln>
        </p:spPr>
      </p:sp>
      <p:sp>
        <p:nvSpPr>
          <p:cNvPr id="113" name="Text 111"/>
          <p:cNvSpPr/>
          <p:nvPr/>
        </p:nvSpPr>
        <p:spPr>
          <a:xfrm>
            <a:off x="256032" y="2944368"/>
            <a:ext cx="1682496" cy="310896"/>
          </a:xfrm>
          <a:prstGeom prst="rect">
            <a:avLst/>
          </a:prstGeom>
          <a:noFill/>
          <a:ln/>
        </p:spPr>
        <p:txBody>
          <a:bodyPr wrap="square" lIns="0" tIns="0" rIns="0" bIns="0" rtlCol="0" anchor="ctr"/>
          <a:lstStyle/>
          <a:p>
            <a:pPr marL="0" indent="0" algn="ctr">
              <a:buNone/>
            </a:pPr>
            <a:r>
              <a:rPr lang="en-US" sz="1600" b="1" dirty="0">
                <a:solidFill>
                  <a:srgbClr val="FF6B6B"/>
                </a:solidFill>
              </a:rPr>
              <a:t>44.22K</a:t>
            </a:r>
            <a:endParaRPr lang="en-US" sz="1600" dirty="0"/>
          </a:p>
        </p:txBody>
      </p:sp>
      <p:sp>
        <p:nvSpPr>
          <p:cNvPr id="114" name="Text 112"/>
          <p:cNvSpPr/>
          <p:nvPr/>
        </p:nvSpPr>
        <p:spPr>
          <a:xfrm>
            <a:off x="256032" y="3255264"/>
            <a:ext cx="1682496" cy="182880"/>
          </a:xfrm>
          <a:prstGeom prst="rect">
            <a:avLst/>
          </a:prstGeom>
          <a:noFill/>
          <a:ln/>
        </p:spPr>
        <p:txBody>
          <a:bodyPr wrap="square" lIns="0" tIns="0" rIns="0" bIns="0" rtlCol="0" anchor="ctr"/>
          <a:lstStyle/>
          <a:p>
            <a:pPr marL="0" indent="0" algn="ctr">
              <a:buNone/>
            </a:pPr>
            <a:r>
              <a:rPr lang="en-US" sz="800" b="1" dirty="0">
                <a:solidFill>
                  <a:srgbClr val="FFFFFF"/>
                </a:solidFill>
              </a:rPr>
              <a:t>Total Cancelled</a:t>
            </a:r>
            <a:endParaRPr lang="en-US" sz="800" dirty="0"/>
          </a:p>
        </p:txBody>
      </p:sp>
      <p:sp>
        <p:nvSpPr>
          <p:cNvPr id="115" name="Text 113"/>
          <p:cNvSpPr/>
          <p:nvPr/>
        </p:nvSpPr>
        <p:spPr>
          <a:xfrm>
            <a:off x="256032" y="3419856"/>
            <a:ext cx="1682496" cy="137160"/>
          </a:xfrm>
          <a:prstGeom prst="rect">
            <a:avLst/>
          </a:prstGeom>
          <a:noFill/>
          <a:ln/>
        </p:spPr>
        <p:txBody>
          <a:bodyPr wrap="square" lIns="0" tIns="0" rIns="0" bIns="0" rtlCol="0" anchor="ctr"/>
          <a:lstStyle/>
          <a:p>
            <a:pPr marL="0" indent="0" algn="ctr">
              <a:buNone/>
            </a:pPr>
            <a:r>
              <a:rPr lang="en-US" sz="700" i="1" dirty="0">
                <a:solidFill>
                  <a:srgbClr val="6B8CAE"/>
                </a:solidFill>
                <a:latin typeface="Consolas" pitchFamily="34" charset="0"/>
                <a:ea typeface="Consolas" pitchFamily="34" charset="-122"/>
                <a:cs typeface="Consolas" pitchFamily="34" charset="-120"/>
              </a:rPr>
              <a:t>COUNTROWS(cancelled)</a:t>
            </a:r>
            <a:endParaRPr lang="en-US" sz="700" dirty="0"/>
          </a:p>
        </p:txBody>
      </p:sp>
      <p:sp>
        <p:nvSpPr>
          <p:cNvPr id="116" name="Shape 114"/>
          <p:cNvSpPr/>
          <p:nvPr/>
        </p:nvSpPr>
        <p:spPr>
          <a:xfrm>
            <a:off x="2034540" y="2889504"/>
            <a:ext cx="1682496" cy="731520"/>
          </a:xfrm>
          <a:prstGeom prst="rect">
            <a:avLst/>
          </a:prstGeom>
          <a:solidFill>
            <a:srgbClr val="000000">
              <a:alpha val="28000"/>
            </a:srgbClr>
          </a:solidFill>
          <a:ln w="12700">
            <a:solidFill>
              <a:srgbClr val="000000">
                <a:alpha val="0"/>
              </a:srgbClr>
            </a:solidFill>
            <a:prstDash val="solid"/>
          </a:ln>
        </p:spPr>
      </p:sp>
      <p:sp>
        <p:nvSpPr>
          <p:cNvPr id="117" name="Shape 115"/>
          <p:cNvSpPr/>
          <p:nvPr/>
        </p:nvSpPr>
        <p:spPr>
          <a:xfrm>
            <a:off x="1997964" y="2852928"/>
            <a:ext cx="1682496" cy="731520"/>
          </a:xfrm>
          <a:prstGeom prst="rect">
            <a:avLst/>
          </a:prstGeom>
          <a:solidFill>
            <a:srgbClr val="0A1628">
              <a:alpha val="82000"/>
            </a:srgbClr>
          </a:solidFill>
          <a:ln w="12700">
            <a:solidFill>
              <a:srgbClr val="1E3A5F"/>
            </a:solidFill>
            <a:prstDash val="solid"/>
          </a:ln>
        </p:spPr>
      </p:sp>
      <p:sp>
        <p:nvSpPr>
          <p:cNvPr id="118" name="Shape 116"/>
          <p:cNvSpPr/>
          <p:nvPr/>
        </p:nvSpPr>
        <p:spPr>
          <a:xfrm>
            <a:off x="1997964" y="2852928"/>
            <a:ext cx="1682496" cy="27432"/>
          </a:xfrm>
          <a:prstGeom prst="rect">
            <a:avLst/>
          </a:prstGeom>
          <a:solidFill>
            <a:srgbClr val="FFFFFF">
              <a:alpha val="26000"/>
            </a:srgbClr>
          </a:solidFill>
          <a:ln w="12700">
            <a:solidFill>
              <a:srgbClr val="FFFFFF">
                <a:alpha val="0"/>
              </a:srgbClr>
            </a:solidFill>
            <a:prstDash val="solid"/>
          </a:ln>
        </p:spPr>
      </p:sp>
      <p:sp>
        <p:nvSpPr>
          <p:cNvPr id="119" name="Shape 117"/>
          <p:cNvSpPr/>
          <p:nvPr/>
        </p:nvSpPr>
        <p:spPr>
          <a:xfrm>
            <a:off x="1997964" y="2852928"/>
            <a:ext cx="27432" cy="731520"/>
          </a:xfrm>
          <a:prstGeom prst="rect">
            <a:avLst/>
          </a:prstGeom>
          <a:solidFill>
            <a:srgbClr val="FFFFFF">
              <a:alpha val="18000"/>
            </a:srgbClr>
          </a:solidFill>
          <a:ln w="12700">
            <a:solidFill>
              <a:srgbClr val="FFFFFF">
                <a:alpha val="0"/>
              </a:srgbClr>
            </a:solidFill>
            <a:prstDash val="solid"/>
          </a:ln>
        </p:spPr>
      </p:sp>
      <p:sp>
        <p:nvSpPr>
          <p:cNvPr id="120" name="Shape 118"/>
          <p:cNvSpPr/>
          <p:nvPr/>
        </p:nvSpPr>
        <p:spPr>
          <a:xfrm>
            <a:off x="1997964" y="2852928"/>
            <a:ext cx="1682496" cy="50292"/>
          </a:xfrm>
          <a:prstGeom prst="rect">
            <a:avLst/>
          </a:prstGeom>
          <a:solidFill>
            <a:srgbClr val="F5C518"/>
          </a:solidFill>
          <a:ln w="12700">
            <a:solidFill>
              <a:srgbClr val="F5C518"/>
            </a:solidFill>
            <a:prstDash val="solid"/>
          </a:ln>
        </p:spPr>
      </p:sp>
      <p:sp>
        <p:nvSpPr>
          <p:cNvPr id="121" name="Text 119"/>
          <p:cNvSpPr/>
          <p:nvPr/>
        </p:nvSpPr>
        <p:spPr>
          <a:xfrm>
            <a:off x="1997964" y="2944368"/>
            <a:ext cx="1682496" cy="310896"/>
          </a:xfrm>
          <a:prstGeom prst="rect">
            <a:avLst/>
          </a:prstGeom>
          <a:noFill/>
          <a:ln/>
        </p:spPr>
        <p:txBody>
          <a:bodyPr wrap="square" lIns="0" tIns="0" rIns="0" bIns="0" rtlCol="0" anchor="ctr"/>
          <a:lstStyle/>
          <a:p>
            <a:pPr marL="0" indent="0" algn="ctr">
              <a:buNone/>
            </a:pPr>
            <a:r>
              <a:rPr lang="en-US" sz="1600" b="1" dirty="0">
                <a:solidFill>
                  <a:srgbClr val="F5C518"/>
                </a:solidFill>
              </a:rPr>
              <a:t>$0.36K</a:t>
            </a:r>
            <a:endParaRPr lang="en-US" sz="1600" dirty="0"/>
          </a:p>
        </p:txBody>
      </p:sp>
      <p:sp>
        <p:nvSpPr>
          <p:cNvPr id="122" name="Text 120"/>
          <p:cNvSpPr/>
          <p:nvPr/>
        </p:nvSpPr>
        <p:spPr>
          <a:xfrm>
            <a:off x="1997964" y="3255264"/>
            <a:ext cx="1682496" cy="182880"/>
          </a:xfrm>
          <a:prstGeom prst="rect">
            <a:avLst/>
          </a:prstGeom>
          <a:noFill/>
          <a:ln/>
        </p:spPr>
        <p:txBody>
          <a:bodyPr wrap="square" lIns="0" tIns="0" rIns="0" bIns="0" rtlCol="0" anchor="ctr"/>
          <a:lstStyle/>
          <a:p>
            <a:pPr marL="0" indent="0" algn="ctr">
              <a:buNone/>
            </a:pPr>
            <a:r>
              <a:rPr lang="en-US" sz="800" b="1" dirty="0">
                <a:solidFill>
                  <a:srgbClr val="FFFFFF"/>
                </a:solidFill>
              </a:rPr>
              <a:t>Revenue per Booking</a:t>
            </a:r>
            <a:endParaRPr lang="en-US" sz="800" dirty="0"/>
          </a:p>
        </p:txBody>
      </p:sp>
      <p:sp>
        <p:nvSpPr>
          <p:cNvPr id="123" name="Text 121"/>
          <p:cNvSpPr/>
          <p:nvPr/>
        </p:nvSpPr>
        <p:spPr>
          <a:xfrm>
            <a:off x="1997964" y="3419856"/>
            <a:ext cx="1682496" cy="137160"/>
          </a:xfrm>
          <a:prstGeom prst="rect">
            <a:avLst/>
          </a:prstGeom>
          <a:noFill/>
          <a:ln/>
        </p:spPr>
        <p:txBody>
          <a:bodyPr wrap="square" lIns="0" tIns="0" rIns="0" bIns="0" rtlCol="0" anchor="ctr"/>
          <a:lstStyle/>
          <a:p>
            <a:pPr marL="0" indent="0" algn="ctr">
              <a:buNone/>
            </a:pPr>
            <a:r>
              <a:rPr lang="en-US" sz="700" i="1" dirty="0">
                <a:solidFill>
                  <a:srgbClr val="6B8CAE"/>
                </a:solidFill>
                <a:latin typeface="Consolas" pitchFamily="34" charset="0"/>
                <a:ea typeface="Consolas" pitchFamily="34" charset="-122"/>
                <a:cs typeface="Consolas" pitchFamily="34" charset="-120"/>
              </a:rPr>
              <a:t>Revenue / Bookings</a:t>
            </a:r>
            <a:endParaRPr lang="en-US" sz="700" dirty="0"/>
          </a:p>
        </p:txBody>
      </p:sp>
      <p:sp>
        <p:nvSpPr>
          <p:cNvPr id="124" name="Shape 122"/>
          <p:cNvSpPr/>
          <p:nvPr/>
        </p:nvSpPr>
        <p:spPr>
          <a:xfrm>
            <a:off x="3776472" y="2889504"/>
            <a:ext cx="1682496" cy="731520"/>
          </a:xfrm>
          <a:prstGeom prst="rect">
            <a:avLst/>
          </a:prstGeom>
          <a:solidFill>
            <a:srgbClr val="000000">
              <a:alpha val="28000"/>
            </a:srgbClr>
          </a:solidFill>
          <a:ln w="12700">
            <a:solidFill>
              <a:srgbClr val="000000">
                <a:alpha val="0"/>
              </a:srgbClr>
            </a:solidFill>
            <a:prstDash val="solid"/>
          </a:ln>
        </p:spPr>
      </p:sp>
      <p:sp>
        <p:nvSpPr>
          <p:cNvPr id="125" name="Shape 123"/>
          <p:cNvSpPr/>
          <p:nvPr/>
        </p:nvSpPr>
        <p:spPr>
          <a:xfrm>
            <a:off x="3739896" y="2852928"/>
            <a:ext cx="1682496" cy="731520"/>
          </a:xfrm>
          <a:prstGeom prst="rect">
            <a:avLst/>
          </a:prstGeom>
          <a:solidFill>
            <a:srgbClr val="0A1628">
              <a:alpha val="82000"/>
            </a:srgbClr>
          </a:solidFill>
          <a:ln w="12700">
            <a:solidFill>
              <a:srgbClr val="1E3A5F"/>
            </a:solidFill>
            <a:prstDash val="solid"/>
          </a:ln>
        </p:spPr>
      </p:sp>
      <p:sp>
        <p:nvSpPr>
          <p:cNvPr id="126" name="Shape 124"/>
          <p:cNvSpPr/>
          <p:nvPr/>
        </p:nvSpPr>
        <p:spPr>
          <a:xfrm>
            <a:off x="3739896" y="2852928"/>
            <a:ext cx="1682496" cy="27432"/>
          </a:xfrm>
          <a:prstGeom prst="rect">
            <a:avLst/>
          </a:prstGeom>
          <a:solidFill>
            <a:srgbClr val="FFFFFF">
              <a:alpha val="26000"/>
            </a:srgbClr>
          </a:solidFill>
          <a:ln w="12700">
            <a:solidFill>
              <a:srgbClr val="FFFFFF">
                <a:alpha val="0"/>
              </a:srgbClr>
            </a:solidFill>
            <a:prstDash val="solid"/>
          </a:ln>
        </p:spPr>
      </p:sp>
      <p:sp>
        <p:nvSpPr>
          <p:cNvPr id="127" name="Shape 125"/>
          <p:cNvSpPr/>
          <p:nvPr/>
        </p:nvSpPr>
        <p:spPr>
          <a:xfrm>
            <a:off x="3739896" y="2852928"/>
            <a:ext cx="27432" cy="731520"/>
          </a:xfrm>
          <a:prstGeom prst="rect">
            <a:avLst/>
          </a:prstGeom>
          <a:solidFill>
            <a:srgbClr val="FFFFFF">
              <a:alpha val="18000"/>
            </a:srgbClr>
          </a:solidFill>
          <a:ln w="12700">
            <a:solidFill>
              <a:srgbClr val="FFFFFF">
                <a:alpha val="0"/>
              </a:srgbClr>
            </a:solidFill>
            <a:prstDash val="solid"/>
          </a:ln>
        </p:spPr>
      </p:sp>
      <p:sp>
        <p:nvSpPr>
          <p:cNvPr id="128" name="Shape 126"/>
          <p:cNvSpPr/>
          <p:nvPr/>
        </p:nvSpPr>
        <p:spPr>
          <a:xfrm>
            <a:off x="3739896" y="2852928"/>
            <a:ext cx="1682496" cy="50292"/>
          </a:xfrm>
          <a:prstGeom prst="rect">
            <a:avLst/>
          </a:prstGeom>
          <a:solidFill>
            <a:srgbClr val="00B4FF"/>
          </a:solidFill>
          <a:ln w="12700">
            <a:solidFill>
              <a:srgbClr val="00B4FF"/>
            </a:solidFill>
            <a:prstDash val="solid"/>
          </a:ln>
        </p:spPr>
      </p:sp>
      <p:sp>
        <p:nvSpPr>
          <p:cNvPr id="129" name="Text 127"/>
          <p:cNvSpPr/>
          <p:nvPr/>
        </p:nvSpPr>
        <p:spPr>
          <a:xfrm>
            <a:off x="3739896" y="2944368"/>
            <a:ext cx="1682496" cy="310896"/>
          </a:xfrm>
          <a:prstGeom prst="rect">
            <a:avLst/>
          </a:prstGeom>
          <a:noFill/>
          <a:ln/>
        </p:spPr>
        <p:txBody>
          <a:bodyPr wrap="square" lIns="0" tIns="0" rIns="0" bIns="0" rtlCol="0" anchor="ctr"/>
          <a:lstStyle/>
          <a:p>
            <a:pPr marL="0" indent="0" algn="ctr">
              <a:buNone/>
            </a:pPr>
            <a:r>
              <a:rPr lang="en-US" sz="1600" b="1" dirty="0">
                <a:solidFill>
                  <a:srgbClr val="00B4FF"/>
                </a:solidFill>
              </a:rPr>
              <a:t>0.57</a:t>
            </a:r>
            <a:endParaRPr lang="en-US" sz="1600" dirty="0"/>
          </a:p>
        </p:txBody>
      </p:sp>
      <p:sp>
        <p:nvSpPr>
          <p:cNvPr id="130" name="Text 128"/>
          <p:cNvSpPr/>
          <p:nvPr/>
        </p:nvSpPr>
        <p:spPr>
          <a:xfrm>
            <a:off x="3739896" y="3255264"/>
            <a:ext cx="1682496" cy="182880"/>
          </a:xfrm>
          <a:prstGeom prst="rect">
            <a:avLst/>
          </a:prstGeom>
          <a:noFill/>
          <a:ln/>
        </p:spPr>
        <p:txBody>
          <a:bodyPr wrap="square" lIns="0" tIns="0" rIns="0" bIns="0" rtlCol="0" anchor="ctr"/>
          <a:lstStyle/>
          <a:p>
            <a:pPr marL="0" indent="0" algn="ctr">
              <a:buNone/>
            </a:pPr>
            <a:r>
              <a:rPr lang="en-US" sz="800" b="1" dirty="0">
                <a:solidFill>
                  <a:srgbClr val="FFFFFF"/>
                </a:solidFill>
              </a:rPr>
              <a:t>Avg Special Requests</a:t>
            </a:r>
            <a:endParaRPr lang="en-US" sz="800" dirty="0"/>
          </a:p>
        </p:txBody>
      </p:sp>
      <p:sp>
        <p:nvSpPr>
          <p:cNvPr id="131" name="Text 129"/>
          <p:cNvSpPr/>
          <p:nvPr/>
        </p:nvSpPr>
        <p:spPr>
          <a:xfrm>
            <a:off x="3739896" y="3419856"/>
            <a:ext cx="1682496" cy="137160"/>
          </a:xfrm>
          <a:prstGeom prst="rect">
            <a:avLst/>
          </a:prstGeom>
          <a:noFill/>
          <a:ln/>
        </p:spPr>
        <p:txBody>
          <a:bodyPr wrap="square" lIns="0" tIns="0" rIns="0" bIns="0" rtlCol="0" anchor="ctr"/>
          <a:lstStyle/>
          <a:p>
            <a:pPr marL="0" indent="0" algn="ctr">
              <a:buNone/>
            </a:pPr>
            <a:r>
              <a:rPr lang="en-US" sz="700" i="1" dirty="0">
                <a:solidFill>
                  <a:srgbClr val="6B8CAE"/>
                </a:solidFill>
                <a:latin typeface="Consolas" pitchFamily="34" charset="0"/>
                <a:ea typeface="Consolas" pitchFamily="34" charset="-122"/>
                <a:cs typeface="Consolas" pitchFamily="34" charset="-120"/>
              </a:rPr>
              <a:t>AVERAGE(special_requests)</a:t>
            </a:r>
            <a:endParaRPr lang="en-US" sz="700" dirty="0"/>
          </a:p>
        </p:txBody>
      </p:sp>
      <p:sp>
        <p:nvSpPr>
          <p:cNvPr id="132" name="Shape 130"/>
          <p:cNvSpPr/>
          <p:nvPr/>
        </p:nvSpPr>
        <p:spPr>
          <a:xfrm>
            <a:off x="0" y="4983480"/>
            <a:ext cx="9144000" cy="160020"/>
          </a:xfrm>
          <a:prstGeom prst="rect">
            <a:avLst/>
          </a:prstGeom>
          <a:solidFill>
            <a:srgbClr val="1A2E45"/>
          </a:solidFill>
          <a:ln w="12700">
            <a:solidFill>
              <a:srgbClr val="1A2E45"/>
            </a:solidFill>
            <a:prstDash val="solid"/>
          </a:ln>
        </p:spPr>
      </p:sp>
      <p:sp>
        <p:nvSpPr>
          <p:cNvPr id="133" name="Shape 131"/>
          <p:cNvSpPr/>
          <p:nvPr/>
        </p:nvSpPr>
        <p:spPr>
          <a:xfrm>
            <a:off x="0" y="4983480"/>
            <a:ext cx="36576" cy="160020"/>
          </a:xfrm>
          <a:prstGeom prst="rect">
            <a:avLst/>
          </a:prstGeom>
          <a:solidFill>
            <a:srgbClr val="F5C518"/>
          </a:solidFill>
          <a:ln w="12700">
            <a:solidFill>
              <a:srgbClr val="F5C518"/>
            </a:solidFill>
            <a:prstDash val="solid"/>
          </a:ln>
        </p:spPr>
      </p:sp>
      <p:sp>
        <p:nvSpPr>
          <p:cNvPr id="134" name="Text 132"/>
          <p:cNvSpPr/>
          <p:nvPr/>
        </p:nvSpPr>
        <p:spPr>
          <a:xfrm>
            <a:off x="137160" y="4983480"/>
            <a:ext cx="8229600" cy="160020"/>
          </a:xfrm>
          <a:prstGeom prst="rect">
            <a:avLst/>
          </a:prstGeom>
          <a:noFill/>
          <a:ln/>
        </p:spPr>
        <p:txBody>
          <a:bodyPr wrap="square" lIns="0" tIns="0" rIns="0" bIns="0" rtlCol="0" anchor="ctr"/>
          <a:lstStyle/>
          <a:p>
            <a:pPr marL="0" indent="0">
              <a:buNone/>
            </a:pPr>
            <a:r>
              <a:rPr lang="en-US" sz="750" dirty="0">
                <a:solidFill>
                  <a:srgbClr val="6B8CAE"/>
                </a:solidFill>
              </a:rPr>
              <a:t>HotelRevAI  ·  Infosys Springboard Internship 6.0  ·  Batch 13 — Group 2, Team D</a:t>
            </a:r>
            <a:endParaRPr lang="en-US" sz="750" dirty="0"/>
          </a:p>
        </p:txBody>
      </p:sp>
      <p:sp>
        <p:nvSpPr>
          <p:cNvPr id="135" name="Text 133"/>
          <p:cNvSpPr/>
          <p:nvPr/>
        </p:nvSpPr>
        <p:spPr>
          <a:xfrm>
            <a:off x="8686800" y="4983480"/>
            <a:ext cx="411480" cy="160020"/>
          </a:xfrm>
          <a:prstGeom prst="rect">
            <a:avLst/>
          </a:prstGeom>
          <a:noFill/>
          <a:ln/>
        </p:spPr>
        <p:txBody>
          <a:bodyPr wrap="square" lIns="0" tIns="0" rIns="0" bIns="0" rtlCol="0" anchor="ctr"/>
          <a:lstStyle/>
          <a:p>
            <a:pPr marL="0" indent="0" algn="r">
              <a:buNone/>
            </a:pPr>
            <a:r>
              <a:rPr lang="en-US" sz="750" b="1" dirty="0">
                <a:solidFill>
                  <a:srgbClr val="F5C518"/>
                </a:solidFill>
              </a:rPr>
              <a:t>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A14"/>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0D2137"/>
            </a:solidFill>
            <a:prstDash val="solid"/>
          </a:ln>
        </p:spPr>
      </p:sp>
      <p:sp>
        <p:nvSpPr>
          <p:cNvPr id="3" name="Shape 1"/>
          <p:cNvSpPr/>
          <p:nvPr/>
        </p:nvSpPr>
        <p:spPr>
          <a:xfrm>
            <a:off x="914400" y="0"/>
            <a:ext cx="0" cy="5143500"/>
          </a:xfrm>
          <a:prstGeom prst="line">
            <a:avLst/>
          </a:prstGeom>
          <a:noFill/>
          <a:ln w="6350">
            <a:solidFill>
              <a:srgbClr val="0D2137"/>
            </a:solidFill>
            <a:prstDash val="solid"/>
          </a:ln>
        </p:spPr>
      </p:sp>
      <p:sp>
        <p:nvSpPr>
          <p:cNvPr id="4" name="Shape 2"/>
          <p:cNvSpPr/>
          <p:nvPr/>
        </p:nvSpPr>
        <p:spPr>
          <a:xfrm>
            <a:off x="1828800" y="0"/>
            <a:ext cx="0" cy="5143500"/>
          </a:xfrm>
          <a:prstGeom prst="line">
            <a:avLst/>
          </a:prstGeom>
          <a:noFill/>
          <a:ln w="6350">
            <a:solidFill>
              <a:srgbClr val="0D2137"/>
            </a:solidFill>
            <a:prstDash val="solid"/>
          </a:ln>
        </p:spPr>
      </p:sp>
      <p:sp>
        <p:nvSpPr>
          <p:cNvPr id="5" name="Shape 3"/>
          <p:cNvSpPr/>
          <p:nvPr/>
        </p:nvSpPr>
        <p:spPr>
          <a:xfrm>
            <a:off x="2743200" y="0"/>
            <a:ext cx="0" cy="5143500"/>
          </a:xfrm>
          <a:prstGeom prst="line">
            <a:avLst/>
          </a:prstGeom>
          <a:noFill/>
          <a:ln w="6350">
            <a:solidFill>
              <a:srgbClr val="0D2137"/>
            </a:solidFill>
            <a:prstDash val="solid"/>
          </a:ln>
        </p:spPr>
      </p:sp>
      <p:sp>
        <p:nvSpPr>
          <p:cNvPr id="6" name="Shape 4"/>
          <p:cNvSpPr/>
          <p:nvPr/>
        </p:nvSpPr>
        <p:spPr>
          <a:xfrm>
            <a:off x="3657600" y="0"/>
            <a:ext cx="0" cy="5143500"/>
          </a:xfrm>
          <a:prstGeom prst="line">
            <a:avLst/>
          </a:prstGeom>
          <a:noFill/>
          <a:ln w="6350">
            <a:solidFill>
              <a:srgbClr val="0D2137"/>
            </a:solidFill>
            <a:prstDash val="solid"/>
          </a:ln>
        </p:spPr>
      </p:sp>
      <p:sp>
        <p:nvSpPr>
          <p:cNvPr id="7" name="Shape 5"/>
          <p:cNvSpPr/>
          <p:nvPr/>
        </p:nvSpPr>
        <p:spPr>
          <a:xfrm>
            <a:off x="4572000" y="0"/>
            <a:ext cx="0" cy="5143500"/>
          </a:xfrm>
          <a:prstGeom prst="line">
            <a:avLst/>
          </a:prstGeom>
          <a:noFill/>
          <a:ln w="6350">
            <a:solidFill>
              <a:srgbClr val="0D2137"/>
            </a:solidFill>
            <a:prstDash val="solid"/>
          </a:ln>
        </p:spPr>
      </p:sp>
      <p:sp>
        <p:nvSpPr>
          <p:cNvPr id="8" name="Shape 6"/>
          <p:cNvSpPr/>
          <p:nvPr/>
        </p:nvSpPr>
        <p:spPr>
          <a:xfrm>
            <a:off x="5486400" y="0"/>
            <a:ext cx="0" cy="5143500"/>
          </a:xfrm>
          <a:prstGeom prst="line">
            <a:avLst/>
          </a:prstGeom>
          <a:noFill/>
          <a:ln w="6350">
            <a:solidFill>
              <a:srgbClr val="0D2137"/>
            </a:solidFill>
            <a:prstDash val="solid"/>
          </a:ln>
        </p:spPr>
      </p:sp>
      <p:sp>
        <p:nvSpPr>
          <p:cNvPr id="9" name="Shape 7"/>
          <p:cNvSpPr/>
          <p:nvPr/>
        </p:nvSpPr>
        <p:spPr>
          <a:xfrm>
            <a:off x="6400800" y="0"/>
            <a:ext cx="0" cy="5143500"/>
          </a:xfrm>
          <a:prstGeom prst="line">
            <a:avLst/>
          </a:prstGeom>
          <a:noFill/>
          <a:ln w="6350">
            <a:solidFill>
              <a:srgbClr val="0D2137"/>
            </a:solidFill>
            <a:prstDash val="solid"/>
          </a:ln>
        </p:spPr>
      </p:sp>
      <p:sp>
        <p:nvSpPr>
          <p:cNvPr id="10" name="Shape 8"/>
          <p:cNvSpPr/>
          <p:nvPr/>
        </p:nvSpPr>
        <p:spPr>
          <a:xfrm>
            <a:off x="7315200" y="0"/>
            <a:ext cx="0" cy="5143500"/>
          </a:xfrm>
          <a:prstGeom prst="line">
            <a:avLst/>
          </a:prstGeom>
          <a:noFill/>
          <a:ln w="6350">
            <a:solidFill>
              <a:srgbClr val="0D2137"/>
            </a:solidFill>
            <a:prstDash val="solid"/>
          </a:ln>
        </p:spPr>
      </p:sp>
      <p:sp>
        <p:nvSpPr>
          <p:cNvPr id="11" name="Shape 9"/>
          <p:cNvSpPr/>
          <p:nvPr/>
        </p:nvSpPr>
        <p:spPr>
          <a:xfrm>
            <a:off x="8229600" y="0"/>
            <a:ext cx="0" cy="5143500"/>
          </a:xfrm>
          <a:prstGeom prst="line">
            <a:avLst/>
          </a:prstGeom>
          <a:noFill/>
          <a:ln w="6350">
            <a:solidFill>
              <a:srgbClr val="0D2137"/>
            </a:solidFill>
            <a:prstDash val="solid"/>
          </a:ln>
        </p:spPr>
      </p:sp>
      <p:sp>
        <p:nvSpPr>
          <p:cNvPr id="12" name="Shape 10"/>
          <p:cNvSpPr/>
          <p:nvPr/>
        </p:nvSpPr>
        <p:spPr>
          <a:xfrm>
            <a:off x="9144000" y="0"/>
            <a:ext cx="0" cy="5143500"/>
          </a:xfrm>
          <a:prstGeom prst="line">
            <a:avLst/>
          </a:prstGeom>
          <a:noFill/>
          <a:ln w="6350">
            <a:solidFill>
              <a:srgbClr val="0D2137"/>
            </a:solidFill>
            <a:prstDash val="solid"/>
          </a:ln>
        </p:spPr>
      </p:sp>
      <p:sp>
        <p:nvSpPr>
          <p:cNvPr id="13" name="Shape 11"/>
          <p:cNvSpPr/>
          <p:nvPr/>
        </p:nvSpPr>
        <p:spPr>
          <a:xfrm>
            <a:off x="0" y="0"/>
            <a:ext cx="9144000" cy="0"/>
          </a:xfrm>
          <a:prstGeom prst="line">
            <a:avLst/>
          </a:prstGeom>
          <a:noFill/>
          <a:ln w="6350">
            <a:solidFill>
              <a:srgbClr val="0D2137"/>
            </a:solidFill>
            <a:prstDash val="solid"/>
          </a:ln>
        </p:spPr>
      </p:sp>
      <p:sp>
        <p:nvSpPr>
          <p:cNvPr id="14" name="Shape 12"/>
          <p:cNvSpPr/>
          <p:nvPr/>
        </p:nvSpPr>
        <p:spPr>
          <a:xfrm>
            <a:off x="0" y="859536"/>
            <a:ext cx="9144000" cy="0"/>
          </a:xfrm>
          <a:prstGeom prst="line">
            <a:avLst/>
          </a:prstGeom>
          <a:noFill/>
          <a:ln w="6350">
            <a:solidFill>
              <a:srgbClr val="0D2137"/>
            </a:solidFill>
            <a:prstDash val="solid"/>
          </a:ln>
        </p:spPr>
      </p:sp>
      <p:sp>
        <p:nvSpPr>
          <p:cNvPr id="15" name="Shape 13"/>
          <p:cNvSpPr/>
          <p:nvPr/>
        </p:nvSpPr>
        <p:spPr>
          <a:xfrm>
            <a:off x="0" y="1719072"/>
            <a:ext cx="9144000" cy="0"/>
          </a:xfrm>
          <a:prstGeom prst="line">
            <a:avLst/>
          </a:prstGeom>
          <a:noFill/>
          <a:ln w="6350">
            <a:solidFill>
              <a:srgbClr val="0D2137"/>
            </a:solidFill>
            <a:prstDash val="solid"/>
          </a:ln>
        </p:spPr>
      </p:sp>
      <p:sp>
        <p:nvSpPr>
          <p:cNvPr id="16" name="Shape 14"/>
          <p:cNvSpPr/>
          <p:nvPr/>
        </p:nvSpPr>
        <p:spPr>
          <a:xfrm>
            <a:off x="0" y="2578608"/>
            <a:ext cx="9144000" cy="0"/>
          </a:xfrm>
          <a:prstGeom prst="line">
            <a:avLst/>
          </a:prstGeom>
          <a:noFill/>
          <a:ln w="6350">
            <a:solidFill>
              <a:srgbClr val="0D2137"/>
            </a:solidFill>
            <a:prstDash val="solid"/>
          </a:ln>
        </p:spPr>
      </p:sp>
      <p:sp>
        <p:nvSpPr>
          <p:cNvPr id="17" name="Shape 15"/>
          <p:cNvSpPr/>
          <p:nvPr/>
        </p:nvSpPr>
        <p:spPr>
          <a:xfrm>
            <a:off x="0" y="3438144"/>
            <a:ext cx="9144000" cy="0"/>
          </a:xfrm>
          <a:prstGeom prst="line">
            <a:avLst/>
          </a:prstGeom>
          <a:noFill/>
          <a:ln w="6350">
            <a:solidFill>
              <a:srgbClr val="0D2137"/>
            </a:solidFill>
            <a:prstDash val="solid"/>
          </a:ln>
        </p:spPr>
      </p:sp>
      <p:sp>
        <p:nvSpPr>
          <p:cNvPr id="18" name="Shape 16"/>
          <p:cNvSpPr/>
          <p:nvPr/>
        </p:nvSpPr>
        <p:spPr>
          <a:xfrm>
            <a:off x="0" y="4297680"/>
            <a:ext cx="9144000" cy="0"/>
          </a:xfrm>
          <a:prstGeom prst="line">
            <a:avLst/>
          </a:prstGeom>
          <a:noFill/>
          <a:ln w="6350">
            <a:solidFill>
              <a:srgbClr val="0D2137"/>
            </a:solidFill>
            <a:prstDash val="solid"/>
          </a:ln>
        </p:spPr>
      </p:sp>
      <p:sp>
        <p:nvSpPr>
          <p:cNvPr id="19" name="Shape 17"/>
          <p:cNvSpPr/>
          <p:nvPr/>
        </p:nvSpPr>
        <p:spPr>
          <a:xfrm>
            <a:off x="0" y="5157216"/>
            <a:ext cx="9144000" cy="0"/>
          </a:xfrm>
          <a:prstGeom prst="line">
            <a:avLst/>
          </a:prstGeom>
          <a:noFill/>
          <a:ln w="6350">
            <a:solidFill>
              <a:srgbClr val="0D2137"/>
            </a:solidFill>
            <a:prstDash val="solid"/>
          </a:ln>
        </p:spPr>
      </p:sp>
      <p:sp>
        <p:nvSpPr>
          <p:cNvPr id="20" name="Shape 18"/>
          <p:cNvSpPr/>
          <p:nvPr/>
        </p:nvSpPr>
        <p:spPr>
          <a:xfrm>
            <a:off x="7406640" y="3291840"/>
            <a:ext cx="2560320" cy="2560320"/>
          </a:xfrm>
          <a:prstGeom prst="ellipse">
            <a:avLst/>
          </a:prstGeom>
          <a:solidFill>
            <a:srgbClr val="00B4FF">
              <a:alpha val="10000"/>
            </a:srgbClr>
          </a:solidFill>
          <a:ln w="12700">
            <a:solidFill>
              <a:srgbClr val="00B4FF">
                <a:alpha val="5000"/>
              </a:srgbClr>
            </a:solidFill>
            <a:prstDash val="solid"/>
          </a:ln>
        </p:spPr>
      </p:sp>
      <p:sp>
        <p:nvSpPr>
          <p:cNvPr id="21" name="Shape 19"/>
          <p:cNvSpPr/>
          <p:nvPr/>
        </p:nvSpPr>
        <p:spPr>
          <a:xfrm>
            <a:off x="8046720" y="3931920"/>
            <a:ext cx="1280160" cy="1280160"/>
          </a:xfrm>
          <a:prstGeom prst="ellipse">
            <a:avLst/>
          </a:prstGeom>
          <a:solidFill>
            <a:srgbClr val="00B4FF">
              <a:alpha val="2000"/>
            </a:srgbClr>
          </a:solidFill>
          <a:ln w="12700">
            <a:solidFill>
              <a:srgbClr val="00B4FF">
                <a:alpha val="0"/>
              </a:srgbClr>
            </a:solidFill>
            <a:prstDash val="solid"/>
          </a:ln>
        </p:spPr>
      </p:sp>
      <p:sp>
        <p:nvSpPr>
          <p:cNvPr id="22" name="Shape 20"/>
          <p:cNvSpPr/>
          <p:nvPr/>
        </p:nvSpPr>
        <p:spPr>
          <a:xfrm>
            <a:off x="0" y="0"/>
            <a:ext cx="9144000" cy="50292"/>
          </a:xfrm>
          <a:prstGeom prst="rect">
            <a:avLst/>
          </a:prstGeom>
          <a:solidFill>
            <a:srgbClr val="F5C518"/>
          </a:solidFill>
          <a:ln w="12700">
            <a:solidFill>
              <a:srgbClr val="F5C518"/>
            </a:solidFill>
            <a:prstDash val="solid"/>
          </a:ln>
        </p:spPr>
      </p:sp>
      <p:sp>
        <p:nvSpPr>
          <p:cNvPr id="23" name="Shape 21"/>
          <p:cNvSpPr/>
          <p:nvPr/>
        </p:nvSpPr>
        <p:spPr>
          <a:xfrm>
            <a:off x="320040" y="182880"/>
            <a:ext cx="1737360" cy="246888"/>
          </a:xfrm>
          <a:prstGeom prst="rect">
            <a:avLst/>
          </a:prstGeom>
          <a:solidFill>
            <a:srgbClr val="003E7A"/>
          </a:solidFill>
          <a:ln w="12700">
            <a:solidFill>
              <a:srgbClr val="00B4FF"/>
            </a:solidFill>
            <a:prstDash val="solid"/>
          </a:ln>
        </p:spPr>
      </p:sp>
      <p:sp>
        <p:nvSpPr>
          <p:cNvPr id="24" name="Text 22"/>
          <p:cNvSpPr/>
          <p:nvPr/>
        </p:nvSpPr>
        <p:spPr>
          <a:xfrm>
            <a:off x="320040" y="182880"/>
            <a:ext cx="1737360" cy="246888"/>
          </a:xfrm>
          <a:prstGeom prst="rect">
            <a:avLst/>
          </a:prstGeom>
          <a:noFill/>
          <a:ln/>
        </p:spPr>
        <p:txBody>
          <a:bodyPr wrap="square" lIns="0" tIns="0" rIns="0" bIns="0" rtlCol="0" anchor="ctr"/>
          <a:lstStyle/>
          <a:p>
            <a:pPr marL="0" indent="0" algn="ctr">
              <a:buNone/>
            </a:pPr>
            <a:r>
              <a:rPr lang="en-US" sz="700" b="1" kern="0" spc="200" dirty="0">
                <a:solidFill>
                  <a:srgbClr val="00B4FF"/>
                </a:solidFill>
              </a:rPr>
              <a:t>DASHBOARD 1</a:t>
            </a:r>
            <a:endParaRPr lang="en-US" sz="700" dirty="0"/>
          </a:p>
        </p:txBody>
      </p:sp>
      <p:sp>
        <p:nvSpPr>
          <p:cNvPr id="25" name="Text 23"/>
          <p:cNvSpPr/>
          <p:nvPr/>
        </p:nvSpPr>
        <p:spPr>
          <a:xfrm>
            <a:off x="320040" y="521208"/>
            <a:ext cx="8503920" cy="512064"/>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Revenue &amp; Booking Performance</a:t>
            </a:r>
            <a:endParaRPr lang="en-US" sz="2800" dirty="0"/>
          </a:p>
        </p:txBody>
      </p:sp>
      <p:sp>
        <p:nvSpPr>
          <p:cNvPr id="26" name="Shape 24"/>
          <p:cNvSpPr/>
          <p:nvPr/>
        </p:nvSpPr>
        <p:spPr>
          <a:xfrm>
            <a:off x="320040" y="1078992"/>
            <a:ext cx="1097280" cy="36576"/>
          </a:xfrm>
          <a:prstGeom prst="rect">
            <a:avLst/>
          </a:prstGeom>
          <a:solidFill>
            <a:srgbClr val="F5C518"/>
          </a:solidFill>
          <a:ln w="12700">
            <a:solidFill>
              <a:srgbClr val="F5C518"/>
            </a:solidFill>
            <a:prstDash val="solid"/>
          </a:ln>
        </p:spPr>
      </p:sp>
      <p:sp>
        <p:nvSpPr>
          <p:cNvPr id="27" name="Shape 25"/>
          <p:cNvSpPr/>
          <p:nvPr/>
        </p:nvSpPr>
        <p:spPr>
          <a:xfrm>
            <a:off x="1463040" y="1078992"/>
            <a:ext cx="7360920" cy="36576"/>
          </a:xfrm>
          <a:prstGeom prst="rect">
            <a:avLst/>
          </a:prstGeom>
          <a:solidFill>
            <a:srgbClr val="1A2E45"/>
          </a:solidFill>
          <a:ln w="12700">
            <a:solidFill>
              <a:srgbClr val="1A2E45"/>
            </a:solidFill>
            <a:prstDash val="solid"/>
          </a:ln>
        </p:spPr>
      </p:sp>
      <p:sp>
        <p:nvSpPr>
          <p:cNvPr id="28" name="Shape 26"/>
          <p:cNvSpPr/>
          <p:nvPr/>
        </p:nvSpPr>
        <p:spPr>
          <a:xfrm>
            <a:off x="356616" y="1243584"/>
            <a:ext cx="5440680" cy="3520440"/>
          </a:xfrm>
          <a:prstGeom prst="rect">
            <a:avLst/>
          </a:prstGeom>
          <a:solidFill>
            <a:srgbClr val="000000">
              <a:alpha val="28000"/>
            </a:srgbClr>
          </a:solidFill>
          <a:ln w="12700">
            <a:solidFill>
              <a:srgbClr val="000000">
                <a:alpha val="0"/>
              </a:srgbClr>
            </a:solidFill>
            <a:prstDash val="solid"/>
          </a:ln>
        </p:spPr>
      </p:sp>
      <p:sp>
        <p:nvSpPr>
          <p:cNvPr id="29" name="Shape 27"/>
          <p:cNvSpPr/>
          <p:nvPr/>
        </p:nvSpPr>
        <p:spPr>
          <a:xfrm>
            <a:off x="320040" y="1207008"/>
            <a:ext cx="5440680" cy="3520440"/>
          </a:xfrm>
          <a:prstGeom prst="rect">
            <a:avLst/>
          </a:prstGeom>
          <a:solidFill>
            <a:srgbClr val="0A1628">
              <a:alpha val="82000"/>
            </a:srgbClr>
          </a:solidFill>
          <a:ln w="12700">
            <a:solidFill>
              <a:srgbClr val="1E3A5F"/>
            </a:solidFill>
            <a:prstDash val="solid"/>
          </a:ln>
        </p:spPr>
      </p:sp>
      <p:sp>
        <p:nvSpPr>
          <p:cNvPr id="30" name="Shape 28"/>
          <p:cNvSpPr/>
          <p:nvPr/>
        </p:nvSpPr>
        <p:spPr>
          <a:xfrm>
            <a:off x="320040" y="1207008"/>
            <a:ext cx="5440680" cy="27432"/>
          </a:xfrm>
          <a:prstGeom prst="rect">
            <a:avLst/>
          </a:prstGeom>
          <a:solidFill>
            <a:srgbClr val="FFFFFF">
              <a:alpha val="26000"/>
            </a:srgbClr>
          </a:solidFill>
          <a:ln w="12700">
            <a:solidFill>
              <a:srgbClr val="FFFFFF">
                <a:alpha val="0"/>
              </a:srgbClr>
            </a:solidFill>
            <a:prstDash val="solid"/>
          </a:ln>
        </p:spPr>
      </p:sp>
      <p:sp>
        <p:nvSpPr>
          <p:cNvPr id="31" name="Shape 29"/>
          <p:cNvSpPr/>
          <p:nvPr/>
        </p:nvSpPr>
        <p:spPr>
          <a:xfrm>
            <a:off x="320040" y="1207008"/>
            <a:ext cx="27432" cy="3520440"/>
          </a:xfrm>
          <a:prstGeom prst="rect">
            <a:avLst/>
          </a:prstGeom>
          <a:solidFill>
            <a:srgbClr val="FFFFFF">
              <a:alpha val="18000"/>
            </a:srgbClr>
          </a:solidFill>
          <a:ln w="12700">
            <a:solidFill>
              <a:srgbClr val="FFFFFF">
                <a:alpha val="0"/>
              </a:srgbClr>
            </a:solidFill>
            <a:prstDash val="solid"/>
          </a:ln>
        </p:spPr>
      </p:sp>
      <p:sp>
        <p:nvSpPr>
          <p:cNvPr id="32" name="Shape 30"/>
          <p:cNvSpPr/>
          <p:nvPr/>
        </p:nvSpPr>
        <p:spPr>
          <a:xfrm>
            <a:off x="320040" y="1207008"/>
            <a:ext cx="5440680" cy="50292"/>
          </a:xfrm>
          <a:prstGeom prst="rect">
            <a:avLst/>
          </a:prstGeom>
          <a:solidFill>
            <a:srgbClr val="00B4FF"/>
          </a:solidFill>
          <a:ln w="12700">
            <a:solidFill>
              <a:srgbClr val="00B4FF"/>
            </a:solidFill>
            <a:prstDash val="solid"/>
          </a:ln>
        </p:spPr>
      </p:sp>
      <p:pic>
        <p:nvPicPr>
          <p:cNvPr id="33" name="Image 0" descr="/mnt/user-data/uploads/1774436434935_image.png"/>
          <p:cNvPicPr>
            <a:picLocks noChangeAspect="1"/>
          </p:cNvPicPr>
          <p:nvPr/>
        </p:nvPicPr>
        <p:blipFill>
          <a:blip r:embed="rId3"/>
          <a:srcRect/>
          <a:stretch/>
        </p:blipFill>
        <p:spPr>
          <a:xfrm>
            <a:off x="347472" y="1261872"/>
            <a:ext cx="5385816" cy="3410712"/>
          </a:xfrm>
          <a:prstGeom prst="rect">
            <a:avLst/>
          </a:prstGeom>
        </p:spPr>
      </p:pic>
      <p:sp>
        <p:nvSpPr>
          <p:cNvPr id="34" name="Shape 31"/>
          <p:cNvSpPr/>
          <p:nvPr/>
        </p:nvSpPr>
        <p:spPr>
          <a:xfrm>
            <a:off x="5980176" y="1243584"/>
            <a:ext cx="2880360" cy="612648"/>
          </a:xfrm>
          <a:prstGeom prst="rect">
            <a:avLst/>
          </a:prstGeom>
          <a:solidFill>
            <a:srgbClr val="000000">
              <a:alpha val="28000"/>
            </a:srgbClr>
          </a:solidFill>
          <a:ln w="12700">
            <a:solidFill>
              <a:srgbClr val="000000">
                <a:alpha val="0"/>
              </a:srgbClr>
            </a:solidFill>
            <a:prstDash val="solid"/>
          </a:ln>
        </p:spPr>
      </p:sp>
      <p:sp>
        <p:nvSpPr>
          <p:cNvPr id="35" name="Shape 32"/>
          <p:cNvSpPr/>
          <p:nvPr/>
        </p:nvSpPr>
        <p:spPr>
          <a:xfrm>
            <a:off x="5943600" y="1207008"/>
            <a:ext cx="2880360" cy="612648"/>
          </a:xfrm>
          <a:prstGeom prst="rect">
            <a:avLst/>
          </a:prstGeom>
          <a:solidFill>
            <a:srgbClr val="0A1628">
              <a:alpha val="82000"/>
            </a:srgbClr>
          </a:solidFill>
          <a:ln w="12700">
            <a:solidFill>
              <a:srgbClr val="1E3A5F"/>
            </a:solidFill>
            <a:prstDash val="solid"/>
          </a:ln>
        </p:spPr>
      </p:sp>
      <p:sp>
        <p:nvSpPr>
          <p:cNvPr id="36" name="Shape 33"/>
          <p:cNvSpPr/>
          <p:nvPr/>
        </p:nvSpPr>
        <p:spPr>
          <a:xfrm>
            <a:off x="5943600" y="1207008"/>
            <a:ext cx="2880360" cy="27432"/>
          </a:xfrm>
          <a:prstGeom prst="rect">
            <a:avLst/>
          </a:prstGeom>
          <a:solidFill>
            <a:srgbClr val="FFFFFF">
              <a:alpha val="26000"/>
            </a:srgbClr>
          </a:solidFill>
          <a:ln w="12700">
            <a:solidFill>
              <a:srgbClr val="FFFFFF">
                <a:alpha val="0"/>
              </a:srgbClr>
            </a:solidFill>
            <a:prstDash val="solid"/>
          </a:ln>
        </p:spPr>
      </p:sp>
      <p:sp>
        <p:nvSpPr>
          <p:cNvPr id="37" name="Shape 34"/>
          <p:cNvSpPr/>
          <p:nvPr/>
        </p:nvSpPr>
        <p:spPr>
          <a:xfrm>
            <a:off x="5943600" y="1207008"/>
            <a:ext cx="27432" cy="612648"/>
          </a:xfrm>
          <a:prstGeom prst="rect">
            <a:avLst/>
          </a:prstGeom>
          <a:solidFill>
            <a:srgbClr val="FFFFFF">
              <a:alpha val="18000"/>
            </a:srgbClr>
          </a:solidFill>
          <a:ln w="12700">
            <a:solidFill>
              <a:srgbClr val="FFFFFF">
                <a:alpha val="0"/>
              </a:srgbClr>
            </a:solidFill>
            <a:prstDash val="solid"/>
          </a:ln>
        </p:spPr>
      </p:sp>
      <p:sp>
        <p:nvSpPr>
          <p:cNvPr id="38" name="Shape 35"/>
          <p:cNvSpPr/>
          <p:nvPr/>
        </p:nvSpPr>
        <p:spPr>
          <a:xfrm>
            <a:off x="5943600" y="1207008"/>
            <a:ext cx="2880360" cy="50292"/>
          </a:xfrm>
          <a:prstGeom prst="rect">
            <a:avLst/>
          </a:prstGeom>
          <a:solidFill>
            <a:srgbClr val="F5C518"/>
          </a:solidFill>
          <a:ln w="12700">
            <a:solidFill>
              <a:srgbClr val="F5C518"/>
            </a:solidFill>
            <a:prstDash val="solid"/>
          </a:ln>
        </p:spPr>
      </p:sp>
      <p:sp>
        <p:nvSpPr>
          <p:cNvPr id="39" name="Text 36"/>
          <p:cNvSpPr/>
          <p:nvPr/>
        </p:nvSpPr>
        <p:spPr>
          <a:xfrm>
            <a:off x="5943600" y="1316736"/>
            <a:ext cx="2880360" cy="318577"/>
          </a:xfrm>
          <a:prstGeom prst="rect">
            <a:avLst/>
          </a:prstGeom>
          <a:noFill/>
          <a:ln/>
        </p:spPr>
        <p:txBody>
          <a:bodyPr wrap="square" lIns="0" tIns="0" rIns="0" bIns="0" rtlCol="0" anchor="b"/>
          <a:lstStyle/>
          <a:p>
            <a:pPr marL="0" indent="0" algn="ctr">
              <a:buNone/>
            </a:pPr>
            <a:r>
              <a:rPr lang="en-US" sz="1800" b="1" dirty="0">
                <a:solidFill>
                  <a:srgbClr val="F5C518"/>
                </a:solidFill>
              </a:rPr>
              <a:t>$42.72M</a:t>
            </a:r>
            <a:endParaRPr lang="en-US" sz="1800" dirty="0"/>
          </a:p>
        </p:txBody>
      </p:sp>
      <p:sp>
        <p:nvSpPr>
          <p:cNvPr id="40" name="Text 37"/>
          <p:cNvSpPr/>
          <p:nvPr/>
        </p:nvSpPr>
        <p:spPr>
          <a:xfrm>
            <a:off x="5943600" y="1592976"/>
            <a:ext cx="2880360" cy="214427"/>
          </a:xfrm>
          <a:prstGeom prst="rect">
            <a:avLst/>
          </a:prstGeom>
          <a:noFill/>
          <a:ln/>
        </p:spPr>
        <p:txBody>
          <a:bodyPr wrap="square" lIns="0" tIns="0" rIns="0" bIns="0" rtlCol="0" anchor="t"/>
          <a:lstStyle/>
          <a:p>
            <a:pPr marL="0" indent="0" algn="ctr">
              <a:buNone/>
            </a:pPr>
            <a:r>
              <a:rPr lang="en-US" sz="800" dirty="0">
                <a:solidFill>
                  <a:srgbClr val="D4E6F1"/>
                </a:solidFill>
              </a:rPr>
              <a:t>Total Revenue</a:t>
            </a:r>
            <a:endParaRPr lang="en-US" sz="800" dirty="0"/>
          </a:p>
        </p:txBody>
      </p:sp>
      <p:sp>
        <p:nvSpPr>
          <p:cNvPr id="41" name="Shape 38"/>
          <p:cNvSpPr/>
          <p:nvPr/>
        </p:nvSpPr>
        <p:spPr>
          <a:xfrm>
            <a:off x="5980176" y="1956816"/>
            <a:ext cx="2880360" cy="612648"/>
          </a:xfrm>
          <a:prstGeom prst="rect">
            <a:avLst/>
          </a:prstGeom>
          <a:solidFill>
            <a:srgbClr val="000000">
              <a:alpha val="28000"/>
            </a:srgbClr>
          </a:solidFill>
          <a:ln w="12700">
            <a:solidFill>
              <a:srgbClr val="000000">
                <a:alpha val="0"/>
              </a:srgbClr>
            </a:solidFill>
            <a:prstDash val="solid"/>
          </a:ln>
        </p:spPr>
      </p:sp>
      <p:sp>
        <p:nvSpPr>
          <p:cNvPr id="42" name="Shape 39"/>
          <p:cNvSpPr/>
          <p:nvPr/>
        </p:nvSpPr>
        <p:spPr>
          <a:xfrm>
            <a:off x="5943600" y="1920240"/>
            <a:ext cx="2880360" cy="612648"/>
          </a:xfrm>
          <a:prstGeom prst="rect">
            <a:avLst/>
          </a:prstGeom>
          <a:solidFill>
            <a:srgbClr val="0A1628">
              <a:alpha val="82000"/>
            </a:srgbClr>
          </a:solidFill>
          <a:ln w="12700">
            <a:solidFill>
              <a:srgbClr val="1E3A5F"/>
            </a:solidFill>
            <a:prstDash val="solid"/>
          </a:ln>
        </p:spPr>
      </p:sp>
      <p:sp>
        <p:nvSpPr>
          <p:cNvPr id="43" name="Shape 40"/>
          <p:cNvSpPr/>
          <p:nvPr/>
        </p:nvSpPr>
        <p:spPr>
          <a:xfrm>
            <a:off x="5943600" y="1920240"/>
            <a:ext cx="2880360" cy="27432"/>
          </a:xfrm>
          <a:prstGeom prst="rect">
            <a:avLst/>
          </a:prstGeom>
          <a:solidFill>
            <a:srgbClr val="FFFFFF">
              <a:alpha val="26000"/>
            </a:srgbClr>
          </a:solidFill>
          <a:ln w="12700">
            <a:solidFill>
              <a:srgbClr val="FFFFFF">
                <a:alpha val="0"/>
              </a:srgbClr>
            </a:solidFill>
            <a:prstDash val="solid"/>
          </a:ln>
        </p:spPr>
      </p:sp>
      <p:sp>
        <p:nvSpPr>
          <p:cNvPr id="44" name="Shape 41"/>
          <p:cNvSpPr/>
          <p:nvPr/>
        </p:nvSpPr>
        <p:spPr>
          <a:xfrm>
            <a:off x="5943600" y="1920240"/>
            <a:ext cx="27432" cy="612648"/>
          </a:xfrm>
          <a:prstGeom prst="rect">
            <a:avLst/>
          </a:prstGeom>
          <a:solidFill>
            <a:srgbClr val="FFFFFF">
              <a:alpha val="18000"/>
            </a:srgbClr>
          </a:solidFill>
          <a:ln w="12700">
            <a:solidFill>
              <a:srgbClr val="FFFFFF">
                <a:alpha val="0"/>
              </a:srgbClr>
            </a:solidFill>
            <a:prstDash val="solid"/>
          </a:ln>
        </p:spPr>
      </p:sp>
      <p:sp>
        <p:nvSpPr>
          <p:cNvPr id="45" name="Shape 42"/>
          <p:cNvSpPr/>
          <p:nvPr/>
        </p:nvSpPr>
        <p:spPr>
          <a:xfrm>
            <a:off x="5943600" y="1920240"/>
            <a:ext cx="2880360" cy="50292"/>
          </a:xfrm>
          <a:prstGeom prst="rect">
            <a:avLst/>
          </a:prstGeom>
          <a:solidFill>
            <a:srgbClr val="00B4FF"/>
          </a:solidFill>
          <a:ln w="12700">
            <a:solidFill>
              <a:srgbClr val="00B4FF"/>
            </a:solidFill>
            <a:prstDash val="solid"/>
          </a:ln>
        </p:spPr>
      </p:sp>
      <p:sp>
        <p:nvSpPr>
          <p:cNvPr id="46" name="Text 43"/>
          <p:cNvSpPr/>
          <p:nvPr/>
        </p:nvSpPr>
        <p:spPr>
          <a:xfrm>
            <a:off x="5943600" y="2029968"/>
            <a:ext cx="2880360" cy="318577"/>
          </a:xfrm>
          <a:prstGeom prst="rect">
            <a:avLst/>
          </a:prstGeom>
          <a:noFill/>
          <a:ln/>
        </p:spPr>
        <p:txBody>
          <a:bodyPr wrap="square" lIns="0" tIns="0" rIns="0" bIns="0" rtlCol="0" anchor="b"/>
          <a:lstStyle/>
          <a:p>
            <a:pPr marL="0" indent="0" algn="ctr">
              <a:buNone/>
            </a:pPr>
            <a:r>
              <a:rPr lang="en-US" sz="1800" b="1" dirty="0">
                <a:solidFill>
                  <a:srgbClr val="00B4FF"/>
                </a:solidFill>
              </a:rPr>
              <a:t>62.96%</a:t>
            </a:r>
            <a:endParaRPr lang="en-US" sz="1800" dirty="0"/>
          </a:p>
        </p:txBody>
      </p:sp>
      <p:sp>
        <p:nvSpPr>
          <p:cNvPr id="47" name="Text 44"/>
          <p:cNvSpPr/>
          <p:nvPr/>
        </p:nvSpPr>
        <p:spPr>
          <a:xfrm>
            <a:off x="5943600" y="2306208"/>
            <a:ext cx="2880360" cy="214427"/>
          </a:xfrm>
          <a:prstGeom prst="rect">
            <a:avLst/>
          </a:prstGeom>
          <a:noFill/>
          <a:ln/>
        </p:spPr>
        <p:txBody>
          <a:bodyPr wrap="square" lIns="0" tIns="0" rIns="0" bIns="0" rtlCol="0" anchor="t"/>
          <a:lstStyle/>
          <a:p>
            <a:pPr marL="0" indent="0" algn="ctr">
              <a:buNone/>
            </a:pPr>
            <a:r>
              <a:rPr lang="en-US" sz="800" dirty="0">
                <a:solidFill>
                  <a:srgbClr val="D4E6F1"/>
                </a:solidFill>
              </a:rPr>
              <a:t>Occupancy %</a:t>
            </a:r>
            <a:endParaRPr lang="en-US" sz="800" dirty="0"/>
          </a:p>
        </p:txBody>
      </p:sp>
      <p:sp>
        <p:nvSpPr>
          <p:cNvPr id="48" name="Shape 45"/>
          <p:cNvSpPr/>
          <p:nvPr/>
        </p:nvSpPr>
        <p:spPr>
          <a:xfrm>
            <a:off x="5980176" y="2670048"/>
            <a:ext cx="2880360" cy="612648"/>
          </a:xfrm>
          <a:prstGeom prst="rect">
            <a:avLst/>
          </a:prstGeom>
          <a:solidFill>
            <a:srgbClr val="000000">
              <a:alpha val="28000"/>
            </a:srgbClr>
          </a:solidFill>
          <a:ln w="12700">
            <a:solidFill>
              <a:srgbClr val="000000">
                <a:alpha val="0"/>
              </a:srgbClr>
            </a:solidFill>
            <a:prstDash val="solid"/>
          </a:ln>
        </p:spPr>
      </p:sp>
      <p:sp>
        <p:nvSpPr>
          <p:cNvPr id="49" name="Shape 46"/>
          <p:cNvSpPr/>
          <p:nvPr/>
        </p:nvSpPr>
        <p:spPr>
          <a:xfrm>
            <a:off x="5943600" y="2633472"/>
            <a:ext cx="2880360" cy="612648"/>
          </a:xfrm>
          <a:prstGeom prst="rect">
            <a:avLst/>
          </a:prstGeom>
          <a:solidFill>
            <a:srgbClr val="0A1628">
              <a:alpha val="82000"/>
            </a:srgbClr>
          </a:solidFill>
          <a:ln w="12700">
            <a:solidFill>
              <a:srgbClr val="1E3A5F"/>
            </a:solidFill>
            <a:prstDash val="solid"/>
          </a:ln>
        </p:spPr>
      </p:sp>
      <p:sp>
        <p:nvSpPr>
          <p:cNvPr id="50" name="Shape 47"/>
          <p:cNvSpPr/>
          <p:nvPr/>
        </p:nvSpPr>
        <p:spPr>
          <a:xfrm>
            <a:off x="5943600" y="2633472"/>
            <a:ext cx="2880360" cy="27432"/>
          </a:xfrm>
          <a:prstGeom prst="rect">
            <a:avLst/>
          </a:prstGeom>
          <a:solidFill>
            <a:srgbClr val="FFFFFF">
              <a:alpha val="26000"/>
            </a:srgbClr>
          </a:solidFill>
          <a:ln w="12700">
            <a:solidFill>
              <a:srgbClr val="FFFFFF">
                <a:alpha val="0"/>
              </a:srgbClr>
            </a:solidFill>
            <a:prstDash val="solid"/>
          </a:ln>
        </p:spPr>
      </p:sp>
      <p:sp>
        <p:nvSpPr>
          <p:cNvPr id="51" name="Shape 48"/>
          <p:cNvSpPr/>
          <p:nvPr/>
        </p:nvSpPr>
        <p:spPr>
          <a:xfrm>
            <a:off x="5943600" y="2633472"/>
            <a:ext cx="27432" cy="612648"/>
          </a:xfrm>
          <a:prstGeom prst="rect">
            <a:avLst/>
          </a:prstGeom>
          <a:solidFill>
            <a:srgbClr val="FFFFFF">
              <a:alpha val="18000"/>
            </a:srgbClr>
          </a:solidFill>
          <a:ln w="12700">
            <a:solidFill>
              <a:srgbClr val="FFFFFF">
                <a:alpha val="0"/>
              </a:srgbClr>
            </a:solidFill>
            <a:prstDash val="solid"/>
          </a:ln>
        </p:spPr>
      </p:sp>
      <p:sp>
        <p:nvSpPr>
          <p:cNvPr id="52" name="Shape 49"/>
          <p:cNvSpPr/>
          <p:nvPr/>
        </p:nvSpPr>
        <p:spPr>
          <a:xfrm>
            <a:off x="5943600" y="2633472"/>
            <a:ext cx="2880360" cy="50292"/>
          </a:xfrm>
          <a:prstGeom prst="rect">
            <a:avLst/>
          </a:prstGeom>
          <a:solidFill>
            <a:srgbClr val="00B4FF"/>
          </a:solidFill>
          <a:ln w="12700">
            <a:solidFill>
              <a:srgbClr val="00B4FF"/>
            </a:solidFill>
            <a:prstDash val="solid"/>
          </a:ln>
        </p:spPr>
      </p:sp>
      <p:sp>
        <p:nvSpPr>
          <p:cNvPr id="53" name="Text 50"/>
          <p:cNvSpPr/>
          <p:nvPr/>
        </p:nvSpPr>
        <p:spPr>
          <a:xfrm>
            <a:off x="5943600" y="2743200"/>
            <a:ext cx="2880360" cy="318577"/>
          </a:xfrm>
          <a:prstGeom prst="rect">
            <a:avLst/>
          </a:prstGeom>
          <a:noFill/>
          <a:ln/>
        </p:spPr>
        <p:txBody>
          <a:bodyPr wrap="square" lIns="0" tIns="0" rIns="0" bIns="0" rtlCol="0" anchor="b"/>
          <a:lstStyle/>
          <a:p>
            <a:pPr marL="0" indent="0" algn="ctr">
              <a:buNone/>
            </a:pPr>
            <a:r>
              <a:rPr lang="en-US" sz="1800" b="1" dirty="0">
                <a:solidFill>
                  <a:srgbClr val="00B4FF"/>
                </a:solidFill>
              </a:rPr>
              <a:t>$101.83</a:t>
            </a:r>
            <a:endParaRPr lang="en-US" sz="1800" dirty="0"/>
          </a:p>
        </p:txBody>
      </p:sp>
      <p:sp>
        <p:nvSpPr>
          <p:cNvPr id="54" name="Text 51"/>
          <p:cNvSpPr/>
          <p:nvPr/>
        </p:nvSpPr>
        <p:spPr>
          <a:xfrm>
            <a:off x="5943600" y="3019440"/>
            <a:ext cx="2880360" cy="214427"/>
          </a:xfrm>
          <a:prstGeom prst="rect">
            <a:avLst/>
          </a:prstGeom>
          <a:noFill/>
          <a:ln/>
        </p:spPr>
        <p:txBody>
          <a:bodyPr wrap="square" lIns="0" tIns="0" rIns="0" bIns="0" rtlCol="0" anchor="t"/>
          <a:lstStyle/>
          <a:p>
            <a:pPr marL="0" indent="0" algn="ctr">
              <a:buNone/>
            </a:pPr>
            <a:r>
              <a:rPr lang="en-US" sz="800" dirty="0">
                <a:solidFill>
                  <a:srgbClr val="D4E6F1"/>
                </a:solidFill>
              </a:rPr>
              <a:t>Avg Daily Rate</a:t>
            </a:r>
            <a:endParaRPr lang="en-US" sz="800" dirty="0"/>
          </a:p>
        </p:txBody>
      </p:sp>
      <p:sp>
        <p:nvSpPr>
          <p:cNvPr id="55" name="Shape 52"/>
          <p:cNvSpPr/>
          <p:nvPr/>
        </p:nvSpPr>
        <p:spPr>
          <a:xfrm>
            <a:off x="5980176" y="3383280"/>
            <a:ext cx="2880360" cy="612648"/>
          </a:xfrm>
          <a:prstGeom prst="rect">
            <a:avLst/>
          </a:prstGeom>
          <a:solidFill>
            <a:srgbClr val="000000">
              <a:alpha val="28000"/>
            </a:srgbClr>
          </a:solidFill>
          <a:ln w="12700">
            <a:solidFill>
              <a:srgbClr val="000000">
                <a:alpha val="0"/>
              </a:srgbClr>
            </a:solidFill>
            <a:prstDash val="solid"/>
          </a:ln>
        </p:spPr>
      </p:sp>
      <p:sp>
        <p:nvSpPr>
          <p:cNvPr id="56" name="Shape 53"/>
          <p:cNvSpPr/>
          <p:nvPr/>
        </p:nvSpPr>
        <p:spPr>
          <a:xfrm>
            <a:off x="5943600" y="3346704"/>
            <a:ext cx="2880360" cy="612648"/>
          </a:xfrm>
          <a:prstGeom prst="rect">
            <a:avLst/>
          </a:prstGeom>
          <a:solidFill>
            <a:srgbClr val="0A1628">
              <a:alpha val="82000"/>
            </a:srgbClr>
          </a:solidFill>
          <a:ln w="12700">
            <a:solidFill>
              <a:srgbClr val="1E3A5F"/>
            </a:solidFill>
            <a:prstDash val="solid"/>
          </a:ln>
        </p:spPr>
      </p:sp>
      <p:sp>
        <p:nvSpPr>
          <p:cNvPr id="57" name="Shape 54"/>
          <p:cNvSpPr/>
          <p:nvPr/>
        </p:nvSpPr>
        <p:spPr>
          <a:xfrm>
            <a:off x="5943600" y="3346704"/>
            <a:ext cx="2880360" cy="27432"/>
          </a:xfrm>
          <a:prstGeom prst="rect">
            <a:avLst/>
          </a:prstGeom>
          <a:solidFill>
            <a:srgbClr val="FFFFFF">
              <a:alpha val="26000"/>
            </a:srgbClr>
          </a:solidFill>
          <a:ln w="12700">
            <a:solidFill>
              <a:srgbClr val="FFFFFF">
                <a:alpha val="0"/>
              </a:srgbClr>
            </a:solidFill>
            <a:prstDash val="solid"/>
          </a:ln>
        </p:spPr>
      </p:sp>
      <p:sp>
        <p:nvSpPr>
          <p:cNvPr id="58" name="Shape 55"/>
          <p:cNvSpPr/>
          <p:nvPr/>
        </p:nvSpPr>
        <p:spPr>
          <a:xfrm>
            <a:off x="5943600" y="3346704"/>
            <a:ext cx="27432" cy="612648"/>
          </a:xfrm>
          <a:prstGeom prst="rect">
            <a:avLst/>
          </a:prstGeom>
          <a:solidFill>
            <a:srgbClr val="FFFFFF">
              <a:alpha val="18000"/>
            </a:srgbClr>
          </a:solidFill>
          <a:ln w="12700">
            <a:solidFill>
              <a:srgbClr val="FFFFFF">
                <a:alpha val="0"/>
              </a:srgbClr>
            </a:solidFill>
            <a:prstDash val="solid"/>
          </a:ln>
        </p:spPr>
      </p:sp>
      <p:sp>
        <p:nvSpPr>
          <p:cNvPr id="59" name="Shape 56"/>
          <p:cNvSpPr/>
          <p:nvPr/>
        </p:nvSpPr>
        <p:spPr>
          <a:xfrm>
            <a:off x="5943600" y="3346704"/>
            <a:ext cx="2880360" cy="50292"/>
          </a:xfrm>
          <a:prstGeom prst="rect">
            <a:avLst/>
          </a:prstGeom>
          <a:solidFill>
            <a:srgbClr val="FF6B6B"/>
          </a:solidFill>
          <a:ln w="12700">
            <a:solidFill>
              <a:srgbClr val="FF6B6B"/>
            </a:solidFill>
            <a:prstDash val="solid"/>
          </a:ln>
        </p:spPr>
      </p:sp>
      <p:sp>
        <p:nvSpPr>
          <p:cNvPr id="60" name="Text 57"/>
          <p:cNvSpPr/>
          <p:nvPr/>
        </p:nvSpPr>
        <p:spPr>
          <a:xfrm>
            <a:off x="5943600" y="3456432"/>
            <a:ext cx="2880360" cy="318577"/>
          </a:xfrm>
          <a:prstGeom prst="rect">
            <a:avLst/>
          </a:prstGeom>
          <a:noFill/>
          <a:ln/>
        </p:spPr>
        <p:txBody>
          <a:bodyPr wrap="square" lIns="0" tIns="0" rIns="0" bIns="0" rtlCol="0" anchor="b"/>
          <a:lstStyle/>
          <a:p>
            <a:pPr marL="0" indent="0" algn="ctr">
              <a:buNone/>
            </a:pPr>
            <a:r>
              <a:rPr lang="en-US" sz="1800" b="1" dirty="0">
                <a:solidFill>
                  <a:srgbClr val="FF6B6B"/>
                </a:solidFill>
              </a:rPr>
              <a:t>37.04%</a:t>
            </a:r>
            <a:endParaRPr lang="en-US" sz="1800" dirty="0"/>
          </a:p>
        </p:txBody>
      </p:sp>
      <p:sp>
        <p:nvSpPr>
          <p:cNvPr id="61" name="Text 58"/>
          <p:cNvSpPr/>
          <p:nvPr/>
        </p:nvSpPr>
        <p:spPr>
          <a:xfrm>
            <a:off x="5943600" y="3732672"/>
            <a:ext cx="2880360" cy="214427"/>
          </a:xfrm>
          <a:prstGeom prst="rect">
            <a:avLst/>
          </a:prstGeom>
          <a:noFill/>
          <a:ln/>
        </p:spPr>
        <p:txBody>
          <a:bodyPr wrap="square" lIns="0" tIns="0" rIns="0" bIns="0" rtlCol="0" anchor="t"/>
          <a:lstStyle/>
          <a:p>
            <a:pPr marL="0" indent="0" algn="ctr">
              <a:buNone/>
            </a:pPr>
            <a:r>
              <a:rPr lang="en-US" sz="800" dirty="0">
                <a:solidFill>
                  <a:srgbClr val="D4E6F1"/>
                </a:solidFill>
              </a:rPr>
              <a:t>Cancellation Rate</a:t>
            </a:r>
            <a:endParaRPr lang="en-US" sz="800" dirty="0"/>
          </a:p>
        </p:txBody>
      </p:sp>
      <p:sp>
        <p:nvSpPr>
          <p:cNvPr id="62" name="Shape 59"/>
          <p:cNvSpPr/>
          <p:nvPr/>
        </p:nvSpPr>
        <p:spPr>
          <a:xfrm>
            <a:off x="5980176" y="4133088"/>
            <a:ext cx="2880360" cy="630936"/>
          </a:xfrm>
          <a:prstGeom prst="rect">
            <a:avLst/>
          </a:prstGeom>
          <a:solidFill>
            <a:srgbClr val="000000">
              <a:alpha val="28000"/>
            </a:srgbClr>
          </a:solidFill>
          <a:ln w="12700">
            <a:solidFill>
              <a:srgbClr val="000000">
                <a:alpha val="0"/>
              </a:srgbClr>
            </a:solidFill>
            <a:prstDash val="solid"/>
          </a:ln>
        </p:spPr>
      </p:sp>
      <p:sp>
        <p:nvSpPr>
          <p:cNvPr id="63" name="Shape 60"/>
          <p:cNvSpPr/>
          <p:nvPr/>
        </p:nvSpPr>
        <p:spPr>
          <a:xfrm>
            <a:off x="5943600" y="4096512"/>
            <a:ext cx="2880360" cy="630936"/>
          </a:xfrm>
          <a:prstGeom prst="rect">
            <a:avLst/>
          </a:prstGeom>
          <a:solidFill>
            <a:srgbClr val="0A1628">
              <a:alpha val="82000"/>
            </a:srgbClr>
          </a:solidFill>
          <a:ln w="12700">
            <a:solidFill>
              <a:srgbClr val="1E3A5F"/>
            </a:solidFill>
            <a:prstDash val="solid"/>
          </a:ln>
        </p:spPr>
      </p:sp>
      <p:sp>
        <p:nvSpPr>
          <p:cNvPr id="64" name="Shape 61"/>
          <p:cNvSpPr/>
          <p:nvPr/>
        </p:nvSpPr>
        <p:spPr>
          <a:xfrm>
            <a:off x="5943600" y="4096512"/>
            <a:ext cx="2880360" cy="27432"/>
          </a:xfrm>
          <a:prstGeom prst="rect">
            <a:avLst/>
          </a:prstGeom>
          <a:solidFill>
            <a:srgbClr val="FFFFFF">
              <a:alpha val="26000"/>
            </a:srgbClr>
          </a:solidFill>
          <a:ln w="12700">
            <a:solidFill>
              <a:srgbClr val="FFFFFF">
                <a:alpha val="0"/>
              </a:srgbClr>
            </a:solidFill>
            <a:prstDash val="solid"/>
          </a:ln>
        </p:spPr>
      </p:sp>
      <p:sp>
        <p:nvSpPr>
          <p:cNvPr id="65" name="Shape 62"/>
          <p:cNvSpPr/>
          <p:nvPr/>
        </p:nvSpPr>
        <p:spPr>
          <a:xfrm>
            <a:off x="5943600" y="4096512"/>
            <a:ext cx="27432" cy="630936"/>
          </a:xfrm>
          <a:prstGeom prst="rect">
            <a:avLst/>
          </a:prstGeom>
          <a:solidFill>
            <a:srgbClr val="FFFFFF">
              <a:alpha val="18000"/>
            </a:srgbClr>
          </a:solidFill>
          <a:ln w="12700">
            <a:solidFill>
              <a:srgbClr val="FFFFFF">
                <a:alpha val="0"/>
              </a:srgbClr>
            </a:solidFill>
            <a:prstDash val="solid"/>
          </a:ln>
        </p:spPr>
      </p:sp>
      <p:sp>
        <p:nvSpPr>
          <p:cNvPr id="66" name="Shape 63"/>
          <p:cNvSpPr/>
          <p:nvPr/>
        </p:nvSpPr>
        <p:spPr>
          <a:xfrm>
            <a:off x="5943600" y="4096512"/>
            <a:ext cx="2880360" cy="50292"/>
          </a:xfrm>
          <a:prstGeom prst="rect">
            <a:avLst/>
          </a:prstGeom>
          <a:solidFill>
            <a:srgbClr val="F5C518"/>
          </a:solidFill>
          <a:ln w="12700">
            <a:solidFill>
              <a:srgbClr val="F5C518"/>
            </a:solidFill>
            <a:prstDash val="solid"/>
          </a:ln>
        </p:spPr>
      </p:sp>
      <p:sp>
        <p:nvSpPr>
          <p:cNvPr id="67" name="Text 64"/>
          <p:cNvSpPr/>
          <p:nvPr/>
        </p:nvSpPr>
        <p:spPr>
          <a:xfrm>
            <a:off x="6035040" y="4133088"/>
            <a:ext cx="2651760" cy="182880"/>
          </a:xfrm>
          <a:prstGeom prst="rect">
            <a:avLst/>
          </a:prstGeom>
          <a:noFill/>
          <a:ln/>
        </p:spPr>
        <p:txBody>
          <a:bodyPr wrap="square" lIns="0" tIns="0" rIns="0" bIns="0" rtlCol="0" anchor="ctr"/>
          <a:lstStyle/>
          <a:p>
            <a:pPr marL="0" indent="0">
              <a:buNone/>
            </a:pPr>
            <a:r>
              <a:rPr lang="en-US" sz="750" b="1" kern="0" spc="150" dirty="0">
                <a:solidFill>
                  <a:srgbClr val="F5C518"/>
                </a:solidFill>
              </a:rPr>
              <a:t>KEY INSIGHTS</a:t>
            </a:r>
            <a:endParaRPr lang="en-US" sz="750" dirty="0"/>
          </a:p>
        </p:txBody>
      </p:sp>
      <p:sp>
        <p:nvSpPr>
          <p:cNvPr id="68" name="Text 65"/>
          <p:cNvSpPr/>
          <p:nvPr/>
        </p:nvSpPr>
        <p:spPr>
          <a:xfrm>
            <a:off x="6035040" y="4315968"/>
            <a:ext cx="2697480" cy="347472"/>
          </a:xfrm>
          <a:prstGeom prst="rect">
            <a:avLst/>
          </a:prstGeom>
          <a:noFill/>
          <a:ln/>
        </p:spPr>
        <p:txBody>
          <a:bodyPr wrap="square" lIns="0" tIns="0" rIns="0" bIns="0" rtlCol="0" anchor="ctr"/>
          <a:lstStyle/>
          <a:p>
            <a:pPr marL="0" indent="0">
              <a:buNone/>
            </a:pPr>
            <a:r>
              <a:rPr lang="en-US" sz="700" dirty="0">
                <a:solidFill>
                  <a:srgbClr val="D4E6F1"/>
                </a:solidFill>
              </a:rPr>
              <a:t>August–July peak; January lowest revenue month   ·   Online TA dominates at 82% of all bookings   ·   City Hotel drives higher booking volumes   ·   RevPAR at 64.11% across full dataset</a:t>
            </a:r>
            <a:endParaRPr lang="en-US" sz="700" dirty="0"/>
          </a:p>
        </p:txBody>
      </p:sp>
      <p:sp>
        <p:nvSpPr>
          <p:cNvPr id="69" name="Shape 66"/>
          <p:cNvSpPr/>
          <p:nvPr/>
        </p:nvSpPr>
        <p:spPr>
          <a:xfrm>
            <a:off x="0" y="4983480"/>
            <a:ext cx="9144000" cy="160020"/>
          </a:xfrm>
          <a:prstGeom prst="rect">
            <a:avLst/>
          </a:prstGeom>
          <a:solidFill>
            <a:srgbClr val="1A2E45"/>
          </a:solidFill>
          <a:ln w="12700">
            <a:solidFill>
              <a:srgbClr val="1A2E45"/>
            </a:solidFill>
            <a:prstDash val="solid"/>
          </a:ln>
        </p:spPr>
      </p:sp>
      <p:sp>
        <p:nvSpPr>
          <p:cNvPr id="70" name="Shape 67"/>
          <p:cNvSpPr/>
          <p:nvPr/>
        </p:nvSpPr>
        <p:spPr>
          <a:xfrm>
            <a:off x="0" y="4983480"/>
            <a:ext cx="36576" cy="160020"/>
          </a:xfrm>
          <a:prstGeom prst="rect">
            <a:avLst/>
          </a:prstGeom>
          <a:solidFill>
            <a:srgbClr val="F5C518"/>
          </a:solidFill>
          <a:ln w="12700">
            <a:solidFill>
              <a:srgbClr val="F5C518"/>
            </a:solidFill>
            <a:prstDash val="solid"/>
          </a:ln>
        </p:spPr>
      </p:sp>
      <p:sp>
        <p:nvSpPr>
          <p:cNvPr id="71" name="Text 68"/>
          <p:cNvSpPr/>
          <p:nvPr/>
        </p:nvSpPr>
        <p:spPr>
          <a:xfrm>
            <a:off x="137160" y="4983480"/>
            <a:ext cx="8229600" cy="160020"/>
          </a:xfrm>
          <a:prstGeom prst="rect">
            <a:avLst/>
          </a:prstGeom>
          <a:noFill/>
          <a:ln/>
        </p:spPr>
        <p:txBody>
          <a:bodyPr wrap="square" lIns="0" tIns="0" rIns="0" bIns="0" rtlCol="0" anchor="ctr"/>
          <a:lstStyle/>
          <a:p>
            <a:pPr marL="0" indent="0">
              <a:buNone/>
            </a:pPr>
            <a:r>
              <a:rPr lang="en-US" sz="750" dirty="0">
                <a:solidFill>
                  <a:srgbClr val="6B8CAE"/>
                </a:solidFill>
              </a:rPr>
              <a:t>HotelRevAI  ·  Infosys Springboard Internship 6.0  ·  Batch 13 — Group 2, Team D</a:t>
            </a:r>
            <a:endParaRPr lang="en-US" sz="750" dirty="0"/>
          </a:p>
        </p:txBody>
      </p:sp>
      <p:sp>
        <p:nvSpPr>
          <p:cNvPr id="72" name="Text 69"/>
          <p:cNvSpPr/>
          <p:nvPr/>
        </p:nvSpPr>
        <p:spPr>
          <a:xfrm>
            <a:off x="8686800" y="4983480"/>
            <a:ext cx="411480" cy="160020"/>
          </a:xfrm>
          <a:prstGeom prst="rect">
            <a:avLst/>
          </a:prstGeom>
          <a:noFill/>
          <a:ln/>
        </p:spPr>
        <p:txBody>
          <a:bodyPr wrap="square" lIns="0" tIns="0" rIns="0" bIns="0" rtlCol="0" anchor="ctr"/>
          <a:lstStyle/>
          <a:p>
            <a:pPr marL="0" indent="0" algn="r">
              <a:buNone/>
            </a:pPr>
            <a:r>
              <a:rPr lang="en-US" sz="750" b="1" dirty="0">
                <a:solidFill>
                  <a:srgbClr val="F5C518"/>
                </a:solidFill>
              </a:rPr>
              <a:t>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A14"/>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0D2137"/>
            </a:solidFill>
            <a:prstDash val="solid"/>
          </a:ln>
        </p:spPr>
      </p:sp>
      <p:sp>
        <p:nvSpPr>
          <p:cNvPr id="3" name="Shape 1"/>
          <p:cNvSpPr/>
          <p:nvPr/>
        </p:nvSpPr>
        <p:spPr>
          <a:xfrm>
            <a:off x="914400" y="0"/>
            <a:ext cx="0" cy="5143500"/>
          </a:xfrm>
          <a:prstGeom prst="line">
            <a:avLst/>
          </a:prstGeom>
          <a:noFill/>
          <a:ln w="6350">
            <a:solidFill>
              <a:srgbClr val="0D2137"/>
            </a:solidFill>
            <a:prstDash val="solid"/>
          </a:ln>
        </p:spPr>
      </p:sp>
      <p:sp>
        <p:nvSpPr>
          <p:cNvPr id="4" name="Shape 2"/>
          <p:cNvSpPr/>
          <p:nvPr/>
        </p:nvSpPr>
        <p:spPr>
          <a:xfrm>
            <a:off x="1828800" y="0"/>
            <a:ext cx="0" cy="5143500"/>
          </a:xfrm>
          <a:prstGeom prst="line">
            <a:avLst/>
          </a:prstGeom>
          <a:noFill/>
          <a:ln w="6350">
            <a:solidFill>
              <a:srgbClr val="0D2137"/>
            </a:solidFill>
            <a:prstDash val="solid"/>
          </a:ln>
        </p:spPr>
      </p:sp>
      <p:sp>
        <p:nvSpPr>
          <p:cNvPr id="5" name="Shape 3"/>
          <p:cNvSpPr/>
          <p:nvPr/>
        </p:nvSpPr>
        <p:spPr>
          <a:xfrm>
            <a:off x="2743200" y="0"/>
            <a:ext cx="0" cy="5143500"/>
          </a:xfrm>
          <a:prstGeom prst="line">
            <a:avLst/>
          </a:prstGeom>
          <a:noFill/>
          <a:ln w="6350">
            <a:solidFill>
              <a:srgbClr val="0D2137"/>
            </a:solidFill>
            <a:prstDash val="solid"/>
          </a:ln>
        </p:spPr>
      </p:sp>
      <p:sp>
        <p:nvSpPr>
          <p:cNvPr id="6" name="Shape 4"/>
          <p:cNvSpPr/>
          <p:nvPr/>
        </p:nvSpPr>
        <p:spPr>
          <a:xfrm>
            <a:off x="3657600" y="0"/>
            <a:ext cx="0" cy="5143500"/>
          </a:xfrm>
          <a:prstGeom prst="line">
            <a:avLst/>
          </a:prstGeom>
          <a:noFill/>
          <a:ln w="6350">
            <a:solidFill>
              <a:srgbClr val="0D2137"/>
            </a:solidFill>
            <a:prstDash val="solid"/>
          </a:ln>
        </p:spPr>
      </p:sp>
      <p:sp>
        <p:nvSpPr>
          <p:cNvPr id="7" name="Shape 5"/>
          <p:cNvSpPr/>
          <p:nvPr/>
        </p:nvSpPr>
        <p:spPr>
          <a:xfrm>
            <a:off x="4572000" y="0"/>
            <a:ext cx="0" cy="5143500"/>
          </a:xfrm>
          <a:prstGeom prst="line">
            <a:avLst/>
          </a:prstGeom>
          <a:noFill/>
          <a:ln w="6350">
            <a:solidFill>
              <a:srgbClr val="0D2137"/>
            </a:solidFill>
            <a:prstDash val="solid"/>
          </a:ln>
        </p:spPr>
      </p:sp>
      <p:sp>
        <p:nvSpPr>
          <p:cNvPr id="8" name="Shape 6"/>
          <p:cNvSpPr/>
          <p:nvPr/>
        </p:nvSpPr>
        <p:spPr>
          <a:xfrm>
            <a:off x="5486400" y="0"/>
            <a:ext cx="0" cy="5143500"/>
          </a:xfrm>
          <a:prstGeom prst="line">
            <a:avLst/>
          </a:prstGeom>
          <a:noFill/>
          <a:ln w="6350">
            <a:solidFill>
              <a:srgbClr val="0D2137"/>
            </a:solidFill>
            <a:prstDash val="solid"/>
          </a:ln>
        </p:spPr>
      </p:sp>
      <p:sp>
        <p:nvSpPr>
          <p:cNvPr id="9" name="Shape 7"/>
          <p:cNvSpPr/>
          <p:nvPr/>
        </p:nvSpPr>
        <p:spPr>
          <a:xfrm>
            <a:off x="6400800" y="0"/>
            <a:ext cx="0" cy="5143500"/>
          </a:xfrm>
          <a:prstGeom prst="line">
            <a:avLst/>
          </a:prstGeom>
          <a:noFill/>
          <a:ln w="6350">
            <a:solidFill>
              <a:srgbClr val="0D2137"/>
            </a:solidFill>
            <a:prstDash val="solid"/>
          </a:ln>
        </p:spPr>
      </p:sp>
      <p:sp>
        <p:nvSpPr>
          <p:cNvPr id="10" name="Shape 8"/>
          <p:cNvSpPr/>
          <p:nvPr/>
        </p:nvSpPr>
        <p:spPr>
          <a:xfrm>
            <a:off x="7315200" y="0"/>
            <a:ext cx="0" cy="5143500"/>
          </a:xfrm>
          <a:prstGeom prst="line">
            <a:avLst/>
          </a:prstGeom>
          <a:noFill/>
          <a:ln w="6350">
            <a:solidFill>
              <a:srgbClr val="0D2137"/>
            </a:solidFill>
            <a:prstDash val="solid"/>
          </a:ln>
        </p:spPr>
      </p:sp>
      <p:sp>
        <p:nvSpPr>
          <p:cNvPr id="11" name="Shape 9"/>
          <p:cNvSpPr/>
          <p:nvPr/>
        </p:nvSpPr>
        <p:spPr>
          <a:xfrm>
            <a:off x="8229600" y="0"/>
            <a:ext cx="0" cy="5143500"/>
          </a:xfrm>
          <a:prstGeom prst="line">
            <a:avLst/>
          </a:prstGeom>
          <a:noFill/>
          <a:ln w="6350">
            <a:solidFill>
              <a:srgbClr val="0D2137"/>
            </a:solidFill>
            <a:prstDash val="solid"/>
          </a:ln>
        </p:spPr>
      </p:sp>
      <p:sp>
        <p:nvSpPr>
          <p:cNvPr id="12" name="Shape 10"/>
          <p:cNvSpPr/>
          <p:nvPr/>
        </p:nvSpPr>
        <p:spPr>
          <a:xfrm>
            <a:off x="9144000" y="0"/>
            <a:ext cx="0" cy="5143500"/>
          </a:xfrm>
          <a:prstGeom prst="line">
            <a:avLst/>
          </a:prstGeom>
          <a:noFill/>
          <a:ln w="6350">
            <a:solidFill>
              <a:srgbClr val="0D2137"/>
            </a:solidFill>
            <a:prstDash val="solid"/>
          </a:ln>
        </p:spPr>
      </p:sp>
      <p:sp>
        <p:nvSpPr>
          <p:cNvPr id="13" name="Shape 11"/>
          <p:cNvSpPr/>
          <p:nvPr/>
        </p:nvSpPr>
        <p:spPr>
          <a:xfrm>
            <a:off x="0" y="0"/>
            <a:ext cx="9144000" cy="0"/>
          </a:xfrm>
          <a:prstGeom prst="line">
            <a:avLst/>
          </a:prstGeom>
          <a:noFill/>
          <a:ln w="6350">
            <a:solidFill>
              <a:srgbClr val="0D2137"/>
            </a:solidFill>
            <a:prstDash val="solid"/>
          </a:ln>
        </p:spPr>
      </p:sp>
      <p:sp>
        <p:nvSpPr>
          <p:cNvPr id="14" name="Shape 12"/>
          <p:cNvSpPr/>
          <p:nvPr/>
        </p:nvSpPr>
        <p:spPr>
          <a:xfrm>
            <a:off x="0" y="859536"/>
            <a:ext cx="9144000" cy="0"/>
          </a:xfrm>
          <a:prstGeom prst="line">
            <a:avLst/>
          </a:prstGeom>
          <a:noFill/>
          <a:ln w="6350">
            <a:solidFill>
              <a:srgbClr val="0D2137"/>
            </a:solidFill>
            <a:prstDash val="solid"/>
          </a:ln>
        </p:spPr>
      </p:sp>
      <p:sp>
        <p:nvSpPr>
          <p:cNvPr id="15" name="Shape 13"/>
          <p:cNvSpPr/>
          <p:nvPr/>
        </p:nvSpPr>
        <p:spPr>
          <a:xfrm>
            <a:off x="0" y="1719072"/>
            <a:ext cx="9144000" cy="0"/>
          </a:xfrm>
          <a:prstGeom prst="line">
            <a:avLst/>
          </a:prstGeom>
          <a:noFill/>
          <a:ln w="6350">
            <a:solidFill>
              <a:srgbClr val="0D2137"/>
            </a:solidFill>
            <a:prstDash val="solid"/>
          </a:ln>
        </p:spPr>
      </p:sp>
      <p:sp>
        <p:nvSpPr>
          <p:cNvPr id="16" name="Shape 14"/>
          <p:cNvSpPr/>
          <p:nvPr/>
        </p:nvSpPr>
        <p:spPr>
          <a:xfrm>
            <a:off x="0" y="2578608"/>
            <a:ext cx="9144000" cy="0"/>
          </a:xfrm>
          <a:prstGeom prst="line">
            <a:avLst/>
          </a:prstGeom>
          <a:noFill/>
          <a:ln w="6350">
            <a:solidFill>
              <a:srgbClr val="0D2137"/>
            </a:solidFill>
            <a:prstDash val="solid"/>
          </a:ln>
        </p:spPr>
      </p:sp>
      <p:sp>
        <p:nvSpPr>
          <p:cNvPr id="17" name="Shape 15"/>
          <p:cNvSpPr/>
          <p:nvPr/>
        </p:nvSpPr>
        <p:spPr>
          <a:xfrm>
            <a:off x="0" y="3438144"/>
            <a:ext cx="9144000" cy="0"/>
          </a:xfrm>
          <a:prstGeom prst="line">
            <a:avLst/>
          </a:prstGeom>
          <a:noFill/>
          <a:ln w="6350">
            <a:solidFill>
              <a:srgbClr val="0D2137"/>
            </a:solidFill>
            <a:prstDash val="solid"/>
          </a:ln>
        </p:spPr>
      </p:sp>
      <p:sp>
        <p:nvSpPr>
          <p:cNvPr id="18" name="Shape 16"/>
          <p:cNvSpPr/>
          <p:nvPr/>
        </p:nvSpPr>
        <p:spPr>
          <a:xfrm>
            <a:off x="0" y="4297680"/>
            <a:ext cx="9144000" cy="0"/>
          </a:xfrm>
          <a:prstGeom prst="line">
            <a:avLst/>
          </a:prstGeom>
          <a:noFill/>
          <a:ln w="6350">
            <a:solidFill>
              <a:srgbClr val="0D2137"/>
            </a:solidFill>
            <a:prstDash val="solid"/>
          </a:ln>
        </p:spPr>
      </p:sp>
      <p:sp>
        <p:nvSpPr>
          <p:cNvPr id="19" name="Shape 17"/>
          <p:cNvSpPr/>
          <p:nvPr/>
        </p:nvSpPr>
        <p:spPr>
          <a:xfrm>
            <a:off x="0" y="5157216"/>
            <a:ext cx="9144000" cy="0"/>
          </a:xfrm>
          <a:prstGeom prst="line">
            <a:avLst/>
          </a:prstGeom>
          <a:noFill/>
          <a:ln w="6350">
            <a:solidFill>
              <a:srgbClr val="0D2137"/>
            </a:solidFill>
            <a:prstDash val="solid"/>
          </a:ln>
        </p:spPr>
      </p:sp>
      <p:sp>
        <p:nvSpPr>
          <p:cNvPr id="20" name="Shape 18"/>
          <p:cNvSpPr/>
          <p:nvPr/>
        </p:nvSpPr>
        <p:spPr>
          <a:xfrm>
            <a:off x="7406640" y="3291840"/>
            <a:ext cx="2560320" cy="2560320"/>
          </a:xfrm>
          <a:prstGeom prst="ellipse">
            <a:avLst/>
          </a:prstGeom>
          <a:solidFill>
            <a:srgbClr val="00B4FF">
              <a:alpha val="10000"/>
            </a:srgbClr>
          </a:solidFill>
          <a:ln w="12700">
            <a:solidFill>
              <a:srgbClr val="00B4FF">
                <a:alpha val="5000"/>
              </a:srgbClr>
            </a:solidFill>
            <a:prstDash val="solid"/>
          </a:ln>
        </p:spPr>
      </p:sp>
      <p:sp>
        <p:nvSpPr>
          <p:cNvPr id="21" name="Shape 19"/>
          <p:cNvSpPr/>
          <p:nvPr/>
        </p:nvSpPr>
        <p:spPr>
          <a:xfrm>
            <a:off x="8046720" y="3931920"/>
            <a:ext cx="1280160" cy="1280160"/>
          </a:xfrm>
          <a:prstGeom prst="ellipse">
            <a:avLst/>
          </a:prstGeom>
          <a:solidFill>
            <a:srgbClr val="00B4FF">
              <a:alpha val="2000"/>
            </a:srgbClr>
          </a:solidFill>
          <a:ln w="12700">
            <a:solidFill>
              <a:srgbClr val="00B4FF">
                <a:alpha val="0"/>
              </a:srgbClr>
            </a:solidFill>
            <a:prstDash val="solid"/>
          </a:ln>
        </p:spPr>
      </p:sp>
      <p:sp>
        <p:nvSpPr>
          <p:cNvPr id="22" name="Shape 20"/>
          <p:cNvSpPr/>
          <p:nvPr/>
        </p:nvSpPr>
        <p:spPr>
          <a:xfrm>
            <a:off x="0" y="0"/>
            <a:ext cx="9144000" cy="50292"/>
          </a:xfrm>
          <a:prstGeom prst="rect">
            <a:avLst/>
          </a:prstGeom>
          <a:solidFill>
            <a:srgbClr val="F5C518"/>
          </a:solidFill>
          <a:ln w="12700">
            <a:solidFill>
              <a:srgbClr val="F5C518"/>
            </a:solidFill>
            <a:prstDash val="solid"/>
          </a:ln>
        </p:spPr>
      </p:sp>
      <p:sp>
        <p:nvSpPr>
          <p:cNvPr id="23" name="Shape 21"/>
          <p:cNvSpPr/>
          <p:nvPr/>
        </p:nvSpPr>
        <p:spPr>
          <a:xfrm>
            <a:off x="320040" y="182880"/>
            <a:ext cx="1737360" cy="246888"/>
          </a:xfrm>
          <a:prstGeom prst="rect">
            <a:avLst/>
          </a:prstGeom>
          <a:solidFill>
            <a:srgbClr val="003E7A"/>
          </a:solidFill>
          <a:ln w="12700">
            <a:solidFill>
              <a:srgbClr val="00B4FF"/>
            </a:solidFill>
            <a:prstDash val="solid"/>
          </a:ln>
        </p:spPr>
      </p:sp>
      <p:sp>
        <p:nvSpPr>
          <p:cNvPr id="24" name="Text 22"/>
          <p:cNvSpPr/>
          <p:nvPr/>
        </p:nvSpPr>
        <p:spPr>
          <a:xfrm>
            <a:off x="320040" y="182880"/>
            <a:ext cx="1737360" cy="246888"/>
          </a:xfrm>
          <a:prstGeom prst="rect">
            <a:avLst/>
          </a:prstGeom>
          <a:noFill/>
          <a:ln/>
        </p:spPr>
        <p:txBody>
          <a:bodyPr wrap="square" lIns="0" tIns="0" rIns="0" bIns="0" rtlCol="0" anchor="ctr"/>
          <a:lstStyle/>
          <a:p>
            <a:pPr marL="0" indent="0" algn="ctr">
              <a:buNone/>
            </a:pPr>
            <a:r>
              <a:rPr lang="en-US" sz="700" b="1" kern="0" spc="200" dirty="0">
                <a:solidFill>
                  <a:srgbClr val="00B4FF"/>
                </a:solidFill>
              </a:rPr>
              <a:t>DASHBOARD 2</a:t>
            </a:r>
            <a:endParaRPr lang="en-US" sz="700" dirty="0"/>
          </a:p>
        </p:txBody>
      </p:sp>
      <p:sp>
        <p:nvSpPr>
          <p:cNvPr id="25" name="Text 23"/>
          <p:cNvSpPr/>
          <p:nvPr/>
        </p:nvSpPr>
        <p:spPr>
          <a:xfrm>
            <a:off x="320040" y="521208"/>
            <a:ext cx="8503920" cy="512064"/>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Occupancy &amp; Revenue Analysis</a:t>
            </a:r>
            <a:endParaRPr lang="en-US" sz="2800" dirty="0"/>
          </a:p>
        </p:txBody>
      </p:sp>
      <p:sp>
        <p:nvSpPr>
          <p:cNvPr id="26" name="Shape 24"/>
          <p:cNvSpPr/>
          <p:nvPr/>
        </p:nvSpPr>
        <p:spPr>
          <a:xfrm>
            <a:off x="320040" y="1078992"/>
            <a:ext cx="1097280" cy="36576"/>
          </a:xfrm>
          <a:prstGeom prst="rect">
            <a:avLst/>
          </a:prstGeom>
          <a:solidFill>
            <a:srgbClr val="F5C518"/>
          </a:solidFill>
          <a:ln w="12700">
            <a:solidFill>
              <a:srgbClr val="F5C518"/>
            </a:solidFill>
            <a:prstDash val="solid"/>
          </a:ln>
        </p:spPr>
      </p:sp>
      <p:sp>
        <p:nvSpPr>
          <p:cNvPr id="27" name="Shape 25"/>
          <p:cNvSpPr/>
          <p:nvPr/>
        </p:nvSpPr>
        <p:spPr>
          <a:xfrm>
            <a:off x="1463040" y="1078992"/>
            <a:ext cx="7360920" cy="36576"/>
          </a:xfrm>
          <a:prstGeom prst="rect">
            <a:avLst/>
          </a:prstGeom>
          <a:solidFill>
            <a:srgbClr val="1A2E45"/>
          </a:solidFill>
          <a:ln w="12700">
            <a:solidFill>
              <a:srgbClr val="1A2E45"/>
            </a:solidFill>
            <a:prstDash val="solid"/>
          </a:ln>
        </p:spPr>
      </p:sp>
      <p:sp>
        <p:nvSpPr>
          <p:cNvPr id="28" name="Shape 26"/>
          <p:cNvSpPr/>
          <p:nvPr/>
        </p:nvSpPr>
        <p:spPr>
          <a:xfrm>
            <a:off x="356616" y="1243584"/>
            <a:ext cx="5440680" cy="3520440"/>
          </a:xfrm>
          <a:prstGeom prst="rect">
            <a:avLst/>
          </a:prstGeom>
          <a:solidFill>
            <a:srgbClr val="000000">
              <a:alpha val="28000"/>
            </a:srgbClr>
          </a:solidFill>
          <a:ln w="12700">
            <a:solidFill>
              <a:srgbClr val="000000">
                <a:alpha val="0"/>
              </a:srgbClr>
            </a:solidFill>
            <a:prstDash val="solid"/>
          </a:ln>
        </p:spPr>
      </p:sp>
      <p:sp>
        <p:nvSpPr>
          <p:cNvPr id="29" name="Shape 27"/>
          <p:cNvSpPr/>
          <p:nvPr/>
        </p:nvSpPr>
        <p:spPr>
          <a:xfrm>
            <a:off x="320040" y="1207008"/>
            <a:ext cx="5440680" cy="3520440"/>
          </a:xfrm>
          <a:prstGeom prst="rect">
            <a:avLst/>
          </a:prstGeom>
          <a:solidFill>
            <a:srgbClr val="0A1628">
              <a:alpha val="82000"/>
            </a:srgbClr>
          </a:solidFill>
          <a:ln w="12700">
            <a:solidFill>
              <a:srgbClr val="1E3A5F"/>
            </a:solidFill>
            <a:prstDash val="solid"/>
          </a:ln>
        </p:spPr>
      </p:sp>
      <p:sp>
        <p:nvSpPr>
          <p:cNvPr id="30" name="Shape 28"/>
          <p:cNvSpPr/>
          <p:nvPr/>
        </p:nvSpPr>
        <p:spPr>
          <a:xfrm>
            <a:off x="320040" y="1207008"/>
            <a:ext cx="5440680" cy="27432"/>
          </a:xfrm>
          <a:prstGeom prst="rect">
            <a:avLst/>
          </a:prstGeom>
          <a:solidFill>
            <a:srgbClr val="FFFFFF">
              <a:alpha val="26000"/>
            </a:srgbClr>
          </a:solidFill>
          <a:ln w="12700">
            <a:solidFill>
              <a:srgbClr val="FFFFFF">
                <a:alpha val="0"/>
              </a:srgbClr>
            </a:solidFill>
            <a:prstDash val="solid"/>
          </a:ln>
        </p:spPr>
      </p:sp>
      <p:sp>
        <p:nvSpPr>
          <p:cNvPr id="31" name="Shape 29"/>
          <p:cNvSpPr/>
          <p:nvPr/>
        </p:nvSpPr>
        <p:spPr>
          <a:xfrm>
            <a:off x="320040" y="1207008"/>
            <a:ext cx="27432" cy="3520440"/>
          </a:xfrm>
          <a:prstGeom prst="rect">
            <a:avLst/>
          </a:prstGeom>
          <a:solidFill>
            <a:srgbClr val="FFFFFF">
              <a:alpha val="18000"/>
            </a:srgbClr>
          </a:solidFill>
          <a:ln w="12700">
            <a:solidFill>
              <a:srgbClr val="FFFFFF">
                <a:alpha val="0"/>
              </a:srgbClr>
            </a:solidFill>
            <a:prstDash val="solid"/>
          </a:ln>
        </p:spPr>
      </p:sp>
      <p:sp>
        <p:nvSpPr>
          <p:cNvPr id="32" name="Shape 30"/>
          <p:cNvSpPr/>
          <p:nvPr/>
        </p:nvSpPr>
        <p:spPr>
          <a:xfrm>
            <a:off x="320040" y="1207008"/>
            <a:ext cx="5440680" cy="50292"/>
          </a:xfrm>
          <a:prstGeom prst="rect">
            <a:avLst/>
          </a:prstGeom>
          <a:solidFill>
            <a:srgbClr val="00B4FF"/>
          </a:solidFill>
          <a:ln w="12700">
            <a:solidFill>
              <a:srgbClr val="00B4FF"/>
            </a:solidFill>
            <a:prstDash val="solid"/>
          </a:ln>
        </p:spPr>
      </p:sp>
      <p:pic>
        <p:nvPicPr>
          <p:cNvPr id="33" name="Image 0" descr="/mnt/user-data/uploads/1774436441175_image.png"/>
          <p:cNvPicPr>
            <a:picLocks noChangeAspect="1"/>
          </p:cNvPicPr>
          <p:nvPr/>
        </p:nvPicPr>
        <p:blipFill>
          <a:blip r:embed="rId3"/>
          <a:srcRect/>
          <a:stretch/>
        </p:blipFill>
        <p:spPr>
          <a:xfrm>
            <a:off x="347472" y="1261872"/>
            <a:ext cx="5385816" cy="3410712"/>
          </a:xfrm>
          <a:prstGeom prst="rect">
            <a:avLst/>
          </a:prstGeom>
        </p:spPr>
      </p:pic>
      <p:sp>
        <p:nvSpPr>
          <p:cNvPr id="34" name="Shape 31"/>
          <p:cNvSpPr/>
          <p:nvPr/>
        </p:nvSpPr>
        <p:spPr>
          <a:xfrm>
            <a:off x="5980176" y="1243584"/>
            <a:ext cx="2880360" cy="612648"/>
          </a:xfrm>
          <a:prstGeom prst="rect">
            <a:avLst/>
          </a:prstGeom>
          <a:solidFill>
            <a:srgbClr val="000000">
              <a:alpha val="28000"/>
            </a:srgbClr>
          </a:solidFill>
          <a:ln w="12700">
            <a:solidFill>
              <a:srgbClr val="000000">
                <a:alpha val="0"/>
              </a:srgbClr>
            </a:solidFill>
            <a:prstDash val="solid"/>
          </a:ln>
        </p:spPr>
      </p:sp>
      <p:sp>
        <p:nvSpPr>
          <p:cNvPr id="35" name="Shape 32"/>
          <p:cNvSpPr/>
          <p:nvPr/>
        </p:nvSpPr>
        <p:spPr>
          <a:xfrm>
            <a:off x="5943600" y="1207008"/>
            <a:ext cx="2880360" cy="612648"/>
          </a:xfrm>
          <a:prstGeom prst="rect">
            <a:avLst/>
          </a:prstGeom>
          <a:solidFill>
            <a:srgbClr val="0A1628">
              <a:alpha val="82000"/>
            </a:srgbClr>
          </a:solidFill>
          <a:ln w="12700">
            <a:solidFill>
              <a:srgbClr val="1E3A5F"/>
            </a:solidFill>
            <a:prstDash val="solid"/>
          </a:ln>
        </p:spPr>
      </p:sp>
      <p:sp>
        <p:nvSpPr>
          <p:cNvPr id="36" name="Shape 33"/>
          <p:cNvSpPr/>
          <p:nvPr/>
        </p:nvSpPr>
        <p:spPr>
          <a:xfrm>
            <a:off x="5943600" y="1207008"/>
            <a:ext cx="2880360" cy="27432"/>
          </a:xfrm>
          <a:prstGeom prst="rect">
            <a:avLst/>
          </a:prstGeom>
          <a:solidFill>
            <a:srgbClr val="FFFFFF">
              <a:alpha val="26000"/>
            </a:srgbClr>
          </a:solidFill>
          <a:ln w="12700">
            <a:solidFill>
              <a:srgbClr val="FFFFFF">
                <a:alpha val="0"/>
              </a:srgbClr>
            </a:solidFill>
            <a:prstDash val="solid"/>
          </a:ln>
        </p:spPr>
      </p:sp>
      <p:sp>
        <p:nvSpPr>
          <p:cNvPr id="37" name="Shape 34"/>
          <p:cNvSpPr/>
          <p:nvPr/>
        </p:nvSpPr>
        <p:spPr>
          <a:xfrm>
            <a:off x="5943600" y="1207008"/>
            <a:ext cx="27432" cy="612648"/>
          </a:xfrm>
          <a:prstGeom prst="rect">
            <a:avLst/>
          </a:prstGeom>
          <a:solidFill>
            <a:srgbClr val="FFFFFF">
              <a:alpha val="18000"/>
            </a:srgbClr>
          </a:solidFill>
          <a:ln w="12700">
            <a:solidFill>
              <a:srgbClr val="FFFFFF">
                <a:alpha val="0"/>
              </a:srgbClr>
            </a:solidFill>
            <a:prstDash val="solid"/>
          </a:ln>
        </p:spPr>
      </p:sp>
      <p:sp>
        <p:nvSpPr>
          <p:cNvPr id="38" name="Shape 35"/>
          <p:cNvSpPr/>
          <p:nvPr/>
        </p:nvSpPr>
        <p:spPr>
          <a:xfrm>
            <a:off x="5943600" y="1207008"/>
            <a:ext cx="2880360" cy="50292"/>
          </a:xfrm>
          <a:prstGeom prst="rect">
            <a:avLst/>
          </a:prstGeom>
          <a:solidFill>
            <a:srgbClr val="F5C518"/>
          </a:solidFill>
          <a:ln w="12700">
            <a:solidFill>
              <a:srgbClr val="F5C518"/>
            </a:solidFill>
            <a:prstDash val="solid"/>
          </a:ln>
        </p:spPr>
      </p:sp>
      <p:sp>
        <p:nvSpPr>
          <p:cNvPr id="39" name="Text 36"/>
          <p:cNvSpPr/>
          <p:nvPr/>
        </p:nvSpPr>
        <p:spPr>
          <a:xfrm>
            <a:off x="5943600" y="1316736"/>
            <a:ext cx="2880360" cy="318577"/>
          </a:xfrm>
          <a:prstGeom prst="rect">
            <a:avLst/>
          </a:prstGeom>
          <a:noFill/>
          <a:ln/>
        </p:spPr>
        <p:txBody>
          <a:bodyPr wrap="square" lIns="0" tIns="0" rIns="0" bIns="0" rtlCol="0" anchor="b"/>
          <a:lstStyle/>
          <a:p>
            <a:pPr marL="0" indent="0" algn="ctr">
              <a:buNone/>
            </a:pPr>
            <a:r>
              <a:rPr lang="en-US" sz="1800" b="1" dirty="0">
                <a:solidFill>
                  <a:srgbClr val="F5C518"/>
                </a:solidFill>
              </a:rPr>
              <a:t>409.26K</a:t>
            </a:r>
            <a:endParaRPr lang="en-US" sz="1800" dirty="0"/>
          </a:p>
        </p:txBody>
      </p:sp>
      <p:sp>
        <p:nvSpPr>
          <p:cNvPr id="40" name="Text 37"/>
          <p:cNvSpPr/>
          <p:nvPr/>
        </p:nvSpPr>
        <p:spPr>
          <a:xfrm>
            <a:off x="5943600" y="1592976"/>
            <a:ext cx="2880360" cy="214427"/>
          </a:xfrm>
          <a:prstGeom prst="rect">
            <a:avLst/>
          </a:prstGeom>
          <a:noFill/>
          <a:ln/>
        </p:spPr>
        <p:txBody>
          <a:bodyPr wrap="square" lIns="0" tIns="0" rIns="0" bIns="0" rtlCol="0" anchor="t"/>
          <a:lstStyle/>
          <a:p>
            <a:pPr marL="0" indent="0" algn="ctr">
              <a:buNone/>
            </a:pPr>
            <a:r>
              <a:rPr lang="en-US" sz="800" dirty="0">
                <a:solidFill>
                  <a:srgbClr val="D4E6F1"/>
                </a:solidFill>
              </a:rPr>
              <a:t>Total Nights Stayed</a:t>
            </a:r>
            <a:endParaRPr lang="en-US" sz="800" dirty="0"/>
          </a:p>
        </p:txBody>
      </p:sp>
      <p:sp>
        <p:nvSpPr>
          <p:cNvPr id="41" name="Shape 38"/>
          <p:cNvSpPr/>
          <p:nvPr/>
        </p:nvSpPr>
        <p:spPr>
          <a:xfrm>
            <a:off x="5980176" y="1956816"/>
            <a:ext cx="2880360" cy="612648"/>
          </a:xfrm>
          <a:prstGeom prst="rect">
            <a:avLst/>
          </a:prstGeom>
          <a:solidFill>
            <a:srgbClr val="000000">
              <a:alpha val="28000"/>
            </a:srgbClr>
          </a:solidFill>
          <a:ln w="12700">
            <a:solidFill>
              <a:srgbClr val="000000">
                <a:alpha val="0"/>
              </a:srgbClr>
            </a:solidFill>
            <a:prstDash val="solid"/>
          </a:ln>
        </p:spPr>
      </p:sp>
      <p:sp>
        <p:nvSpPr>
          <p:cNvPr id="42" name="Shape 39"/>
          <p:cNvSpPr/>
          <p:nvPr/>
        </p:nvSpPr>
        <p:spPr>
          <a:xfrm>
            <a:off x="5943600" y="1920240"/>
            <a:ext cx="2880360" cy="612648"/>
          </a:xfrm>
          <a:prstGeom prst="rect">
            <a:avLst/>
          </a:prstGeom>
          <a:solidFill>
            <a:srgbClr val="0A1628">
              <a:alpha val="82000"/>
            </a:srgbClr>
          </a:solidFill>
          <a:ln w="12700">
            <a:solidFill>
              <a:srgbClr val="1E3A5F"/>
            </a:solidFill>
            <a:prstDash val="solid"/>
          </a:ln>
        </p:spPr>
      </p:sp>
      <p:sp>
        <p:nvSpPr>
          <p:cNvPr id="43" name="Shape 40"/>
          <p:cNvSpPr/>
          <p:nvPr/>
        </p:nvSpPr>
        <p:spPr>
          <a:xfrm>
            <a:off x="5943600" y="1920240"/>
            <a:ext cx="2880360" cy="27432"/>
          </a:xfrm>
          <a:prstGeom prst="rect">
            <a:avLst/>
          </a:prstGeom>
          <a:solidFill>
            <a:srgbClr val="FFFFFF">
              <a:alpha val="26000"/>
            </a:srgbClr>
          </a:solidFill>
          <a:ln w="12700">
            <a:solidFill>
              <a:srgbClr val="FFFFFF">
                <a:alpha val="0"/>
              </a:srgbClr>
            </a:solidFill>
            <a:prstDash val="solid"/>
          </a:ln>
        </p:spPr>
      </p:sp>
      <p:sp>
        <p:nvSpPr>
          <p:cNvPr id="44" name="Shape 41"/>
          <p:cNvSpPr/>
          <p:nvPr/>
        </p:nvSpPr>
        <p:spPr>
          <a:xfrm>
            <a:off x="5943600" y="1920240"/>
            <a:ext cx="27432" cy="612648"/>
          </a:xfrm>
          <a:prstGeom prst="rect">
            <a:avLst/>
          </a:prstGeom>
          <a:solidFill>
            <a:srgbClr val="FFFFFF">
              <a:alpha val="18000"/>
            </a:srgbClr>
          </a:solidFill>
          <a:ln w="12700">
            <a:solidFill>
              <a:srgbClr val="FFFFFF">
                <a:alpha val="0"/>
              </a:srgbClr>
            </a:solidFill>
            <a:prstDash val="solid"/>
          </a:ln>
        </p:spPr>
      </p:sp>
      <p:sp>
        <p:nvSpPr>
          <p:cNvPr id="45" name="Shape 42"/>
          <p:cNvSpPr/>
          <p:nvPr/>
        </p:nvSpPr>
        <p:spPr>
          <a:xfrm>
            <a:off x="5943600" y="1920240"/>
            <a:ext cx="2880360" cy="50292"/>
          </a:xfrm>
          <a:prstGeom prst="rect">
            <a:avLst/>
          </a:prstGeom>
          <a:solidFill>
            <a:srgbClr val="00B4FF"/>
          </a:solidFill>
          <a:ln w="12700">
            <a:solidFill>
              <a:srgbClr val="00B4FF"/>
            </a:solidFill>
            <a:prstDash val="solid"/>
          </a:ln>
        </p:spPr>
      </p:sp>
      <p:sp>
        <p:nvSpPr>
          <p:cNvPr id="46" name="Text 43"/>
          <p:cNvSpPr/>
          <p:nvPr/>
        </p:nvSpPr>
        <p:spPr>
          <a:xfrm>
            <a:off x="5943600" y="2029968"/>
            <a:ext cx="2880360" cy="318577"/>
          </a:xfrm>
          <a:prstGeom prst="rect">
            <a:avLst/>
          </a:prstGeom>
          <a:noFill/>
          <a:ln/>
        </p:spPr>
        <p:txBody>
          <a:bodyPr wrap="square" lIns="0" tIns="0" rIns="0" bIns="0" rtlCol="0" anchor="b"/>
          <a:lstStyle/>
          <a:p>
            <a:pPr marL="0" indent="0" algn="ctr">
              <a:buNone/>
            </a:pPr>
            <a:r>
              <a:rPr lang="en-US" sz="1800" b="1" dirty="0">
                <a:solidFill>
                  <a:srgbClr val="00B4FF"/>
                </a:solidFill>
              </a:rPr>
              <a:t>64.11%</a:t>
            </a:r>
            <a:endParaRPr lang="en-US" sz="1800" dirty="0"/>
          </a:p>
        </p:txBody>
      </p:sp>
      <p:sp>
        <p:nvSpPr>
          <p:cNvPr id="47" name="Text 44"/>
          <p:cNvSpPr/>
          <p:nvPr/>
        </p:nvSpPr>
        <p:spPr>
          <a:xfrm>
            <a:off x="5943600" y="2306208"/>
            <a:ext cx="2880360" cy="214427"/>
          </a:xfrm>
          <a:prstGeom prst="rect">
            <a:avLst/>
          </a:prstGeom>
          <a:noFill/>
          <a:ln/>
        </p:spPr>
        <p:txBody>
          <a:bodyPr wrap="square" lIns="0" tIns="0" rIns="0" bIns="0" rtlCol="0" anchor="t"/>
          <a:lstStyle/>
          <a:p>
            <a:pPr marL="0" indent="0" algn="ctr">
              <a:buNone/>
            </a:pPr>
            <a:r>
              <a:rPr lang="en-US" sz="800" dirty="0">
                <a:solidFill>
                  <a:srgbClr val="D4E6F1"/>
                </a:solidFill>
              </a:rPr>
              <a:t>RevPAR</a:t>
            </a:r>
            <a:endParaRPr lang="en-US" sz="800" dirty="0"/>
          </a:p>
        </p:txBody>
      </p:sp>
      <p:sp>
        <p:nvSpPr>
          <p:cNvPr id="48" name="Shape 45"/>
          <p:cNvSpPr/>
          <p:nvPr/>
        </p:nvSpPr>
        <p:spPr>
          <a:xfrm>
            <a:off x="5980176" y="2670048"/>
            <a:ext cx="2880360" cy="612648"/>
          </a:xfrm>
          <a:prstGeom prst="rect">
            <a:avLst/>
          </a:prstGeom>
          <a:solidFill>
            <a:srgbClr val="000000">
              <a:alpha val="28000"/>
            </a:srgbClr>
          </a:solidFill>
          <a:ln w="12700">
            <a:solidFill>
              <a:srgbClr val="000000">
                <a:alpha val="0"/>
              </a:srgbClr>
            </a:solidFill>
            <a:prstDash val="solid"/>
          </a:ln>
        </p:spPr>
      </p:sp>
      <p:sp>
        <p:nvSpPr>
          <p:cNvPr id="49" name="Shape 46"/>
          <p:cNvSpPr/>
          <p:nvPr/>
        </p:nvSpPr>
        <p:spPr>
          <a:xfrm>
            <a:off x="5943600" y="2633472"/>
            <a:ext cx="2880360" cy="612648"/>
          </a:xfrm>
          <a:prstGeom prst="rect">
            <a:avLst/>
          </a:prstGeom>
          <a:solidFill>
            <a:srgbClr val="0A1628">
              <a:alpha val="82000"/>
            </a:srgbClr>
          </a:solidFill>
          <a:ln w="12700">
            <a:solidFill>
              <a:srgbClr val="1E3A5F"/>
            </a:solidFill>
            <a:prstDash val="solid"/>
          </a:ln>
        </p:spPr>
      </p:sp>
      <p:sp>
        <p:nvSpPr>
          <p:cNvPr id="50" name="Shape 47"/>
          <p:cNvSpPr/>
          <p:nvPr/>
        </p:nvSpPr>
        <p:spPr>
          <a:xfrm>
            <a:off x="5943600" y="2633472"/>
            <a:ext cx="2880360" cy="27432"/>
          </a:xfrm>
          <a:prstGeom prst="rect">
            <a:avLst/>
          </a:prstGeom>
          <a:solidFill>
            <a:srgbClr val="FFFFFF">
              <a:alpha val="26000"/>
            </a:srgbClr>
          </a:solidFill>
          <a:ln w="12700">
            <a:solidFill>
              <a:srgbClr val="FFFFFF">
                <a:alpha val="0"/>
              </a:srgbClr>
            </a:solidFill>
            <a:prstDash val="solid"/>
          </a:ln>
        </p:spPr>
      </p:sp>
      <p:sp>
        <p:nvSpPr>
          <p:cNvPr id="51" name="Shape 48"/>
          <p:cNvSpPr/>
          <p:nvPr/>
        </p:nvSpPr>
        <p:spPr>
          <a:xfrm>
            <a:off x="5943600" y="2633472"/>
            <a:ext cx="27432" cy="612648"/>
          </a:xfrm>
          <a:prstGeom prst="rect">
            <a:avLst/>
          </a:prstGeom>
          <a:solidFill>
            <a:srgbClr val="FFFFFF">
              <a:alpha val="18000"/>
            </a:srgbClr>
          </a:solidFill>
          <a:ln w="12700">
            <a:solidFill>
              <a:srgbClr val="FFFFFF">
                <a:alpha val="0"/>
              </a:srgbClr>
            </a:solidFill>
            <a:prstDash val="solid"/>
          </a:ln>
        </p:spPr>
      </p:sp>
      <p:sp>
        <p:nvSpPr>
          <p:cNvPr id="52" name="Shape 49"/>
          <p:cNvSpPr/>
          <p:nvPr/>
        </p:nvSpPr>
        <p:spPr>
          <a:xfrm>
            <a:off x="5943600" y="2633472"/>
            <a:ext cx="2880360" cy="50292"/>
          </a:xfrm>
          <a:prstGeom prst="rect">
            <a:avLst/>
          </a:prstGeom>
          <a:solidFill>
            <a:srgbClr val="00B4FF"/>
          </a:solidFill>
          <a:ln w="12700">
            <a:solidFill>
              <a:srgbClr val="00B4FF"/>
            </a:solidFill>
            <a:prstDash val="solid"/>
          </a:ln>
        </p:spPr>
      </p:sp>
      <p:sp>
        <p:nvSpPr>
          <p:cNvPr id="53" name="Text 50"/>
          <p:cNvSpPr/>
          <p:nvPr/>
        </p:nvSpPr>
        <p:spPr>
          <a:xfrm>
            <a:off x="5943600" y="2743200"/>
            <a:ext cx="2880360" cy="318577"/>
          </a:xfrm>
          <a:prstGeom prst="rect">
            <a:avLst/>
          </a:prstGeom>
          <a:noFill/>
          <a:ln/>
        </p:spPr>
        <p:txBody>
          <a:bodyPr wrap="square" lIns="0" tIns="0" rIns="0" bIns="0" rtlCol="0" anchor="b"/>
          <a:lstStyle/>
          <a:p>
            <a:pPr marL="0" indent="0" algn="ctr">
              <a:buNone/>
            </a:pPr>
            <a:r>
              <a:rPr lang="en-US" sz="1800" b="1" dirty="0">
                <a:solidFill>
                  <a:srgbClr val="00B4FF"/>
                </a:solidFill>
              </a:rPr>
              <a:t>$101.83</a:t>
            </a:r>
            <a:endParaRPr lang="en-US" sz="1800" dirty="0"/>
          </a:p>
        </p:txBody>
      </p:sp>
      <p:sp>
        <p:nvSpPr>
          <p:cNvPr id="54" name="Text 51"/>
          <p:cNvSpPr/>
          <p:nvPr/>
        </p:nvSpPr>
        <p:spPr>
          <a:xfrm>
            <a:off x="5943600" y="3019440"/>
            <a:ext cx="2880360" cy="214427"/>
          </a:xfrm>
          <a:prstGeom prst="rect">
            <a:avLst/>
          </a:prstGeom>
          <a:noFill/>
          <a:ln/>
        </p:spPr>
        <p:txBody>
          <a:bodyPr wrap="square" lIns="0" tIns="0" rIns="0" bIns="0" rtlCol="0" anchor="t"/>
          <a:lstStyle/>
          <a:p>
            <a:pPr marL="0" indent="0" algn="ctr">
              <a:buNone/>
            </a:pPr>
            <a:r>
              <a:rPr lang="en-US" sz="800" dirty="0">
                <a:solidFill>
                  <a:srgbClr val="D4E6F1"/>
                </a:solidFill>
              </a:rPr>
              <a:t>Avg Daily Rate</a:t>
            </a:r>
            <a:endParaRPr lang="en-US" sz="800" dirty="0"/>
          </a:p>
        </p:txBody>
      </p:sp>
      <p:sp>
        <p:nvSpPr>
          <p:cNvPr id="55" name="Shape 52"/>
          <p:cNvSpPr/>
          <p:nvPr/>
        </p:nvSpPr>
        <p:spPr>
          <a:xfrm>
            <a:off x="5980176" y="3383280"/>
            <a:ext cx="2880360" cy="612648"/>
          </a:xfrm>
          <a:prstGeom prst="rect">
            <a:avLst/>
          </a:prstGeom>
          <a:solidFill>
            <a:srgbClr val="000000">
              <a:alpha val="28000"/>
            </a:srgbClr>
          </a:solidFill>
          <a:ln w="12700">
            <a:solidFill>
              <a:srgbClr val="000000">
                <a:alpha val="0"/>
              </a:srgbClr>
            </a:solidFill>
            <a:prstDash val="solid"/>
          </a:ln>
        </p:spPr>
      </p:sp>
      <p:sp>
        <p:nvSpPr>
          <p:cNvPr id="56" name="Shape 53"/>
          <p:cNvSpPr/>
          <p:nvPr/>
        </p:nvSpPr>
        <p:spPr>
          <a:xfrm>
            <a:off x="5943600" y="3346704"/>
            <a:ext cx="2880360" cy="612648"/>
          </a:xfrm>
          <a:prstGeom prst="rect">
            <a:avLst/>
          </a:prstGeom>
          <a:solidFill>
            <a:srgbClr val="0A1628">
              <a:alpha val="82000"/>
            </a:srgbClr>
          </a:solidFill>
          <a:ln w="12700">
            <a:solidFill>
              <a:srgbClr val="1E3A5F"/>
            </a:solidFill>
            <a:prstDash val="solid"/>
          </a:ln>
        </p:spPr>
      </p:sp>
      <p:sp>
        <p:nvSpPr>
          <p:cNvPr id="57" name="Shape 54"/>
          <p:cNvSpPr/>
          <p:nvPr/>
        </p:nvSpPr>
        <p:spPr>
          <a:xfrm>
            <a:off x="5943600" y="3346704"/>
            <a:ext cx="2880360" cy="27432"/>
          </a:xfrm>
          <a:prstGeom prst="rect">
            <a:avLst/>
          </a:prstGeom>
          <a:solidFill>
            <a:srgbClr val="FFFFFF">
              <a:alpha val="26000"/>
            </a:srgbClr>
          </a:solidFill>
          <a:ln w="12700">
            <a:solidFill>
              <a:srgbClr val="FFFFFF">
                <a:alpha val="0"/>
              </a:srgbClr>
            </a:solidFill>
            <a:prstDash val="solid"/>
          </a:ln>
        </p:spPr>
      </p:sp>
      <p:sp>
        <p:nvSpPr>
          <p:cNvPr id="58" name="Shape 55"/>
          <p:cNvSpPr/>
          <p:nvPr/>
        </p:nvSpPr>
        <p:spPr>
          <a:xfrm>
            <a:off x="5943600" y="3346704"/>
            <a:ext cx="27432" cy="612648"/>
          </a:xfrm>
          <a:prstGeom prst="rect">
            <a:avLst/>
          </a:prstGeom>
          <a:solidFill>
            <a:srgbClr val="FFFFFF">
              <a:alpha val="18000"/>
            </a:srgbClr>
          </a:solidFill>
          <a:ln w="12700">
            <a:solidFill>
              <a:srgbClr val="FFFFFF">
                <a:alpha val="0"/>
              </a:srgbClr>
            </a:solidFill>
            <a:prstDash val="solid"/>
          </a:ln>
        </p:spPr>
      </p:sp>
      <p:sp>
        <p:nvSpPr>
          <p:cNvPr id="59" name="Shape 56"/>
          <p:cNvSpPr/>
          <p:nvPr/>
        </p:nvSpPr>
        <p:spPr>
          <a:xfrm>
            <a:off x="5943600" y="3346704"/>
            <a:ext cx="2880360" cy="50292"/>
          </a:xfrm>
          <a:prstGeom prst="rect">
            <a:avLst/>
          </a:prstGeom>
          <a:solidFill>
            <a:srgbClr val="00D4AA"/>
          </a:solidFill>
          <a:ln w="12700">
            <a:solidFill>
              <a:srgbClr val="00D4AA"/>
            </a:solidFill>
            <a:prstDash val="solid"/>
          </a:ln>
        </p:spPr>
      </p:sp>
      <p:sp>
        <p:nvSpPr>
          <p:cNvPr id="60" name="Text 57"/>
          <p:cNvSpPr/>
          <p:nvPr/>
        </p:nvSpPr>
        <p:spPr>
          <a:xfrm>
            <a:off x="5943600" y="3456432"/>
            <a:ext cx="2880360" cy="318577"/>
          </a:xfrm>
          <a:prstGeom prst="rect">
            <a:avLst/>
          </a:prstGeom>
          <a:noFill/>
          <a:ln/>
        </p:spPr>
        <p:txBody>
          <a:bodyPr wrap="square" lIns="0" tIns="0" rIns="0" bIns="0" rtlCol="0" anchor="b"/>
          <a:lstStyle/>
          <a:p>
            <a:pPr marL="0" indent="0" algn="ctr">
              <a:buNone/>
            </a:pPr>
            <a:r>
              <a:rPr lang="en-US" sz="1800" b="1" dirty="0">
                <a:solidFill>
                  <a:srgbClr val="00D4AA"/>
                </a:solidFill>
              </a:rPr>
              <a:t>62.96%</a:t>
            </a:r>
            <a:endParaRPr lang="en-US" sz="1800" dirty="0"/>
          </a:p>
        </p:txBody>
      </p:sp>
      <p:sp>
        <p:nvSpPr>
          <p:cNvPr id="61" name="Text 58"/>
          <p:cNvSpPr/>
          <p:nvPr/>
        </p:nvSpPr>
        <p:spPr>
          <a:xfrm>
            <a:off x="5943600" y="3732672"/>
            <a:ext cx="2880360" cy="214427"/>
          </a:xfrm>
          <a:prstGeom prst="rect">
            <a:avLst/>
          </a:prstGeom>
          <a:noFill/>
          <a:ln/>
        </p:spPr>
        <p:txBody>
          <a:bodyPr wrap="square" lIns="0" tIns="0" rIns="0" bIns="0" rtlCol="0" anchor="t"/>
          <a:lstStyle/>
          <a:p>
            <a:pPr marL="0" indent="0" algn="ctr">
              <a:buNone/>
            </a:pPr>
            <a:r>
              <a:rPr lang="en-US" sz="800" dirty="0">
                <a:solidFill>
                  <a:srgbClr val="D4E6F1"/>
                </a:solidFill>
              </a:rPr>
              <a:t>Occupancy %</a:t>
            </a:r>
            <a:endParaRPr lang="en-US" sz="800" dirty="0"/>
          </a:p>
        </p:txBody>
      </p:sp>
      <p:sp>
        <p:nvSpPr>
          <p:cNvPr id="62" name="Shape 59"/>
          <p:cNvSpPr/>
          <p:nvPr/>
        </p:nvSpPr>
        <p:spPr>
          <a:xfrm>
            <a:off x="5980176" y="4133088"/>
            <a:ext cx="2880360" cy="630936"/>
          </a:xfrm>
          <a:prstGeom prst="rect">
            <a:avLst/>
          </a:prstGeom>
          <a:solidFill>
            <a:srgbClr val="000000">
              <a:alpha val="28000"/>
            </a:srgbClr>
          </a:solidFill>
          <a:ln w="12700">
            <a:solidFill>
              <a:srgbClr val="000000">
                <a:alpha val="0"/>
              </a:srgbClr>
            </a:solidFill>
            <a:prstDash val="solid"/>
          </a:ln>
        </p:spPr>
      </p:sp>
      <p:sp>
        <p:nvSpPr>
          <p:cNvPr id="63" name="Shape 60"/>
          <p:cNvSpPr/>
          <p:nvPr/>
        </p:nvSpPr>
        <p:spPr>
          <a:xfrm>
            <a:off x="5943600" y="4096512"/>
            <a:ext cx="2880360" cy="630936"/>
          </a:xfrm>
          <a:prstGeom prst="rect">
            <a:avLst/>
          </a:prstGeom>
          <a:solidFill>
            <a:srgbClr val="0A1628">
              <a:alpha val="82000"/>
            </a:srgbClr>
          </a:solidFill>
          <a:ln w="12700">
            <a:solidFill>
              <a:srgbClr val="1E3A5F"/>
            </a:solidFill>
            <a:prstDash val="solid"/>
          </a:ln>
        </p:spPr>
      </p:sp>
      <p:sp>
        <p:nvSpPr>
          <p:cNvPr id="64" name="Shape 61"/>
          <p:cNvSpPr/>
          <p:nvPr/>
        </p:nvSpPr>
        <p:spPr>
          <a:xfrm>
            <a:off x="5943600" y="4096512"/>
            <a:ext cx="2880360" cy="27432"/>
          </a:xfrm>
          <a:prstGeom prst="rect">
            <a:avLst/>
          </a:prstGeom>
          <a:solidFill>
            <a:srgbClr val="FFFFFF">
              <a:alpha val="26000"/>
            </a:srgbClr>
          </a:solidFill>
          <a:ln w="12700">
            <a:solidFill>
              <a:srgbClr val="FFFFFF">
                <a:alpha val="0"/>
              </a:srgbClr>
            </a:solidFill>
            <a:prstDash val="solid"/>
          </a:ln>
        </p:spPr>
      </p:sp>
      <p:sp>
        <p:nvSpPr>
          <p:cNvPr id="65" name="Shape 62"/>
          <p:cNvSpPr/>
          <p:nvPr/>
        </p:nvSpPr>
        <p:spPr>
          <a:xfrm>
            <a:off x="5943600" y="4096512"/>
            <a:ext cx="27432" cy="630936"/>
          </a:xfrm>
          <a:prstGeom prst="rect">
            <a:avLst/>
          </a:prstGeom>
          <a:solidFill>
            <a:srgbClr val="FFFFFF">
              <a:alpha val="18000"/>
            </a:srgbClr>
          </a:solidFill>
          <a:ln w="12700">
            <a:solidFill>
              <a:srgbClr val="FFFFFF">
                <a:alpha val="0"/>
              </a:srgbClr>
            </a:solidFill>
            <a:prstDash val="solid"/>
          </a:ln>
        </p:spPr>
      </p:sp>
      <p:sp>
        <p:nvSpPr>
          <p:cNvPr id="66" name="Shape 63"/>
          <p:cNvSpPr/>
          <p:nvPr/>
        </p:nvSpPr>
        <p:spPr>
          <a:xfrm>
            <a:off x="5943600" y="4096512"/>
            <a:ext cx="2880360" cy="50292"/>
          </a:xfrm>
          <a:prstGeom prst="rect">
            <a:avLst/>
          </a:prstGeom>
          <a:solidFill>
            <a:srgbClr val="F5C518"/>
          </a:solidFill>
          <a:ln w="12700">
            <a:solidFill>
              <a:srgbClr val="F5C518"/>
            </a:solidFill>
            <a:prstDash val="solid"/>
          </a:ln>
        </p:spPr>
      </p:sp>
      <p:sp>
        <p:nvSpPr>
          <p:cNvPr id="67" name="Text 64"/>
          <p:cNvSpPr/>
          <p:nvPr/>
        </p:nvSpPr>
        <p:spPr>
          <a:xfrm>
            <a:off x="6035040" y="4133088"/>
            <a:ext cx="2651760" cy="182880"/>
          </a:xfrm>
          <a:prstGeom prst="rect">
            <a:avLst/>
          </a:prstGeom>
          <a:noFill/>
          <a:ln/>
        </p:spPr>
        <p:txBody>
          <a:bodyPr wrap="square" lIns="0" tIns="0" rIns="0" bIns="0" rtlCol="0" anchor="ctr"/>
          <a:lstStyle/>
          <a:p>
            <a:pPr marL="0" indent="0">
              <a:buNone/>
            </a:pPr>
            <a:r>
              <a:rPr lang="en-US" sz="750" b="1" kern="0" spc="150" dirty="0">
                <a:solidFill>
                  <a:srgbClr val="F5C518"/>
                </a:solidFill>
              </a:rPr>
              <a:t>KEY INSIGHTS</a:t>
            </a:r>
            <a:endParaRPr lang="en-US" sz="750" dirty="0"/>
          </a:p>
        </p:txBody>
      </p:sp>
      <p:sp>
        <p:nvSpPr>
          <p:cNvPr id="68" name="Text 65"/>
          <p:cNvSpPr/>
          <p:nvPr/>
        </p:nvSpPr>
        <p:spPr>
          <a:xfrm>
            <a:off x="6035040" y="4315968"/>
            <a:ext cx="2697480" cy="347472"/>
          </a:xfrm>
          <a:prstGeom prst="rect">
            <a:avLst/>
          </a:prstGeom>
          <a:noFill/>
          <a:ln/>
        </p:spPr>
        <p:txBody>
          <a:bodyPr wrap="square" lIns="0" tIns="0" rIns="0" bIns="0" rtlCol="0" anchor="ctr"/>
          <a:lstStyle/>
          <a:p>
            <a:pPr marL="0" indent="0">
              <a:buNone/>
            </a:pPr>
            <a:r>
              <a:rPr lang="en-US" sz="700" dirty="0">
                <a:solidFill>
                  <a:srgbClr val="D4E6F1"/>
                </a:solidFill>
              </a:rPr>
              <a:t>Room Type H commands highest ADR at $656+   ·   Weekday stays consistently exceed weekends   ·   Resort Hotel peaks in summer occupancy   ·   ADR and RevPAR trend closely across months</a:t>
            </a:r>
            <a:endParaRPr lang="en-US" sz="700" dirty="0"/>
          </a:p>
        </p:txBody>
      </p:sp>
      <p:sp>
        <p:nvSpPr>
          <p:cNvPr id="69" name="Shape 66"/>
          <p:cNvSpPr/>
          <p:nvPr/>
        </p:nvSpPr>
        <p:spPr>
          <a:xfrm>
            <a:off x="0" y="4983480"/>
            <a:ext cx="9144000" cy="160020"/>
          </a:xfrm>
          <a:prstGeom prst="rect">
            <a:avLst/>
          </a:prstGeom>
          <a:solidFill>
            <a:srgbClr val="1A2E45"/>
          </a:solidFill>
          <a:ln w="12700">
            <a:solidFill>
              <a:srgbClr val="1A2E45"/>
            </a:solidFill>
            <a:prstDash val="solid"/>
          </a:ln>
        </p:spPr>
      </p:sp>
      <p:sp>
        <p:nvSpPr>
          <p:cNvPr id="70" name="Shape 67"/>
          <p:cNvSpPr/>
          <p:nvPr/>
        </p:nvSpPr>
        <p:spPr>
          <a:xfrm>
            <a:off x="0" y="4983480"/>
            <a:ext cx="36576" cy="160020"/>
          </a:xfrm>
          <a:prstGeom prst="rect">
            <a:avLst/>
          </a:prstGeom>
          <a:solidFill>
            <a:srgbClr val="F5C518"/>
          </a:solidFill>
          <a:ln w="12700">
            <a:solidFill>
              <a:srgbClr val="F5C518"/>
            </a:solidFill>
            <a:prstDash val="solid"/>
          </a:ln>
        </p:spPr>
      </p:sp>
      <p:sp>
        <p:nvSpPr>
          <p:cNvPr id="71" name="Text 68"/>
          <p:cNvSpPr/>
          <p:nvPr/>
        </p:nvSpPr>
        <p:spPr>
          <a:xfrm>
            <a:off x="137160" y="4983480"/>
            <a:ext cx="8229600" cy="160020"/>
          </a:xfrm>
          <a:prstGeom prst="rect">
            <a:avLst/>
          </a:prstGeom>
          <a:noFill/>
          <a:ln/>
        </p:spPr>
        <p:txBody>
          <a:bodyPr wrap="square" lIns="0" tIns="0" rIns="0" bIns="0" rtlCol="0" anchor="ctr"/>
          <a:lstStyle/>
          <a:p>
            <a:pPr marL="0" indent="0">
              <a:buNone/>
            </a:pPr>
            <a:r>
              <a:rPr lang="en-US" sz="750" dirty="0">
                <a:solidFill>
                  <a:srgbClr val="6B8CAE"/>
                </a:solidFill>
              </a:rPr>
              <a:t>HotelRevAI  ·  Infosys Springboard Internship 6.0  ·  Batch 13 — Group 2, Team D</a:t>
            </a:r>
            <a:endParaRPr lang="en-US" sz="750" dirty="0"/>
          </a:p>
        </p:txBody>
      </p:sp>
      <p:sp>
        <p:nvSpPr>
          <p:cNvPr id="72" name="Text 69"/>
          <p:cNvSpPr/>
          <p:nvPr/>
        </p:nvSpPr>
        <p:spPr>
          <a:xfrm>
            <a:off x="8686800" y="4983480"/>
            <a:ext cx="411480" cy="160020"/>
          </a:xfrm>
          <a:prstGeom prst="rect">
            <a:avLst/>
          </a:prstGeom>
          <a:noFill/>
          <a:ln/>
        </p:spPr>
        <p:txBody>
          <a:bodyPr wrap="square" lIns="0" tIns="0" rIns="0" bIns="0" rtlCol="0" anchor="ctr"/>
          <a:lstStyle/>
          <a:p>
            <a:pPr marL="0" indent="0" algn="r">
              <a:buNone/>
            </a:pPr>
            <a:r>
              <a:rPr lang="en-US" sz="750" b="1" dirty="0">
                <a:solidFill>
                  <a:srgbClr val="F5C518"/>
                </a:solidFill>
              </a:rPr>
              <a:t>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A14"/>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0D2137"/>
            </a:solidFill>
            <a:prstDash val="solid"/>
          </a:ln>
        </p:spPr>
      </p:sp>
      <p:sp>
        <p:nvSpPr>
          <p:cNvPr id="3" name="Shape 1"/>
          <p:cNvSpPr/>
          <p:nvPr/>
        </p:nvSpPr>
        <p:spPr>
          <a:xfrm>
            <a:off x="914400" y="0"/>
            <a:ext cx="0" cy="5143500"/>
          </a:xfrm>
          <a:prstGeom prst="line">
            <a:avLst/>
          </a:prstGeom>
          <a:noFill/>
          <a:ln w="6350">
            <a:solidFill>
              <a:srgbClr val="0D2137"/>
            </a:solidFill>
            <a:prstDash val="solid"/>
          </a:ln>
        </p:spPr>
      </p:sp>
      <p:sp>
        <p:nvSpPr>
          <p:cNvPr id="4" name="Shape 2"/>
          <p:cNvSpPr/>
          <p:nvPr/>
        </p:nvSpPr>
        <p:spPr>
          <a:xfrm>
            <a:off x="1828800" y="0"/>
            <a:ext cx="0" cy="5143500"/>
          </a:xfrm>
          <a:prstGeom prst="line">
            <a:avLst/>
          </a:prstGeom>
          <a:noFill/>
          <a:ln w="6350">
            <a:solidFill>
              <a:srgbClr val="0D2137"/>
            </a:solidFill>
            <a:prstDash val="solid"/>
          </a:ln>
        </p:spPr>
      </p:sp>
      <p:sp>
        <p:nvSpPr>
          <p:cNvPr id="5" name="Shape 3"/>
          <p:cNvSpPr/>
          <p:nvPr/>
        </p:nvSpPr>
        <p:spPr>
          <a:xfrm>
            <a:off x="2743200" y="0"/>
            <a:ext cx="0" cy="5143500"/>
          </a:xfrm>
          <a:prstGeom prst="line">
            <a:avLst/>
          </a:prstGeom>
          <a:noFill/>
          <a:ln w="6350">
            <a:solidFill>
              <a:srgbClr val="0D2137"/>
            </a:solidFill>
            <a:prstDash val="solid"/>
          </a:ln>
        </p:spPr>
      </p:sp>
      <p:sp>
        <p:nvSpPr>
          <p:cNvPr id="6" name="Shape 4"/>
          <p:cNvSpPr/>
          <p:nvPr/>
        </p:nvSpPr>
        <p:spPr>
          <a:xfrm>
            <a:off x="3657600" y="0"/>
            <a:ext cx="0" cy="5143500"/>
          </a:xfrm>
          <a:prstGeom prst="line">
            <a:avLst/>
          </a:prstGeom>
          <a:noFill/>
          <a:ln w="6350">
            <a:solidFill>
              <a:srgbClr val="0D2137"/>
            </a:solidFill>
            <a:prstDash val="solid"/>
          </a:ln>
        </p:spPr>
      </p:sp>
      <p:sp>
        <p:nvSpPr>
          <p:cNvPr id="7" name="Shape 5"/>
          <p:cNvSpPr/>
          <p:nvPr/>
        </p:nvSpPr>
        <p:spPr>
          <a:xfrm>
            <a:off x="4572000" y="0"/>
            <a:ext cx="0" cy="5143500"/>
          </a:xfrm>
          <a:prstGeom prst="line">
            <a:avLst/>
          </a:prstGeom>
          <a:noFill/>
          <a:ln w="6350">
            <a:solidFill>
              <a:srgbClr val="0D2137"/>
            </a:solidFill>
            <a:prstDash val="solid"/>
          </a:ln>
        </p:spPr>
      </p:sp>
      <p:sp>
        <p:nvSpPr>
          <p:cNvPr id="8" name="Shape 6"/>
          <p:cNvSpPr/>
          <p:nvPr/>
        </p:nvSpPr>
        <p:spPr>
          <a:xfrm>
            <a:off x="5486400" y="0"/>
            <a:ext cx="0" cy="5143500"/>
          </a:xfrm>
          <a:prstGeom prst="line">
            <a:avLst/>
          </a:prstGeom>
          <a:noFill/>
          <a:ln w="6350">
            <a:solidFill>
              <a:srgbClr val="0D2137"/>
            </a:solidFill>
            <a:prstDash val="solid"/>
          </a:ln>
        </p:spPr>
      </p:sp>
      <p:sp>
        <p:nvSpPr>
          <p:cNvPr id="9" name="Shape 7"/>
          <p:cNvSpPr/>
          <p:nvPr/>
        </p:nvSpPr>
        <p:spPr>
          <a:xfrm>
            <a:off x="6400800" y="0"/>
            <a:ext cx="0" cy="5143500"/>
          </a:xfrm>
          <a:prstGeom prst="line">
            <a:avLst/>
          </a:prstGeom>
          <a:noFill/>
          <a:ln w="6350">
            <a:solidFill>
              <a:srgbClr val="0D2137"/>
            </a:solidFill>
            <a:prstDash val="solid"/>
          </a:ln>
        </p:spPr>
      </p:sp>
      <p:sp>
        <p:nvSpPr>
          <p:cNvPr id="10" name="Shape 8"/>
          <p:cNvSpPr/>
          <p:nvPr/>
        </p:nvSpPr>
        <p:spPr>
          <a:xfrm>
            <a:off x="7315200" y="0"/>
            <a:ext cx="0" cy="5143500"/>
          </a:xfrm>
          <a:prstGeom prst="line">
            <a:avLst/>
          </a:prstGeom>
          <a:noFill/>
          <a:ln w="6350">
            <a:solidFill>
              <a:srgbClr val="0D2137"/>
            </a:solidFill>
            <a:prstDash val="solid"/>
          </a:ln>
        </p:spPr>
      </p:sp>
      <p:sp>
        <p:nvSpPr>
          <p:cNvPr id="11" name="Shape 9"/>
          <p:cNvSpPr/>
          <p:nvPr/>
        </p:nvSpPr>
        <p:spPr>
          <a:xfrm>
            <a:off x="8229600" y="0"/>
            <a:ext cx="0" cy="5143500"/>
          </a:xfrm>
          <a:prstGeom prst="line">
            <a:avLst/>
          </a:prstGeom>
          <a:noFill/>
          <a:ln w="6350">
            <a:solidFill>
              <a:srgbClr val="0D2137"/>
            </a:solidFill>
            <a:prstDash val="solid"/>
          </a:ln>
        </p:spPr>
      </p:sp>
      <p:sp>
        <p:nvSpPr>
          <p:cNvPr id="12" name="Shape 10"/>
          <p:cNvSpPr/>
          <p:nvPr/>
        </p:nvSpPr>
        <p:spPr>
          <a:xfrm>
            <a:off x="9144000" y="0"/>
            <a:ext cx="0" cy="5143500"/>
          </a:xfrm>
          <a:prstGeom prst="line">
            <a:avLst/>
          </a:prstGeom>
          <a:noFill/>
          <a:ln w="6350">
            <a:solidFill>
              <a:srgbClr val="0D2137"/>
            </a:solidFill>
            <a:prstDash val="solid"/>
          </a:ln>
        </p:spPr>
      </p:sp>
      <p:sp>
        <p:nvSpPr>
          <p:cNvPr id="13" name="Shape 11"/>
          <p:cNvSpPr/>
          <p:nvPr/>
        </p:nvSpPr>
        <p:spPr>
          <a:xfrm>
            <a:off x="0" y="0"/>
            <a:ext cx="9144000" cy="0"/>
          </a:xfrm>
          <a:prstGeom prst="line">
            <a:avLst/>
          </a:prstGeom>
          <a:noFill/>
          <a:ln w="6350">
            <a:solidFill>
              <a:srgbClr val="0D2137"/>
            </a:solidFill>
            <a:prstDash val="solid"/>
          </a:ln>
        </p:spPr>
      </p:sp>
      <p:sp>
        <p:nvSpPr>
          <p:cNvPr id="14" name="Shape 12"/>
          <p:cNvSpPr/>
          <p:nvPr/>
        </p:nvSpPr>
        <p:spPr>
          <a:xfrm>
            <a:off x="0" y="859536"/>
            <a:ext cx="9144000" cy="0"/>
          </a:xfrm>
          <a:prstGeom prst="line">
            <a:avLst/>
          </a:prstGeom>
          <a:noFill/>
          <a:ln w="6350">
            <a:solidFill>
              <a:srgbClr val="0D2137"/>
            </a:solidFill>
            <a:prstDash val="solid"/>
          </a:ln>
        </p:spPr>
      </p:sp>
      <p:sp>
        <p:nvSpPr>
          <p:cNvPr id="15" name="Shape 13"/>
          <p:cNvSpPr/>
          <p:nvPr/>
        </p:nvSpPr>
        <p:spPr>
          <a:xfrm>
            <a:off x="0" y="1719072"/>
            <a:ext cx="9144000" cy="0"/>
          </a:xfrm>
          <a:prstGeom prst="line">
            <a:avLst/>
          </a:prstGeom>
          <a:noFill/>
          <a:ln w="6350">
            <a:solidFill>
              <a:srgbClr val="0D2137"/>
            </a:solidFill>
            <a:prstDash val="solid"/>
          </a:ln>
        </p:spPr>
      </p:sp>
      <p:sp>
        <p:nvSpPr>
          <p:cNvPr id="16" name="Shape 14"/>
          <p:cNvSpPr/>
          <p:nvPr/>
        </p:nvSpPr>
        <p:spPr>
          <a:xfrm>
            <a:off x="0" y="2578608"/>
            <a:ext cx="9144000" cy="0"/>
          </a:xfrm>
          <a:prstGeom prst="line">
            <a:avLst/>
          </a:prstGeom>
          <a:noFill/>
          <a:ln w="6350">
            <a:solidFill>
              <a:srgbClr val="0D2137"/>
            </a:solidFill>
            <a:prstDash val="solid"/>
          </a:ln>
        </p:spPr>
      </p:sp>
      <p:sp>
        <p:nvSpPr>
          <p:cNvPr id="17" name="Shape 15"/>
          <p:cNvSpPr/>
          <p:nvPr/>
        </p:nvSpPr>
        <p:spPr>
          <a:xfrm>
            <a:off x="0" y="3438144"/>
            <a:ext cx="9144000" cy="0"/>
          </a:xfrm>
          <a:prstGeom prst="line">
            <a:avLst/>
          </a:prstGeom>
          <a:noFill/>
          <a:ln w="6350">
            <a:solidFill>
              <a:srgbClr val="0D2137"/>
            </a:solidFill>
            <a:prstDash val="solid"/>
          </a:ln>
        </p:spPr>
      </p:sp>
      <p:sp>
        <p:nvSpPr>
          <p:cNvPr id="18" name="Shape 16"/>
          <p:cNvSpPr/>
          <p:nvPr/>
        </p:nvSpPr>
        <p:spPr>
          <a:xfrm>
            <a:off x="0" y="4297680"/>
            <a:ext cx="9144000" cy="0"/>
          </a:xfrm>
          <a:prstGeom prst="line">
            <a:avLst/>
          </a:prstGeom>
          <a:noFill/>
          <a:ln w="6350">
            <a:solidFill>
              <a:srgbClr val="0D2137"/>
            </a:solidFill>
            <a:prstDash val="solid"/>
          </a:ln>
        </p:spPr>
      </p:sp>
      <p:sp>
        <p:nvSpPr>
          <p:cNvPr id="19" name="Shape 17"/>
          <p:cNvSpPr/>
          <p:nvPr/>
        </p:nvSpPr>
        <p:spPr>
          <a:xfrm>
            <a:off x="0" y="5157216"/>
            <a:ext cx="9144000" cy="0"/>
          </a:xfrm>
          <a:prstGeom prst="line">
            <a:avLst/>
          </a:prstGeom>
          <a:noFill/>
          <a:ln w="6350">
            <a:solidFill>
              <a:srgbClr val="0D2137"/>
            </a:solidFill>
            <a:prstDash val="solid"/>
          </a:ln>
        </p:spPr>
      </p:sp>
      <p:sp>
        <p:nvSpPr>
          <p:cNvPr id="20" name="Shape 18"/>
          <p:cNvSpPr/>
          <p:nvPr/>
        </p:nvSpPr>
        <p:spPr>
          <a:xfrm>
            <a:off x="7406640" y="3291840"/>
            <a:ext cx="2560320" cy="2560320"/>
          </a:xfrm>
          <a:prstGeom prst="ellipse">
            <a:avLst/>
          </a:prstGeom>
          <a:solidFill>
            <a:srgbClr val="00B4FF">
              <a:alpha val="10000"/>
            </a:srgbClr>
          </a:solidFill>
          <a:ln w="12700">
            <a:solidFill>
              <a:srgbClr val="00B4FF">
                <a:alpha val="5000"/>
              </a:srgbClr>
            </a:solidFill>
            <a:prstDash val="solid"/>
          </a:ln>
        </p:spPr>
      </p:sp>
      <p:sp>
        <p:nvSpPr>
          <p:cNvPr id="21" name="Shape 19"/>
          <p:cNvSpPr/>
          <p:nvPr/>
        </p:nvSpPr>
        <p:spPr>
          <a:xfrm>
            <a:off x="8046720" y="3931920"/>
            <a:ext cx="1280160" cy="1280160"/>
          </a:xfrm>
          <a:prstGeom prst="ellipse">
            <a:avLst/>
          </a:prstGeom>
          <a:solidFill>
            <a:srgbClr val="00B4FF">
              <a:alpha val="2000"/>
            </a:srgbClr>
          </a:solidFill>
          <a:ln w="12700">
            <a:solidFill>
              <a:srgbClr val="00B4FF">
                <a:alpha val="0"/>
              </a:srgbClr>
            </a:solidFill>
            <a:prstDash val="solid"/>
          </a:ln>
        </p:spPr>
      </p:sp>
      <p:sp>
        <p:nvSpPr>
          <p:cNvPr id="22" name="Shape 20"/>
          <p:cNvSpPr/>
          <p:nvPr/>
        </p:nvSpPr>
        <p:spPr>
          <a:xfrm>
            <a:off x="0" y="0"/>
            <a:ext cx="9144000" cy="50292"/>
          </a:xfrm>
          <a:prstGeom prst="rect">
            <a:avLst/>
          </a:prstGeom>
          <a:solidFill>
            <a:srgbClr val="F5C518"/>
          </a:solidFill>
          <a:ln w="12700">
            <a:solidFill>
              <a:srgbClr val="F5C518"/>
            </a:solidFill>
            <a:prstDash val="solid"/>
          </a:ln>
        </p:spPr>
      </p:sp>
      <p:sp>
        <p:nvSpPr>
          <p:cNvPr id="23" name="Shape 21"/>
          <p:cNvSpPr/>
          <p:nvPr/>
        </p:nvSpPr>
        <p:spPr>
          <a:xfrm>
            <a:off x="320040" y="182880"/>
            <a:ext cx="1737360" cy="246888"/>
          </a:xfrm>
          <a:prstGeom prst="rect">
            <a:avLst/>
          </a:prstGeom>
          <a:solidFill>
            <a:srgbClr val="003E7A"/>
          </a:solidFill>
          <a:ln w="12700">
            <a:solidFill>
              <a:srgbClr val="00B4FF"/>
            </a:solidFill>
            <a:prstDash val="solid"/>
          </a:ln>
        </p:spPr>
      </p:sp>
      <p:sp>
        <p:nvSpPr>
          <p:cNvPr id="24" name="Text 22"/>
          <p:cNvSpPr/>
          <p:nvPr/>
        </p:nvSpPr>
        <p:spPr>
          <a:xfrm>
            <a:off x="320040" y="182880"/>
            <a:ext cx="1737360" cy="246888"/>
          </a:xfrm>
          <a:prstGeom prst="rect">
            <a:avLst/>
          </a:prstGeom>
          <a:noFill/>
          <a:ln/>
        </p:spPr>
        <p:txBody>
          <a:bodyPr wrap="square" lIns="0" tIns="0" rIns="0" bIns="0" rtlCol="0" anchor="ctr"/>
          <a:lstStyle/>
          <a:p>
            <a:pPr marL="0" indent="0" algn="ctr">
              <a:buNone/>
            </a:pPr>
            <a:r>
              <a:rPr lang="en-US" sz="700" b="1" kern="0" spc="200" dirty="0">
                <a:solidFill>
                  <a:srgbClr val="00B4FF"/>
                </a:solidFill>
              </a:rPr>
              <a:t>DASHBOARD 3</a:t>
            </a:r>
            <a:endParaRPr lang="en-US" sz="700" dirty="0"/>
          </a:p>
        </p:txBody>
      </p:sp>
      <p:sp>
        <p:nvSpPr>
          <p:cNvPr id="25" name="Text 23"/>
          <p:cNvSpPr/>
          <p:nvPr/>
        </p:nvSpPr>
        <p:spPr>
          <a:xfrm>
            <a:off x="320040" y="521208"/>
            <a:ext cx="8503920" cy="512064"/>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Guest Analysis &amp; Segmentation</a:t>
            </a:r>
            <a:endParaRPr lang="en-US" sz="2800" dirty="0"/>
          </a:p>
        </p:txBody>
      </p:sp>
      <p:sp>
        <p:nvSpPr>
          <p:cNvPr id="26" name="Shape 24"/>
          <p:cNvSpPr/>
          <p:nvPr/>
        </p:nvSpPr>
        <p:spPr>
          <a:xfrm>
            <a:off x="320040" y="1078992"/>
            <a:ext cx="1097280" cy="36576"/>
          </a:xfrm>
          <a:prstGeom prst="rect">
            <a:avLst/>
          </a:prstGeom>
          <a:solidFill>
            <a:srgbClr val="F5C518"/>
          </a:solidFill>
          <a:ln w="12700">
            <a:solidFill>
              <a:srgbClr val="F5C518"/>
            </a:solidFill>
            <a:prstDash val="solid"/>
          </a:ln>
        </p:spPr>
      </p:sp>
      <p:sp>
        <p:nvSpPr>
          <p:cNvPr id="27" name="Shape 25"/>
          <p:cNvSpPr/>
          <p:nvPr/>
        </p:nvSpPr>
        <p:spPr>
          <a:xfrm>
            <a:off x="1463040" y="1078992"/>
            <a:ext cx="7360920" cy="36576"/>
          </a:xfrm>
          <a:prstGeom prst="rect">
            <a:avLst/>
          </a:prstGeom>
          <a:solidFill>
            <a:srgbClr val="1A2E45"/>
          </a:solidFill>
          <a:ln w="12700">
            <a:solidFill>
              <a:srgbClr val="1A2E45"/>
            </a:solidFill>
            <a:prstDash val="solid"/>
          </a:ln>
        </p:spPr>
      </p:sp>
      <p:sp>
        <p:nvSpPr>
          <p:cNvPr id="28" name="Shape 26"/>
          <p:cNvSpPr/>
          <p:nvPr/>
        </p:nvSpPr>
        <p:spPr>
          <a:xfrm>
            <a:off x="356616" y="1243584"/>
            <a:ext cx="5440680" cy="3520440"/>
          </a:xfrm>
          <a:prstGeom prst="rect">
            <a:avLst/>
          </a:prstGeom>
          <a:solidFill>
            <a:srgbClr val="000000">
              <a:alpha val="28000"/>
            </a:srgbClr>
          </a:solidFill>
          <a:ln w="12700">
            <a:solidFill>
              <a:srgbClr val="000000">
                <a:alpha val="0"/>
              </a:srgbClr>
            </a:solidFill>
            <a:prstDash val="solid"/>
          </a:ln>
        </p:spPr>
      </p:sp>
      <p:sp>
        <p:nvSpPr>
          <p:cNvPr id="29" name="Shape 27"/>
          <p:cNvSpPr/>
          <p:nvPr/>
        </p:nvSpPr>
        <p:spPr>
          <a:xfrm>
            <a:off x="320040" y="1207008"/>
            <a:ext cx="5440680" cy="3520440"/>
          </a:xfrm>
          <a:prstGeom prst="rect">
            <a:avLst/>
          </a:prstGeom>
          <a:solidFill>
            <a:srgbClr val="0A1628">
              <a:alpha val="82000"/>
            </a:srgbClr>
          </a:solidFill>
          <a:ln w="12700">
            <a:solidFill>
              <a:srgbClr val="1E3A5F"/>
            </a:solidFill>
            <a:prstDash val="solid"/>
          </a:ln>
        </p:spPr>
      </p:sp>
      <p:sp>
        <p:nvSpPr>
          <p:cNvPr id="30" name="Shape 28"/>
          <p:cNvSpPr/>
          <p:nvPr/>
        </p:nvSpPr>
        <p:spPr>
          <a:xfrm>
            <a:off x="320040" y="1207008"/>
            <a:ext cx="5440680" cy="27432"/>
          </a:xfrm>
          <a:prstGeom prst="rect">
            <a:avLst/>
          </a:prstGeom>
          <a:solidFill>
            <a:srgbClr val="FFFFFF">
              <a:alpha val="26000"/>
            </a:srgbClr>
          </a:solidFill>
          <a:ln w="12700">
            <a:solidFill>
              <a:srgbClr val="FFFFFF">
                <a:alpha val="0"/>
              </a:srgbClr>
            </a:solidFill>
            <a:prstDash val="solid"/>
          </a:ln>
        </p:spPr>
      </p:sp>
      <p:sp>
        <p:nvSpPr>
          <p:cNvPr id="31" name="Shape 29"/>
          <p:cNvSpPr/>
          <p:nvPr/>
        </p:nvSpPr>
        <p:spPr>
          <a:xfrm>
            <a:off x="320040" y="1207008"/>
            <a:ext cx="27432" cy="3520440"/>
          </a:xfrm>
          <a:prstGeom prst="rect">
            <a:avLst/>
          </a:prstGeom>
          <a:solidFill>
            <a:srgbClr val="FFFFFF">
              <a:alpha val="18000"/>
            </a:srgbClr>
          </a:solidFill>
          <a:ln w="12700">
            <a:solidFill>
              <a:srgbClr val="FFFFFF">
                <a:alpha val="0"/>
              </a:srgbClr>
            </a:solidFill>
            <a:prstDash val="solid"/>
          </a:ln>
        </p:spPr>
      </p:sp>
      <p:sp>
        <p:nvSpPr>
          <p:cNvPr id="32" name="Shape 30"/>
          <p:cNvSpPr/>
          <p:nvPr/>
        </p:nvSpPr>
        <p:spPr>
          <a:xfrm>
            <a:off x="320040" y="1207008"/>
            <a:ext cx="5440680" cy="50292"/>
          </a:xfrm>
          <a:prstGeom prst="rect">
            <a:avLst/>
          </a:prstGeom>
          <a:solidFill>
            <a:srgbClr val="00B4FF"/>
          </a:solidFill>
          <a:ln w="12700">
            <a:solidFill>
              <a:srgbClr val="00B4FF"/>
            </a:solidFill>
            <a:prstDash val="solid"/>
          </a:ln>
        </p:spPr>
      </p:sp>
      <p:pic>
        <p:nvPicPr>
          <p:cNvPr id="33" name="Image 0" descr="/mnt/user-data/uploads/1774436447567_image.png"/>
          <p:cNvPicPr>
            <a:picLocks noChangeAspect="1"/>
          </p:cNvPicPr>
          <p:nvPr/>
        </p:nvPicPr>
        <p:blipFill>
          <a:blip r:embed="rId3"/>
          <a:srcRect/>
          <a:stretch/>
        </p:blipFill>
        <p:spPr>
          <a:xfrm>
            <a:off x="347472" y="1261872"/>
            <a:ext cx="5385816" cy="3410712"/>
          </a:xfrm>
          <a:prstGeom prst="rect">
            <a:avLst/>
          </a:prstGeom>
        </p:spPr>
      </p:pic>
      <p:sp>
        <p:nvSpPr>
          <p:cNvPr id="34" name="Shape 31"/>
          <p:cNvSpPr/>
          <p:nvPr/>
        </p:nvSpPr>
        <p:spPr>
          <a:xfrm>
            <a:off x="5980176" y="1243584"/>
            <a:ext cx="2880360" cy="612648"/>
          </a:xfrm>
          <a:prstGeom prst="rect">
            <a:avLst/>
          </a:prstGeom>
          <a:solidFill>
            <a:srgbClr val="000000">
              <a:alpha val="28000"/>
            </a:srgbClr>
          </a:solidFill>
          <a:ln w="12700">
            <a:solidFill>
              <a:srgbClr val="000000">
                <a:alpha val="0"/>
              </a:srgbClr>
            </a:solidFill>
            <a:prstDash val="solid"/>
          </a:ln>
        </p:spPr>
      </p:sp>
      <p:sp>
        <p:nvSpPr>
          <p:cNvPr id="35" name="Shape 32"/>
          <p:cNvSpPr/>
          <p:nvPr/>
        </p:nvSpPr>
        <p:spPr>
          <a:xfrm>
            <a:off x="5943600" y="1207008"/>
            <a:ext cx="2880360" cy="612648"/>
          </a:xfrm>
          <a:prstGeom prst="rect">
            <a:avLst/>
          </a:prstGeom>
          <a:solidFill>
            <a:srgbClr val="0A1628">
              <a:alpha val="82000"/>
            </a:srgbClr>
          </a:solidFill>
          <a:ln w="12700">
            <a:solidFill>
              <a:srgbClr val="1E3A5F"/>
            </a:solidFill>
            <a:prstDash val="solid"/>
          </a:ln>
        </p:spPr>
      </p:sp>
      <p:sp>
        <p:nvSpPr>
          <p:cNvPr id="36" name="Shape 33"/>
          <p:cNvSpPr/>
          <p:nvPr/>
        </p:nvSpPr>
        <p:spPr>
          <a:xfrm>
            <a:off x="5943600" y="1207008"/>
            <a:ext cx="2880360" cy="27432"/>
          </a:xfrm>
          <a:prstGeom prst="rect">
            <a:avLst/>
          </a:prstGeom>
          <a:solidFill>
            <a:srgbClr val="FFFFFF">
              <a:alpha val="26000"/>
            </a:srgbClr>
          </a:solidFill>
          <a:ln w="12700">
            <a:solidFill>
              <a:srgbClr val="FFFFFF">
                <a:alpha val="0"/>
              </a:srgbClr>
            </a:solidFill>
            <a:prstDash val="solid"/>
          </a:ln>
        </p:spPr>
      </p:sp>
      <p:sp>
        <p:nvSpPr>
          <p:cNvPr id="37" name="Shape 34"/>
          <p:cNvSpPr/>
          <p:nvPr/>
        </p:nvSpPr>
        <p:spPr>
          <a:xfrm>
            <a:off x="5943600" y="1207008"/>
            <a:ext cx="27432" cy="612648"/>
          </a:xfrm>
          <a:prstGeom prst="rect">
            <a:avLst/>
          </a:prstGeom>
          <a:solidFill>
            <a:srgbClr val="FFFFFF">
              <a:alpha val="18000"/>
            </a:srgbClr>
          </a:solidFill>
          <a:ln w="12700">
            <a:solidFill>
              <a:srgbClr val="FFFFFF">
                <a:alpha val="0"/>
              </a:srgbClr>
            </a:solidFill>
            <a:prstDash val="solid"/>
          </a:ln>
        </p:spPr>
      </p:sp>
      <p:sp>
        <p:nvSpPr>
          <p:cNvPr id="38" name="Shape 35"/>
          <p:cNvSpPr/>
          <p:nvPr/>
        </p:nvSpPr>
        <p:spPr>
          <a:xfrm>
            <a:off x="5943600" y="1207008"/>
            <a:ext cx="2880360" cy="50292"/>
          </a:xfrm>
          <a:prstGeom prst="rect">
            <a:avLst/>
          </a:prstGeom>
          <a:solidFill>
            <a:srgbClr val="F5C518"/>
          </a:solidFill>
          <a:ln w="12700">
            <a:solidFill>
              <a:srgbClr val="F5C518"/>
            </a:solidFill>
            <a:prstDash val="solid"/>
          </a:ln>
        </p:spPr>
      </p:sp>
      <p:sp>
        <p:nvSpPr>
          <p:cNvPr id="39" name="Text 36"/>
          <p:cNvSpPr/>
          <p:nvPr/>
        </p:nvSpPr>
        <p:spPr>
          <a:xfrm>
            <a:off x="5943600" y="1316736"/>
            <a:ext cx="2880360" cy="318577"/>
          </a:xfrm>
          <a:prstGeom prst="rect">
            <a:avLst/>
          </a:prstGeom>
          <a:noFill/>
          <a:ln/>
        </p:spPr>
        <p:txBody>
          <a:bodyPr wrap="square" lIns="0" tIns="0" rIns="0" bIns="0" rtlCol="0" anchor="b"/>
          <a:lstStyle/>
          <a:p>
            <a:pPr marL="0" indent="0" algn="ctr">
              <a:buNone/>
            </a:pPr>
            <a:r>
              <a:rPr lang="en-US" sz="1800" b="1" dirty="0">
                <a:solidFill>
                  <a:srgbClr val="F5C518"/>
                </a:solidFill>
              </a:rPr>
              <a:t>119.39K</a:t>
            </a:r>
            <a:endParaRPr lang="en-US" sz="1800" dirty="0"/>
          </a:p>
        </p:txBody>
      </p:sp>
      <p:sp>
        <p:nvSpPr>
          <p:cNvPr id="40" name="Text 37"/>
          <p:cNvSpPr/>
          <p:nvPr/>
        </p:nvSpPr>
        <p:spPr>
          <a:xfrm>
            <a:off x="5943600" y="1592976"/>
            <a:ext cx="2880360" cy="214427"/>
          </a:xfrm>
          <a:prstGeom prst="rect">
            <a:avLst/>
          </a:prstGeom>
          <a:noFill/>
          <a:ln/>
        </p:spPr>
        <p:txBody>
          <a:bodyPr wrap="square" lIns="0" tIns="0" rIns="0" bIns="0" rtlCol="0" anchor="t"/>
          <a:lstStyle/>
          <a:p>
            <a:pPr marL="0" indent="0" algn="ctr">
              <a:buNone/>
            </a:pPr>
            <a:r>
              <a:rPr lang="en-US" sz="800" dirty="0">
                <a:solidFill>
                  <a:srgbClr val="D4E6F1"/>
                </a:solidFill>
              </a:rPr>
              <a:t>Total Guests</a:t>
            </a:r>
            <a:endParaRPr lang="en-US" sz="800" dirty="0"/>
          </a:p>
        </p:txBody>
      </p:sp>
      <p:sp>
        <p:nvSpPr>
          <p:cNvPr id="41" name="Shape 38"/>
          <p:cNvSpPr/>
          <p:nvPr/>
        </p:nvSpPr>
        <p:spPr>
          <a:xfrm>
            <a:off x="5980176" y="1956816"/>
            <a:ext cx="2880360" cy="612648"/>
          </a:xfrm>
          <a:prstGeom prst="rect">
            <a:avLst/>
          </a:prstGeom>
          <a:solidFill>
            <a:srgbClr val="000000">
              <a:alpha val="28000"/>
            </a:srgbClr>
          </a:solidFill>
          <a:ln w="12700">
            <a:solidFill>
              <a:srgbClr val="000000">
                <a:alpha val="0"/>
              </a:srgbClr>
            </a:solidFill>
            <a:prstDash val="solid"/>
          </a:ln>
        </p:spPr>
      </p:sp>
      <p:sp>
        <p:nvSpPr>
          <p:cNvPr id="42" name="Shape 39"/>
          <p:cNvSpPr/>
          <p:nvPr/>
        </p:nvSpPr>
        <p:spPr>
          <a:xfrm>
            <a:off x="5943600" y="1920240"/>
            <a:ext cx="2880360" cy="612648"/>
          </a:xfrm>
          <a:prstGeom prst="rect">
            <a:avLst/>
          </a:prstGeom>
          <a:solidFill>
            <a:srgbClr val="0A1628">
              <a:alpha val="82000"/>
            </a:srgbClr>
          </a:solidFill>
          <a:ln w="12700">
            <a:solidFill>
              <a:srgbClr val="1E3A5F"/>
            </a:solidFill>
            <a:prstDash val="solid"/>
          </a:ln>
        </p:spPr>
      </p:sp>
      <p:sp>
        <p:nvSpPr>
          <p:cNvPr id="43" name="Shape 40"/>
          <p:cNvSpPr/>
          <p:nvPr/>
        </p:nvSpPr>
        <p:spPr>
          <a:xfrm>
            <a:off x="5943600" y="1920240"/>
            <a:ext cx="2880360" cy="27432"/>
          </a:xfrm>
          <a:prstGeom prst="rect">
            <a:avLst/>
          </a:prstGeom>
          <a:solidFill>
            <a:srgbClr val="FFFFFF">
              <a:alpha val="26000"/>
            </a:srgbClr>
          </a:solidFill>
          <a:ln w="12700">
            <a:solidFill>
              <a:srgbClr val="FFFFFF">
                <a:alpha val="0"/>
              </a:srgbClr>
            </a:solidFill>
            <a:prstDash val="solid"/>
          </a:ln>
        </p:spPr>
      </p:sp>
      <p:sp>
        <p:nvSpPr>
          <p:cNvPr id="44" name="Shape 41"/>
          <p:cNvSpPr/>
          <p:nvPr/>
        </p:nvSpPr>
        <p:spPr>
          <a:xfrm>
            <a:off x="5943600" y="1920240"/>
            <a:ext cx="27432" cy="612648"/>
          </a:xfrm>
          <a:prstGeom prst="rect">
            <a:avLst/>
          </a:prstGeom>
          <a:solidFill>
            <a:srgbClr val="FFFFFF">
              <a:alpha val="18000"/>
            </a:srgbClr>
          </a:solidFill>
          <a:ln w="12700">
            <a:solidFill>
              <a:srgbClr val="FFFFFF">
                <a:alpha val="0"/>
              </a:srgbClr>
            </a:solidFill>
            <a:prstDash val="solid"/>
          </a:ln>
        </p:spPr>
      </p:sp>
      <p:sp>
        <p:nvSpPr>
          <p:cNvPr id="45" name="Shape 42"/>
          <p:cNvSpPr/>
          <p:nvPr/>
        </p:nvSpPr>
        <p:spPr>
          <a:xfrm>
            <a:off x="5943600" y="1920240"/>
            <a:ext cx="2880360" cy="50292"/>
          </a:xfrm>
          <a:prstGeom prst="rect">
            <a:avLst/>
          </a:prstGeom>
          <a:solidFill>
            <a:srgbClr val="00B4FF"/>
          </a:solidFill>
          <a:ln w="12700">
            <a:solidFill>
              <a:srgbClr val="00B4FF"/>
            </a:solidFill>
            <a:prstDash val="solid"/>
          </a:ln>
        </p:spPr>
      </p:sp>
      <p:sp>
        <p:nvSpPr>
          <p:cNvPr id="46" name="Text 43"/>
          <p:cNvSpPr/>
          <p:nvPr/>
        </p:nvSpPr>
        <p:spPr>
          <a:xfrm>
            <a:off x="5943600" y="2029968"/>
            <a:ext cx="2880360" cy="318577"/>
          </a:xfrm>
          <a:prstGeom prst="rect">
            <a:avLst/>
          </a:prstGeom>
          <a:noFill/>
          <a:ln/>
        </p:spPr>
        <p:txBody>
          <a:bodyPr wrap="square" lIns="0" tIns="0" rIns="0" bIns="0" rtlCol="0" anchor="b"/>
          <a:lstStyle/>
          <a:p>
            <a:pPr marL="0" indent="0" algn="ctr">
              <a:buNone/>
            </a:pPr>
            <a:r>
              <a:rPr lang="en-US" sz="1800" b="1" dirty="0">
                <a:solidFill>
                  <a:srgbClr val="00B4FF"/>
                </a:solidFill>
              </a:rPr>
              <a:t>57.14%</a:t>
            </a:r>
            <a:endParaRPr lang="en-US" sz="1800" dirty="0"/>
          </a:p>
        </p:txBody>
      </p:sp>
      <p:sp>
        <p:nvSpPr>
          <p:cNvPr id="47" name="Text 44"/>
          <p:cNvSpPr/>
          <p:nvPr/>
        </p:nvSpPr>
        <p:spPr>
          <a:xfrm>
            <a:off x="5943600" y="2306208"/>
            <a:ext cx="2880360" cy="214427"/>
          </a:xfrm>
          <a:prstGeom prst="rect">
            <a:avLst/>
          </a:prstGeom>
          <a:noFill/>
          <a:ln/>
        </p:spPr>
        <p:txBody>
          <a:bodyPr wrap="square" lIns="0" tIns="0" rIns="0" bIns="0" rtlCol="0" anchor="t"/>
          <a:lstStyle/>
          <a:p>
            <a:pPr marL="0" indent="0" algn="ctr">
              <a:buNone/>
            </a:pPr>
            <a:r>
              <a:rPr lang="en-US" sz="800" dirty="0">
                <a:solidFill>
                  <a:srgbClr val="D4E6F1"/>
                </a:solidFill>
              </a:rPr>
              <a:t>Avg Special Requests</a:t>
            </a:r>
            <a:endParaRPr lang="en-US" sz="800" dirty="0"/>
          </a:p>
        </p:txBody>
      </p:sp>
      <p:sp>
        <p:nvSpPr>
          <p:cNvPr id="48" name="Shape 45"/>
          <p:cNvSpPr/>
          <p:nvPr/>
        </p:nvSpPr>
        <p:spPr>
          <a:xfrm>
            <a:off x="5980176" y="2670048"/>
            <a:ext cx="2880360" cy="612648"/>
          </a:xfrm>
          <a:prstGeom prst="rect">
            <a:avLst/>
          </a:prstGeom>
          <a:solidFill>
            <a:srgbClr val="000000">
              <a:alpha val="28000"/>
            </a:srgbClr>
          </a:solidFill>
          <a:ln w="12700">
            <a:solidFill>
              <a:srgbClr val="000000">
                <a:alpha val="0"/>
              </a:srgbClr>
            </a:solidFill>
            <a:prstDash val="solid"/>
          </a:ln>
        </p:spPr>
      </p:sp>
      <p:sp>
        <p:nvSpPr>
          <p:cNvPr id="49" name="Shape 46"/>
          <p:cNvSpPr/>
          <p:nvPr/>
        </p:nvSpPr>
        <p:spPr>
          <a:xfrm>
            <a:off x="5943600" y="2633472"/>
            <a:ext cx="2880360" cy="612648"/>
          </a:xfrm>
          <a:prstGeom prst="rect">
            <a:avLst/>
          </a:prstGeom>
          <a:solidFill>
            <a:srgbClr val="0A1628">
              <a:alpha val="82000"/>
            </a:srgbClr>
          </a:solidFill>
          <a:ln w="12700">
            <a:solidFill>
              <a:srgbClr val="1E3A5F"/>
            </a:solidFill>
            <a:prstDash val="solid"/>
          </a:ln>
        </p:spPr>
      </p:sp>
      <p:sp>
        <p:nvSpPr>
          <p:cNvPr id="50" name="Shape 47"/>
          <p:cNvSpPr/>
          <p:nvPr/>
        </p:nvSpPr>
        <p:spPr>
          <a:xfrm>
            <a:off x="5943600" y="2633472"/>
            <a:ext cx="2880360" cy="27432"/>
          </a:xfrm>
          <a:prstGeom prst="rect">
            <a:avLst/>
          </a:prstGeom>
          <a:solidFill>
            <a:srgbClr val="FFFFFF">
              <a:alpha val="26000"/>
            </a:srgbClr>
          </a:solidFill>
          <a:ln w="12700">
            <a:solidFill>
              <a:srgbClr val="FFFFFF">
                <a:alpha val="0"/>
              </a:srgbClr>
            </a:solidFill>
            <a:prstDash val="solid"/>
          </a:ln>
        </p:spPr>
      </p:sp>
      <p:sp>
        <p:nvSpPr>
          <p:cNvPr id="51" name="Shape 48"/>
          <p:cNvSpPr/>
          <p:nvPr/>
        </p:nvSpPr>
        <p:spPr>
          <a:xfrm>
            <a:off x="5943600" y="2633472"/>
            <a:ext cx="27432" cy="612648"/>
          </a:xfrm>
          <a:prstGeom prst="rect">
            <a:avLst/>
          </a:prstGeom>
          <a:solidFill>
            <a:srgbClr val="FFFFFF">
              <a:alpha val="18000"/>
            </a:srgbClr>
          </a:solidFill>
          <a:ln w="12700">
            <a:solidFill>
              <a:srgbClr val="FFFFFF">
                <a:alpha val="0"/>
              </a:srgbClr>
            </a:solidFill>
            <a:prstDash val="solid"/>
          </a:ln>
        </p:spPr>
      </p:sp>
      <p:sp>
        <p:nvSpPr>
          <p:cNvPr id="52" name="Shape 49"/>
          <p:cNvSpPr/>
          <p:nvPr/>
        </p:nvSpPr>
        <p:spPr>
          <a:xfrm>
            <a:off x="5943600" y="2633472"/>
            <a:ext cx="2880360" cy="50292"/>
          </a:xfrm>
          <a:prstGeom prst="rect">
            <a:avLst/>
          </a:prstGeom>
          <a:solidFill>
            <a:srgbClr val="00B4FF"/>
          </a:solidFill>
          <a:ln w="12700">
            <a:solidFill>
              <a:srgbClr val="00B4FF"/>
            </a:solidFill>
            <a:prstDash val="solid"/>
          </a:ln>
        </p:spPr>
      </p:sp>
      <p:sp>
        <p:nvSpPr>
          <p:cNvPr id="53" name="Text 50"/>
          <p:cNvSpPr/>
          <p:nvPr/>
        </p:nvSpPr>
        <p:spPr>
          <a:xfrm>
            <a:off x="5943600" y="2743200"/>
            <a:ext cx="2880360" cy="318577"/>
          </a:xfrm>
          <a:prstGeom prst="rect">
            <a:avLst/>
          </a:prstGeom>
          <a:noFill/>
          <a:ln/>
        </p:spPr>
        <p:txBody>
          <a:bodyPr wrap="square" lIns="0" tIns="0" rIns="0" bIns="0" rtlCol="0" anchor="b"/>
          <a:lstStyle/>
          <a:p>
            <a:pPr marL="0" indent="0" algn="ctr">
              <a:buNone/>
            </a:pPr>
            <a:r>
              <a:rPr lang="en-US" sz="1800" b="1" dirty="0">
                <a:solidFill>
                  <a:srgbClr val="00B4FF"/>
                </a:solidFill>
              </a:rPr>
              <a:t>104 days</a:t>
            </a:r>
            <a:endParaRPr lang="en-US" sz="1800" dirty="0"/>
          </a:p>
        </p:txBody>
      </p:sp>
      <p:sp>
        <p:nvSpPr>
          <p:cNvPr id="54" name="Text 51"/>
          <p:cNvSpPr/>
          <p:nvPr/>
        </p:nvSpPr>
        <p:spPr>
          <a:xfrm>
            <a:off x="5943600" y="3019440"/>
            <a:ext cx="2880360" cy="214427"/>
          </a:xfrm>
          <a:prstGeom prst="rect">
            <a:avLst/>
          </a:prstGeom>
          <a:noFill/>
          <a:ln/>
        </p:spPr>
        <p:txBody>
          <a:bodyPr wrap="square" lIns="0" tIns="0" rIns="0" bIns="0" rtlCol="0" anchor="t"/>
          <a:lstStyle/>
          <a:p>
            <a:pPr marL="0" indent="0" algn="ctr">
              <a:buNone/>
            </a:pPr>
            <a:r>
              <a:rPr lang="en-US" sz="800" dirty="0">
                <a:solidFill>
                  <a:srgbClr val="D4E6F1"/>
                </a:solidFill>
              </a:rPr>
              <a:t>Avg Lead Time</a:t>
            </a:r>
            <a:endParaRPr lang="en-US" sz="800" dirty="0"/>
          </a:p>
        </p:txBody>
      </p:sp>
      <p:sp>
        <p:nvSpPr>
          <p:cNvPr id="55" name="Shape 52"/>
          <p:cNvSpPr/>
          <p:nvPr/>
        </p:nvSpPr>
        <p:spPr>
          <a:xfrm>
            <a:off x="5980176" y="3383280"/>
            <a:ext cx="2880360" cy="612648"/>
          </a:xfrm>
          <a:prstGeom prst="rect">
            <a:avLst/>
          </a:prstGeom>
          <a:solidFill>
            <a:srgbClr val="000000">
              <a:alpha val="28000"/>
            </a:srgbClr>
          </a:solidFill>
          <a:ln w="12700">
            <a:solidFill>
              <a:srgbClr val="000000">
                <a:alpha val="0"/>
              </a:srgbClr>
            </a:solidFill>
            <a:prstDash val="solid"/>
          </a:ln>
        </p:spPr>
      </p:sp>
      <p:sp>
        <p:nvSpPr>
          <p:cNvPr id="56" name="Shape 53"/>
          <p:cNvSpPr/>
          <p:nvPr/>
        </p:nvSpPr>
        <p:spPr>
          <a:xfrm>
            <a:off x="5943600" y="3346704"/>
            <a:ext cx="2880360" cy="612648"/>
          </a:xfrm>
          <a:prstGeom prst="rect">
            <a:avLst/>
          </a:prstGeom>
          <a:solidFill>
            <a:srgbClr val="0A1628">
              <a:alpha val="82000"/>
            </a:srgbClr>
          </a:solidFill>
          <a:ln w="12700">
            <a:solidFill>
              <a:srgbClr val="1E3A5F"/>
            </a:solidFill>
            <a:prstDash val="solid"/>
          </a:ln>
        </p:spPr>
      </p:sp>
      <p:sp>
        <p:nvSpPr>
          <p:cNvPr id="57" name="Shape 54"/>
          <p:cNvSpPr/>
          <p:nvPr/>
        </p:nvSpPr>
        <p:spPr>
          <a:xfrm>
            <a:off x="5943600" y="3346704"/>
            <a:ext cx="2880360" cy="27432"/>
          </a:xfrm>
          <a:prstGeom prst="rect">
            <a:avLst/>
          </a:prstGeom>
          <a:solidFill>
            <a:srgbClr val="FFFFFF">
              <a:alpha val="26000"/>
            </a:srgbClr>
          </a:solidFill>
          <a:ln w="12700">
            <a:solidFill>
              <a:srgbClr val="FFFFFF">
                <a:alpha val="0"/>
              </a:srgbClr>
            </a:solidFill>
            <a:prstDash val="solid"/>
          </a:ln>
        </p:spPr>
      </p:sp>
      <p:sp>
        <p:nvSpPr>
          <p:cNvPr id="58" name="Shape 55"/>
          <p:cNvSpPr/>
          <p:nvPr/>
        </p:nvSpPr>
        <p:spPr>
          <a:xfrm>
            <a:off x="5943600" y="3346704"/>
            <a:ext cx="27432" cy="612648"/>
          </a:xfrm>
          <a:prstGeom prst="rect">
            <a:avLst/>
          </a:prstGeom>
          <a:solidFill>
            <a:srgbClr val="FFFFFF">
              <a:alpha val="18000"/>
            </a:srgbClr>
          </a:solidFill>
          <a:ln w="12700">
            <a:solidFill>
              <a:srgbClr val="FFFFFF">
                <a:alpha val="0"/>
              </a:srgbClr>
            </a:solidFill>
            <a:prstDash val="solid"/>
          </a:ln>
        </p:spPr>
      </p:sp>
      <p:sp>
        <p:nvSpPr>
          <p:cNvPr id="59" name="Shape 56"/>
          <p:cNvSpPr/>
          <p:nvPr/>
        </p:nvSpPr>
        <p:spPr>
          <a:xfrm>
            <a:off x="5943600" y="3346704"/>
            <a:ext cx="2880360" cy="50292"/>
          </a:xfrm>
          <a:prstGeom prst="rect">
            <a:avLst/>
          </a:prstGeom>
          <a:solidFill>
            <a:srgbClr val="00D4AA"/>
          </a:solidFill>
          <a:ln w="12700">
            <a:solidFill>
              <a:srgbClr val="00D4AA"/>
            </a:solidFill>
            <a:prstDash val="solid"/>
          </a:ln>
        </p:spPr>
      </p:sp>
      <p:sp>
        <p:nvSpPr>
          <p:cNvPr id="60" name="Text 57"/>
          <p:cNvSpPr/>
          <p:nvPr/>
        </p:nvSpPr>
        <p:spPr>
          <a:xfrm>
            <a:off x="5943600" y="3456432"/>
            <a:ext cx="2880360" cy="318577"/>
          </a:xfrm>
          <a:prstGeom prst="rect">
            <a:avLst/>
          </a:prstGeom>
          <a:noFill/>
          <a:ln/>
        </p:spPr>
        <p:txBody>
          <a:bodyPr wrap="square" lIns="0" tIns="0" rIns="0" bIns="0" rtlCol="0" anchor="b"/>
          <a:lstStyle/>
          <a:p>
            <a:pPr marL="0" indent="0" algn="ctr">
              <a:buNone/>
            </a:pPr>
            <a:r>
              <a:rPr lang="en-US" sz="1800" b="1" dirty="0">
                <a:solidFill>
                  <a:srgbClr val="00D4AA"/>
                </a:solidFill>
              </a:rPr>
              <a:t>3.19%</a:t>
            </a:r>
            <a:endParaRPr lang="en-US" sz="1800" dirty="0"/>
          </a:p>
        </p:txBody>
      </p:sp>
      <p:sp>
        <p:nvSpPr>
          <p:cNvPr id="61" name="Text 58"/>
          <p:cNvSpPr/>
          <p:nvPr/>
        </p:nvSpPr>
        <p:spPr>
          <a:xfrm>
            <a:off x="5943600" y="3732672"/>
            <a:ext cx="2880360" cy="214427"/>
          </a:xfrm>
          <a:prstGeom prst="rect">
            <a:avLst/>
          </a:prstGeom>
          <a:noFill/>
          <a:ln/>
        </p:spPr>
        <p:txBody>
          <a:bodyPr wrap="square" lIns="0" tIns="0" rIns="0" bIns="0" rtlCol="0" anchor="t"/>
          <a:lstStyle/>
          <a:p>
            <a:pPr marL="0" indent="0" algn="ctr">
              <a:buNone/>
            </a:pPr>
            <a:r>
              <a:rPr lang="en-US" sz="800" dirty="0">
                <a:solidFill>
                  <a:srgbClr val="D4E6F1"/>
                </a:solidFill>
              </a:rPr>
              <a:t>Repeat Guest %</a:t>
            </a:r>
            <a:endParaRPr lang="en-US" sz="800" dirty="0"/>
          </a:p>
        </p:txBody>
      </p:sp>
      <p:sp>
        <p:nvSpPr>
          <p:cNvPr id="62" name="Shape 59"/>
          <p:cNvSpPr/>
          <p:nvPr/>
        </p:nvSpPr>
        <p:spPr>
          <a:xfrm>
            <a:off x="5980176" y="4133088"/>
            <a:ext cx="2880360" cy="630936"/>
          </a:xfrm>
          <a:prstGeom prst="rect">
            <a:avLst/>
          </a:prstGeom>
          <a:solidFill>
            <a:srgbClr val="000000">
              <a:alpha val="28000"/>
            </a:srgbClr>
          </a:solidFill>
          <a:ln w="12700">
            <a:solidFill>
              <a:srgbClr val="000000">
                <a:alpha val="0"/>
              </a:srgbClr>
            </a:solidFill>
            <a:prstDash val="solid"/>
          </a:ln>
        </p:spPr>
      </p:sp>
      <p:sp>
        <p:nvSpPr>
          <p:cNvPr id="63" name="Shape 60"/>
          <p:cNvSpPr/>
          <p:nvPr/>
        </p:nvSpPr>
        <p:spPr>
          <a:xfrm>
            <a:off x="5943600" y="4096512"/>
            <a:ext cx="2880360" cy="630936"/>
          </a:xfrm>
          <a:prstGeom prst="rect">
            <a:avLst/>
          </a:prstGeom>
          <a:solidFill>
            <a:srgbClr val="0A1628">
              <a:alpha val="82000"/>
            </a:srgbClr>
          </a:solidFill>
          <a:ln w="12700">
            <a:solidFill>
              <a:srgbClr val="1E3A5F"/>
            </a:solidFill>
            <a:prstDash val="solid"/>
          </a:ln>
        </p:spPr>
      </p:sp>
      <p:sp>
        <p:nvSpPr>
          <p:cNvPr id="64" name="Shape 61"/>
          <p:cNvSpPr/>
          <p:nvPr/>
        </p:nvSpPr>
        <p:spPr>
          <a:xfrm>
            <a:off x="5943600" y="4096512"/>
            <a:ext cx="2880360" cy="27432"/>
          </a:xfrm>
          <a:prstGeom prst="rect">
            <a:avLst/>
          </a:prstGeom>
          <a:solidFill>
            <a:srgbClr val="FFFFFF">
              <a:alpha val="26000"/>
            </a:srgbClr>
          </a:solidFill>
          <a:ln w="12700">
            <a:solidFill>
              <a:srgbClr val="FFFFFF">
                <a:alpha val="0"/>
              </a:srgbClr>
            </a:solidFill>
            <a:prstDash val="solid"/>
          </a:ln>
        </p:spPr>
      </p:sp>
      <p:sp>
        <p:nvSpPr>
          <p:cNvPr id="65" name="Shape 62"/>
          <p:cNvSpPr/>
          <p:nvPr/>
        </p:nvSpPr>
        <p:spPr>
          <a:xfrm>
            <a:off x="5943600" y="4096512"/>
            <a:ext cx="27432" cy="630936"/>
          </a:xfrm>
          <a:prstGeom prst="rect">
            <a:avLst/>
          </a:prstGeom>
          <a:solidFill>
            <a:srgbClr val="FFFFFF">
              <a:alpha val="18000"/>
            </a:srgbClr>
          </a:solidFill>
          <a:ln w="12700">
            <a:solidFill>
              <a:srgbClr val="FFFFFF">
                <a:alpha val="0"/>
              </a:srgbClr>
            </a:solidFill>
            <a:prstDash val="solid"/>
          </a:ln>
        </p:spPr>
      </p:sp>
      <p:sp>
        <p:nvSpPr>
          <p:cNvPr id="66" name="Shape 63"/>
          <p:cNvSpPr/>
          <p:nvPr/>
        </p:nvSpPr>
        <p:spPr>
          <a:xfrm>
            <a:off x="5943600" y="4096512"/>
            <a:ext cx="2880360" cy="50292"/>
          </a:xfrm>
          <a:prstGeom prst="rect">
            <a:avLst/>
          </a:prstGeom>
          <a:solidFill>
            <a:srgbClr val="F5C518"/>
          </a:solidFill>
          <a:ln w="12700">
            <a:solidFill>
              <a:srgbClr val="F5C518"/>
            </a:solidFill>
            <a:prstDash val="solid"/>
          </a:ln>
        </p:spPr>
      </p:sp>
      <p:sp>
        <p:nvSpPr>
          <p:cNvPr id="67" name="Text 64"/>
          <p:cNvSpPr/>
          <p:nvPr/>
        </p:nvSpPr>
        <p:spPr>
          <a:xfrm>
            <a:off x="6035040" y="4133088"/>
            <a:ext cx="2651760" cy="182880"/>
          </a:xfrm>
          <a:prstGeom prst="rect">
            <a:avLst/>
          </a:prstGeom>
          <a:noFill/>
          <a:ln/>
        </p:spPr>
        <p:txBody>
          <a:bodyPr wrap="square" lIns="0" tIns="0" rIns="0" bIns="0" rtlCol="0" anchor="ctr"/>
          <a:lstStyle/>
          <a:p>
            <a:pPr marL="0" indent="0">
              <a:buNone/>
            </a:pPr>
            <a:r>
              <a:rPr lang="en-US" sz="750" b="1" kern="0" spc="150" dirty="0">
                <a:solidFill>
                  <a:srgbClr val="F5C518"/>
                </a:solidFill>
              </a:rPr>
              <a:t>KEY INSIGHTS</a:t>
            </a:r>
            <a:endParaRPr lang="en-US" sz="750" dirty="0"/>
          </a:p>
        </p:txBody>
      </p:sp>
      <p:sp>
        <p:nvSpPr>
          <p:cNvPr id="68" name="Text 65"/>
          <p:cNvSpPr/>
          <p:nvPr/>
        </p:nvSpPr>
        <p:spPr>
          <a:xfrm>
            <a:off x="6035040" y="4315968"/>
            <a:ext cx="2697480" cy="347472"/>
          </a:xfrm>
          <a:prstGeom prst="rect">
            <a:avLst/>
          </a:prstGeom>
          <a:noFill/>
          <a:ln/>
        </p:spPr>
        <p:txBody>
          <a:bodyPr wrap="square" lIns="0" tIns="0" rIns="0" bIns="0" rtlCol="0" anchor="ctr"/>
          <a:lstStyle/>
          <a:p>
            <a:pPr marL="0" indent="0">
              <a:buNone/>
            </a:pPr>
            <a:r>
              <a:rPr lang="en-US" sz="700" dirty="0">
                <a:solidFill>
                  <a:srgbClr val="D4E6F1"/>
                </a:solidFill>
              </a:rPr>
              <a:t>Transient guests: 74%+ of all bookings   ·   Portugal (PRT) is #1 source country   ·   BB meal plan dominates at 77.32% share   ·   Couple/Group guests book furthest in advance</a:t>
            </a:r>
            <a:endParaRPr lang="en-US" sz="700" dirty="0"/>
          </a:p>
        </p:txBody>
      </p:sp>
      <p:sp>
        <p:nvSpPr>
          <p:cNvPr id="69" name="Shape 66"/>
          <p:cNvSpPr/>
          <p:nvPr/>
        </p:nvSpPr>
        <p:spPr>
          <a:xfrm>
            <a:off x="0" y="4983480"/>
            <a:ext cx="9144000" cy="160020"/>
          </a:xfrm>
          <a:prstGeom prst="rect">
            <a:avLst/>
          </a:prstGeom>
          <a:solidFill>
            <a:srgbClr val="1A2E45"/>
          </a:solidFill>
          <a:ln w="12700">
            <a:solidFill>
              <a:srgbClr val="1A2E45"/>
            </a:solidFill>
            <a:prstDash val="solid"/>
          </a:ln>
        </p:spPr>
      </p:sp>
      <p:sp>
        <p:nvSpPr>
          <p:cNvPr id="70" name="Shape 67"/>
          <p:cNvSpPr/>
          <p:nvPr/>
        </p:nvSpPr>
        <p:spPr>
          <a:xfrm>
            <a:off x="0" y="4983480"/>
            <a:ext cx="36576" cy="160020"/>
          </a:xfrm>
          <a:prstGeom prst="rect">
            <a:avLst/>
          </a:prstGeom>
          <a:solidFill>
            <a:srgbClr val="F5C518"/>
          </a:solidFill>
          <a:ln w="12700">
            <a:solidFill>
              <a:srgbClr val="F5C518"/>
            </a:solidFill>
            <a:prstDash val="solid"/>
          </a:ln>
        </p:spPr>
      </p:sp>
      <p:sp>
        <p:nvSpPr>
          <p:cNvPr id="71" name="Text 68"/>
          <p:cNvSpPr/>
          <p:nvPr/>
        </p:nvSpPr>
        <p:spPr>
          <a:xfrm>
            <a:off x="137160" y="4983480"/>
            <a:ext cx="8229600" cy="160020"/>
          </a:xfrm>
          <a:prstGeom prst="rect">
            <a:avLst/>
          </a:prstGeom>
          <a:noFill/>
          <a:ln/>
        </p:spPr>
        <p:txBody>
          <a:bodyPr wrap="square" lIns="0" tIns="0" rIns="0" bIns="0" rtlCol="0" anchor="ctr"/>
          <a:lstStyle/>
          <a:p>
            <a:pPr marL="0" indent="0">
              <a:buNone/>
            </a:pPr>
            <a:r>
              <a:rPr lang="en-US" sz="750" dirty="0">
                <a:solidFill>
                  <a:srgbClr val="6B8CAE"/>
                </a:solidFill>
              </a:rPr>
              <a:t>HotelRevAI  ·  Infosys Springboard Internship 6.0  ·  Batch 13 — Group 2, Team D</a:t>
            </a:r>
            <a:endParaRPr lang="en-US" sz="750" dirty="0"/>
          </a:p>
        </p:txBody>
      </p:sp>
      <p:sp>
        <p:nvSpPr>
          <p:cNvPr id="72" name="Text 69"/>
          <p:cNvSpPr/>
          <p:nvPr/>
        </p:nvSpPr>
        <p:spPr>
          <a:xfrm>
            <a:off x="8686800" y="4983480"/>
            <a:ext cx="411480" cy="160020"/>
          </a:xfrm>
          <a:prstGeom prst="rect">
            <a:avLst/>
          </a:prstGeom>
          <a:noFill/>
          <a:ln/>
        </p:spPr>
        <p:txBody>
          <a:bodyPr wrap="square" lIns="0" tIns="0" rIns="0" bIns="0" rtlCol="0" anchor="ctr"/>
          <a:lstStyle/>
          <a:p>
            <a:pPr marL="0" indent="0" algn="r">
              <a:buNone/>
            </a:pPr>
            <a:r>
              <a:rPr lang="en-US" sz="750" b="1" dirty="0">
                <a:solidFill>
                  <a:srgbClr val="F5C518"/>
                </a:solidFill>
              </a:rPr>
              <a:t>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0A14"/>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0D2137"/>
            </a:solidFill>
            <a:prstDash val="solid"/>
          </a:ln>
        </p:spPr>
      </p:sp>
      <p:sp>
        <p:nvSpPr>
          <p:cNvPr id="3" name="Shape 1"/>
          <p:cNvSpPr/>
          <p:nvPr/>
        </p:nvSpPr>
        <p:spPr>
          <a:xfrm>
            <a:off x="914400" y="0"/>
            <a:ext cx="0" cy="5143500"/>
          </a:xfrm>
          <a:prstGeom prst="line">
            <a:avLst/>
          </a:prstGeom>
          <a:noFill/>
          <a:ln w="6350">
            <a:solidFill>
              <a:srgbClr val="0D2137"/>
            </a:solidFill>
            <a:prstDash val="solid"/>
          </a:ln>
        </p:spPr>
      </p:sp>
      <p:sp>
        <p:nvSpPr>
          <p:cNvPr id="4" name="Shape 2"/>
          <p:cNvSpPr/>
          <p:nvPr/>
        </p:nvSpPr>
        <p:spPr>
          <a:xfrm>
            <a:off x="1828800" y="0"/>
            <a:ext cx="0" cy="5143500"/>
          </a:xfrm>
          <a:prstGeom prst="line">
            <a:avLst/>
          </a:prstGeom>
          <a:noFill/>
          <a:ln w="6350">
            <a:solidFill>
              <a:srgbClr val="0D2137"/>
            </a:solidFill>
            <a:prstDash val="solid"/>
          </a:ln>
        </p:spPr>
      </p:sp>
      <p:sp>
        <p:nvSpPr>
          <p:cNvPr id="5" name="Shape 3"/>
          <p:cNvSpPr/>
          <p:nvPr/>
        </p:nvSpPr>
        <p:spPr>
          <a:xfrm>
            <a:off x="2743200" y="0"/>
            <a:ext cx="0" cy="5143500"/>
          </a:xfrm>
          <a:prstGeom prst="line">
            <a:avLst/>
          </a:prstGeom>
          <a:noFill/>
          <a:ln w="6350">
            <a:solidFill>
              <a:srgbClr val="0D2137"/>
            </a:solidFill>
            <a:prstDash val="solid"/>
          </a:ln>
        </p:spPr>
      </p:sp>
      <p:sp>
        <p:nvSpPr>
          <p:cNvPr id="6" name="Shape 4"/>
          <p:cNvSpPr/>
          <p:nvPr/>
        </p:nvSpPr>
        <p:spPr>
          <a:xfrm>
            <a:off x="3657600" y="0"/>
            <a:ext cx="0" cy="5143500"/>
          </a:xfrm>
          <a:prstGeom prst="line">
            <a:avLst/>
          </a:prstGeom>
          <a:noFill/>
          <a:ln w="6350">
            <a:solidFill>
              <a:srgbClr val="0D2137"/>
            </a:solidFill>
            <a:prstDash val="solid"/>
          </a:ln>
        </p:spPr>
      </p:sp>
      <p:sp>
        <p:nvSpPr>
          <p:cNvPr id="7" name="Shape 5"/>
          <p:cNvSpPr/>
          <p:nvPr/>
        </p:nvSpPr>
        <p:spPr>
          <a:xfrm>
            <a:off x="4572000" y="0"/>
            <a:ext cx="0" cy="5143500"/>
          </a:xfrm>
          <a:prstGeom prst="line">
            <a:avLst/>
          </a:prstGeom>
          <a:noFill/>
          <a:ln w="6350">
            <a:solidFill>
              <a:srgbClr val="0D2137"/>
            </a:solidFill>
            <a:prstDash val="solid"/>
          </a:ln>
        </p:spPr>
      </p:sp>
      <p:sp>
        <p:nvSpPr>
          <p:cNvPr id="8" name="Shape 6"/>
          <p:cNvSpPr/>
          <p:nvPr/>
        </p:nvSpPr>
        <p:spPr>
          <a:xfrm>
            <a:off x="5486400" y="0"/>
            <a:ext cx="0" cy="5143500"/>
          </a:xfrm>
          <a:prstGeom prst="line">
            <a:avLst/>
          </a:prstGeom>
          <a:noFill/>
          <a:ln w="6350">
            <a:solidFill>
              <a:srgbClr val="0D2137"/>
            </a:solidFill>
            <a:prstDash val="solid"/>
          </a:ln>
        </p:spPr>
      </p:sp>
      <p:sp>
        <p:nvSpPr>
          <p:cNvPr id="9" name="Shape 7"/>
          <p:cNvSpPr/>
          <p:nvPr/>
        </p:nvSpPr>
        <p:spPr>
          <a:xfrm>
            <a:off x="6400800" y="0"/>
            <a:ext cx="0" cy="5143500"/>
          </a:xfrm>
          <a:prstGeom prst="line">
            <a:avLst/>
          </a:prstGeom>
          <a:noFill/>
          <a:ln w="6350">
            <a:solidFill>
              <a:srgbClr val="0D2137"/>
            </a:solidFill>
            <a:prstDash val="solid"/>
          </a:ln>
        </p:spPr>
      </p:sp>
      <p:sp>
        <p:nvSpPr>
          <p:cNvPr id="10" name="Shape 8"/>
          <p:cNvSpPr/>
          <p:nvPr/>
        </p:nvSpPr>
        <p:spPr>
          <a:xfrm>
            <a:off x="7315200" y="0"/>
            <a:ext cx="0" cy="5143500"/>
          </a:xfrm>
          <a:prstGeom prst="line">
            <a:avLst/>
          </a:prstGeom>
          <a:noFill/>
          <a:ln w="6350">
            <a:solidFill>
              <a:srgbClr val="0D2137"/>
            </a:solidFill>
            <a:prstDash val="solid"/>
          </a:ln>
        </p:spPr>
      </p:sp>
      <p:sp>
        <p:nvSpPr>
          <p:cNvPr id="11" name="Shape 9"/>
          <p:cNvSpPr/>
          <p:nvPr/>
        </p:nvSpPr>
        <p:spPr>
          <a:xfrm>
            <a:off x="8229600" y="0"/>
            <a:ext cx="0" cy="5143500"/>
          </a:xfrm>
          <a:prstGeom prst="line">
            <a:avLst/>
          </a:prstGeom>
          <a:noFill/>
          <a:ln w="6350">
            <a:solidFill>
              <a:srgbClr val="0D2137"/>
            </a:solidFill>
            <a:prstDash val="solid"/>
          </a:ln>
        </p:spPr>
      </p:sp>
      <p:sp>
        <p:nvSpPr>
          <p:cNvPr id="12" name="Shape 10"/>
          <p:cNvSpPr/>
          <p:nvPr/>
        </p:nvSpPr>
        <p:spPr>
          <a:xfrm>
            <a:off x="9144000" y="0"/>
            <a:ext cx="0" cy="5143500"/>
          </a:xfrm>
          <a:prstGeom prst="line">
            <a:avLst/>
          </a:prstGeom>
          <a:noFill/>
          <a:ln w="6350">
            <a:solidFill>
              <a:srgbClr val="0D2137"/>
            </a:solidFill>
            <a:prstDash val="solid"/>
          </a:ln>
        </p:spPr>
      </p:sp>
      <p:sp>
        <p:nvSpPr>
          <p:cNvPr id="13" name="Shape 11"/>
          <p:cNvSpPr/>
          <p:nvPr/>
        </p:nvSpPr>
        <p:spPr>
          <a:xfrm>
            <a:off x="0" y="0"/>
            <a:ext cx="9144000" cy="0"/>
          </a:xfrm>
          <a:prstGeom prst="line">
            <a:avLst/>
          </a:prstGeom>
          <a:noFill/>
          <a:ln w="6350">
            <a:solidFill>
              <a:srgbClr val="0D2137"/>
            </a:solidFill>
            <a:prstDash val="solid"/>
          </a:ln>
        </p:spPr>
      </p:sp>
      <p:sp>
        <p:nvSpPr>
          <p:cNvPr id="14" name="Shape 12"/>
          <p:cNvSpPr/>
          <p:nvPr/>
        </p:nvSpPr>
        <p:spPr>
          <a:xfrm>
            <a:off x="0" y="859536"/>
            <a:ext cx="9144000" cy="0"/>
          </a:xfrm>
          <a:prstGeom prst="line">
            <a:avLst/>
          </a:prstGeom>
          <a:noFill/>
          <a:ln w="6350">
            <a:solidFill>
              <a:srgbClr val="0D2137"/>
            </a:solidFill>
            <a:prstDash val="solid"/>
          </a:ln>
        </p:spPr>
      </p:sp>
      <p:sp>
        <p:nvSpPr>
          <p:cNvPr id="15" name="Shape 13"/>
          <p:cNvSpPr/>
          <p:nvPr/>
        </p:nvSpPr>
        <p:spPr>
          <a:xfrm>
            <a:off x="0" y="1719072"/>
            <a:ext cx="9144000" cy="0"/>
          </a:xfrm>
          <a:prstGeom prst="line">
            <a:avLst/>
          </a:prstGeom>
          <a:noFill/>
          <a:ln w="6350">
            <a:solidFill>
              <a:srgbClr val="0D2137"/>
            </a:solidFill>
            <a:prstDash val="solid"/>
          </a:ln>
        </p:spPr>
      </p:sp>
      <p:sp>
        <p:nvSpPr>
          <p:cNvPr id="16" name="Shape 14"/>
          <p:cNvSpPr/>
          <p:nvPr/>
        </p:nvSpPr>
        <p:spPr>
          <a:xfrm>
            <a:off x="0" y="2578608"/>
            <a:ext cx="9144000" cy="0"/>
          </a:xfrm>
          <a:prstGeom prst="line">
            <a:avLst/>
          </a:prstGeom>
          <a:noFill/>
          <a:ln w="6350">
            <a:solidFill>
              <a:srgbClr val="0D2137"/>
            </a:solidFill>
            <a:prstDash val="solid"/>
          </a:ln>
        </p:spPr>
      </p:sp>
      <p:sp>
        <p:nvSpPr>
          <p:cNvPr id="17" name="Shape 15"/>
          <p:cNvSpPr/>
          <p:nvPr/>
        </p:nvSpPr>
        <p:spPr>
          <a:xfrm>
            <a:off x="0" y="3438144"/>
            <a:ext cx="9144000" cy="0"/>
          </a:xfrm>
          <a:prstGeom prst="line">
            <a:avLst/>
          </a:prstGeom>
          <a:noFill/>
          <a:ln w="6350">
            <a:solidFill>
              <a:srgbClr val="0D2137"/>
            </a:solidFill>
            <a:prstDash val="solid"/>
          </a:ln>
        </p:spPr>
      </p:sp>
      <p:sp>
        <p:nvSpPr>
          <p:cNvPr id="18" name="Shape 16"/>
          <p:cNvSpPr/>
          <p:nvPr/>
        </p:nvSpPr>
        <p:spPr>
          <a:xfrm>
            <a:off x="0" y="4297680"/>
            <a:ext cx="9144000" cy="0"/>
          </a:xfrm>
          <a:prstGeom prst="line">
            <a:avLst/>
          </a:prstGeom>
          <a:noFill/>
          <a:ln w="6350">
            <a:solidFill>
              <a:srgbClr val="0D2137"/>
            </a:solidFill>
            <a:prstDash val="solid"/>
          </a:ln>
        </p:spPr>
      </p:sp>
      <p:sp>
        <p:nvSpPr>
          <p:cNvPr id="19" name="Shape 17"/>
          <p:cNvSpPr/>
          <p:nvPr/>
        </p:nvSpPr>
        <p:spPr>
          <a:xfrm>
            <a:off x="0" y="5157216"/>
            <a:ext cx="9144000" cy="0"/>
          </a:xfrm>
          <a:prstGeom prst="line">
            <a:avLst/>
          </a:prstGeom>
          <a:noFill/>
          <a:ln w="6350">
            <a:solidFill>
              <a:srgbClr val="0D2137"/>
            </a:solidFill>
            <a:prstDash val="solid"/>
          </a:ln>
        </p:spPr>
      </p:sp>
      <p:sp>
        <p:nvSpPr>
          <p:cNvPr id="20" name="Shape 18"/>
          <p:cNvSpPr/>
          <p:nvPr/>
        </p:nvSpPr>
        <p:spPr>
          <a:xfrm>
            <a:off x="7406640" y="3291840"/>
            <a:ext cx="2560320" cy="2560320"/>
          </a:xfrm>
          <a:prstGeom prst="ellipse">
            <a:avLst/>
          </a:prstGeom>
          <a:solidFill>
            <a:srgbClr val="00B4FF">
              <a:alpha val="10000"/>
            </a:srgbClr>
          </a:solidFill>
          <a:ln w="12700">
            <a:solidFill>
              <a:srgbClr val="00B4FF">
                <a:alpha val="5000"/>
              </a:srgbClr>
            </a:solidFill>
            <a:prstDash val="solid"/>
          </a:ln>
        </p:spPr>
      </p:sp>
      <p:sp>
        <p:nvSpPr>
          <p:cNvPr id="21" name="Shape 19"/>
          <p:cNvSpPr/>
          <p:nvPr/>
        </p:nvSpPr>
        <p:spPr>
          <a:xfrm>
            <a:off x="8046720" y="3931920"/>
            <a:ext cx="1280160" cy="1280160"/>
          </a:xfrm>
          <a:prstGeom prst="ellipse">
            <a:avLst/>
          </a:prstGeom>
          <a:solidFill>
            <a:srgbClr val="00B4FF">
              <a:alpha val="2000"/>
            </a:srgbClr>
          </a:solidFill>
          <a:ln w="12700">
            <a:solidFill>
              <a:srgbClr val="00B4FF">
                <a:alpha val="0"/>
              </a:srgbClr>
            </a:solidFill>
            <a:prstDash val="solid"/>
          </a:ln>
        </p:spPr>
      </p:sp>
      <p:sp>
        <p:nvSpPr>
          <p:cNvPr id="22" name="Shape 20"/>
          <p:cNvSpPr/>
          <p:nvPr/>
        </p:nvSpPr>
        <p:spPr>
          <a:xfrm>
            <a:off x="0" y="0"/>
            <a:ext cx="9144000" cy="50292"/>
          </a:xfrm>
          <a:prstGeom prst="rect">
            <a:avLst/>
          </a:prstGeom>
          <a:solidFill>
            <a:srgbClr val="F5C518"/>
          </a:solidFill>
          <a:ln w="12700">
            <a:solidFill>
              <a:srgbClr val="F5C518"/>
            </a:solidFill>
            <a:prstDash val="solid"/>
          </a:ln>
        </p:spPr>
      </p:sp>
      <p:sp>
        <p:nvSpPr>
          <p:cNvPr id="23" name="Shape 21"/>
          <p:cNvSpPr/>
          <p:nvPr/>
        </p:nvSpPr>
        <p:spPr>
          <a:xfrm>
            <a:off x="320040" y="182880"/>
            <a:ext cx="1737360" cy="246888"/>
          </a:xfrm>
          <a:prstGeom prst="rect">
            <a:avLst/>
          </a:prstGeom>
          <a:solidFill>
            <a:srgbClr val="003E7A"/>
          </a:solidFill>
          <a:ln w="12700">
            <a:solidFill>
              <a:srgbClr val="00B4FF"/>
            </a:solidFill>
            <a:prstDash val="solid"/>
          </a:ln>
        </p:spPr>
      </p:sp>
      <p:sp>
        <p:nvSpPr>
          <p:cNvPr id="24" name="Text 22"/>
          <p:cNvSpPr/>
          <p:nvPr/>
        </p:nvSpPr>
        <p:spPr>
          <a:xfrm>
            <a:off x="320040" y="182880"/>
            <a:ext cx="1737360" cy="246888"/>
          </a:xfrm>
          <a:prstGeom prst="rect">
            <a:avLst/>
          </a:prstGeom>
          <a:noFill/>
          <a:ln/>
        </p:spPr>
        <p:txBody>
          <a:bodyPr wrap="square" lIns="0" tIns="0" rIns="0" bIns="0" rtlCol="0" anchor="ctr"/>
          <a:lstStyle/>
          <a:p>
            <a:pPr marL="0" indent="0" algn="ctr">
              <a:buNone/>
            </a:pPr>
            <a:r>
              <a:rPr lang="en-US" sz="700" b="1" kern="0" spc="200" dirty="0">
                <a:solidFill>
                  <a:srgbClr val="00B4FF"/>
                </a:solidFill>
              </a:rPr>
              <a:t>DASHBOARD 4</a:t>
            </a:r>
            <a:endParaRPr lang="en-US" sz="700" dirty="0"/>
          </a:p>
        </p:txBody>
      </p:sp>
      <p:sp>
        <p:nvSpPr>
          <p:cNvPr id="25" name="Text 23"/>
          <p:cNvSpPr/>
          <p:nvPr/>
        </p:nvSpPr>
        <p:spPr>
          <a:xfrm>
            <a:off x="320040" y="521208"/>
            <a:ext cx="8503920" cy="512064"/>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Cancellation &amp; Forecasting Trends</a:t>
            </a:r>
            <a:endParaRPr lang="en-US" sz="2800" dirty="0"/>
          </a:p>
        </p:txBody>
      </p:sp>
      <p:sp>
        <p:nvSpPr>
          <p:cNvPr id="26" name="Shape 24"/>
          <p:cNvSpPr/>
          <p:nvPr/>
        </p:nvSpPr>
        <p:spPr>
          <a:xfrm>
            <a:off x="320040" y="1078992"/>
            <a:ext cx="1097280" cy="36576"/>
          </a:xfrm>
          <a:prstGeom prst="rect">
            <a:avLst/>
          </a:prstGeom>
          <a:solidFill>
            <a:srgbClr val="F5C518"/>
          </a:solidFill>
          <a:ln w="12700">
            <a:solidFill>
              <a:srgbClr val="F5C518"/>
            </a:solidFill>
            <a:prstDash val="solid"/>
          </a:ln>
        </p:spPr>
      </p:sp>
      <p:sp>
        <p:nvSpPr>
          <p:cNvPr id="27" name="Shape 25"/>
          <p:cNvSpPr/>
          <p:nvPr/>
        </p:nvSpPr>
        <p:spPr>
          <a:xfrm>
            <a:off x="1463040" y="1078992"/>
            <a:ext cx="7360920" cy="36576"/>
          </a:xfrm>
          <a:prstGeom prst="rect">
            <a:avLst/>
          </a:prstGeom>
          <a:solidFill>
            <a:srgbClr val="1A2E45"/>
          </a:solidFill>
          <a:ln w="12700">
            <a:solidFill>
              <a:srgbClr val="1A2E45"/>
            </a:solidFill>
            <a:prstDash val="solid"/>
          </a:ln>
        </p:spPr>
      </p:sp>
      <p:sp>
        <p:nvSpPr>
          <p:cNvPr id="28" name="Shape 26"/>
          <p:cNvSpPr/>
          <p:nvPr/>
        </p:nvSpPr>
        <p:spPr>
          <a:xfrm>
            <a:off x="356616" y="1243584"/>
            <a:ext cx="5440680" cy="3520440"/>
          </a:xfrm>
          <a:prstGeom prst="rect">
            <a:avLst/>
          </a:prstGeom>
          <a:solidFill>
            <a:srgbClr val="000000">
              <a:alpha val="28000"/>
            </a:srgbClr>
          </a:solidFill>
          <a:ln w="12700">
            <a:solidFill>
              <a:srgbClr val="000000">
                <a:alpha val="0"/>
              </a:srgbClr>
            </a:solidFill>
            <a:prstDash val="solid"/>
          </a:ln>
        </p:spPr>
      </p:sp>
      <p:sp>
        <p:nvSpPr>
          <p:cNvPr id="29" name="Shape 27"/>
          <p:cNvSpPr/>
          <p:nvPr/>
        </p:nvSpPr>
        <p:spPr>
          <a:xfrm>
            <a:off x="320040" y="1207008"/>
            <a:ext cx="5440680" cy="3520440"/>
          </a:xfrm>
          <a:prstGeom prst="rect">
            <a:avLst/>
          </a:prstGeom>
          <a:solidFill>
            <a:srgbClr val="0A1628">
              <a:alpha val="82000"/>
            </a:srgbClr>
          </a:solidFill>
          <a:ln w="12700">
            <a:solidFill>
              <a:srgbClr val="1E3A5F"/>
            </a:solidFill>
            <a:prstDash val="solid"/>
          </a:ln>
        </p:spPr>
      </p:sp>
      <p:sp>
        <p:nvSpPr>
          <p:cNvPr id="30" name="Shape 28"/>
          <p:cNvSpPr/>
          <p:nvPr/>
        </p:nvSpPr>
        <p:spPr>
          <a:xfrm>
            <a:off x="320040" y="1207008"/>
            <a:ext cx="5440680" cy="27432"/>
          </a:xfrm>
          <a:prstGeom prst="rect">
            <a:avLst/>
          </a:prstGeom>
          <a:solidFill>
            <a:srgbClr val="FFFFFF">
              <a:alpha val="26000"/>
            </a:srgbClr>
          </a:solidFill>
          <a:ln w="12700">
            <a:solidFill>
              <a:srgbClr val="FFFFFF">
                <a:alpha val="0"/>
              </a:srgbClr>
            </a:solidFill>
            <a:prstDash val="solid"/>
          </a:ln>
        </p:spPr>
      </p:sp>
      <p:sp>
        <p:nvSpPr>
          <p:cNvPr id="31" name="Shape 29"/>
          <p:cNvSpPr/>
          <p:nvPr/>
        </p:nvSpPr>
        <p:spPr>
          <a:xfrm>
            <a:off x="320040" y="1207008"/>
            <a:ext cx="27432" cy="3520440"/>
          </a:xfrm>
          <a:prstGeom prst="rect">
            <a:avLst/>
          </a:prstGeom>
          <a:solidFill>
            <a:srgbClr val="FFFFFF">
              <a:alpha val="18000"/>
            </a:srgbClr>
          </a:solidFill>
          <a:ln w="12700">
            <a:solidFill>
              <a:srgbClr val="FFFFFF">
                <a:alpha val="0"/>
              </a:srgbClr>
            </a:solidFill>
            <a:prstDash val="solid"/>
          </a:ln>
        </p:spPr>
      </p:sp>
      <p:sp>
        <p:nvSpPr>
          <p:cNvPr id="32" name="Shape 30"/>
          <p:cNvSpPr/>
          <p:nvPr/>
        </p:nvSpPr>
        <p:spPr>
          <a:xfrm>
            <a:off x="320040" y="1207008"/>
            <a:ext cx="5440680" cy="50292"/>
          </a:xfrm>
          <a:prstGeom prst="rect">
            <a:avLst/>
          </a:prstGeom>
          <a:solidFill>
            <a:srgbClr val="00B4FF"/>
          </a:solidFill>
          <a:ln w="12700">
            <a:solidFill>
              <a:srgbClr val="00B4FF"/>
            </a:solidFill>
            <a:prstDash val="solid"/>
          </a:ln>
        </p:spPr>
      </p:sp>
      <p:pic>
        <p:nvPicPr>
          <p:cNvPr id="33" name="Image 0" descr="/mnt/user-data/uploads/1774436453031_image.png"/>
          <p:cNvPicPr>
            <a:picLocks noChangeAspect="1"/>
          </p:cNvPicPr>
          <p:nvPr/>
        </p:nvPicPr>
        <p:blipFill>
          <a:blip r:embed="rId3"/>
          <a:srcRect/>
          <a:stretch/>
        </p:blipFill>
        <p:spPr>
          <a:xfrm>
            <a:off x="347472" y="1261872"/>
            <a:ext cx="5385816" cy="3410712"/>
          </a:xfrm>
          <a:prstGeom prst="rect">
            <a:avLst/>
          </a:prstGeom>
        </p:spPr>
      </p:pic>
      <p:sp>
        <p:nvSpPr>
          <p:cNvPr id="34" name="Shape 31"/>
          <p:cNvSpPr/>
          <p:nvPr/>
        </p:nvSpPr>
        <p:spPr>
          <a:xfrm>
            <a:off x="5980176" y="1243584"/>
            <a:ext cx="2880360" cy="612648"/>
          </a:xfrm>
          <a:prstGeom prst="rect">
            <a:avLst/>
          </a:prstGeom>
          <a:solidFill>
            <a:srgbClr val="000000">
              <a:alpha val="28000"/>
            </a:srgbClr>
          </a:solidFill>
          <a:ln w="12700">
            <a:solidFill>
              <a:srgbClr val="000000">
                <a:alpha val="0"/>
              </a:srgbClr>
            </a:solidFill>
            <a:prstDash val="solid"/>
          </a:ln>
        </p:spPr>
      </p:sp>
      <p:sp>
        <p:nvSpPr>
          <p:cNvPr id="35" name="Shape 32"/>
          <p:cNvSpPr/>
          <p:nvPr/>
        </p:nvSpPr>
        <p:spPr>
          <a:xfrm>
            <a:off x="5943600" y="1207008"/>
            <a:ext cx="2880360" cy="612648"/>
          </a:xfrm>
          <a:prstGeom prst="rect">
            <a:avLst/>
          </a:prstGeom>
          <a:solidFill>
            <a:srgbClr val="0A1628">
              <a:alpha val="82000"/>
            </a:srgbClr>
          </a:solidFill>
          <a:ln w="12700">
            <a:solidFill>
              <a:srgbClr val="1E3A5F"/>
            </a:solidFill>
            <a:prstDash val="solid"/>
          </a:ln>
        </p:spPr>
      </p:sp>
      <p:sp>
        <p:nvSpPr>
          <p:cNvPr id="36" name="Shape 33"/>
          <p:cNvSpPr/>
          <p:nvPr/>
        </p:nvSpPr>
        <p:spPr>
          <a:xfrm>
            <a:off x="5943600" y="1207008"/>
            <a:ext cx="2880360" cy="27432"/>
          </a:xfrm>
          <a:prstGeom prst="rect">
            <a:avLst/>
          </a:prstGeom>
          <a:solidFill>
            <a:srgbClr val="FFFFFF">
              <a:alpha val="26000"/>
            </a:srgbClr>
          </a:solidFill>
          <a:ln w="12700">
            <a:solidFill>
              <a:srgbClr val="FFFFFF">
                <a:alpha val="0"/>
              </a:srgbClr>
            </a:solidFill>
            <a:prstDash val="solid"/>
          </a:ln>
        </p:spPr>
      </p:sp>
      <p:sp>
        <p:nvSpPr>
          <p:cNvPr id="37" name="Shape 34"/>
          <p:cNvSpPr/>
          <p:nvPr/>
        </p:nvSpPr>
        <p:spPr>
          <a:xfrm>
            <a:off x="5943600" y="1207008"/>
            <a:ext cx="27432" cy="612648"/>
          </a:xfrm>
          <a:prstGeom prst="rect">
            <a:avLst/>
          </a:prstGeom>
          <a:solidFill>
            <a:srgbClr val="FFFFFF">
              <a:alpha val="18000"/>
            </a:srgbClr>
          </a:solidFill>
          <a:ln w="12700">
            <a:solidFill>
              <a:srgbClr val="FFFFFF">
                <a:alpha val="0"/>
              </a:srgbClr>
            </a:solidFill>
            <a:prstDash val="solid"/>
          </a:ln>
        </p:spPr>
      </p:sp>
      <p:sp>
        <p:nvSpPr>
          <p:cNvPr id="38" name="Shape 35"/>
          <p:cNvSpPr/>
          <p:nvPr/>
        </p:nvSpPr>
        <p:spPr>
          <a:xfrm>
            <a:off x="5943600" y="1207008"/>
            <a:ext cx="2880360" cy="50292"/>
          </a:xfrm>
          <a:prstGeom prst="rect">
            <a:avLst/>
          </a:prstGeom>
          <a:solidFill>
            <a:srgbClr val="FF6B6B"/>
          </a:solidFill>
          <a:ln w="12700">
            <a:solidFill>
              <a:srgbClr val="FF6B6B"/>
            </a:solidFill>
            <a:prstDash val="solid"/>
          </a:ln>
        </p:spPr>
      </p:sp>
      <p:sp>
        <p:nvSpPr>
          <p:cNvPr id="39" name="Text 36"/>
          <p:cNvSpPr/>
          <p:nvPr/>
        </p:nvSpPr>
        <p:spPr>
          <a:xfrm>
            <a:off x="5943600" y="1316736"/>
            <a:ext cx="2880360" cy="318577"/>
          </a:xfrm>
          <a:prstGeom prst="rect">
            <a:avLst/>
          </a:prstGeom>
          <a:noFill/>
          <a:ln/>
        </p:spPr>
        <p:txBody>
          <a:bodyPr wrap="square" lIns="0" tIns="0" rIns="0" bIns="0" rtlCol="0" anchor="b"/>
          <a:lstStyle/>
          <a:p>
            <a:pPr marL="0" indent="0" algn="ctr">
              <a:buNone/>
            </a:pPr>
            <a:r>
              <a:rPr lang="en-US" sz="1800" b="1" dirty="0">
                <a:solidFill>
                  <a:srgbClr val="FF6B6B"/>
                </a:solidFill>
              </a:rPr>
              <a:t>37.04%</a:t>
            </a:r>
            <a:endParaRPr lang="en-US" sz="1800" dirty="0"/>
          </a:p>
        </p:txBody>
      </p:sp>
      <p:sp>
        <p:nvSpPr>
          <p:cNvPr id="40" name="Text 37"/>
          <p:cNvSpPr/>
          <p:nvPr/>
        </p:nvSpPr>
        <p:spPr>
          <a:xfrm>
            <a:off x="5943600" y="1592976"/>
            <a:ext cx="2880360" cy="214427"/>
          </a:xfrm>
          <a:prstGeom prst="rect">
            <a:avLst/>
          </a:prstGeom>
          <a:noFill/>
          <a:ln/>
        </p:spPr>
        <p:txBody>
          <a:bodyPr wrap="square" lIns="0" tIns="0" rIns="0" bIns="0" rtlCol="0" anchor="t"/>
          <a:lstStyle/>
          <a:p>
            <a:pPr marL="0" indent="0" algn="ctr">
              <a:buNone/>
            </a:pPr>
            <a:r>
              <a:rPr lang="en-US" sz="800" dirty="0">
                <a:solidFill>
                  <a:srgbClr val="D4E6F1"/>
                </a:solidFill>
              </a:rPr>
              <a:t>Cancellation Rate</a:t>
            </a:r>
            <a:endParaRPr lang="en-US" sz="800" dirty="0"/>
          </a:p>
        </p:txBody>
      </p:sp>
      <p:sp>
        <p:nvSpPr>
          <p:cNvPr id="41" name="Shape 38"/>
          <p:cNvSpPr/>
          <p:nvPr/>
        </p:nvSpPr>
        <p:spPr>
          <a:xfrm>
            <a:off x="5980176" y="1956816"/>
            <a:ext cx="2880360" cy="612648"/>
          </a:xfrm>
          <a:prstGeom prst="rect">
            <a:avLst/>
          </a:prstGeom>
          <a:solidFill>
            <a:srgbClr val="000000">
              <a:alpha val="28000"/>
            </a:srgbClr>
          </a:solidFill>
          <a:ln w="12700">
            <a:solidFill>
              <a:srgbClr val="000000">
                <a:alpha val="0"/>
              </a:srgbClr>
            </a:solidFill>
            <a:prstDash val="solid"/>
          </a:ln>
        </p:spPr>
      </p:sp>
      <p:sp>
        <p:nvSpPr>
          <p:cNvPr id="42" name="Shape 39"/>
          <p:cNvSpPr/>
          <p:nvPr/>
        </p:nvSpPr>
        <p:spPr>
          <a:xfrm>
            <a:off x="5943600" y="1920240"/>
            <a:ext cx="2880360" cy="612648"/>
          </a:xfrm>
          <a:prstGeom prst="rect">
            <a:avLst/>
          </a:prstGeom>
          <a:solidFill>
            <a:srgbClr val="0A1628">
              <a:alpha val="82000"/>
            </a:srgbClr>
          </a:solidFill>
          <a:ln w="12700">
            <a:solidFill>
              <a:srgbClr val="1E3A5F"/>
            </a:solidFill>
            <a:prstDash val="solid"/>
          </a:ln>
        </p:spPr>
      </p:sp>
      <p:sp>
        <p:nvSpPr>
          <p:cNvPr id="43" name="Shape 40"/>
          <p:cNvSpPr/>
          <p:nvPr/>
        </p:nvSpPr>
        <p:spPr>
          <a:xfrm>
            <a:off x="5943600" y="1920240"/>
            <a:ext cx="2880360" cy="27432"/>
          </a:xfrm>
          <a:prstGeom prst="rect">
            <a:avLst/>
          </a:prstGeom>
          <a:solidFill>
            <a:srgbClr val="FFFFFF">
              <a:alpha val="26000"/>
            </a:srgbClr>
          </a:solidFill>
          <a:ln w="12700">
            <a:solidFill>
              <a:srgbClr val="FFFFFF">
                <a:alpha val="0"/>
              </a:srgbClr>
            </a:solidFill>
            <a:prstDash val="solid"/>
          </a:ln>
        </p:spPr>
      </p:sp>
      <p:sp>
        <p:nvSpPr>
          <p:cNvPr id="44" name="Shape 41"/>
          <p:cNvSpPr/>
          <p:nvPr/>
        </p:nvSpPr>
        <p:spPr>
          <a:xfrm>
            <a:off x="5943600" y="1920240"/>
            <a:ext cx="27432" cy="612648"/>
          </a:xfrm>
          <a:prstGeom prst="rect">
            <a:avLst/>
          </a:prstGeom>
          <a:solidFill>
            <a:srgbClr val="FFFFFF">
              <a:alpha val="18000"/>
            </a:srgbClr>
          </a:solidFill>
          <a:ln w="12700">
            <a:solidFill>
              <a:srgbClr val="FFFFFF">
                <a:alpha val="0"/>
              </a:srgbClr>
            </a:solidFill>
            <a:prstDash val="solid"/>
          </a:ln>
        </p:spPr>
      </p:sp>
      <p:sp>
        <p:nvSpPr>
          <p:cNvPr id="45" name="Shape 42"/>
          <p:cNvSpPr/>
          <p:nvPr/>
        </p:nvSpPr>
        <p:spPr>
          <a:xfrm>
            <a:off x="5943600" y="1920240"/>
            <a:ext cx="2880360" cy="50292"/>
          </a:xfrm>
          <a:prstGeom prst="rect">
            <a:avLst/>
          </a:prstGeom>
          <a:solidFill>
            <a:srgbClr val="FF6B6B"/>
          </a:solidFill>
          <a:ln w="12700">
            <a:solidFill>
              <a:srgbClr val="FF6B6B"/>
            </a:solidFill>
            <a:prstDash val="solid"/>
          </a:ln>
        </p:spPr>
      </p:sp>
      <p:sp>
        <p:nvSpPr>
          <p:cNvPr id="46" name="Text 43"/>
          <p:cNvSpPr/>
          <p:nvPr/>
        </p:nvSpPr>
        <p:spPr>
          <a:xfrm>
            <a:off x="5943600" y="2029968"/>
            <a:ext cx="2880360" cy="318577"/>
          </a:xfrm>
          <a:prstGeom prst="rect">
            <a:avLst/>
          </a:prstGeom>
          <a:noFill/>
          <a:ln/>
        </p:spPr>
        <p:txBody>
          <a:bodyPr wrap="square" lIns="0" tIns="0" rIns="0" bIns="0" rtlCol="0" anchor="b"/>
          <a:lstStyle/>
          <a:p>
            <a:pPr marL="0" indent="0" algn="ctr">
              <a:buNone/>
            </a:pPr>
            <a:r>
              <a:rPr lang="en-US" sz="1800" b="1" dirty="0">
                <a:solidFill>
                  <a:srgbClr val="FF6B6B"/>
                </a:solidFill>
              </a:rPr>
              <a:t>44.22K</a:t>
            </a:r>
            <a:endParaRPr lang="en-US" sz="1800" dirty="0"/>
          </a:p>
        </p:txBody>
      </p:sp>
      <p:sp>
        <p:nvSpPr>
          <p:cNvPr id="47" name="Text 44"/>
          <p:cNvSpPr/>
          <p:nvPr/>
        </p:nvSpPr>
        <p:spPr>
          <a:xfrm>
            <a:off x="5943600" y="2306208"/>
            <a:ext cx="2880360" cy="214427"/>
          </a:xfrm>
          <a:prstGeom prst="rect">
            <a:avLst/>
          </a:prstGeom>
          <a:noFill/>
          <a:ln/>
        </p:spPr>
        <p:txBody>
          <a:bodyPr wrap="square" lIns="0" tIns="0" rIns="0" bIns="0" rtlCol="0" anchor="t"/>
          <a:lstStyle/>
          <a:p>
            <a:pPr marL="0" indent="0" algn="ctr">
              <a:buNone/>
            </a:pPr>
            <a:r>
              <a:rPr lang="en-US" sz="800" dirty="0">
                <a:solidFill>
                  <a:srgbClr val="D4E6F1"/>
                </a:solidFill>
              </a:rPr>
              <a:t>Total Cancelled</a:t>
            </a:r>
            <a:endParaRPr lang="en-US" sz="800" dirty="0"/>
          </a:p>
        </p:txBody>
      </p:sp>
      <p:sp>
        <p:nvSpPr>
          <p:cNvPr id="48" name="Shape 45"/>
          <p:cNvSpPr/>
          <p:nvPr/>
        </p:nvSpPr>
        <p:spPr>
          <a:xfrm>
            <a:off x="5980176" y="2670048"/>
            <a:ext cx="2880360" cy="612648"/>
          </a:xfrm>
          <a:prstGeom prst="rect">
            <a:avLst/>
          </a:prstGeom>
          <a:solidFill>
            <a:srgbClr val="000000">
              <a:alpha val="28000"/>
            </a:srgbClr>
          </a:solidFill>
          <a:ln w="12700">
            <a:solidFill>
              <a:srgbClr val="000000">
                <a:alpha val="0"/>
              </a:srgbClr>
            </a:solidFill>
            <a:prstDash val="solid"/>
          </a:ln>
        </p:spPr>
      </p:sp>
      <p:sp>
        <p:nvSpPr>
          <p:cNvPr id="49" name="Shape 46"/>
          <p:cNvSpPr/>
          <p:nvPr/>
        </p:nvSpPr>
        <p:spPr>
          <a:xfrm>
            <a:off x="5943600" y="2633472"/>
            <a:ext cx="2880360" cy="612648"/>
          </a:xfrm>
          <a:prstGeom prst="rect">
            <a:avLst/>
          </a:prstGeom>
          <a:solidFill>
            <a:srgbClr val="0A1628">
              <a:alpha val="82000"/>
            </a:srgbClr>
          </a:solidFill>
          <a:ln w="12700">
            <a:solidFill>
              <a:srgbClr val="1E3A5F"/>
            </a:solidFill>
            <a:prstDash val="solid"/>
          </a:ln>
        </p:spPr>
      </p:sp>
      <p:sp>
        <p:nvSpPr>
          <p:cNvPr id="50" name="Shape 47"/>
          <p:cNvSpPr/>
          <p:nvPr/>
        </p:nvSpPr>
        <p:spPr>
          <a:xfrm>
            <a:off x="5943600" y="2633472"/>
            <a:ext cx="2880360" cy="27432"/>
          </a:xfrm>
          <a:prstGeom prst="rect">
            <a:avLst/>
          </a:prstGeom>
          <a:solidFill>
            <a:srgbClr val="FFFFFF">
              <a:alpha val="26000"/>
            </a:srgbClr>
          </a:solidFill>
          <a:ln w="12700">
            <a:solidFill>
              <a:srgbClr val="FFFFFF">
                <a:alpha val="0"/>
              </a:srgbClr>
            </a:solidFill>
            <a:prstDash val="solid"/>
          </a:ln>
        </p:spPr>
      </p:sp>
      <p:sp>
        <p:nvSpPr>
          <p:cNvPr id="51" name="Shape 48"/>
          <p:cNvSpPr/>
          <p:nvPr/>
        </p:nvSpPr>
        <p:spPr>
          <a:xfrm>
            <a:off x="5943600" y="2633472"/>
            <a:ext cx="27432" cy="612648"/>
          </a:xfrm>
          <a:prstGeom prst="rect">
            <a:avLst/>
          </a:prstGeom>
          <a:solidFill>
            <a:srgbClr val="FFFFFF">
              <a:alpha val="18000"/>
            </a:srgbClr>
          </a:solidFill>
          <a:ln w="12700">
            <a:solidFill>
              <a:srgbClr val="FFFFFF">
                <a:alpha val="0"/>
              </a:srgbClr>
            </a:solidFill>
            <a:prstDash val="solid"/>
          </a:ln>
        </p:spPr>
      </p:sp>
      <p:sp>
        <p:nvSpPr>
          <p:cNvPr id="52" name="Shape 49"/>
          <p:cNvSpPr/>
          <p:nvPr/>
        </p:nvSpPr>
        <p:spPr>
          <a:xfrm>
            <a:off x="5943600" y="2633472"/>
            <a:ext cx="2880360" cy="50292"/>
          </a:xfrm>
          <a:prstGeom prst="rect">
            <a:avLst/>
          </a:prstGeom>
          <a:solidFill>
            <a:srgbClr val="00B4FF"/>
          </a:solidFill>
          <a:ln w="12700">
            <a:solidFill>
              <a:srgbClr val="00B4FF"/>
            </a:solidFill>
            <a:prstDash val="solid"/>
          </a:ln>
        </p:spPr>
      </p:sp>
      <p:sp>
        <p:nvSpPr>
          <p:cNvPr id="53" name="Text 50"/>
          <p:cNvSpPr/>
          <p:nvPr/>
        </p:nvSpPr>
        <p:spPr>
          <a:xfrm>
            <a:off x="5943600" y="2743200"/>
            <a:ext cx="2880360" cy="318577"/>
          </a:xfrm>
          <a:prstGeom prst="rect">
            <a:avLst/>
          </a:prstGeom>
          <a:noFill/>
          <a:ln/>
        </p:spPr>
        <p:txBody>
          <a:bodyPr wrap="square" lIns="0" tIns="0" rIns="0" bIns="0" rtlCol="0" anchor="b"/>
          <a:lstStyle/>
          <a:p>
            <a:pPr marL="0" indent="0" algn="ctr">
              <a:buNone/>
            </a:pPr>
            <a:r>
              <a:rPr lang="en-US" sz="1800" b="1" dirty="0">
                <a:solidFill>
                  <a:srgbClr val="00B4FF"/>
                </a:solidFill>
              </a:rPr>
              <a:t>1.21K</a:t>
            </a:r>
            <a:endParaRPr lang="en-US" sz="1800" dirty="0"/>
          </a:p>
        </p:txBody>
      </p:sp>
      <p:sp>
        <p:nvSpPr>
          <p:cNvPr id="54" name="Text 51"/>
          <p:cNvSpPr/>
          <p:nvPr/>
        </p:nvSpPr>
        <p:spPr>
          <a:xfrm>
            <a:off x="5943600" y="3019440"/>
            <a:ext cx="2880360" cy="214427"/>
          </a:xfrm>
          <a:prstGeom prst="rect">
            <a:avLst/>
          </a:prstGeom>
          <a:noFill/>
          <a:ln/>
        </p:spPr>
        <p:txBody>
          <a:bodyPr wrap="square" lIns="0" tIns="0" rIns="0" bIns="0" rtlCol="0" anchor="t"/>
          <a:lstStyle/>
          <a:p>
            <a:pPr marL="0" indent="0" algn="ctr">
              <a:buNone/>
            </a:pPr>
            <a:r>
              <a:rPr lang="en-US" sz="800" dirty="0">
                <a:solidFill>
                  <a:srgbClr val="D4E6F1"/>
                </a:solidFill>
              </a:rPr>
              <a:t>No Show Count</a:t>
            </a:r>
            <a:endParaRPr lang="en-US" sz="800" dirty="0"/>
          </a:p>
        </p:txBody>
      </p:sp>
      <p:sp>
        <p:nvSpPr>
          <p:cNvPr id="55" name="Shape 52"/>
          <p:cNvSpPr/>
          <p:nvPr/>
        </p:nvSpPr>
        <p:spPr>
          <a:xfrm>
            <a:off x="5980176" y="3383280"/>
            <a:ext cx="2880360" cy="612648"/>
          </a:xfrm>
          <a:prstGeom prst="rect">
            <a:avLst/>
          </a:prstGeom>
          <a:solidFill>
            <a:srgbClr val="000000">
              <a:alpha val="28000"/>
            </a:srgbClr>
          </a:solidFill>
          <a:ln w="12700">
            <a:solidFill>
              <a:srgbClr val="000000">
                <a:alpha val="0"/>
              </a:srgbClr>
            </a:solidFill>
            <a:prstDash val="solid"/>
          </a:ln>
        </p:spPr>
      </p:sp>
      <p:sp>
        <p:nvSpPr>
          <p:cNvPr id="56" name="Shape 53"/>
          <p:cNvSpPr/>
          <p:nvPr/>
        </p:nvSpPr>
        <p:spPr>
          <a:xfrm>
            <a:off x="5943600" y="3346704"/>
            <a:ext cx="2880360" cy="612648"/>
          </a:xfrm>
          <a:prstGeom prst="rect">
            <a:avLst/>
          </a:prstGeom>
          <a:solidFill>
            <a:srgbClr val="0A1628">
              <a:alpha val="82000"/>
            </a:srgbClr>
          </a:solidFill>
          <a:ln w="12700">
            <a:solidFill>
              <a:srgbClr val="1E3A5F"/>
            </a:solidFill>
            <a:prstDash val="solid"/>
          </a:ln>
        </p:spPr>
      </p:sp>
      <p:sp>
        <p:nvSpPr>
          <p:cNvPr id="57" name="Shape 54"/>
          <p:cNvSpPr/>
          <p:nvPr/>
        </p:nvSpPr>
        <p:spPr>
          <a:xfrm>
            <a:off x="5943600" y="3346704"/>
            <a:ext cx="2880360" cy="27432"/>
          </a:xfrm>
          <a:prstGeom prst="rect">
            <a:avLst/>
          </a:prstGeom>
          <a:solidFill>
            <a:srgbClr val="FFFFFF">
              <a:alpha val="26000"/>
            </a:srgbClr>
          </a:solidFill>
          <a:ln w="12700">
            <a:solidFill>
              <a:srgbClr val="FFFFFF">
                <a:alpha val="0"/>
              </a:srgbClr>
            </a:solidFill>
            <a:prstDash val="solid"/>
          </a:ln>
        </p:spPr>
      </p:sp>
      <p:sp>
        <p:nvSpPr>
          <p:cNvPr id="58" name="Shape 55"/>
          <p:cNvSpPr/>
          <p:nvPr/>
        </p:nvSpPr>
        <p:spPr>
          <a:xfrm>
            <a:off x="5943600" y="3346704"/>
            <a:ext cx="27432" cy="612648"/>
          </a:xfrm>
          <a:prstGeom prst="rect">
            <a:avLst/>
          </a:prstGeom>
          <a:solidFill>
            <a:srgbClr val="FFFFFF">
              <a:alpha val="18000"/>
            </a:srgbClr>
          </a:solidFill>
          <a:ln w="12700">
            <a:solidFill>
              <a:srgbClr val="FFFFFF">
                <a:alpha val="0"/>
              </a:srgbClr>
            </a:solidFill>
            <a:prstDash val="solid"/>
          </a:ln>
        </p:spPr>
      </p:sp>
      <p:sp>
        <p:nvSpPr>
          <p:cNvPr id="59" name="Shape 56"/>
          <p:cNvSpPr/>
          <p:nvPr/>
        </p:nvSpPr>
        <p:spPr>
          <a:xfrm>
            <a:off x="5943600" y="3346704"/>
            <a:ext cx="2880360" cy="50292"/>
          </a:xfrm>
          <a:prstGeom prst="rect">
            <a:avLst/>
          </a:prstGeom>
          <a:solidFill>
            <a:srgbClr val="FF6B6B"/>
          </a:solidFill>
          <a:ln w="12700">
            <a:solidFill>
              <a:srgbClr val="FF6B6B"/>
            </a:solidFill>
            <a:prstDash val="solid"/>
          </a:ln>
        </p:spPr>
      </p:sp>
      <p:sp>
        <p:nvSpPr>
          <p:cNvPr id="60" name="Text 57"/>
          <p:cNvSpPr/>
          <p:nvPr/>
        </p:nvSpPr>
        <p:spPr>
          <a:xfrm>
            <a:off x="5943600" y="3456432"/>
            <a:ext cx="2880360" cy="318577"/>
          </a:xfrm>
          <a:prstGeom prst="rect">
            <a:avLst/>
          </a:prstGeom>
          <a:noFill/>
          <a:ln/>
        </p:spPr>
        <p:txBody>
          <a:bodyPr wrap="square" lIns="0" tIns="0" rIns="0" bIns="0" rtlCol="0" anchor="b"/>
          <a:lstStyle/>
          <a:p>
            <a:pPr marL="0" indent="0" algn="ctr">
              <a:buNone/>
            </a:pPr>
            <a:r>
              <a:rPr lang="en-US" sz="1800" b="1" dirty="0">
                <a:solidFill>
                  <a:srgbClr val="FF6B6B"/>
                </a:solidFill>
              </a:rPr>
              <a:t>41.73%</a:t>
            </a:r>
            <a:endParaRPr lang="en-US" sz="1800" dirty="0"/>
          </a:p>
        </p:txBody>
      </p:sp>
      <p:sp>
        <p:nvSpPr>
          <p:cNvPr id="61" name="Text 58"/>
          <p:cNvSpPr/>
          <p:nvPr/>
        </p:nvSpPr>
        <p:spPr>
          <a:xfrm>
            <a:off x="5943600" y="3732672"/>
            <a:ext cx="2880360" cy="214427"/>
          </a:xfrm>
          <a:prstGeom prst="rect">
            <a:avLst/>
          </a:prstGeom>
          <a:noFill/>
          <a:ln/>
        </p:spPr>
        <p:txBody>
          <a:bodyPr wrap="square" lIns="0" tIns="0" rIns="0" bIns="0" rtlCol="0" anchor="t"/>
          <a:lstStyle/>
          <a:p>
            <a:pPr marL="0" indent="0" algn="ctr">
              <a:buNone/>
            </a:pPr>
            <a:r>
              <a:rPr lang="en-US" sz="800" dirty="0">
                <a:solidFill>
                  <a:srgbClr val="D4E6F1"/>
                </a:solidFill>
              </a:rPr>
              <a:t>City Hotel Cancel Rate</a:t>
            </a:r>
            <a:endParaRPr lang="en-US" sz="800" dirty="0"/>
          </a:p>
        </p:txBody>
      </p:sp>
      <p:sp>
        <p:nvSpPr>
          <p:cNvPr id="62" name="Shape 59"/>
          <p:cNvSpPr/>
          <p:nvPr/>
        </p:nvSpPr>
        <p:spPr>
          <a:xfrm>
            <a:off x="5980176" y="4133088"/>
            <a:ext cx="2880360" cy="630936"/>
          </a:xfrm>
          <a:prstGeom prst="rect">
            <a:avLst/>
          </a:prstGeom>
          <a:solidFill>
            <a:srgbClr val="000000">
              <a:alpha val="28000"/>
            </a:srgbClr>
          </a:solidFill>
          <a:ln w="12700">
            <a:solidFill>
              <a:srgbClr val="000000">
                <a:alpha val="0"/>
              </a:srgbClr>
            </a:solidFill>
            <a:prstDash val="solid"/>
          </a:ln>
        </p:spPr>
      </p:sp>
      <p:sp>
        <p:nvSpPr>
          <p:cNvPr id="63" name="Shape 60"/>
          <p:cNvSpPr/>
          <p:nvPr/>
        </p:nvSpPr>
        <p:spPr>
          <a:xfrm>
            <a:off x="5943600" y="4096512"/>
            <a:ext cx="2880360" cy="630936"/>
          </a:xfrm>
          <a:prstGeom prst="rect">
            <a:avLst/>
          </a:prstGeom>
          <a:solidFill>
            <a:srgbClr val="0A1628">
              <a:alpha val="82000"/>
            </a:srgbClr>
          </a:solidFill>
          <a:ln w="12700">
            <a:solidFill>
              <a:srgbClr val="1E3A5F"/>
            </a:solidFill>
            <a:prstDash val="solid"/>
          </a:ln>
        </p:spPr>
      </p:sp>
      <p:sp>
        <p:nvSpPr>
          <p:cNvPr id="64" name="Shape 61"/>
          <p:cNvSpPr/>
          <p:nvPr/>
        </p:nvSpPr>
        <p:spPr>
          <a:xfrm>
            <a:off x="5943600" y="4096512"/>
            <a:ext cx="2880360" cy="27432"/>
          </a:xfrm>
          <a:prstGeom prst="rect">
            <a:avLst/>
          </a:prstGeom>
          <a:solidFill>
            <a:srgbClr val="FFFFFF">
              <a:alpha val="26000"/>
            </a:srgbClr>
          </a:solidFill>
          <a:ln w="12700">
            <a:solidFill>
              <a:srgbClr val="FFFFFF">
                <a:alpha val="0"/>
              </a:srgbClr>
            </a:solidFill>
            <a:prstDash val="solid"/>
          </a:ln>
        </p:spPr>
      </p:sp>
      <p:sp>
        <p:nvSpPr>
          <p:cNvPr id="65" name="Shape 62"/>
          <p:cNvSpPr/>
          <p:nvPr/>
        </p:nvSpPr>
        <p:spPr>
          <a:xfrm>
            <a:off x="5943600" y="4096512"/>
            <a:ext cx="27432" cy="630936"/>
          </a:xfrm>
          <a:prstGeom prst="rect">
            <a:avLst/>
          </a:prstGeom>
          <a:solidFill>
            <a:srgbClr val="FFFFFF">
              <a:alpha val="18000"/>
            </a:srgbClr>
          </a:solidFill>
          <a:ln w="12700">
            <a:solidFill>
              <a:srgbClr val="FFFFFF">
                <a:alpha val="0"/>
              </a:srgbClr>
            </a:solidFill>
            <a:prstDash val="solid"/>
          </a:ln>
        </p:spPr>
      </p:sp>
      <p:sp>
        <p:nvSpPr>
          <p:cNvPr id="66" name="Shape 63"/>
          <p:cNvSpPr/>
          <p:nvPr/>
        </p:nvSpPr>
        <p:spPr>
          <a:xfrm>
            <a:off x="5943600" y="4096512"/>
            <a:ext cx="2880360" cy="50292"/>
          </a:xfrm>
          <a:prstGeom prst="rect">
            <a:avLst/>
          </a:prstGeom>
          <a:solidFill>
            <a:srgbClr val="F5C518"/>
          </a:solidFill>
          <a:ln w="12700">
            <a:solidFill>
              <a:srgbClr val="F5C518"/>
            </a:solidFill>
            <a:prstDash val="solid"/>
          </a:ln>
        </p:spPr>
      </p:sp>
      <p:sp>
        <p:nvSpPr>
          <p:cNvPr id="67" name="Text 64"/>
          <p:cNvSpPr/>
          <p:nvPr/>
        </p:nvSpPr>
        <p:spPr>
          <a:xfrm>
            <a:off x="6035040" y="4133088"/>
            <a:ext cx="2651760" cy="182880"/>
          </a:xfrm>
          <a:prstGeom prst="rect">
            <a:avLst/>
          </a:prstGeom>
          <a:noFill/>
          <a:ln/>
        </p:spPr>
        <p:txBody>
          <a:bodyPr wrap="square" lIns="0" tIns="0" rIns="0" bIns="0" rtlCol="0" anchor="ctr"/>
          <a:lstStyle/>
          <a:p>
            <a:pPr marL="0" indent="0">
              <a:buNone/>
            </a:pPr>
            <a:r>
              <a:rPr lang="en-US" sz="750" b="1" kern="0" spc="150" dirty="0">
                <a:solidFill>
                  <a:srgbClr val="F5C518"/>
                </a:solidFill>
              </a:rPr>
              <a:t>KEY INSIGHTS</a:t>
            </a:r>
            <a:endParaRPr lang="en-US" sz="750" dirty="0"/>
          </a:p>
        </p:txBody>
      </p:sp>
      <p:sp>
        <p:nvSpPr>
          <p:cNvPr id="68" name="Text 65"/>
          <p:cNvSpPr/>
          <p:nvPr/>
        </p:nvSpPr>
        <p:spPr>
          <a:xfrm>
            <a:off x="6035040" y="4315968"/>
            <a:ext cx="2697480" cy="347472"/>
          </a:xfrm>
          <a:prstGeom prst="rect">
            <a:avLst/>
          </a:prstGeom>
          <a:noFill/>
          <a:ln/>
        </p:spPr>
        <p:txBody>
          <a:bodyPr wrap="square" lIns="0" tIns="0" rIns="0" bIns="0" rtlCol="0" anchor="ctr"/>
          <a:lstStyle/>
          <a:p>
            <a:pPr marL="0" indent="0">
              <a:buNone/>
            </a:pPr>
            <a:r>
              <a:rPr lang="en-US" sz="700" dirty="0">
                <a:solidFill>
                  <a:srgbClr val="D4E6F1"/>
                </a:solidFill>
              </a:rPr>
              <a:t>June highest cancellation month at 41.46%   ·   City Hotel cancels far exceed Resort (27.76%)   ·   No Deposit bookings: ~30K cancellations   ·   0–7 day lead time shows lowest cancellations</a:t>
            </a:r>
            <a:endParaRPr lang="en-US" sz="700" dirty="0"/>
          </a:p>
        </p:txBody>
      </p:sp>
      <p:sp>
        <p:nvSpPr>
          <p:cNvPr id="69" name="Shape 66"/>
          <p:cNvSpPr/>
          <p:nvPr/>
        </p:nvSpPr>
        <p:spPr>
          <a:xfrm>
            <a:off x="0" y="4983480"/>
            <a:ext cx="9144000" cy="160020"/>
          </a:xfrm>
          <a:prstGeom prst="rect">
            <a:avLst/>
          </a:prstGeom>
          <a:solidFill>
            <a:srgbClr val="1A2E45"/>
          </a:solidFill>
          <a:ln w="12700">
            <a:solidFill>
              <a:srgbClr val="1A2E45"/>
            </a:solidFill>
            <a:prstDash val="solid"/>
          </a:ln>
        </p:spPr>
      </p:sp>
      <p:sp>
        <p:nvSpPr>
          <p:cNvPr id="70" name="Shape 67"/>
          <p:cNvSpPr/>
          <p:nvPr/>
        </p:nvSpPr>
        <p:spPr>
          <a:xfrm>
            <a:off x="0" y="4983480"/>
            <a:ext cx="36576" cy="160020"/>
          </a:xfrm>
          <a:prstGeom prst="rect">
            <a:avLst/>
          </a:prstGeom>
          <a:solidFill>
            <a:srgbClr val="F5C518"/>
          </a:solidFill>
          <a:ln w="12700">
            <a:solidFill>
              <a:srgbClr val="F5C518"/>
            </a:solidFill>
            <a:prstDash val="solid"/>
          </a:ln>
        </p:spPr>
      </p:sp>
      <p:sp>
        <p:nvSpPr>
          <p:cNvPr id="71" name="Text 68"/>
          <p:cNvSpPr/>
          <p:nvPr/>
        </p:nvSpPr>
        <p:spPr>
          <a:xfrm>
            <a:off x="137160" y="4983480"/>
            <a:ext cx="8229600" cy="160020"/>
          </a:xfrm>
          <a:prstGeom prst="rect">
            <a:avLst/>
          </a:prstGeom>
          <a:noFill/>
          <a:ln/>
        </p:spPr>
        <p:txBody>
          <a:bodyPr wrap="square" lIns="0" tIns="0" rIns="0" bIns="0" rtlCol="0" anchor="ctr"/>
          <a:lstStyle/>
          <a:p>
            <a:pPr marL="0" indent="0">
              <a:buNone/>
            </a:pPr>
            <a:r>
              <a:rPr lang="en-US" sz="750" dirty="0">
                <a:solidFill>
                  <a:srgbClr val="6B8CAE"/>
                </a:solidFill>
              </a:rPr>
              <a:t>HotelRevAI  ·  Infosys Springboard Internship 6.0  ·  Batch 13 — Group 2, Team D</a:t>
            </a:r>
            <a:endParaRPr lang="en-US" sz="750" dirty="0"/>
          </a:p>
        </p:txBody>
      </p:sp>
      <p:sp>
        <p:nvSpPr>
          <p:cNvPr id="72" name="Text 69"/>
          <p:cNvSpPr/>
          <p:nvPr/>
        </p:nvSpPr>
        <p:spPr>
          <a:xfrm>
            <a:off x="8686800" y="4983480"/>
            <a:ext cx="411480" cy="160020"/>
          </a:xfrm>
          <a:prstGeom prst="rect">
            <a:avLst/>
          </a:prstGeom>
          <a:noFill/>
          <a:ln/>
        </p:spPr>
        <p:txBody>
          <a:bodyPr wrap="square" lIns="0" tIns="0" rIns="0" bIns="0" rtlCol="0" anchor="ctr"/>
          <a:lstStyle/>
          <a:p>
            <a:pPr marL="0" indent="0" algn="r">
              <a:buNone/>
            </a:pPr>
            <a:r>
              <a:rPr lang="en-US" sz="750" b="1" dirty="0">
                <a:solidFill>
                  <a:srgbClr val="F5C518"/>
                </a:solidFill>
              </a:rPr>
              <a:t>11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0A14"/>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0D2137"/>
            </a:solidFill>
            <a:prstDash val="solid"/>
          </a:ln>
        </p:spPr>
      </p:sp>
      <p:sp>
        <p:nvSpPr>
          <p:cNvPr id="3" name="Shape 1"/>
          <p:cNvSpPr/>
          <p:nvPr/>
        </p:nvSpPr>
        <p:spPr>
          <a:xfrm>
            <a:off x="914400" y="0"/>
            <a:ext cx="0" cy="5143500"/>
          </a:xfrm>
          <a:prstGeom prst="line">
            <a:avLst/>
          </a:prstGeom>
          <a:noFill/>
          <a:ln w="6350">
            <a:solidFill>
              <a:srgbClr val="0D2137"/>
            </a:solidFill>
            <a:prstDash val="solid"/>
          </a:ln>
        </p:spPr>
      </p:sp>
      <p:sp>
        <p:nvSpPr>
          <p:cNvPr id="4" name="Shape 2"/>
          <p:cNvSpPr/>
          <p:nvPr/>
        </p:nvSpPr>
        <p:spPr>
          <a:xfrm>
            <a:off x="1828800" y="0"/>
            <a:ext cx="0" cy="5143500"/>
          </a:xfrm>
          <a:prstGeom prst="line">
            <a:avLst/>
          </a:prstGeom>
          <a:noFill/>
          <a:ln w="6350">
            <a:solidFill>
              <a:srgbClr val="0D2137"/>
            </a:solidFill>
            <a:prstDash val="solid"/>
          </a:ln>
        </p:spPr>
      </p:sp>
      <p:sp>
        <p:nvSpPr>
          <p:cNvPr id="5" name="Shape 3"/>
          <p:cNvSpPr/>
          <p:nvPr/>
        </p:nvSpPr>
        <p:spPr>
          <a:xfrm>
            <a:off x="2743200" y="0"/>
            <a:ext cx="0" cy="5143500"/>
          </a:xfrm>
          <a:prstGeom prst="line">
            <a:avLst/>
          </a:prstGeom>
          <a:noFill/>
          <a:ln w="6350">
            <a:solidFill>
              <a:srgbClr val="0D2137"/>
            </a:solidFill>
            <a:prstDash val="solid"/>
          </a:ln>
        </p:spPr>
      </p:sp>
      <p:sp>
        <p:nvSpPr>
          <p:cNvPr id="6" name="Shape 4"/>
          <p:cNvSpPr/>
          <p:nvPr/>
        </p:nvSpPr>
        <p:spPr>
          <a:xfrm>
            <a:off x="3657600" y="0"/>
            <a:ext cx="0" cy="5143500"/>
          </a:xfrm>
          <a:prstGeom prst="line">
            <a:avLst/>
          </a:prstGeom>
          <a:noFill/>
          <a:ln w="6350">
            <a:solidFill>
              <a:srgbClr val="0D2137"/>
            </a:solidFill>
            <a:prstDash val="solid"/>
          </a:ln>
        </p:spPr>
      </p:sp>
      <p:sp>
        <p:nvSpPr>
          <p:cNvPr id="7" name="Shape 5"/>
          <p:cNvSpPr/>
          <p:nvPr/>
        </p:nvSpPr>
        <p:spPr>
          <a:xfrm>
            <a:off x="4572000" y="0"/>
            <a:ext cx="0" cy="5143500"/>
          </a:xfrm>
          <a:prstGeom prst="line">
            <a:avLst/>
          </a:prstGeom>
          <a:noFill/>
          <a:ln w="6350">
            <a:solidFill>
              <a:srgbClr val="0D2137"/>
            </a:solidFill>
            <a:prstDash val="solid"/>
          </a:ln>
        </p:spPr>
      </p:sp>
      <p:sp>
        <p:nvSpPr>
          <p:cNvPr id="8" name="Shape 6"/>
          <p:cNvSpPr/>
          <p:nvPr/>
        </p:nvSpPr>
        <p:spPr>
          <a:xfrm>
            <a:off x="5486400" y="0"/>
            <a:ext cx="0" cy="5143500"/>
          </a:xfrm>
          <a:prstGeom prst="line">
            <a:avLst/>
          </a:prstGeom>
          <a:noFill/>
          <a:ln w="6350">
            <a:solidFill>
              <a:srgbClr val="0D2137"/>
            </a:solidFill>
            <a:prstDash val="solid"/>
          </a:ln>
        </p:spPr>
      </p:sp>
      <p:sp>
        <p:nvSpPr>
          <p:cNvPr id="9" name="Shape 7"/>
          <p:cNvSpPr/>
          <p:nvPr/>
        </p:nvSpPr>
        <p:spPr>
          <a:xfrm>
            <a:off x="6400800" y="0"/>
            <a:ext cx="0" cy="5143500"/>
          </a:xfrm>
          <a:prstGeom prst="line">
            <a:avLst/>
          </a:prstGeom>
          <a:noFill/>
          <a:ln w="6350">
            <a:solidFill>
              <a:srgbClr val="0D2137"/>
            </a:solidFill>
            <a:prstDash val="solid"/>
          </a:ln>
        </p:spPr>
      </p:sp>
      <p:sp>
        <p:nvSpPr>
          <p:cNvPr id="10" name="Shape 8"/>
          <p:cNvSpPr/>
          <p:nvPr/>
        </p:nvSpPr>
        <p:spPr>
          <a:xfrm>
            <a:off x="7315200" y="0"/>
            <a:ext cx="0" cy="5143500"/>
          </a:xfrm>
          <a:prstGeom prst="line">
            <a:avLst/>
          </a:prstGeom>
          <a:noFill/>
          <a:ln w="6350">
            <a:solidFill>
              <a:srgbClr val="0D2137"/>
            </a:solidFill>
            <a:prstDash val="solid"/>
          </a:ln>
        </p:spPr>
      </p:sp>
      <p:sp>
        <p:nvSpPr>
          <p:cNvPr id="11" name="Shape 9"/>
          <p:cNvSpPr/>
          <p:nvPr/>
        </p:nvSpPr>
        <p:spPr>
          <a:xfrm>
            <a:off x="8229600" y="0"/>
            <a:ext cx="0" cy="5143500"/>
          </a:xfrm>
          <a:prstGeom prst="line">
            <a:avLst/>
          </a:prstGeom>
          <a:noFill/>
          <a:ln w="6350">
            <a:solidFill>
              <a:srgbClr val="0D2137"/>
            </a:solidFill>
            <a:prstDash val="solid"/>
          </a:ln>
        </p:spPr>
      </p:sp>
      <p:sp>
        <p:nvSpPr>
          <p:cNvPr id="12" name="Shape 10"/>
          <p:cNvSpPr/>
          <p:nvPr/>
        </p:nvSpPr>
        <p:spPr>
          <a:xfrm>
            <a:off x="9144000" y="0"/>
            <a:ext cx="0" cy="5143500"/>
          </a:xfrm>
          <a:prstGeom prst="line">
            <a:avLst/>
          </a:prstGeom>
          <a:noFill/>
          <a:ln w="6350">
            <a:solidFill>
              <a:srgbClr val="0D2137"/>
            </a:solidFill>
            <a:prstDash val="solid"/>
          </a:ln>
        </p:spPr>
      </p:sp>
      <p:sp>
        <p:nvSpPr>
          <p:cNvPr id="13" name="Shape 11"/>
          <p:cNvSpPr/>
          <p:nvPr/>
        </p:nvSpPr>
        <p:spPr>
          <a:xfrm>
            <a:off x="0" y="0"/>
            <a:ext cx="9144000" cy="0"/>
          </a:xfrm>
          <a:prstGeom prst="line">
            <a:avLst/>
          </a:prstGeom>
          <a:noFill/>
          <a:ln w="6350">
            <a:solidFill>
              <a:srgbClr val="0D2137"/>
            </a:solidFill>
            <a:prstDash val="solid"/>
          </a:ln>
        </p:spPr>
      </p:sp>
      <p:sp>
        <p:nvSpPr>
          <p:cNvPr id="14" name="Shape 12"/>
          <p:cNvSpPr/>
          <p:nvPr/>
        </p:nvSpPr>
        <p:spPr>
          <a:xfrm>
            <a:off x="0" y="859536"/>
            <a:ext cx="9144000" cy="0"/>
          </a:xfrm>
          <a:prstGeom prst="line">
            <a:avLst/>
          </a:prstGeom>
          <a:noFill/>
          <a:ln w="6350">
            <a:solidFill>
              <a:srgbClr val="0D2137"/>
            </a:solidFill>
            <a:prstDash val="solid"/>
          </a:ln>
        </p:spPr>
      </p:sp>
      <p:sp>
        <p:nvSpPr>
          <p:cNvPr id="15" name="Shape 13"/>
          <p:cNvSpPr/>
          <p:nvPr/>
        </p:nvSpPr>
        <p:spPr>
          <a:xfrm>
            <a:off x="0" y="1719072"/>
            <a:ext cx="9144000" cy="0"/>
          </a:xfrm>
          <a:prstGeom prst="line">
            <a:avLst/>
          </a:prstGeom>
          <a:noFill/>
          <a:ln w="6350">
            <a:solidFill>
              <a:srgbClr val="0D2137"/>
            </a:solidFill>
            <a:prstDash val="solid"/>
          </a:ln>
        </p:spPr>
      </p:sp>
      <p:sp>
        <p:nvSpPr>
          <p:cNvPr id="16" name="Shape 14"/>
          <p:cNvSpPr/>
          <p:nvPr/>
        </p:nvSpPr>
        <p:spPr>
          <a:xfrm>
            <a:off x="0" y="2578608"/>
            <a:ext cx="9144000" cy="0"/>
          </a:xfrm>
          <a:prstGeom prst="line">
            <a:avLst/>
          </a:prstGeom>
          <a:noFill/>
          <a:ln w="6350">
            <a:solidFill>
              <a:srgbClr val="0D2137"/>
            </a:solidFill>
            <a:prstDash val="solid"/>
          </a:ln>
        </p:spPr>
      </p:sp>
      <p:sp>
        <p:nvSpPr>
          <p:cNvPr id="17" name="Shape 15"/>
          <p:cNvSpPr/>
          <p:nvPr/>
        </p:nvSpPr>
        <p:spPr>
          <a:xfrm>
            <a:off x="0" y="3438144"/>
            <a:ext cx="9144000" cy="0"/>
          </a:xfrm>
          <a:prstGeom prst="line">
            <a:avLst/>
          </a:prstGeom>
          <a:noFill/>
          <a:ln w="6350">
            <a:solidFill>
              <a:srgbClr val="0D2137"/>
            </a:solidFill>
            <a:prstDash val="solid"/>
          </a:ln>
        </p:spPr>
      </p:sp>
      <p:sp>
        <p:nvSpPr>
          <p:cNvPr id="18" name="Shape 16"/>
          <p:cNvSpPr/>
          <p:nvPr/>
        </p:nvSpPr>
        <p:spPr>
          <a:xfrm>
            <a:off x="0" y="4297680"/>
            <a:ext cx="9144000" cy="0"/>
          </a:xfrm>
          <a:prstGeom prst="line">
            <a:avLst/>
          </a:prstGeom>
          <a:noFill/>
          <a:ln w="6350">
            <a:solidFill>
              <a:srgbClr val="0D2137"/>
            </a:solidFill>
            <a:prstDash val="solid"/>
          </a:ln>
        </p:spPr>
      </p:sp>
      <p:sp>
        <p:nvSpPr>
          <p:cNvPr id="19" name="Shape 17"/>
          <p:cNvSpPr/>
          <p:nvPr/>
        </p:nvSpPr>
        <p:spPr>
          <a:xfrm>
            <a:off x="0" y="5157216"/>
            <a:ext cx="9144000" cy="0"/>
          </a:xfrm>
          <a:prstGeom prst="line">
            <a:avLst/>
          </a:prstGeom>
          <a:noFill/>
          <a:ln w="6350">
            <a:solidFill>
              <a:srgbClr val="0D2137"/>
            </a:solidFill>
            <a:prstDash val="solid"/>
          </a:ln>
        </p:spPr>
      </p:sp>
      <p:sp>
        <p:nvSpPr>
          <p:cNvPr id="20" name="Shape 18"/>
          <p:cNvSpPr/>
          <p:nvPr/>
        </p:nvSpPr>
        <p:spPr>
          <a:xfrm>
            <a:off x="7406640" y="3291840"/>
            <a:ext cx="2560320" cy="2560320"/>
          </a:xfrm>
          <a:prstGeom prst="ellipse">
            <a:avLst/>
          </a:prstGeom>
          <a:solidFill>
            <a:srgbClr val="00B4FF">
              <a:alpha val="10000"/>
            </a:srgbClr>
          </a:solidFill>
          <a:ln w="12700">
            <a:solidFill>
              <a:srgbClr val="00B4FF">
                <a:alpha val="5000"/>
              </a:srgbClr>
            </a:solidFill>
            <a:prstDash val="solid"/>
          </a:ln>
        </p:spPr>
      </p:sp>
      <p:sp>
        <p:nvSpPr>
          <p:cNvPr id="21" name="Shape 19"/>
          <p:cNvSpPr/>
          <p:nvPr/>
        </p:nvSpPr>
        <p:spPr>
          <a:xfrm>
            <a:off x="8046720" y="3931920"/>
            <a:ext cx="1280160" cy="1280160"/>
          </a:xfrm>
          <a:prstGeom prst="ellipse">
            <a:avLst/>
          </a:prstGeom>
          <a:solidFill>
            <a:srgbClr val="00B4FF">
              <a:alpha val="2000"/>
            </a:srgbClr>
          </a:solidFill>
          <a:ln w="12700">
            <a:solidFill>
              <a:srgbClr val="00B4FF">
                <a:alpha val="0"/>
              </a:srgbClr>
            </a:solidFill>
            <a:prstDash val="solid"/>
          </a:ln>
        </p:spPr>
      </p:sp>
      <p:sp>
        <p:nvSpPr>
          <p:cNvPr id="22" name="Shape 20"/>
          <p:cNvSpPr/>
          <p:nvPr/>
        </p:nvSpPr>
        <p:spPr>
          <a:xfrm>
            <a:off x="0" y="0"/>
            <a:ext cx="9144000" cy="50292"/>
          </a:xfrm>
          <a:prstGeom prst="rect">
            <a:avLst/>
          </a:prstGeom>
          <a:solidFill>
            <a:srgbClr val="F5C518"/>
          </a:solidFill>
          <a:ln w="12700">
            <a:solidFill>
              <a:srgbClr val="F5C518"/>
            </a:solidFill>
            <a:prstDash val="solid"/>
          </a:ln>
        </p:spPr>
      </p:sp>
      <p:sp>
        <p:nvSpPr>
          <p:cNvPr id="23" name="Shape 21"/>
          <p:cNvSpPr/>
          <p:nvPr/>
        </p:nvSpPr>
        <p:spPr>
          <a:xfrm>
            <a:off x="320040" y="182880"/>
            <a:ext cx="1737360" cy="246888"/>
          </a:xfrm>
          <a:prstGeom prst="rect">
            <a:avLst/>
          </a:prstGeom>
          <a:solidFill>
            <a:srgbClr val="003E7A"/>
          </a:solidFill>
          <a:ln w="12700">
            <a:solidFill>
              <a:srgbClr val="00B4FF"/>
            </a:solidFill>
            <a:prstDash val="solid"/>
          </a:ln>
        </p:spPr>
      </p:sp>
      <p:sp>
        <p:nvSpPr>
          <p:cNvPr id="24" name="Text 22"/>
          <p:cNvSpPr/>
          <p:nvPr/>
        </p:nvSpPr>
        <p:spPr>
          <a:xfrm>
            <a:off x="320040" y="182880"/>
            <a:ext cx="1737360" cy="246888"/>
          </a:xfrm>
          <a:prstGeom prst="rect">
            <a:avLst/>
          </a:prstGeom>
          <a:noFill/>
          <a:ln/>
        </p:spPr>
        <p:txBody>
          <a:bodyPr wrap="square" lIns="0" tIns="0" rIns="0" bIns="0" rtlCol="0" anchor="ctr"/>
          <a:lstStyle/>
          <a:p>
            <a:pPr marL="0" indent="0" algn="ctr">
              <a:buNone/>
            </a:pPr>
            <a:r>
              <a:rPr lang="en-US" sz="700" b="1" kern="0" spc="200" dirty="0">
                <a:solidFill>
                  <a:srgbClr val="00B4FF"/>
                </a:solidFill>
              </a:rPr>
              <a:t>DASHBOARD 5</a:t>
            </a:r>
            <a:endParaRPr lang="en-US" sz="700" dirty="0"/>
          </a:p>
        </p:txBody>
      </p:sp>
      <p:sp>
        <p:nvSpPr>
          <p:cNvPr id="25" name="Text 23"/>
          <p:cNvSpPr/>
          <p:nvPr/>
        </p:nvSpPr>
        <p:spPr>
          <a:xfrm>
            <a:off x="320040" y="521208"/>
            <a:ext cx="8503920" cy="512064"/>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Revenue Strategy &amp; Pricing Insights</a:t>
            </a:r>
            <a:endParaRPr lang="en-US" sz="2800" dirty="0"/>
          </a:p>
        </p:txBody>
      </p:sp>
      <p:sp>
        <p:nvSpPr>
          <p:cNvPr id="26" name="Shape 24"/>
          <p:cNvSpPr/>
          <p:nvPr/>
        </p:nvSpPr>
        <p:spPr>
          <a:xfrm>
            <a:off x="320040" y="1078992"/>
            <a:ext cx="1097280" cy="36576"/>
          </a:xfrm>
          <a:prstGeom prst="rect">
            <a:avLst/>
          </a:prstGeom>
          <a:solidFill>
            <a:srgbClr val="F5C518"/>
          </a:solidFill>
          <a:ln w="12700">
            <a:solidFill>
              <a:srgbClr val="F5C518"/>
            </a:solidFill>
            <a:prstDash val="solid"/>
          </a:ln>
        </p:spPr>
      </p:sp>
      <p:sp>
        <p:nvSpPr>
          <p:cNvPr id="27" name="Shape 25"/>
          <p:cNvSpPr/>
          <p:nvPr/>
        </p:nvSpPr>
        <p:spPr>
          <a:xfrm>
            <a:off x="1463040" y="1078992"/>
            <a:ext cx="7360920" cy="36576"/>
          </a:xfrm>
          <a:prstGeom prst="rect">
            <a:avLst/>
          </a:prstGeom>
          <a:solidFill>
            <a:srgbClr val="1A2E45"/>
          </a:solidFill>
          <a:ln w="12700">
            <a:solidFill>
              <a:srgbClr val="1A2E45"/>
            </a:solidFill>
            <a:prstDash val="solid"/>
          </a:ln>
        </p:spPr>
      </p:sp>
      <p:sp>
        <p:nvSpPr>
          <p:cNvPr id="28" name="Shape 26"/>
          <p:cNvSpPr/>
          <p:nvPr/>
        </p:nvSpPr>
        <p:spPr>
          <a:xfrm>
            <a:off x="356616" y="1243584"/>
            <a:ext cx="5440680" cy="3520440"/>
          </a:xfrm>
          <a:prstGeom prst="rect">
            <a:avLst/>
          </a:prstGeom>
          <a:solidFill>
            <a:srgbClr val="000000">
              <a:alpha val="28000"/>
            </a:srgbClr>
          </a:solidFill>
          <a:ln w="12700">
            <a:solidFill>
              <a:srgbClr val="000000">
                <a:alpha val="0"/>
              </a:srgbClr>
            </a:solidFill>
            <a:prstDash val="solid"/>
          </a:ln>
        </p:spPr>
      </p:sp>
      <p:sp>
        <p:nvSpPr>
          <p:cNvPr id="29" name="Shape 27"/>
          <p:cNvSpPr/>
          <p:nvPr/>
        </p:nvSpPr>
        <p:spPr>
          <a:xfrm>
            <a:off x="320040" y="1207008"/>
            <a:ext cx="5440680" cy="3520440"/>
          </a:xfrm>
          <a:prstGeom prst="rect">
            <a:avLst/>
          </a:prstGeom>
          <a:solidFill>
            <a:srgbClr val="0A1628">
              <a:alpha val="82000"/>
            </a:srgbClr>
          </a:solidFill>
          <a:ln w="12700">
            <a:solidFill>
              <a:srgbClr val="1E3A5F"/>
            </a:solidFill>
            <a:prstDash val="solid"/>
          </a:ln>
        </p:spPr>
      </p:sp>
      <p:sp>
        <p:nvSpPr>
          <p:cNvPr id="30" name="Shape 28"/>
          <p:cNvSpPr/>
          <p:nvPr/>
        </p:nvSpPr>
        <p:spPr>
          <a:xfrm>
            <a:off x="320040" y="1207008"/>
            <a:ext cx="5440680" cy="27432"/>
          </a:xfrm>
          <a:prstGeom prst="rect">
            <a:avLst/>
          </a:prstGeom>
          <a:solidFill>
            <a:srgbClr val="FFFFFF">
              <a:alpha val="26000"/>
            </a:srgbClr>
          </a:solidFill>
          <a:ln w="12700">
            <a:solidFill>
              <a:srgbClr val="FFFFFF">
                <a:alpha val="0"/>
              </a:srgbClr>
            </a:solidFill>
            <a:prstDash val="solid"/>
          </a:ln>
        </p:spPr>
      </p:sp>
      <p:sp>
        <p:nvSpPr>
          <p:cNvPr id="31" name="Shape 29"/>
          <p:cNvSpPr/>
          <p:nvPr/>
        </p:nvSpPr>
        <p:spPr>
          <a:xfrm>
            <a:off x="320040" y="1207008"/>
            <a:ext cx="27432" cy="3520440"/>
          </a:xfrm>
          <a:prstGeom prst="rect">
            <a:avLst/>
          </a:prstGeom>
          <a:solidFill>
            <a:srgbClr val="FFFFFF">
              <a:alpha val="18000"/>
            </a:srgbClr>
          </a:solidFill>
          <a:ln w="12700">
            <a:solidFill>
              <a:srgbClr val="FFFFFF">
                <a:alpha val="0"/>
              </a:srgbClr>
            </a:solidFill>
            <a:prstDash val="solid"/>
          </a:ln>
        </p:spPr>
      </p:sp>
      <p:sp>
        <p:nvSpPr>
          <p:cNvPr id="32" name="Shape 30"/>
          <p:cNvSpPr/>
          <p:nvPr/>
        </p:nvSpPr>
        <p:spPr>
          <a:xfrm>
            <a:off x="320040" y="1207008"/>
            <a:ext cx="5440680" cy="50292"/>
          </a:xfrm>
          <a:prstGeom prst="rect">
            <a:avLst/>
          </a:prstGeom>
          <a:solidFill>
            <a:srgbClr val="00B4FF"/>
          </a:solidFill>
          <a:ln w="12700">
            <a:solidFill>
              <a:srgbClr val="00B4FF"/>
            </a:solidFill>
            <a:prstDash val="solid"/>
          </a:ln>
        </p:spPr>
      </p:sp>
      <p:pic>
        <p:nvPicPr>
          <p:cNvPr id="33" name="Image 0" descr="/mnt/user-data/uploads/1774436462315_image.png"/>
          <p:cNvPicPr>
            <a:picLocks noChangeAspect="1"/>
          </p:cNvPicPr>
          <p:nvPr/>
        </p:nvPicPr>
        <p:blipFill>
          <a:blip r:embed="rId3"/>
          <a:srcRect/>
          <a:stretch/>
        </p:blipFill>
        <p:spPr>
          <a:xfrm>
            <a:off x="347472" y="1261872"/>
            <a:ext cx="5385816" cy="3410712"/>
          </a:xfrm>
          <a:prstGeom prst="rect">
            <a:avLst/>
          </a:prstGeom>
        </p:spPr>
      </p:pic>
      <p:sp>
        <p:nvSpPr>
          <p:cNvPr id="34" name="Shape 31"/>
          <p:cNvSpPr/>
          <p:nvPr/>
        </p:nvSpPr>
        <p:spPr>
          <a:xfrm>
            <a:off x="5980176" y="1243584"/>
            <a:ext cx="2880360" cy="612648"/>
          </a:xfrm>
          <a:prstGeom prst="rect">
            <a:avLst/>
          </a:prstGeom>
          <a:solidFill>
            <a:srgbClr val="000000">
              <a:alpha val="28000"/>
            </a:srgbClr>
          </a:solidFill>
          <a:ln w="12700">
            <a:solidFill>
              <a:srgbClr val="000000">
                <a:alpha val="0"/>
              </a:srgbClr>
            </a:solidFill>
            <a:prstDash val="solid"/>
          </a:ln>
        </p:spPr>
      </p:sp>
      <p:sp>
        <p:nvSpPr>
          <p:cNvPr id="35" name="Shape 32"/>
          <p:cNvSpPr/>
          <p:nvPr/>
        </p:nvSpPr>
        <p:spPr>
          <a:xfrm>
            <a:off x="5943600" y="1207008"/>
            <a:ext cx="2880360" cy="612648"/>
          </a:xfrm>
          <a:prstGeom prst="rect">
            <a:avLst/>
          </a:prstGeom>
          <a:solidFill>
            <a:srgbClr val="0A1628">
              <a:alpha val="82000"/>
            </a:srgbClr>
          </a:solidFill>
          <a:ln w="12700">
            <a:solidFill>
              <a:srgbClr val="1E3A5F"/>
            </a:solidFill>
            <a:prstDash val="solid"/>
          </a:ln>
        </p:spPr>
      </p:sp>
      <p:sp>
        <p:nvSpPr>
          <p:cNvPr id="36" name="Shape 33"/>
          <p:cNvSpPr/>
          <p:nvPr/>
        </p:nvSpPr>
        <p:spPr>
          <a:xfrm>
            <a:off x="5943600" y="1207008"/>
            <a:ext cx="2880360" cy="27432"/>
          </a:xfrm>
          <a:prstGeom prst="rect">
            <a:avLst/>
          </a:prstGeom>
          <a:solidFill>
            <a:srgbClr val="FFFFFF">
              <a:alpha val="26000"/>
            </a:srgbClr>
          </a:solidFill>
          <a:ln w="12700">
            <a:solidFill>
              <a:srgbClr val="FFFFFF">
                <a:alpha val="0"/>
              </a:srgbClr>
            </a:solidFill>
            <a:prstDash val="solid"/>
          </a:ln>
        </p:spPr>
      </p:sp>
      <p:sp>
        <p:nvSpPr>
          <p:cNvPr id="37" name="Shape 34"/>
          <p:cNvSpPr/>
          <p:nvPr/>
        </p:nvSpPr>
        <p:spPr>
          <a:xfrm>
            <a:off x="5943600" y="1207008"/>
            <a:ext cx="27432" cy="612648"/>
          </a:xfrm>
          <a:prstGeom prst="rect">
            <a:avLst/>
          </a:prstGeom>
          <a:solidFill>
            <a:srgbClr val="FFFFFF">
              <a:alpha val="18000"/>
            </a:srgbClr>
          </a:solidFill>
          <a:ln w="12700">
            <a:solidFill>
              <a:srgbClr val="FFFFFF">
                <a:alpha val="0"/>
              </a:srgbClr>
            </a:solidFill>
            <a:prstDash val="solid"/>
          </a:ln>
        </p:spPr>
      </p:sp>
      <p:sp>
        <p:nvSpPr>
          <p:cNvPr id="38" name="Shape 35"/>
          <p:cNvSpPr/>
          <p:nvPr/>
        </p:nvSpPr>
        <p:spPr>
          <a:xfrm>
            <a:off x="5943600" y="1207008"/>
            <a:ext cx="2880360" cy="50292"/>
          </a:xfrm>
          <a:prstGeom prst="rect">
            <a:avLst/>
          </a:prstGeom>
          <a:solidFill>
            <a:srgbClr val="F5C518"/>
          </a:solidFill>
          <a:ln w="12700">
            <a:solidFill>
              <a:srgbClr val="F5C518"/>
            </a:solidFill>
            <a:prstDash val="solid"/>
          </a:ln>
        </p:spPr>
      </p:sp>
      <p:sp>
        <p:nvSpPr>
          <p:cNvPr id="39" name="Text 36"/>
          <p:cNvSpPr/>
          <p:nvPr/>
        </p:nvSpPr>
        <p:spPr>
          <a:xfrm>
            <a:off x="5943600" y="1316736"/>
            <a:ext cx="2880360" cy="318577"/>
          </a:xfrm>
          <a:prstGeom prst="rect">
            <a:avLst/>
          </a:prstGeom>
          <a:noFill/>
          <a:ln/>
        </p:spPr>
        <p:txBody>
          <a:bodyPr wrap="square" lIns="0" tIns="0" rIns="0" bIns="0" rtlCol="0" anchor="b"/>
          <a:lstStyle/>
          <a:p>
            <a:pPr marL="0" indent="0" algn="ctr">
              <a:buNone/>
            </a:pPr>
            <a:r>
              <a:rPr lang="en-US" sz="1800" b="1" dirty="0">
                <a:solidFill>
                  <a:srgbClr val="F5C518"/>
                </a:solidFill>
              </a:rPr>
              <a:t>$42.72M</a:t>
            </a:r>
            <a:endParaRPr lang="en-US" sz="1800" dirty="0"/>
          </a:p>
        </p:txBody>
      </p:sp>
      <p:sp>
        <p:nvSpPr>
          <p:cNvPr id="40" name="Text 37"/>
          <p:cNvSpPr/>
          <p:nvPr/>
        </p:nvSpPr>
        <p:spPr>
          <a:xfrm>
            <a:off x="5943600" y="1592976"/>
            <a:ext cx="2880360" cy="214427"/>
          </a:xfrm>
          <a:prstGeom prst="rect">
            <a:avLst/>
          </a:prstGeom>
          <a:noFill/>
          <a:ln/>
        </p:spPr>
        <p:txBody>
          <a:bodyPr wrap="square" lIns="0" tIns="0" rIns="0" bIns="0" rtlCol="0" anchor="t"/>
          <a:lstStyle/>
          <a:p>
            <a:pPr marL="0" indent="0" algn="ctr">
              <a:buNone/>
            </a:pPr>
            <a:r>
              <a:rPr lang="en-US" sz="800" dirty="0">
                <a:solidFill>
                  <a:srgbClr val="D4E6F1"/>
                </a:solidFill>
              </a:rPr>
              <a:t>Total Revenue</a:t>
            </a:r>
            <a:endParaRPr lang="en-US" sz="800" dirty="0"/>
          </a:p>
        </p:txBody>
      </p:sp>
      <p:sp>
        <p:nvSpPr>
          <p:cNvPr id="41" name="Shape 38"/>
          <p:cNvSpPr/>
          <p:nvPr/>
        </p:nvSpPr>
        <p:spPr>
          <a:xfrm>
            <a:off x="5980176" y="1956816"/>
            <a:ext cx="2880360" cy="612648"/>
          </a:xfrm>
          <a:prstGeom prst="rect">
            <a:avLst/>
          </a:prstGeom>
          <a:solidFill>
            <a:srgbClr val="000000">
              <a:alpha val="28000"/>
            </a:srgbClr>
          </a:solidFill>
          <a:ln w="12700">
            <a:solidFill>
              <a:srgbClr val="000000">
                <a:alpha val="0"/>
              </a:srgbClr>
            </a:solidFill>
            <a:prstDash val="solid"/>
          </a:ln>
        </p:spPr>
      </p:sp>
      <p:sp>
        <p:nvSpPr>
          <p:cNvPr id="42" name="Shape 39"/>
          <p:cNvSpPr/>
          <p:nvPr/>
        </p:nvSpPr>
        <p:spPr>
          <a:xfrm>
            <a:off x="5943600" y="1920240"/>
            <a:ext cx="2880360" cy="612648"/>
          </a:xfrm>
          <a:prstGeom prst="rect">
            <a:avLst/>
          </a:prstGeom>
          <a:solidFill>
            <a:srgbClr val="0A1628">
              <a:alpha val="82000"/>
            </a:srgbClr>
          </a:solidFill>
          <a:ln w="12700">
            <a:solidFill>
              <a:srgbClr val="1E3A5F"/>
            </a:solidFill>
            <a:prstDash val="solid"/>
          </a:ln>
        </p:spPr>
      </p:sp>
      <p:sp>
        <p:nvSpPr>
          <p:cNvPr id="43" name="Shape 40"/>
          <p:cNvSpPr/>
          <p:nvPr/>
        </p:nvSpPr>
        <p:spPr>
          <a:xfrm>
            <a:off x="5943600" y="1920240"/>
            <a:ext cx="2880360" cy="27432"/>
          </a:xfrm>
          <a:prstGeom prst="rect">
            <a:avLst/>
          </a:prstGeom>
          <a:solidFill>
            <a:srgbClr val="FFFFFF">
              <a:alpha val="26000"/>
            </a:srgbClr>
          </a:solidFill>
          <a:ln w="12700">
            <a:solidFill>
              <a:srgbClr val="FFFFFF">
                <a:alpha val="0"/>
              </a:srgbClr>
            </a:solidFill>
            <a:prstDash val="solid"/>
          </a:ln>
        </p:spPr>
      </p:sp>
      <p:sp>
        <p:nvSpPr>
          <p:cNvPr id="44" name="Shape 41"/>
          <p:cNvSpPr/>
          <p:nvPr/>
        </p:nvSpPr>
        <p:spPr>
          <a:xfrm>
            <a:off x="5943600" y="1920240"/>
            <a:ext cx="27432" cy="612648"/>
          </a:xfrm>
          <a:prstGeom prst="rect">
            <a:avLst/>
          </a:prstGeom>
          <a:solidFill>
            <a:srgbClr val="FFFFFF">
              <a:alpha val="18000"/>
            </a:srgbClr>
          </a:solidFill>
          <a:ln w="12700">
            <a:solidFill>
              <a:srgbClr val="FFFFFF">
                <a:alpha val="0"/>
              </a:srgbClr>
            </a:solidFill>
            <a:prstDash val="solid"/>
          </a:ln>
        </p:spPr>
      </p:sp>
      <p:sp>
        <p:nvSpPr>
          <p:cNvPr id="45" name="Shape 42"/>
          <p:cNvSpPr/>
          <p:nvPr/>
        </p:nvSpPr>
        <p:spPr>
          <a:xfrm>
            <a:off x="5943600" y="1920240"/>
            <a:ext cx="2880360" cy="50292"/>
          </a:xfrm>
          <a:prstGeom prst="rect">
            <a:avLst/>
          </a:prstGeom>
          <a:solidFill>
            <a:srgbClr val="00B4FF"/>
          </a:solidFill>
          <a:ln w="12700">
            <a:solidFill>
              <a:srgbClr val="00B4FF"/>
            </a:solidFill>
            <a:prstDash val="solid"/>
          </a:ln>
        </p:spPr>
      </p:sp>
      <p:sp>
        <p:nvSpPr>
          <p:cNvPr id="46" name="Text 43"/>
          <p:cNvSpPr/>
          <p:nvPr/>
        </p:nvSpPr>
        <p:spPr>
          <a:xfrm>
            <a:off x="5943600" y="2029968"/>
            <a:ext cx="2880360" cy="318577"/>
          </a:xfrm>
          <a:prstGeom prst="rect">
            <a:avLst/>
          </a:prstGeom>
          <a:noFill/>
          <a:ln/>
        </p:spPr>
        <p:txBody>
          <a:bodyPr wrap="square" lIns="0" tIns="0" rIns="0" bIns="0" rtlCol="0" anchor="b"/>
          <a:lstStyle/>
          <a:p>
            <a:pPr marL="0" indent="0" algn="ctr">
              <a:buNone/>
            </a:pPr>
            <a:r>
              <a:rPr lang="en-US" sz="1800" b="1" dirty="0">
                <a:solidFill>
                  <a:srgbClr val="00B4FF"/>
                </a:solidFill>
              </a:rPr>
              <a:t>64.11%</a:t>
            </a:r>
            <a:endParaRPr lang="en-US" sz="1800" dirty="0"/>
          </a:p>
        </p:txBody>
      </p:sp>
      <p:sp>
        <p:nvSpPr>
          <p:cNvPr id="47" name="Text 44"/>
          <p:cNvSpPr/>
          <p:nvPr/>
        </p:nvSpPr>
        <p:spPr>
          <a:xfrm>
            <a:off x="5943600" y="2306208"/>
            <a:ext cx="2880360" cy="214427"/>
          </a:xfrm>
          <a:prstGeom prst="rect">
            <a:avLst/>
          </a:prstGeom>
          <a:noFill/>
          <a:ln/>
        </p:spPr>
        <p:txBody>
          <a:bodyPr wrap="square" lIns="0" tIns="0" rIns="0" bIns="0" rtlCol="0" anchor="t"/>
          <a:lstStyle/>
          <a:p>
            <a:pPr marL="0" indent="0" algn="ctr">
              <a:buNone/>
            </a:pPr>
            <a:r>
              <a:rPr lang="en-US" sz="800" dirty="0">
                <a:solidFill>
                  <a:srgbClr val="D4E6F1"/>
                </a:solidFill>
              </a:rPr>
              <a:t>RevPAR</a:t>
            </a:r>
            <a:endParaRPr lang="en-US" sz="800" dirty="0"/>
          </a:p>
        </p:txBody>
      </p:sp>
      <p:sp>
        <p:nvSpPr>
          <p:cNvPr id="48" name="Shape 45"/>
          <p:cNvSpPr/>
          <p:nvPr/>
        </p:nvSpPr>
        <p:spPr>
          <a:xfrm>
            <a:off x="5980176" y="2670048"/>
            <a:ext cx="2880360" cy="612648"/>
          </a:xfrm>
          <a:prstGeom prst="rect">
            <a:avLst/>
          </a:prstGeom>
          <a:solidFill>
            <a:srgbClr val="000000">
              <a:alpha val="28000"/>
            </a:srgbClr>
          </a:solidFill>
          <a:ln w="12700">
            <a:solidFill>
              <a:srgbClr val="000000">
                <a:alpha val="0"/>
              </a:srgbClr>
            </a:solidFill>
            <a:prstDash val="solid"/>
          </a:ln>
        </p:spPr>
      </p:sp>
      <p:sp>
        <p:nvSpPr>
          <p:cNvPr id="49" name="Shape 46"/>
          <p:cNvSpPr/>
          <p:nvPr/>
        </p:nvSpPr>
        <p:spPr>
          <a:xfrm>
            <a:off x="5943600" y="2633472"/>
            <a:ext cx="2880360" cy="612648"/>
          </a:xfrm>
          <a:prstGeom prst="rect">
            <a:avLst/>
          </a:prstGeom>
          <a:solidFill>
            <a:srgbClr val="0A1628">
              <a:alpha val="82000"/>
            </a:srgbClr>
          </a:solidFill>
          <a:ln w="12700">
            <a:solidFill>
              <a:srgbClr val="1E3A5F"/>
            </a:solidFill>
            <a:prstDash val="solid"/>
          </a:ln>
        </p:spPr>
      </p:sp>
      <p:sp>
        <p:nvSpPr>
          <p:cNvPr id="50" name="Shape 47"/>
          <p:cNvSpPr/>
          <p:nvPr/>
        </p:nvSpPr>
        <p:spPr>
          <a:xfrm>
            <a:off x="5943600" y="2633472"/>
            <a:ext cx="2880360" cy="27432"/>
          </a:xfrm>
          <a:prstGeom prst="rect">
            <a:avLst/>
          </a:prstGeom>
          <a:solidFill>
            <a:srgbClr val="FFFFFF">
              <a:alpha val="26000"/>
            </a:srgbClr>
          </a:solidFill>
          <a:ln w="12700">
            <a:solidFill>
              <a:srgbClr val="FFFFFF">
                <a:alpha val="0"/>
              </a:srgbClr>
            </a:solidFill>
            <a:prstDash val="solid"/>
          </a:ln>
        </p:spPr>
      </p:sp>
      <p:sp>
        <p:nvSpPr>
          <p:cNvPr id="51" name="Shape 48"/>
          <p:cNvSpPr/>
          <p:nvPr/>
        </p:nvSpPr>
        <p:spPr>
          <a:xfrm>
            <a:off x="5943600" y="2633472"/>
            <a:ext cx="27432" cy="612648"/>
          </a:xfrm>
          <a:prstGeom prst="rect">
            <a:avLst/>
          </a:prstGeom>
          <a:solidFill>
            <a:srgbClr val="FFFFFF">
              <a:alpha val="18000"/>
            </a:srgbClr>
          </a:solidFill>
          <a:ln w="12700">
            <a:solidFill>
              <a:srgbClr val="FFFFFF">
                <a:alpha val="0"/>
              </a:srgbClr>
            </a:solidFill>
            <a:prstDash val="solid"/>
          </a:ln>
        </p:spPr>
      </p:sp>
      <p:sp>
        <p:nvSpPr>
          <p:cNvPr id="52" name="Shape 49"/>
          <p:cNvSpPr/>
          <p:nvPr/>
        </p:nvSpPr>
        <p:spPr>
          <a:xfrm>
            <a:off x="5943600" y="2633472"/>
            <a:ext cx="2880360" cy="50292"/>
          </a:xfrm>
          <a:prstGeom prst="rect">
            <a:avLst/>
          </a:prstGeom>
          <a:solidFill>
            <a:srgbClr val="F5C518"/>
          </a:solidFill>
          <a:ln w="12700">
            <a:solidFill>
              <a:srgbClr val="F5C518"/>
            </a:solidFill>
            <a:prstDash val="solid"/>
          </a:ln>
        </p:spPr>
      </p:sp>
      <p:sp>
        <p:nvSpPr>
          <p:cNvPr id="53" name="Text 50"/>
          <p:cNvSpPr/>
          <p:nvPr/>
        </p:nvSpPr>
        <p:spPr>
          <a:xfrm>
            <a:off x="5943600" y="2743200"/>
            <a:ext cx="2880360" cy="318577"/>
          </a:xfrm>
          <a:prstGeom prst="rect">
            <a:avLst/>
          </a:prstGeom>
          <a:noFill/>
          <a:ln/>
        </p:spPr>
        <p:txBody>
          <a:bodyPr wrap="square" lIns="0" tIns="0" rIns="0" bIns="0" rtlCol="0" anchor="b"/>
          <a:lstStyle/>
          <a:p>
            <a:pPr marL="0" indent="0" algn="ctr">
              <a:buNone/>
            </a:pPr>
            <a:r>
              <a:rPr lang="en-US" sz="1800" b="1" dirty="0">
                <a:solidFill>
                  <a:srgbClr val="F5C518"/>
                </a:solidFill>
              </a:rPr>
              <a:t>$656</a:t>
            </a:r>
            <a:endParaRPr lang="en-US" sz="1800" dirty="0"/>
          </a:p>
        </p:txBody>
      </p:sp>
      <p:sp>
        <p:nvSpPr>
          <p:cNvPr id="54" name="Text 51"/>
          <p:cNvSpPr/>
          <p:nvPr/>
        </p:nvSpPr>
        <p:spPr>
          <a:xfrm>
            <a:off x="5943600" y="3019440"/>
            <a:ext cx="2880360" cy="214427"/>
          </a:xfrm>
          <a:prstGeom prst="rect">
            <a:avLst/>
          </a:prstGeom>
          <a:noFill/>
          <a:ln/>
        </p:spPr>
        <p:txBody>
          <a:bodyPr wrap="square" lIns="0" tIns="0" rIns="0" bIns="0" rtlCol="0" anchor="t"/>
          <a:lstStyle/>
          <a:p>
            <a:pPr marL="0" indent="0" algn="ctr">
              <a:buNone/>
            </a:pPr>
            <a:r>
              <a:rPr lang="en-US" sz="800" dirty="0">
                <a:solidFill>
                  <a:srgbClr val="D4E6F1"/>
                </a:solidFill>
              </a:rPr>
              <a:t>Room H Peak ADR</a:t>
            </a:r>
            <a:endParaRPr lang="en-US" sz="800" dirty="0"/>
          </a:p>
        </p:txBody>
      </p:sp>
      <p:sp>
        <p:nvSpPr>
          <p:cNvPr id="55" name="Shape 52"/>
          <p:cNvSpPr/>
          <p:nvPr/>
        </p:nvSpPr>
        <p:spPr>
          <a:xfrm>
            <a:off x="5980176" y="3383280"/>
            <a:ext cx="2880360" cy="612648"/>
          </a:xfrm>
          <a:prstGeom prst="rect">
            <a:avLst/>
          </a:prstGeom>
          <a:solidFill>
            <a:srgbClr val="000000">
              <a:alpha val="28000"/>
            </a:srgbClr>
          </a:solidFill>
          <a:ln w="12700">
            <a:solidFill>
              <a:srgbClr val="000000">
                <a:alpha val="0"/>
              </a:srgbClr>
            </a:solidFill>
            <a:prstDash val="solid"/>
          </a:ln>
        </p:spPr>
      </p:sp>
      <p:sp>
        <p:nvSpPr>
          <p:cNvPr id="56" name="Shape 53"/>
          <p:cNvSpPr/>
          <p:nvPr/>
        </p:nvSpPr>
        <p:spPr>
          <a:xfrm>
            <a:off x="5943600" y="3346704"/>
            <a:ext cx="2880360" cy="612648"/>
          </a:xfrm>
          <a:prstGeom prst="rect">
            <a:avLst/>
          </a:prstGeom>
          <a:solidFill>
            <a:srgbClr val="0A1628">
              <a:alpha val="82000"/>
            </a:srgbClr>
          </a:solidFill>
          <a:ln w="12700">
            <a:solidFill>
              <a:srgbClr val="1E3A5F"/>
            </a:solidFill>
            <a:prstDash val="solid"/>
          </a:ln>
        </p:spPr>
      </p:sp>
      <p:sp>
        <p:nvSpPr>
          <p:cNvPr id="57" name="Shape 54"/>
          <p:cNvSpPr/>
          <p:nvPr/>
        </p:nvSpPr>
        <p:spPr>
          <a:xfrm>
            <a:off x="5943600" y="3346704"/>
            <a:ext cx="2880360" cy="27432"/>
          </a:xfrm>
          <a:prstGeom prst="rect">
            <a:avLst/>
          </a:prstGeom>
          <a:solidFill>
            <a:srgbClr val="FFFFFF">
              <a:alpha val="26000"/>
            </a:srgbClr>
          </a:solidFill>
          <a:ln w="12700">
            <a:solidFill>
              <a:srgbClr val="FFFFFF">
                <a:alpha val="0"/>
              </a:srgbClr>
            </a:solidFill>
            <a:prstDash val="solid"/>
          </a:ln>
        </p:spPr>
      </p:sp>
      <p:sp>
        <p:nvSpPr>
          <p:cNvPr id="58" name="Shape 55"/>
          <p:cNvSpPr/>
          <p:nvPr/>
        </p:nvSpPr>
        <p:spPr>
          <a:xfrm>
            <a:off x="5943600" y="3346704"/>
            <a:ext cx="27432" cy="612648"/>
          </a:xfrm>
          <a:prstGeom prst="rect">
            <a:avLst/>
          </a:prstGeom>
          <a:solidFill>
            <a:srgbClr val="FFFFFF">
              <a:alpha val="18000"/>
            </a:srgbClr>
          </a:solidFill>
          <a:ln w="12700">
            <a:solidFill>
              <a:srgbClr val="FFFFFF">
                <a:alpha val="0"/>
              </a:srgbClr>
            </a:solidFill>
            <a:prstDash val="solid"/>
          </a:ln>
        </p:spPr>
      </p:sp>
      <p:sp>
        <p:nvSpPr>
          <p:cNvPr id="59" name="Shape 56"/>
          <p:cNvSpPr/>
          <p:nvPr/>
        </p:nvSpPr>
        <p:spPr>
          <a:xfrm>
            <a:off x="5943600" y="3346704"/>
            <a:ext cx="2880360" cy="50292"/>
          </a:xfrm>
          <a:prstGeom prst="rect">
            <a:avLst/>
          </a:prstGeom>
          <a:solidFill>
            <a:srgbClr val="00B4FF"/>
          </a:solidFill>
          <a:ln w="12700">
            <a:solidFill>
              <a:srgbClr val="00B4FF"/>
            </a:solidFill>
            <a:prstDash val="solid"/>
          </a:ln>
        </p:spPr>
      </p:sp>
      <p:sp>
        <p:nvSpPr>
          <p:cNvPr id="60" name="Text 57"/>
          <p:cNvSpPr/>
          <p:nvPr/>
        </p:nvSpPr>
        <p:spPr>
          <a:xfrm>
            <a:off x="5943600" y="3456432"/>
            <a:ext cx="2880360" cy="318577"/>
          </a:xfrm>
          <a:prstGeom prst="rect">
            <a:avLst/>
          </a:prstGeom>
          <a:noFill/>
          <a:ln/>
        </p:spPr>
        <p:txBody>
          <a:bodyPr wrap="square" lIns="0" tIns="0" rIns="0" bIns="0" rtlCol="0" anchor="b"/>
          <a:lstStyle/>
          <a:p>
            <a:pPr marL="0" indent="0" algn="ctr">
              <a:buNone/>
            </a:pPr>
            <a:r>
              <a:rPr lang="en-US" sz="1800" b="1" dirty="0">
                <a:solidFill>
                  <a:srgbClr val="00B4FF"/>
                </a:solidFill>
              </a:rPr>
              <a:t>$0.36K</a:t>
            </a:r>
            <a:endParaRPr lang="en-US" sz="1800" dirty="0"/>
          </a:p>
        </p:txBody>
      </p:sp>
      <p:sp>
        <p:nvSpPr>
          <p:cNvPr id="61" name="Text 58"/>
          <p:cNvSpPr/>
          <p:nvPr/>
        </p:nvSpPr>
        <p:spPr>
          <a:xfrm>
            <a:off x="5943600" y="3732672"/>
            <a:ext cx="2880360" cy="214427"/>
          </a:xfrm>
          <a:prstGeom prst="rect">
            <a:avLst/>
          </a:prstGeom>
          <a:noFill/>
          <a:ln/>
        </p:spPr>
        <p:txBody>
          <a:bodyPr wrap="square" lIns="0" tIns="0" rIns="0" bIns="0" rtlCol="0" anchor="t"/>
          <a:lstStyle/>
          <a:p>
            <a:pPr marL="0" indent="0" algn="ctr">
              <a:buNone/>
            </a:pPr>
            <a:r>
              <a:rPr lang="en-US" sz="800" dirty="0">
                <a:solidFill>
                  <a:srgbClr val="D4E6F1"/>
                </a:solidFill>
              </a:rPr>
              <a:t>Revenue per Booking</a:t>
            </a:r>
            <a:endParaRPr lang="en-US" sz="800" dirty="0"/>
          </a:p>
        </p:txBody>
      </p:sp>
      <p:sp>
        <p:nvSpPr>
          <p:cNvPr id="62" name="Shape 59"/>
          <p:cNvSpPr/>
          <p:nvPr/>
        </p:nvSpPr>
        <p:spPr>
          <a:xfrm>
            <a:off x="5980176" y="4133088"/>
            <a:ext cx="2880360" cy="630936"/>
          </a:xfrm>
          <a:prstGeom prst="rect">
            <a:avLst/>
          </a:prstGeom>
          <a:solidFill>
            <a:srgbClr val="000000">
              <a:alpha val="28000"/>
            </a:srgbClr>
          </a:solidFill>
          <a:ln w="12700">
            <a:solidFill>
              <a:srgbClr val="000000">
                <a:alpha val="0"/>
              </a:srgbClr>
            </a:solidFill>
            <a:prstDash val="solid"/>
          </a:ln>
        </p:spPr>
      </p:sp>
      <p:sp>
        <p:nvSpPr>
          <p:cNvPr id="63" name="Shape 60"/>
          <p:cNvSpPr/>
          <p:nvPr/>
        </p:nvSpPr>
        <p:spPr>
          <a:xfrm>
            <a:off x="5943600" y="4096512"/>
            <a:ext cx="2880360" cy="630936"/>
          </a:xfrm>
          <a:prstGeom prst="rect">
            <a:avLst/>
          </a:prstGeom>
          <a:solidFill>
            <a:srgbClr val="0A1628">
              <a:alpha val="82000"/>
            </a:srgbClr>
          </a:solidFill>
          <a:ln w="12700">
            <a:solidFill>
              <a:srgbClr val="1E3A5F"/>
            </a:solidFill>
            <a:prstDash val="solid"/>
          </a:ln>
        </p:spPr>
      </p:sp>
      <p:sp>
        <p:nvSpPr>
          <p:cNvPr id="64" name="Shape 61"/>
          <p:cNvSpPr/>
          <p:nvPr/>
        </p:nvSpPr>
        <p:spPr>
          <a:xfrm>
            <a:off x="5943600" y="4096512"/>
            <a:ext cx="2880360" cy="27432"/>
          </a:xfrm>
          <a:prstGeom prst="rect">
            <a:avLst/>
          </a:prstGeom>
          <a:solidFill>
            <a:srgbClr val="FFFFFF">
              <a:alpha val="26000"/>
            </a:srgbClr>
          </a:solidFill>
          <a:ln w="12700">
            <a:solidFill>
              <a:srgbClr val="FFFFFF">
                <a:alpha val="0"/>
              </a:srgbClr>
            </a:solidFill>
            <a:prstDash val="solid"/>
          </a:ln>
        </p:spPr>
      </p:sp>
      <p:sp>
        <p:nvSpPr>
          <p:cNvPr id="65" name="Shape 62"/>
          <p:cNvSpPr/>
          <p:nvPr/>
        </p:nvSpPr>
        <p:spPr>
          <a:xfrm>
            <a:off x="5943600" y="4096512"/>
            <a:ext cx="27432" cy="630936"/>
          </a:xfrm>
          <a:prstGeom prst="rect">
            <a:avLst/>
          </a:prstGeom>
          <a:solidFill>
            <a:srgbClr val="FFFFFF">
              <a:alpha val="18000"/>
            </a:srgbClr>
          </a:solidFill>
          <a:ln w="12700">
            <a:solidFill>
              <a:srgbClr val="FFFFFF">
                <a:alpha val="0"/>
              </a:srgbClr>
            </a:solidFill>
            <a:prstDash val="solid"/>
          </a:ln>
        </p:spPr>
      </p:sp>
      <p:sp>
        <p:nvSpPr>
          <p:cNvPr id="66" name="Shape 63"/>
          <p:cNvSpPr/>
          <p:nvPr/>
        </p:nvSpPr>
        <p:spPr>
          <a:xfrm>
            <a:off x="5943600" y="4096512"/>
            <a:ext cx="2880360" cy="50292"/>
          </a:xfrm>
          <a:prstGeom prst="rect">
            <a:avLst/>
          </a:prstGeom>
          <a:solidFill>
            <a:srgbClr val="F5C518"/>
          </a:solidFill>
          <a:ln w="12700">
            <a:solidFill>
              <a:srgbClr val="F5C518"/>
            </a:solidFill>
            <a:prstDash val="solid"/>
          </a:ln>
        </p:spPr>
      </p:sp>
      <p:sp>
        <p:nvSpPr>
          <p:cNvPr id="67" name="Text 64"/>
          <p:cNvSpPr/>
          <p:nvPr/>
        </p:nvSpPr>
        <p:spPr>
          <a:xfrm>
            <a:off x="6035040" y="4133088"/>
            <a:ext cx="2651760" cy="182880"/>
          </a:xfrm>
          <a:prstGeom prst="rect">
            <a:avLst/>
          </a:prstGeom>
          <a:noFill/>
          <a:ln/>
        </p:spPr>
        <p:txBody>
          <a:bodyPr wrap="square" lIns="0" tIns="0" rIns="0" bIns="0" rtlCol="0" anchor="ctr"/>
          <a:lstStyle/>
          <a:p>
            <a:pPr marL="0" indent="0">
              <a:buNone/>
            </a:pPr>
            <a:r>
              <a:rPr lang="en-US" sz="750" b="1" kern="0" spc="150" dirty="0">
                <a:solidFill>
                  <a:srgbClr val="F5C518"/>
                </a:solidFill>
              </a:rPr>
              <a:t>KEY INSIGHTS</a:t>
            </a:r>
            <a:endParaRPr lang="en-US" sz="750" dirty="0"/>
          </a:p>
        </p:txBody>
      </p:sp>
      <p:sp>
        <p:nvSpPr>
          <p:cNvPr id="68" name="Text 65"/>
          <p:cNvSpPr/>
          <p:nvPr/>
        </p:nvSpPr>
        <p:spPr>
          <a:xfrm>
            <a:off x="6035040" y="4315968"/>
            <a:ext cx="2697480" cy="347472"/>
          </a:xfrm>
          <a:prstGeom prst="rect">
            <a:avLst/>
          </a:prstGeom>
          <a:noFill/>
          <a:ln/>
        </p:spPr>
        <p:txBody>
          <a:bodyPr wrap="square" lIns="0" tIns="0" rIns="0" bIns="0" rtlCol="0" anchor="ctr"/>
          <a:lstStyle/>
          <a:p>
            <a:pPr marL="0" indent="0">
              <a:buNone/>
            </a:pPr>
            <a:r>
              <a:rPr lang="en-US" sz="700" dirty="0">
                <a:solidFill>
                  <a:srgbClr val="D4E6F1"/>
                </a:solidFill>
              </a:rPr>
              <a:t>Room Type H: $656 ADR — highest across seasons   ·   Portugal drives highest revenue by country   ·   Online TA is top revenue market segment   ·   BB meal plan: 72.97% of all meal revenue</a:t>
            </a:r>
            <a:endParaRPr lang="en-US" sz="700" dirty="0"/>
          </a:p>
        </p:txBody>
      </p:sp>
      <p:sp>
        <p:nvSpPr>
          <p:cNvPr id="69" name="Shape 66"/>
          <p:cNvSpPr/>
          <p:nvPr/>
        </p:nvSpPr>
        <p:spPr>
          <a:xfrm>
            <a:off x="0" y="4983480"/>
            <a:ext cx="9144000" cy="160020"/>
          </a:xfrm>
          <a:prstGeom prst="rect">
            <a:avLst/>
          </a:prstGeom>
          <a:solidFill>
            <a:srgbClr val="1A2E45"/>
          </a:solidFill>
          <a:ln w="12700">
            <a:solidFill>
              <a:srgbClr val="1A2E45"/>
            </a:solidFill>
            <a:prstDash val="solid"/>
          </a:ln>
        </p:spPr>
      </p:sp>
      <p:sp>
        <p:nvSpPr>
          <p:cNvPr id="70" name="Shape 67"/>
          <p:cNvSpPr/>
          <p:nvPr/>
        </p:nvSpPr>
        <p:spPr>
          <a:xfrm>
            <a:off x="0" y="4983480"/>
            <a:ext cx="36576" cy="160020"/>
          </a:xfrm>
          <a:prstGeom prst="rect">
            <a:avLst/>
          </a:prstGeom>
          <a:solidFill>
            <a:srgbClr val="F5C518"/>
          </a:solidFill>
          <a:ln w="12700">
            <a:solidFill>
              <a:srgbClr val="F5C518"/>
            </a:solidFill>
            <a:prstDash val="solid"/>
          </a:ln>
        </p:spPr>
      </p:sp>
      <p:sp>
        <p:nvSpPr>
          <p:cNvPr id="71" name="Text 68"/>
          <p:cNvSpPr/>
          <p:nvPr/>
        </p:nvSpPr>
        <p:spPr>
          <a:xfrm>
            <a:off x="137160" y="4983480"/>
            <a:ext cx="8229600" cy="160020"/>
          </a:xfrm>
          <a:prstGeom prst="rect">
            <a:avLst/>
          </a:prstGeom>
          <a:noFill/>
          <a:ln/>
        </p:spPr>
        <p:txBody>
          <a:bodyPr wrap="square" lIns="0" tIns="0" rIns="0" bIns="0" rtlCol="0" anchor="ctr"/>
          <a:lstStyle/>
          <a:p>
            <a:pPr marL="0" indent="0">
              <a:buNone/>
            </a:pPr>
            <a:r>
              <a:rPr lang="en-US" sz="750" dirty="0">
                <a:solidFill>
                  <a:srgbClr val="6B8CAE"/>
                </a:solidFill>
              </a:rPr>
              <a:t>HotelRevAI  ·  Infosys Springboard Internship 6.0  ·  Batch 13 — Group 2, Team D</a:t>
            </a:r>
            <a:endParaRPr lang="en-US" sz="750" dirty="0"/>
          </a:p>
        </p:txBody>
      </p:sp>
      <p:sp>
        <p:nvSpPr>
          <p:cNvPr id="72" name="Text 69"/>
          <p:cNvSpPr/>
          <p:nvPr/>
        </p:nvSpPr>
        <p:spPr>
          <a:xfrm>
            <a:off x="8686800" y="4983480"/>
            <a:ext cx="411480" cy="160020"/>
          </a:xfrm>
          <a:prstGeom prst="rect">
            <a:avLst/>
          </a:prstGeom>
          <a:noFill/>
          <a:ln/>
        </p:spPr>
        <p:txBody>
          <a:bodyPr wrap="square" lIns="0" tIns="0" rIns="0" bIns="0" rtlCol="0" anchor="ctr"/>
          <a:lstStyle/>
          <a:p>
            <a:pPr marL="0" indent="0" algn="r">
              <a:buNone/>
            </a:pPr>
            <a:r>
              <a:rPr lang="en-US" sz="750" b="1" dirty="0">
                <a:solidFill>
                  <a:srgbClr val="F5C518"/>
                </a:solidFill>
              </a:rPr>
              <a:t>12</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50A14"/>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0D2137"/>
            </a:solidFill>
            <a:prstDash val="solid"/>
          </a:ln>
        </p:spPr>
      </p:sp>
      <p:sp>
        <p:nvSpPr>
          <p:cNvPr id="3" name="Shape 1"/>
          <p:cNvSpPr/>
          <p:nvPr/>
        </p:nvSpPr>
        <p:spPr>
          <a:xfrm>
            <a:off x="914400" y="0"/>
            <a:ext cx="0" cy="5143500"/>
          </a:xfrm>
          <a:prstGeom prst="line">
            <a:avLst/>
          </a:prstGeom>
          <a:noFill/>
          <a:ln w="6350">
            <a:solidFill>
              <a:srgbClr val="0D2137"/>
            </a:solidFill>
            <a:prstDash val="solid"/>
          </a:ln>
        </p:spPr>
      </p:sp>
      <p:sp>
        <p:nvSpPr>
          <p:cNvPr id="4" name="Shape 2"/>
          <p:cNvSpPr/>
          <p:nvPr/>
        </p:nvSpPr>
        <p:spPr>
          <a:xfrm>
            <a:off x="1828800" y="0"/>
            <a:ext cx="0" cy="5143500"/>
          </a:xfrm>
          <a:prstGeom prst="line">
            <a:avLst/>
          </a:prstGeom>
          <a:noFill/>
          <a:ln w="6350">
            <a:solidFill>
              <a:srgbClr val="0D2137"/>
            </a:solidFill>
            <a:prstDash val="solid"/>
          </a:ln>
        </p:spPr>
      </p:sp>
      <p:sp>
        <p:nvSpPr>
          <p:cNvPr id="5" name="Shape 3"/>
          <p:cNvSpPr/>
          <p:nvPr/>
        </p:nvSpPr>
        <p:spPr>
          <a:xfrm>
            <a:off x="2743200" y="0"/>
            <a:ext cx="0" cy="5143500"/>
          </a:xfrm>
          <a:prstGeom prst="line">
            <a:avLst/>
          </a:prstGeom>
          <a:noFill/>
          <a:ln w="6350">
            <a:solidFill>
              <a:srgbClr val="0D2137"/>
            </a:solidFill>
            <a:prstDash val="solid"/>
          </a:ln>
        </p:spPr>
      </p:sp>
      <p:sp>
        <p:nvSpPr>
          <p:cNvPr id="6" name="Shape 4"/>
          <p:cNvSpPr/>
          <p:nvPr/>
        </p:nvSpPr>
        <p:spPr>
          <a:xfrm>
            <a:off x="3657600" y="0"/>
            <a:ext cx="0" cy="5143500"/>
          </a:xfrm>
          <a:prstGeom prst="line">
            <a:avLst/>
          </a:prstGeom>
          <a:noFill/>
          <a:ln w="6350">
            <a:solidFill>
              <a:srgbClr val="0D2137"/>
            </a:solidFill>
            <a:prstDash val="solid"/>
          </a:ln>
        </p:spPr>
      </p:sp>
      <p:sp>
        <p:nvSpPr>
          <p:cNvPr id="7" name="Shape 5"/>
          <p:cNvSpPr/>
          <p:nvPr/>
        </p:nvSpPr>
        <p:spPr>
          <a:xfrm>
            <a:off x="4572000" y="0"/>
            <a:ext cx="0" cy="5143500"/>
          </a:xfrm>
          <a:prstGeom prst="line">
            <a:avLst/>
          </a:prstGeom>
          <a:noFill/>
          <a:ln w="6350">
            <a:solidFill>
              <a:srgbClr val="0D2137"/>
            </a:solidFill>
            <a:prstDash val="solid"/>
          </a:ln>
        </p:spPr>
      </p:sp>
      <p:sp>
        <p:nvSpPr>
          <p:cNvPr id="8" name="Shape 6"/>
          <p:cNvSpPr/>
          <p:nvPr/>
        </p:nvSpPr>
        <p:spPr>
          <a:xfrm>
            <a:off x="5486400" y="0"/>
            <a:ext cx="0" cy="5143500"/>
          </a:xfrm>
          <a:prstGeom prst="line">
            <a:avLst/>
          </a:prstGeom>
          <a:noFill/>
          <a:ln w="6350">
            <a:solidFill>
              <a:srgbClr val="0D2137"/>
            </a:solidFill>
            <a:prstDash val="solid"/>
          </a:ln>
        </p:spPr>
      </p:sp>
      <p:sp>
        <p:nvSpPr>
          <p:cNvPr id="9" name="Shape 7"/>
          <p:cNvSpPr/>
          <p:nvPr/>
        </p:nvSpPr>
        <p:spPr>
          <a:xfrm>
            <a:off x="6400800" y="0"/>
            <a:ext cx="0" cy="5143500"/>
          </a:xfrm>
          <a:prstGeom prst="line">
            <a:avLst/>
          </a:prstGeom>
          <a:noFill/>
          <a:ln w="6350">
            <a:solidFill>
              <a:srgbClr val="0D2137"/>
            </a:solidFill>
            <a:prstDash val="solid"/>
          </a:ln>
        </p:spPr>
      </p:sp>
      <p:sp>
        <p:nvSpPr>
          <p:cNvPr id="10" name="Shape 8"/>
          <p:cNvSpPr/>
          <p:nvPr/>
        </p:nvSpPr>
        <p:spPr>
          <a:xfrm>
            <a:off x="7315200" y="0"/>
            <a:ext cx="0" cy="5143500"/>
          </a:xfrm>
          <a:prstGeom prst="line">
            <a:avLst/>
          </a:prstGeom>
          <a:noFill/>
          <a:ln w="6350">
            <a:solidFill>
              <a:srgbClr val="0D2137"/>
            </a:solidFill>
            <a:prstDash val="solid"/>
          </a:ln>
        </p:spPr>
      </p:sp>
      <p:sp>
        <p:nvSpPr>
          <p:cNvPr id="11" name="Shape 9"/>
          <p:cNvSpPr/>
          <p:nvPr/>
        </p:nvSpPr>
        <p:spPr>
          <a:xfrm>
            <a:off x="8229600" y="0"/>
            <a:ext cx="0" cy="5143500"/>
          </a:xfrm>
          <a:prstGeom prst="line">
            <a:avLst/>
          </a:prstGeom>
          <a:noFill/>
          <a:ln w="6350">
            <a:solidFill>
              <a:srgbClr val="0D2137"/>
            </a:solidFill>
            <a:prstDash val="solid"/>
          </a:ln>
        </p:spPr>
      </p:sp>
      <p:sp>
        <p:nvSpPr>
          <p:cNvPr id="12" name="Shape 10"/>
          <p:cNvSpPr/>
          <p:nvPr/>
        </p:nvSpPr>
        <p:spPr>
          <a:xfrm>
            <a:off x="9144000" y="0"/>
            <a:ext cx="0" cy="5143500"/>
          </a:xfrm>
          <a:prstGeom prst="line">
            <a:avLst/>
          </a:prstGeom>
          <a:noFill/>
          <a:ln w="6350">
            <a:solidFill>
              <a:srgbClr val="0D2137"/>
            </a:solidFill>
            <a:prstDash val="solid"/>
          </a:ln>
        </p:spPr>
      </p:sp>
      <p:sp>
        <p:nvSpPr>
          <p:cNvPr id="13" name="Shape 11"/>
          <p:cNvSpPr/>
          <p:nvPr/>
        </p:nvSpPr>
        <p:spPr>
          <a:xfrm>
            <a:off x="0" y="0"/>
            <a:ext cx="9144000" cy="0"/>
          </a:xfrm>
          <a:prstGeom prst="line">
            <a:avLst/>
          </a:prstGeom>
          <a:noFill/>
          <a:ln w="6350">
            <a:solidFill>
              <a:srgbClr val="0D2137"/>
            </a:solidFill>
            <a:prstDash val="solid"/>
          </a:ln>
        </p:spPr>
      </p:sp>
      <p:sp>
        <p:nvSpPr>
          <p:cNvPr id="14" name="Shape 12"/>
          <p:cNvSpPr/>
          <p:nvPr/>
        </p:nvSpPr>
        <p:spPr>
          <a:xfrm>
            <a:off x="0" y="859536"/>
            <a:ext cx="9144000" cy="0"/>
          </a:xfrm>
          <a:prstGeom prst="line">
            <a:avLst/>
          </a:prstGeom>
          <a:noFill/>
          <a:ln w="6350">
            <a:solidFill>
              <a:srgbClr val="0D2137"/>
            </a:solidFill>
            <a:prstDash val="solid"/>
          </a:ln>
        </p:spPr>
      </p:sp>
      <p:sp>
        <p:nvSpPr>
          <p:cNvPr id="15" name="Shape 13"/>
          <p:cNvSpPr/>
          <p:nvPr/>
        </p:nvSpPr>
        <p:spPr>
          <a:xfrm>
            <a:off x="0" y="1719072"/>
            <a:ext cx="9144000" cy="0"/>
          </a:xfrm>
          <a:prstGeom prst="line">
            <a:avLst/>
          </a:prstGeom>
          <a:noFill/>
          <a:ln w="6350">
            <a:solidFill>
              <a:srgbClr val="0D2137"/>
            </a:solidFill>
            <a:prstDash val="solid"/>
          </a:ln>
        </p:spPr>
      </p:sp>
      <p:sp>
        <p:nvSpPr>
          <p:cNvPr id="16" name="Shape 14"/>
          <p:cNvSpPr/>
          <p:nvPr/>
        </p:nvSpPr>
        <p:spPr>
          <a:xfrm>
            <a:off x="0" y="2578608"/>
            <a:ext cx="9144000" cy="0"/>
          </a:xfrm>
          <a:prstGeom prst="line">
            <a:avLst/>
          </a:prstGeom>
          <a:noFill/>
          <a:ln w="6350">
            <a:solidFill>
              <a:srgbClr val="0D2137"/>
            </a:solidFill>
            <a:prstDash val="solid"/>
          </a:ln>
        </p:spPr>
      </p:sp>
      <p:sp>
        <p:nvSpPr>
          <p:cNvPr id="17" name="Shape 15"/>
          <p:cNvSpPr/>
          <p:nvPr/>
        </p:nvSpPr>
        <p:spPr>
          <a:xfrm>
            <a:off x="0" y="3438144"/>
            <a:ext cx="9144000" cy="0"/>
          </a:xfrm>
          <a:prstGeom prst="line">
            <a:avLst/>
          </a:prstGeom>
          <a:noFill/>
          <a:ln w="6350">
            <a:solidFill>
              <a:srgbClr val="0D2137"/>
            </a:solidFill>
            <a:prstDash val="solid"/>
          </a:ln>
        </p:spPr>
      </p:sp>
      <p:sp>
        <p:nvSpPr>
          <p:cNvPr id="18" name="Shape 16"/>
          <p:cNvSpPr/>
          <p:nvPr/>
        </p:nvSpPr>
        <p:spPr>
          <a:xfrm>
            <a:off x="0" y="4297680"/>
            <a:ext cx="9144000" cy="0"/>
          </a:xfrm>
          <a:prstGeom prst="line">
            <a:avLst/>
          </a:prstGeom>
          <a:noFill/>
          <a:ln w="6350">
            <a:solidFill>
              <a:srgbClr val="0D2137"/>
            </a:solidFill>
            <a:prstDash val="solid"/>
          </a:ln>
        </p:spPr>
      </p:sp>
      <p:sp>
        <p:nvSpPr>
          <p:cNvPr id="19" name="Shape 17"/>
          <p:cNvSpPr/>
          <p:nvPr/>
        </p:nvSpPr>
        <p:spPr>
          <a:xfrm>
            <a:off x="0" y="5157216"/>
            <a:ext cx="9144000" cy="0"/>
          </a:xfrm>
          <a:prstGeom prst="line">
            <a:avLst/>
          </a:prstGeom>
          <a:noFill/>
          <a:ln w="6350">
            <a:solidFill>
              <a:srgbClr val="0D2137"/>
            </a:solidFill>
            <a:prstDash val="solid"/>
          </a:ln>
        </p:spPr>
      </p:sp>
      <p:sp>
        <p:nvSpPr>
          <p:cNvPr id="20" name="Shape 18"/>
          <p:cNvSpPr/>
          <p:nvPr/>
        </p:nvSpPr>
        <p:spPr>
          <a:xfrm>
            <a:off x="1828800" y="0"/>
            <a:ext cx="5486400" cy="5486400"/>
          </a:xfrm>
          <a:prstGeom prst="ellipse">
            <a:avLst/>
          </a:prstGeom>
          <a:solidFill>
            <a:srgbClr val="00B4FF">
              <a:alpha val="8000"/>
            </a:srgbClr>
          </a:solidFill>
          <a:ln w="12700">
            <a:solidFill>
              <a:srgbClr val="00B4FF">
                <a:alpha val="5000"/>
              </a:srgbClr>
            </a:solidFill>
            <a:prstDash val="solid"/>
          </a:ln>
        </p:spPr>
      </p:sp>
      <p:sp>
        <p:nvSpPr>
          <p:cNvPr id="21" name="Shape 19"/>
          <p:cNvSpPr/>
          <p:nvPr/>
        </p:nvSpPr>
        <p:spPr>
          <a:xfrm>
            <a:off x="3200400" y="1371600"/>
            <a:ext cx="2743200" cy="2743200"/>
          </a:xfrm>
          <a:prstGeom prst="ellipse">
            <a:avLst/>
          </a:prstGeom>
          <a:solidFill>
            <a:srgbClr val="00B4FF">
              <a:alpha val="0"/>
            </a:srgbClr>
          </a:solidFill>
          <a:ln w="12700">
            <a:solidFill>
              <a:srgbClr val="00B4FF">
                <a:alpha val="0"/>
              </a:srgbClr>
            </a:solidFill>
            <a:prstDash val="solid"/>
          </a:ln>
        </p:spPr>
      </p:sp>
      <p:sp>
        <p:nvSpPr>
          <p:cNvPr id="22" name="Shape 20"/>
          <p:cNvSpPr/>
          <p:nvPr/>
        </p:nvSpPr>
        <p:spPr>
          <a:xfrm>
            <a:off x="6858000" y="-457200"/>
            <a:ext cx="2743200" cy="2743200"/>
          </a:xfrm>
          <a:prstGeom prst="ellipse">
            <a:avLst/>
          </a:prstGeom>
          <a:solidFill>
            <a:srgbClr val="F5C518">
              <a:alpha val="10000"/>
            </a:srgbClr>
          </a:solidFill>
          <a:ln w="12700">
            <a:solidFill>
              <a:srgbClr val="F5C518">
                <a:alpha val="5000"/>
              </a:srgbClr>
            </a:solidFill>
            <a:prstDash val="solid"/>
          </a:ln>
        </p:spPr>
      </p:sp>
      <p:sp>
        <p:nvSpPr>
          <p:cNvPr id="23" name="Shape 21"/>
          <p:cNvSpPr/>
          <p:nvPr/>
        </p:nvSpPr>
        <p:spPr>
          <a:xfrm>
            <a:off x="7543800" y="228600"/>
            <a:ext cx="1371600" cy="1371600"/>
          </a:xfrm>
          <a:prstGeom prst="ellipse">
            <a:avLst/>
          </a:prstGeom>
          <a:solidFill>
            <a:srgbClr val="F5C518">
              <a:alpha val="2000"/>
            </a:srgbClr>
          </a:solidFill>
          <a:ln w="12700">
            <a:solidFill>
              <a:srgbClr val="F5C518">
                <a:alpha val="0"/>
              </a:srgbClr>
            </a:solidFill>
            <a:prstDash val="solid"/>
          </a:ln>
        </p:spPr>
      </p:sp>
      <p:sp>
        <p:nvSpPr>
          <p:cNvPr id="24" name="Shape 22"/>
          <p:cNvSpPr/>
          <p:nvPr/>
        </p:nvSpPr>
        <p:spPr>
          <a:xfrm>
            <a:off x="0" y="0"/>
            <a:ext cx="9144000" cy="50292"/>
          </a:xfrm>
          <a:prstGeom prst="rect">
            <a:avLst/>
          </a:prstGeom>
          <a:solidFill>
            <a:srgbClr val="F5C518"/>
          </a:solidFill>
          <a:ln w="12700">
            <a:solidFill>
              <a:srgbClr val="F5C518"/>
            </a:solidFill>
            <a:prstDash val="solid"/>
          </a:ln>
        </p:spPr>
      </p:sp>
      <p:sp>
        <p:nvSpPr>
          <p:cNvPr id="25" name="Shape 23"/>
          <p:cNvSpPr/>
          <p:nvPr/>
        </p:nvSpPr>
        <p:spPr>
          <a:xfrm>
            <a:off x="320040" y="182880"/>
            <a:ext cx="1737360" cy="246888"/>
          </a:xfrm>
          <a:prstGeom prst="rect">
            <a:avLst/>
          </a:prstGeom>
          <a:solidFill>
            <a:srgbClr val="003E7A"/>
          </a:solidFill>
          <a:ln w="12700">
            <a:solidFill>
              <a:srgbClr val="00B4FF"/>
            </a:solidFill>
            <a:prstDash val="solid"/>
          </a:ln>
        </p:spPr>
      </p:sp>
      <p:sp>
        <p:nvSpPr>
          <p:cNvPr id="26" name="Text 24"/>
          <p:cNvSpPr/>
          <p:nvPr/>
        </p:nvSpPr>
        <p:spPr>
          <a:xfrm>
            <a:off x="320040" y="182880"/>
            <a:ext cx="1737360" cy="246888"/>
          </a:xfrm>
          <a:prstGeom prst="rect">
            <a:avLst/>
          </a:prstGeom>
          <a:noFill/>
          <a:ln/>
        </p:spPr>
        <p:txBody>
          <a:bodyPr wrap="square" lIns="0" tIns="0" rIns="0" bIns="0" rtlCol="0" anchor="ctr"/>
          <a:lstStyle/>
          <a:p>
            <a:pPr marL="0" indent="0" algn="ctr">
              <a:buNone/>
            </a:pPr>
            <a:r>
              <a:rPr lang="en-US" sz="700" b="1" kern="0" spc="200" dirty="0">
                <a:solidFill>
                  <a:srgbClr val="00B4FF"/>
                </a:solidFill>
              </a:rPr>
              <a:t>INSIGHTS</a:t>
            </a:r>
            <a:endParaRPr lang="en-US" sz="700" dirty="0"/>
          </a:p>
        </p:txBody>
      </p:sp>
      <p:sp>
        <p:nvSpPr>
          <p:cNvPr id="27" name="Text 25"/>
          <p:cNvSpPr/>
          <p:nvPr/>
        </p:nvSpPr>
        <p:spPr>
          <a:xfrm>
            <a:off x="320040" y="521208"/>
            <a:ext cx="8503920" cy="512064"/>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Key Business Insights</a:t>
            </a:r>
            <a:endParaRPr lang="en-US" sz="2800" dirty="0"/>
          </a:p>
        </p:txBody>
      </p:sp>
      <p:sp>
        <p:nvSpPr>
          <p:cNvPr id="28" name="Shape 26"/>
          <p:cNvSpPr/>
          <p:nvPr/>
        </p:nvSpPr>
        <p:spPr>
          <a:xfrm>
            <a:off x="320040" y="1078992"/>
            <a:ext cx="1097280" cy="36576"/>
          </a:xfrm>
          <a:prstGeom prst="rect">
            <a:avLst/>
          </a:prstGeom>
          <a:solidFill>
            <a:srgbClr val="F5C518"/>
          </a:solidFill>
          <a:ln w="12700">
            <a:solidFill>
              <a:srgbClr val="F5C518"/>
            </a:solidFill>
            <a:prstDash val="solid"/>
          </a:ln>
        </p:spPr>
      </p:sp>
      <p:sp>
        <p:nvSpPr>
          <p:cNvPr id="29" name="Shape 27"/>
          <p:cNvSpPr/>
          <p:nvPr/>
        </p:nvSpPr>
        <p:spPr>
          <a:xfrm>
            <a:off x="1463040" y="1078992"/>
            <a:ext cx="7360920" cy="36576"/>
          </a:xfrm>
          <a:prstGeom prst="rect">
            <a:avLst/>
          </a:prstGeom>
          <a:solidFill>
            <a:srgbClr val="1A2E45"/>
          </a:solidFill>
          <a:ln w="12700">
            <a:solidFill>
              <a:srgbClr val="1A2E45"/>
            </a:solidFill>
            <a:prstDash val="solid"/>
          </a:ln>
        </p:spPr>
      </p:sp>
      <p:sp>
        <p:nvSpPr>
          <p:cNvPr id="30" name="Shape 28"/>
          <p:cNvSpPr/>
          <p:nvPr/>
        </p:nvSpPr>
        <p:spPr>
          <a:xfrm>
            <a:off x="356616" y="1335024"/>
            <a:ext cx="2697480" cy="1664208"/>
          </a:xfrm>
          <a:prstGeom prst="rect">
            <a:avLst/>
          </a:prstGeom>
          <a:solidFill>
            <a:srgbClr val="000000">
              <a:alpha val="28000"/>
            </a:srgbClr>
          </a:solidFill>
          <a:ln w="12700">
            <a:solidFill>
              <a:srgbClr val="000000">
                <a:alpha val="0"/>
              </a:srgbClr>
            </a:solidFill>
            <a:prstDash val="solid"/>
          </a:ln>
        </p:spPr>
      </p:sp>
      <p:sp>
        <p:nvSpPr>
          <p:cNvPr id="31" name="Shape 29"/>
          <p:cNvSpPr/>
          <p:nvPr/>
        </p:nvSpPr>
        <p:spPr>
          <a:xfrm>
            <a:off x="320040" y="1298448"/>
            <a:ext cx="2697480" cy="1664208"/>
          </a:xfrm>
          <a:prstGeom prst="rect">
            <a:avLst/>
          </a:prstGeom>
          <a:solidFill>
            <a:srgbClr val="0A1628">
              <a:alpha val="82000"/>
            </a:srgbClr>
          </a:solidFill>
          <a:ln w="12700">
            <a:solidFill>
              <a:srgbClr val="1E3A5F"/>
            </a:solidFill>
            <a:prstDash val="solid"/>
          </a:ln>
        </p:spPr>
      </p:sp>
      <p:sp>
        <p:nvSpPr>
          <p:cNvPr id="32" name="Shape 30"/>
          <p:cNvSpPr/>
          <p:nvPr/>
        </p:nvSpPr>
        <p:spPr>
          <a:xfrm>
            <a:off x="320040" y="1298448"/>
            <a:ext cx="2697480" cy="27432"/>
          </a:xfrm>
          <a:prstGeom prst="rect">
            <a:avLst/>
          </a:prstGeom>
          <a:solidFill>
            <a:srgbClr val="FFFFFF">
              <a:alpha val="26000"/>
            </a:srgbClr>
          </a:solidFill>
          <a:ln w="12700">
            <a:solidFill>
              <a:srgbClr val="FFFFFF">
                <a:alpha val="0"/>
              </a:srgbClr>
            </a:solidFill>
            <a:prstDash val="solid"/>
          </a:ln>
        </p:spPr>
      </p:sp>
      <p:sp>
        <p:nvSpPr>
          <p:cNvPr id="33" name="Shape 31"/>
          <p:cNvSpPr/>
          <p:nvPr/>
        </p:nvSpPr>
        <p:spPr>
          <a:xfrm>
            <a:off x="320040" y="1298448"/>
            <a:ext cx="27432" cy="1664208"/>
          </a:xfrm>
          <a:prstGeom prst="rect">
            <a:avLst/>
          </a:prstGeom>
          <a:solidFill>
            <a:srgbClr val="FFFFFF">
              <a:alpha val="18000"/>
            </a:srgbClr>
          </a:solidFill>
          <a:ln w="12700">
            <a:solidFill>
              <a:srgbClr val="FFFFFF">
                <a:alpha val="0"/>
              </a:srgbClr>
            </a:solidFill>
            <a:prstDash val="solid"/>
          </a:ln>
        </p:spPr>
      </p:sp>
      <p:sp>
        <p:nvSpPr>
          <p:cNvPr id="34" name="Shape 32"/>
          <p:cNvSpPr/>
          <p:nvPr/>
        </p:nvSpPr>
        <p:spPr>
          <a:xfrm>
            <a:off x="320040" y="1298448"/>
            <a:ext cx="2697480" cy="50292"/>
          </a:xfrm>
          <a:prstGeom prst="rect">
            <a:avLst/>
          </a:prstGeom>
          <a:solidFill>
            <a:srgbClr val="00B4FF"/>
          </a:solidFill>
          <a:ln w="12700">
            <a:solidFill>
              <a:srgbClr val="00B4FF"/>
            </a:solidFill>
            <a:prstDash val="solid"/>
          </a:ln>
        </p:spPr>
      </p:sp>
      <p:sp>
        <p:nvSpPr>
          <p:cNvPr id="35" name="Text 33"/>
          <p:cNvSpPr/>
          <p:nvPr/>
        </p:nvSpPr>
        <p:spPr>
          <a:xfrm>
            <a:off x="320040" y="1408176"/>
            <a:ext cx="2697480" cy="38404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6" name="Text 34"/>
          <p:cNvSpPr/>
          <p:nvPr/>
        </p:nvSpPr>
        <p:spPr>
          <a:xfrm>
            <a:off x="411480" y="1810512"/>
            <a:ext cx="2514600" cy="274320"/>
          </a:xfrm>
          <a:prstGeom prst="rect">
            <a:avLst/>
          </a:prstGeom>
          <a:noFill/>
          <a:ln/>
        </p:spPr>
        <p:txBody>
          <a:bodyPr wrap="square" lIns="0" tIns="0" rIns="0" bIns="0" rtlCol="0" anchor="ctr"/>
          <a:lstStyle/>
          <a:p>
            <a:pPr marL="0" indent="0" algn="ctr">
              <a:buNone/>
            </a:pPr>
            <a:r>
              <a:rPr lang="en-US" sz="1050" b="1" dirty="0">
                <a:solidFill>
                  <a:srgbClr val="00B4FF"/>
                </a:solidFill>
              </a:rPr>
              <a:t>Revenue Seasonality</a:t>
            </a:r>
            <a:endParaRPr lang="en-US" sz="1050" dirty="0"/>
          </a:p>
        </p:txBody>
      </p:sp>
      <p:sp>
        <p:nvSpPr>
          <p:cNvPr id="37" name="Shape 35"/>
          <p:cNvSpPr/>
          <p:nvPr/>
        </p:nvSpPr>
        <p:spPr>
          <a:xfrm>
            <a:off x="868680" y="2121408"/>
            <a:ext cx="1600200" cy="27432"/>
          </a:xfrm>
          <a:prstGeom prst="rect">
            <a:avLst/>
          </a:prstGeom>
          <a:solidFill>
            <a:srgbClr val="1A2E45"/>
          </a:solidFill>
          <a:ln w="12700">
            <a:solidFill>
              <a:srgbClr val="1A2E45"/>
            </a:solidFill>
            <a:prstDash val="solid"/>
          </a:ln>
        </p:spPr>
      </p:sp>
      <p:sp>
        <p:nvSpPr>
          <p:cNvPr id="38" name="Text 36"/>
          <p:cNvSpPr/>
          <p:nvPr/>
        </p:nvSpPr>
        <p:spPr>
          <a:xfrm>
            <a:off x="429768" y="2185416"/>
            <a:ext cx="2478024" cy="731520"/>
          </a:xfrm>
          <a:prstGeom prst="rect">
            <a:avLst/>
          </a:prstGeom>
          <a:noFill/>
          <a:ln/>
        </p:spPr>
        <p:txBody>
          <a:bodyPr wrap="square" lIns="0" tIns="0" rIns="0" bIns="0" rtlCol="0" anchor="ctr"/>
          <a:lstStyle/>
          <a:p>
            <a:pPr marL="0" indent="0">
              <a:buNone/>
            </a:pPr>
            <a:r>
              <a:rPr lang="en-US" sz="850" dirty="0">
                <a:solidFill>
                  <a:srgbClr val="D4E6F1"/>
                </a:solidFill>
              </a:rPr>
              <a:t>August–September peak generates maximum revenue. January–February are weakest months. Dynamic pricing in off-peak months can reduce the revenue dip significantly.</a:t>
            </a:r>
            <a:endParaRPr lang="en-US" sz="850" dirty="0"/>
          </a:p>
        </p:txBody>
      </p:sp>
      <p:sp>
        <p:nvSpPr>
          <p:cNvPr id="39" name="Shape 37"/>
          <p:cNvSpPr/>
          <p:nvPr/>
        </p:nvSpPr>
        <p:spPr>
          <a:xfrm>
            <a:off x="3255264" y="1335024"/>
            <a:ext cx="2697480" cy="1664208"/>
          </a:xfrm>
          <a:prstGeom prst="rect">
            <a:avLst/>
          </a:prstGeom>
          <a:solidFill>
            <a:srgbClr val="000000">
              <a:alpha val="28000"/>
            </a:srgbClr>
          </a:solidFill>
          <a:ln w="12700">
            <a:solidFill>
              <a:srgbClr val="000000">
                <a:alpha val="0"/>
              </a:srgbClr>
            </a:solidFill>
            <a:prstDash val="solid"/>
          </a:ln>
        </p:spPr>
      </p:sp>
      <p:sp>
        <p:nvSpPr>
          <p:cNvPr id="40" name="Shape 38"/>
          <p:cNvSpPr/>
          <p:nvPr/>
        </p:nvSpPr>
        <p:spPr>
          <a:xfrm>
            <a:off x="3218688" y="1298448"/>
            <a:ext cx="2697480" cy="1664208"/>
          </a:xfrm>
          <a:prstGeom prst="rect">
            <a:avLst/>
          </a:prstGeom>
          <a:solidFill>
            <a:srgbClr val="0A1628">
              <a:alpha val="82000"/>
            </a:srgbClr>
          </a:solidFill>
          <a:ln w="12700">
            <a:solidFill>
              <a:srgbClr val="1E3A5F"/>
            </a:solidFill>
            <a:prstDash val="solid"/>
          </a:ln>
        </p:spPr>
      </p:sp>
      <p:sp>
        <p:nvSpPr>
          <p:cNvPr id="41" name="Shape 39"/>
          <p:cNvSpPr/>
          <p:nvPr/>
        </p:nvSpPr>
        <p:spPr>
          <a:xfrm>
            <a:off x="3218688" y="1298448"/>
            <a:ext cx="2697480" cy="27432"/>
          </a:xfrm>
          <a:prstGeom prst="rect">
            <a:avLst/>
          </a:prstGeom>
          <a:solidFill>
            <a:srgbClr val="FFFFFF">
              <a:alpha val="26000"/>
            </a:srgbClr>
          </a:solidFill>
          <a:ln w="12700">
            <a:solidFill>
              <a:srgbClr val="FFFFFF">
                <a:alpha val="0"/>
              </a:srgbClr>
            </a:solidFill>
            <a:prstDash val="solid"/>
          </a:ln>
        </p:spPr>
      </p:sp>
      <p:sp>
        <p:nvSpPr>
          <p:cNvPr id="42" name="Shape 40"/>
          <p:cNvSpPr/>
          <p:nvPr/>
        </p:nvSpPr>
        <p:spPr>
          <a:xfrm>
            <a:off x="3218688" y="1298448"/>
            <a:ext cx="27432" cy="1664208"/>
          </a:xfrm>
          <a:prstGeom prst="rect">
            <a:avLst/>
          </a:prstGeom>
          <a:solidFill>
            <a:srgbClr val="FFFFFF">
              <a:alpha val="18000"/>
            </a:srgbClr>
          </a:solidFill>
          <a:ln w="12700">
            <a:solidFill>
              <a:srgbClr val="FFFFFF">
                <a:alpha val="0"/>
              </a:srgbClr>
            </a:solidFill>
            <a:prstDash val="solid"/>
          </a:ln>
        </p:spPr>
      </p:sp>
      <p:sp>
        <p:nvSpPr>
          <p:cNvPr id="43" name="Shape 41"/>
          <p:cNvSpPr/>
          <p:nvPr/>
        </p:nvSpPr>
        <p:spPr>
          <a:xfrm>
            <a:off x="3218688" y="1298448"/>
            <a:ext cx="2697480" cy="50292"/>
          </a:xfrm>
          <a:prstGeom prst="rect">
            <a:avLst/>
          </a:prstGeom>
          <a:solidFill>
            <a:srgbClr val="F5C518"/>
          </a:solidFill>
          <a:ln w="12700">
            <a:solidFill>
              <a:srgbClr val="F5C518"/>
            </a:solidFill>
            <a:prstDash val="solid"/>
          </a:ln>
        </p:spPr>
      </p:sp>
      <p:sp>
        <p:nvSpPr>
          <p:cNvPr id="44" name="Text 42"/>
          <p:cNvSpPr/>
          <p:nvPr/>
        </p:nvSpPr>
        <p:spPr>
          <a:xfrm>
            <a:off x="3218688" y="1408176"/>
            <a:ext cx="2697480" cy="38404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45" name="Text 43"/>
          <p:cNvSpPr/>
          <p:nvPr/>
        </p:nvSpPr>
        <p:spPr>
          <a:xfrm>
            <a:off x="3310128" y="1810512"/>
            <a:ext cx="2514600" cy="274320"/>
          </a:xfrm>
          <a:prstGeom prst="rect">
            <a:avLst/>
          </a:prstGeom>
          <a:noFill/>
          <a:ln/>
        </p:spPr>
        <p:txBody>
          <a:bodyPr wrap="square" lIns="0" tIns="0" rIns="0" bIns="0" rtlCol="0" anchor="ctr"/>
          <a:lstStyle/>
          <a:p>
            <a:pPr marL="0" indent="0" algn="ctr">
              <a:buNone/>
            </a:pPr>
            <a:r>
              <a:rPr lang="en-US" sz="1050" b="1" dirty="0">
                <a:solidFill>
                  <a:srgbClr val="F5C518"/>
                </a:solidFill>
              </a:rPr>
              <a:t>Hotel Type Gap</a:t>
            </a:r>
            <a:endParaRPr lang="en-US" sz="1050" dirty="0"/>
          </a:p>
        </p:txBody>
      </p:sp>
      <p:sp>
        <p:nvSpPr>
          <p:cNvPr id="46" name="Shape 44"/>
          <p:cNvSpPr/>
          <p:nvPr/>
        </p:nvSpPr>
        <p:spPr>
          <a:xfrm>
            <a:off x="3767328" y="2121408"/>
            <a:ext cx="1600200" cy="27432"/>
          </a:xfrm>
          <a:prstGeom prst="rect">
            <a:avLst/>
          </a:prstGeom>
          <a:solidFill>
            <a:srgbClr val="1A2E45"/>
          </a:solidFill>
          <a:ln w="12700">
            <a:solidFill>
              <a:srgbClr val="1A2E45"/>
            </a:solidFill>
            <a:prstDash val="solid"/>
          </a:ln>
        </p:spPr>
      </p:sp>
      <p:sp>
        <p:nvSpPr>
          <p:cNvPr id="47" name="Text 45"/>
          <p:cNvSpPr/>
          <p:nvPr/>
        </p:nvSpPr>
        <p:spPr>
          <a:xfrm>
            <a:off x="3328416" y="2185416"/>
            <a:ext cx="2478024" cy="731520"/>
          </a:xfrm>
          <a:prstGeom prst="rect">
            <a:avLst/>
          </a:prstGeom>
          <a:noFill/>
          <a:ln/>
        </p:spPr>
        <p:txBody>
          <a:bodyPr wrap="square" lIns="0" tIns="0" rIns="0" bIns="0" rtlCol="0" anchor="ctr"/>
          <a:lstStyle/>
          <a:p>
            <a:pPr marL="0" indent="0">
              <a:buNone/>
            </a:pPr>
            <a:r>
              <a:rPr lang="en-US" sz="850" dirty="0">
                <a:solidFill>
                  <a:srgbClr val="D4E6F1"/>
                </a:solidFill>
              </a:rPr>
              <a:t>City Hotel cancellation rate (41.73%) is significantly higher than Resort Hotel (27.76%). Non-refundable deposit policies can plug this revenue leakage.</a:t>
            </a:r>
            <a:endParaRPr lang="en-US" sz="850" dirty="0"/>
          </a:p>
        </p:txBody>
      </p:sp>
      <p:sp>
        <p:nvSpPr>
          <p:cNvPr id="48" name="Shape 46"/>
          <p:cNvSpPr/>
          <p:nvPr/>
        </p:nvSpPr>
        <p:spPr>
          <a:xfrm>
            <a:off x="6153912" y="1335024"/>
            <a:ext cx="2697480" cy="1664208"/>
          </a:xfrm>
          <a:prstGeom prst="rect">
            <a:avLst/>
          </a:prstGeom>
          <a:solidFill>
            <a:srgbClr val="000000">
              <a:alpha val="28000"/>
            </a:srgbClr>
          </a:solidFill>
          <a:ln w="12700">
            <a:solidFill>
              <a:srgbClr val="000000">
                <a:alpha val="0"/>
              </a:srgbClr>
            </a:solidFill>
            <a:prstDash val="solid"/>
          </a:ln>
        </p:spPr>
      </p:sp>
      <p:sp>
        <p:nvSpPr>
          <p:cNvPr id="49" name="Shape 47"/>
          <p:cNvSpPr/>
          <p:nvPr/>
        </p:nvSpPr>
        <p:spPr>
          <a:xfrm>
            <a:off x="6117336" y="1298448"/>
            <a:ext cx="2697480" cy="1664208"/>
          </a:xfrm>
          <a:prstGeom prst="rect">
            <a:avLst/>
          </a:prstGeom>
          <a:solidFill>
            <a:srgbClr val="0A1628">
              <a:alpha val="82000"/>
            </a:srgbClr>
          </a:solidFill>
          <a:ln w="12700">
            <a:solidFill>
              <a:srgbClr val="1E3A5F"/>
            </a:solidFill>
            <a:prstDash val="solid"/>
          </a:ln>
        </p:spPr>
      </p:sp>
      <p:sp>
        <p:nvSpPr>
          <p:cNvPr id="50" name="Shape 48"/>
          <p:cNvSpPr/>
          <p:nvPr/>
        </p:nvSpPr>
        <p:spPr>
          <a:xfrm>
            <a:off x="6117336" y="1298448"/>
            <a:ext cx="2697480" cy="27432"/>
          </a:xfrm>
          <a:prstGeom prst="rect">
            <a:avLst/>
          </a:prstGeom>
          <a:solidFill>
            <a:srgbClr val="FFFFFF">
              <a:alpha val="26000"/>
            </a:srgbClr>
          </a:solidFill>
          <a:ln w="12700">
            <a:solidFill>
              <a:srgbClr val="FFFFFF">
                <a:alpha val="0"/>
              </a:srgbClr>
            </a:solidFill>
            <a:prstDash val="solid"/>
          </a:ln>
        </p:spPr>
      </p:sp>
      <p:sp>
        <p:nvSpPr>
          <p:cNvPr id="51" name="Shape 49"/>
          <p:cNvSpPr/>
          <p:nvPr/>
        </p:nvSpPr>
        <p:spPr>
          <a:xfrm>
            <a:off x="6117336" y="1298448"/>
            <a:ext cx="27432" cy="1664208"/>
          </a:xfrm>
          <a:prstGeom prst="rect">
            <a:avLst/>
          </a:prstGeom>
          <a:solidFill>
            <a:srgbClr val="FFFFFF">
              <a:alpha val="18000"/>
            </a:srgbClr>
          </a:solidFill>
          <a:ln w="12700">
            <a:solidFill>
              <a:srgbClr val="FFFFFF">
                <a:alpha val="0"/>
              </a:srgbClr>
            </a:solidFill>
            <a:prstDash val="solid"/>
          </a:ln>
        </p:spPr>
      </p:sp>
      <p:sp>
        <p:nvSpPr>
          <p:cNvPr id="52" name="Shape 50"/>
          <p:cNvSpPr/>
          <p:nvPr/>
        </p:nvSpPr>
        <p:spPr>
          <a:xfrm>
            <a:off x="6117336" y="1298448"/>
            <a:ext cx="2697480" cy="50292"/>
          </a:xfrm>
          <a:prstGeom prst="rect">
            <a:avLst/>
          </a:prstGeom>
          <a:solidFill>
            <a:srgbClr val="00B4FF"/>
          </a:solidFill>
          <a:ln w="12700">
            <a:solidFill>
              <a:srgbClr val="00B4FF"/>
            </a:solidFill>
            <a:prstDash val="solid"/>
          </a:ln>
        </p:spPr>
      </p:sp>
      <p:sp>
        <p:nvSpPr>
          <p:cNvPr id="53" name="Text 51"/>
          <p:cNvSpPr/>
          <p:nvPr/>
        </p:nvSpPr>
        <p:spPr>
          <a:xfrm>
            <a:off x="6117336" y="1408176"/>
            <a:ext cx="2697480" cy="38404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54" name="Text 52"/>
          <p:cNvSpPr/>
          <p:nvPr/>
        </p:nvSpPr>
        <p:spPr>
          <a:xfrm>
            <a:off x="6208776" y="1810512"/>
            <a:ext cx="2514600" cy="274320"/>
          </a:xfrm>
          <a:prstGeom prst="rect">
            <a:avLst/>
          </a:prstGeom>
          <a:noFill/>
          <a:ln/>
        </p:spPr>
        <p:txBody>
          <a:bodyPr wrap="square" lIns="0" tIns="0" rIns="0" bIns="0" rtlCol="0" anchor="ctr"/>
          <a:lstStyle/>
          <a:p>
            <a:pPr marL="0" indent="0" algn="ctr">
              <a:buNone/>
            </a:pPr>
            <a:r>
              <a:rPr lang="en-US" sz="1050" b="1" dirty="0">
                <a:solidFill>
                  <a:srgbClr val="00B4FF"/>
                </a:solidFill>
              </a:rPr>
              <a:t>Top Source Markets</a:t>
            </a:r>
            <a:endParaRPr lang="en-US" sz="1050" dirty="0"/>
          </a:p>
        </p:txBody>
      </p:sp>
      <p:sp>
        <p:nvSpPr>
          <p:cNvPr id="55" name="Shape 53"/>
          <p:cNvSpPr/>
          <p:nvPr/>
        </p:nvSpPr>
        <p:spPr>
          <a:xfrm>
            <a:off x="6665976" y="2121408"/>
            <a:ext cx="1600200" cy="27432"/>
          </a:xfrm>
          <a:prstGeom prst="rect">
            <a:avLst/>
          </a:prstGeom>
          <a:solidFill>
            <a:srgbClr val="1A2E45"/>
          </a:solidFill>
          <a:ln w="12700">
            <a:solidFill>
              <a:srgbClr val="1A2E45"/>
            </a:solidFill>
            <a:prstDash val="solid"/>
          </a:ln>
        </p:spPr>
      </p:sp>
      <p:sp>
        <p:nvSpPr>
          <p:cNvPr id="56" name="Text 54"/>
          <p:cNvSpPr/>
          <p:nvPr/>
        </p:nvSpPr>
        <p:spPr>
          <a:xfrm>
            <a:off x="6227064" y="2185416"/>
            <a:ext cx="2478024" cy="731520"/>
          </a:xfrm>
          <a:prstGeom prst="rect">
            <a:avLst/>
          </a:prstGeom>
          <a:noFill/>
          <a:ln/>
        </p:spPr>
        <p:txBody>
          <a:bodyPr wrap="square" lIns="0" tIns="0" rIns="0" bIns="0" rtlCol="0" anchor="ctr"/>
          <a:lstStyle/>
          <a:p>
            <a:pPr marL="0" indent="0">
              <a:buNone/>
            </a:pPr>
            <a:r>
              <a:rPr lang="en-US" sz="850" dirty="0">
                <a:solidFill>
                  <a:srgbClr val="D4E6F1"/>
                </a:solidFill>
              </a:rPr>
              <a:t>Portugal, Great Britain &amp; France are the top 3 revenue-generating countries. Targeted campaigns in these markets will yield the highest ROI.</a:t>
            </a:r>
            <a:endParaRPr lang="en-US" sz="850" dirty="0"/>
          </a:p>
        </p:txBody>
      </p:sp>
      <p:sp>
        <p:nvSpPr>
          <p:cNvPr id="57" name="Shape 55"/>
          <p:cNvSpPr/>
          <p:nvPr/>
        </p:nvSpPr>
        <p:spPr>
          <a:xfrm>
            <a:off x="356616" y="3145536"/>
            <a:ext cx="2697480" cy="1664208"/>
          </a:xfrm>
          <a:prstGeom prst="rect">
            <a:avLst/>
          </a:prstGeom>
          <a:solidFill>
            <a:srgbClr val="000000">
              <a:alpha val="28000"/>
            </a:srgbClr>
          </a:solidFill>
          <a:ln w="12700">
            <a:solidFill>
              <a:srgbClr val="000000">
                <a:alpha val="0"/>
              </a:srgbClr>
            </a:solidFill>
            <a:prstDash val="solid"/>
          </a:ln>
        </p:spPr>
      </p:sp>
      <p:sp>
        <p:nvSpPr>
          <p:cNvPr id="58" name="Shape 56"/>
          <p:cNvSpPr/>
          <p:nvPr/>
        </p:nvSpPr>
        <p:spPr>
          <a:xfrm>
            <a:off x="320040" y="3108960"/>
            <a:ext cx="2697480" cy="1664208"/>
          </a:xfrm>
          <a:prstGeom prst="rect">
            <a:avLst/>
          </a:prstGeom>
          <a:solidFill>
            <a:srgbClr val="0A1628">
              <a:alpha val="82000"/>
            </a:srgbClr>
          </a:solidFill>
          <a:ln w="12700">
            <a:solidFill>
              <a:srgbClr val="1E3A5F"/>
            </a:solidFill>
            <a:prstDash val="solid"/>
          </a:ln>
        </p:spPr>
      </p:sp>
      <p:sp>
        <p:nvSpPr>
          <p:cNvPr id="59" name="Shape 57"/>
          <p:cNvSpPr/>
          <p:nvPr/>
        </p:nvSpPr>
        <p:spPr>
          <a:xfrm>
            <a:off x="320040" y="3108960"/>
            <a:ext cx="2697480" cy="27432"/>
          </a:xfrm>
          <a:prstGeom prst="rect">
            <a:avLst/>
          </a:prstGeom>
          <a:solidFill>
            <a:srgbClr val="FFFFFF">
              <a:alpha val="26000"/>
            </a:srgbClr>
          </a:solidFill>
          <a:ln w="12700">
            <a:solidFill>
              <a:srgbClr val="FFFFFF">
                <a:alpha val="0"/>
              </a:srgbClr>
            </a:solidFill>
            <a:prstDash val="solid"/>
          </a:ln>
        </p:spPr>
      </p:sp>
      <p:sp>
        <p:nvSpPr>
          <p:cNvPr id="60" name="Shape 58"/>
          <p:cNvSpPr/>
          <p:nvPr/>
        </p:nvSpPr>
        <p:spPr>
          <a:xfrm>
            <a:off x="320040" y="3108960"/>
            <a:ext cx="27432" cy="1664208"/>
          </a:xfrm>
          <a:prstGeom prst="rect">
            <a:avLst/>
          </a:prstGeom>
          <a:solidFill>
            <a:srgbClr val="FFFFFF">
              <a:alpha val="18000"/>
            </a:srgbClr>
          </a:solidFill>
          <a:ln w="12700">
            <a:solidFill>
              <a:srgbClr val="FFFFFF">
                <a:alpha val="0"/>
              </a:srgbClr>
            </a:solidFill>
            <a:prstDash val="solid"/>
          </a:ln>
        </p:spPr>
      </p:sp>
      <p:sp>
        <p:nvSpPr>
          <p:cNvPr id="61" name="Shape 59"/>
          <p:cNvSpPr/>
          <p:nvPr/>
        </p:nvSpPr>
        <p:spPr>
          <a:xfrm>
            <a:off x="320040" y="3108960"/>
            <a:ext cx="2697480" cy="50292"/>
          </a:xfrm>
          <a:prstGeom prst="rect">
            <a:avLst/>
          </a:prstGeom>
          <a:solidFill>
            <a:srgbClr val="F5C518"/>
          </a:solidFill>
          <a:ln w="12700">
            <a:solidFill>
              <a:srgbClr val="F5C518"/>
            </a:solidFill>
            <a:prstDash val="solid"/>
          </a:ln>
        </p:spPr>
      </p:sp>
      <p:sp>
        <p:nvSpPr>
          <p:cNvPr id="62" name="Text 60"/>
          <p:cNvSpPr/>
          <p:nvPr/>
        </p:nvSpPr>
        <p:spPr>
          <a:xfrm>
            <a:off x="320040" y="3218688"/>
            <a:ext cx="2697480" cy="38404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63" name="Text 61"/>
          <p:cNvSpPr/>
          <p:nvPr/>
        </p:nvSpPr>
        <p:spPr>
          <a:xfrm>
            <a:off x="411480" y="3621024"/>
            <a:ext cx="2514600" cy="274320"/>
          </a:xfrm>
          <a:prstGeom prst="rect">
            <a:avLst/>
          </a:prstGeom>
          <a:noFill/>
          <a:ln/>
        </p:spPr>
        <p:txBody>
          <a:bodyPr wrap="square" lIns="0" tIns="0" rIns="0" bIns="0" rtlCol="0" anchor="ctr"/>
          <a:lstStyle/>
          <a:p>
            <a:pPr marL="0" indent="0" algn="ctr">
              <a:buNone/>
            </a:pPr>
            <a:r>
              <a:rPr lang="en-US" sz="1050" b="1" dirty="0">
                <a:solidFill>
                  <a:srgbClr val="F5C518"/>
                </a:solidFill>
              </a:rPr>
              <a:t>Room Type Pricing</a:t>
            </a:r>
            <a:endParaRPr lang="en-US" sz="1050" dirty="0"/>
          </a:p>
        </p:txBody>
      </p:sp>
      <p:sp>
        <p:nvSpPr>
          <p:cNvPr id="64" name="Shape 62"/>
          <p:cNvSpPr/>
          <p:nvPr/>
        </p:nvSpPr>
        <p:spPr>
          <a:xfrm>
            <a:off x="868680" y="3931920"/>
            <a:ext cx="1600200" cy="27432"/>
          </a:xfrm>
          <a:prstGeom prst="rect">
            <a:avLst/>
          </a:prstGeom>
          <a:solidFill>
            <a:srgbClr val="1A2E45"/>
          </a:solidFill>
          <a:ln w="12700">
            <a:solidFill>
              <a:srgbClr val="1A2E45"/>
            </a:solidFill>
            <a:prstDash val="solid"/>
          </a:ln>
        </p:spPr>
      </p:sp>
      <p:sp>
        <p:nvSpPr>
          <p:cNvPr id="65" name="Text 63"/>
          <p:cNvSpPr/>
          <p:nvPr/>
        </p:nvSpPr>
        <p:spPr>
          <a:xfrm>
            <a:off x="429768" y="3995928"/>
            <a:ext cx="2478024" cy="731520"/>
          </a:xfrm>
          <a:prstGeom prst="rect">
            <a:avLst/>
          </a:prstGeom>
          <a:noFill/>
          <a:ln/>
        </p:spPr>
        <p:txBody>
          <a:bodyPr wrap="square" lIns="0" tIns="0" rIns="0" bIns="0" rtlCol="0" anchor="ctr"/>
          <a:lstStyle/>
          <a:p>
            <a:pPr marL="0" indent="0">
              <a:buNone/>
            </a:pPr>
            <a:r>
              <a:rPr lang="en-US" sz="850" dirty="0">
                <a:solidFill>
                  <a:srgbClr val="D4E6F1"/>
                </a:solidFill>
              </a:rPr>
              <a:t>Room Type H commands the highest ADR ($656+) in all seasons. Prioritising premium room availability during peak periods maximises RevPAR.</a:t>
            </a:r>
            <a:endParaRPr lang="en-US" sz="850" dirty="0"/>
          </a:p>
        </p:txBody>
      </p:sp>
      <p:sp>
        <p:nvSpPr>
          <p:cNvPr id="66" name="Shape 64"/>
          <p:cNvSpPr/>
          <p:nvPr/>
        </p:nvSpPr>
        <p:spPr>
          <a:xfrm>
            <a:off x="3255264" y="3145536"/>
            <a:ext cx="2697480" cy="1664208"/>
          </a:xfrm>
          <a:prstGeom prst="rect">
            <a:avLst/>
          </a:prstGeom>
          <a:solidFill>
            <a:srgbClr val="000000">
              <a:alpha val="28000"/>
            </a:srgbClr>
          </a:solidFill>
          <a:ln w="12700">
            <a:solidFill>
              <a:srgbClr val="000000">
                <a:alpha val="0"/>
              </a:srgbClr>
            </a:solidFill>
            <a:prstDash val="solid"/>
          </a:ln>
        </p:spPr>
      </p:sp>
      <p:sp>
        <p:nvSpPr>
          <p:cNvPr id="67" name="Shape 65"/>
          <p:cNvSpPr/>
          <p:nvPr/>
        </p:nvSpPr>
        <p:spPr>
          <a:xfrm>
            <a:off x="3218688" y="3108960"/>
            <a:ext cx="2697480" cy="1664208"/>
          </a:xfrm>
          <a:prstGeom prst="rect">
            <a:avLst/>
          </a:prstGeom>
          <a:solidFill>
            <a:srgbClr val="0A1628">
              <a:alpha val="82000"/>
            </a:srgbClr>
          </a:solidFill>
          <a:ln w="12700">
            <a:solidFill>
              <a:srgbClr val="1E3A5F"/>
            </a:solidFill>
            <a:prstDash val="solid"/>
          </a:ln>
        </p:spPr>
      </p:sp>
      <p:sp>
        <p:nvSpPr>
          <p:cNvPr id="68" name="Shape 66"/>
          <p:cNvSpPr/>
          <p:nvPr/>
        </p:nvSpPr>
        <p:spPr>
          <a:xfrm>
            <a:off x="3218688" y="3108960"/>
            <a:ext cx="2697480" cy="27432"/>
          </a:xfrm>
          <a:prstGeom prst="rect">
            <a:avLst/>
          </a:prstGeom>
          <a:solidFill>
            <a:srgbClr val="FFFFFF">
              <a:alpha val="26000"/>
            </a:srgbClr>
          </a:solidFill>
          <a:ln w="12700">
            <a:solidFill>
              <a:srgbClr val="FFFFFF">
                <a:alpha val="0"/>
              </a:srgbClr>
            </a:solidFill>
            <a:prstDash val="solid"/>
          </a:ln>
        </p:spPr>
      </p:sp>
      <p:sp>
        <p:nvSpPr>
          <p:cNvPr id="69" name="Shape 67"/>
          <p:cNvSpPr/>
          <p:nvPr/>
        </p:nvSpPr>
        <p:spPr>
          <a:xfrm>
            <a:off x="3218688" y="3108960"/>
            <a:ext cx="27432" cy="1664208"/>
          </a:xfrm>
          <a:prstGeom prst="rect">
            <a:avLst/>
          </a:prstGeom>
          <a:solidFill>
            <a:srgbClr val="FFFFFF">
              <a:alpha val="18000"/>
            </a:srgbClr>
          </a:solidFill>
          <a:ln w="12700">
            <a:solidFill>
              <a:srgbClr val="FFFFFF">
                <a:alpha val="0"/>
              </a:srgbClr>
            </a:solidFill>
            <a:prstDash val="solid"/>
          </a:ln>
        </p:spPr>
      </p:sp>
      <p:sp>
        <p:nvSpPr>
          <p:cNvPr id="70" name="Shape 68"/>
          <p:cNvSpPr/>
          <p:nvPr/>
        </p:nvSpPr>
        <p:spPr>
          <a:xfrm>
            <a:off x="3218688" y="3108960"/>
            <a:ext cx="2697480" cy="50292"/>
          </a:xfrm>
          <a:prstGeom prst="rect">
            <a:avLst/>
          </a:prstGeom>
          <a:solidFill>
            <a:srgbClr val="00B4FF"/>
          </a:solidFill>
          <a:ln w="12700">
            <a:solidFill>
              <a:srgbClr val="00B4FF"/>
            </a:solidFill>
            <a:prstDash val="solid"/>
          </a:ln>
        </p:spPr>
      </p:sp>
      <p:sp>
        <p:nvSpPr>
          <p:cNvPr id="71" name="Text 69"/>
          <p:cNvSpPr/>
          <p:nvPr/>
        </p:nvSpPr>
        <p:spPr>
          <a:xfrm>
            <a:off x="3218688" y="3218688"/>
            <a:ext cx="2697480" cy="38404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72" name="Text 70"/>
          <p:cNvSpPr/>
          <p:nvPr/>
        </p:nvSpPr>
        <p:spPr>
          <a:xfrm>
            <a:off x="3310128" y="3621024"/>
            <a:ext cx="2514600" cy="274320"/>
          </a:xfrm>
          <a:prstGeom prst="rect">
            <a:avLst/>
          </a:prstGeom>
          <a:noFill/>
          <a:ln/>
        </p:spPr>
        <p:txBody>
          <a:bodyPr wrap="square" lIns="0" tIns="0" rIns="0" bIns="0" rtlCol="0" anchor="ctr"/>
          <a:lstStyle/>
          <a:p>
            <a:pPr marL="0" indent="0" algn="ctr">
              <a:buNone/>
            </a:pPr>
            <a:r>
              <a:rPr lang="en-US" sz="1050" b="1" dirty="0">
                <a:solidFill>
                  <a:srgbClr val="00B4FF"/>
                </a:solidFill>
              </a:rPr>
              <a:t>Lead Time &amp; Cancellations</a:t>
            </a:r>
            <a:endParaRPr lang="en-US" sz="1050" dirty="0"/>
          </a:p>
        </p:txBody>
      </p:sp>
      <p:sp>
        <p:nvSpPr>
          <p:cNvPr id="73" name="Shape 71"/>
          <p:cNvSpPr/>
          <p:nvPr/>
        </p:nvSpPr>
        <p:spPr>
          <a:xfrm>
            <a:off x="3767328" y="3931920"/>
            <a:ext cx="1600200" cy="27432"/>
          </a:xfrm>
          <a:prstGeom prst="rect">
            <a:avLst/>
          </a:prstGeom>
          <a:solidFill>
            <a:srgbClr val="1A2E45"/>
          </a:solidFill>
          <a:ln w="12700">
            <a:solidFill>
              <a:srgbClr val="1A2E45"/>
            </a:solidFill>
            <a:prstDash val="solid"/>
          </a:ln>
        </p:spPr>
      </p:sp>
      <p:sp>
        <p:nvSpPr>
          <p:cNvPr id="74" name="Text 72"/>
          <p:cNvSpPr/>
          <p:nvPr/>
        </p:nvSpPr>
        <p:spPr>
          <a:xfrm>
            <a:off x="3328416" y="3995928"/>
            <a:ext cx="2478024" cy="731520"/>
          </a:xfrm>
          <a:prstGeom prst="rect">
            <a:avLst/>
          </a:prstGeom>
          <a:noFill/>
          <a:ln/>
        </p:spPr>
        <p:txBody>
          <a:bodyPr wrap="square" lIns="0" tIns="0" rIns="0" bIns="0" rtlCol="0" anchor="ctr"/>
          <a:lstStyle/>
          <a:p>
            <a:pPr marL="0" indent="0">
              <a:buNone/>
            </a:pPr>
            <a:r>
              <a:rPr lang="en-US" sz="850" dirty="0">
                <a:solidFill>
                  <a:srgbClr val="D4E6F1"/>
                </a:solidFill>
              </a:rPr>
              <a:t>Bookings made 0–7 days in advance have the lowest cancellation rates. Last-minute deals convert hesitant guests during high-demand periods.</a:t>
            </a:r>
            <a:endParaRPr lang="en-US" sz="850" dirty="0"/>
          </a:p>
        </p:txBody>
      </p:sp>
      <p:sp>
        <p:nvSpPr>
          <p:cNvPr id="75" name="Shape 73"/>
          <p:cNvSpPr/>
          <p:nvPr/>
        </p:nvSpPr>
        <p:spPr>
          <a:xfrm>
            <a:off x="6153912" y="3145536"/>
            <a:ext cx="2697480" cy="1664208"/>
          </a:xfrm>
          <a:prstGeom prst="rect">
            <a:avLst/>
          </a:prstGeom>
          <a:solidFill>
            <a:srgbClr val="000000">
              <a:alpha val="28000"/>
            </a:srgbClr>
          </a:solidFill>
          <a:ln w="12700">
            <a:solidFill>
              <a:srgbClr val="000000">
                <a:alpha val="0"/>
              </a:srgbClr>
            </a:solidFill>
            <a:prstDash val="solid"/>
          </a:ln>
        </p:spPr>
      </p:sp>
      <p:sp>
        <p:nvSpPr>
          <p:cNvPr id="76" name="Shape 74"/>
          <p:cNvSpPr/>
          <p:nvPr/>
        </p:nvSpPr>
        <p:spPr>
          <a:xfrm>
            <a:off x="6117336" y="3108960"/>
            <a:ext cx="2697480" cy="1664208"/>
          </a:xfrm>
          <a:prstGeom prst="rect">
            <a:avLst/>
          </a:prstGeom>
          <a:solidFill>
            <a:srgbClr val="0A1628">
              <a:alpha val="82000"/>
            </a:srgbClr>
          </a:solidFill>
          <a:ln w="12700">
            <a:solidFill>
              <a:srgbClr val="1E3A5F"/>
            </a:solidFill>
            <a:prstDash val="solid"/>
          </a:ln>
        </p:spPr>
      </p:sp>
      <p:sp>
        <p:nvSpPr>
          <p:cNvPr id="77" name="Shape 75"/>
          <p:cNvSpPr/>
          <p:nvPr/>
        </p:nvSpPr>
        <p:spPr>
          <a:xfrm>
            <a:off x="6117336" y="3108960"/>
            <a:ext cx="2697480" cy="27432"/>
          </a:xfrm>
          <a:prstGeom prst="rect">
            <a:avLst/>
          </a:prstGeom>
          <a:solidFill>
            <a:srgbClr val="FFFFFF">
              <a:alpha val="26000"/>
            </a:srgbClr>
          </a:solidFill>
          <a:ln w="12700">
            <a:solidFill>
              <a:srgbClr val="FFFFFF">
                <a:alpha val="0"/>
              </a:srgbClr>
            </a:solidFill>
            <a:prstDash val="solid"/>
          </a:ln>
        </p:spPr>
      </p:sp>
      <p:sp>
        <p:nvSpPr>
          <p:cNvPr id="78" name="Shape 76"/>
          <p:cNvSpPr/>
          <p:nvPr/>
        </p:nvSpPr>
        <p:spPr>
          <a:xfrm>
            <a:off x="6117336" y="3108960"/>
            <a:ext cx="27432" cy="1664208"/>
          </a:xfrm>
          <a:prstGeom prst="rect">
            <a:avLst/>
          </a:prstGeom>
          <a:solidFill>
            <a:srgbClr val="FFFFFF">
              <a:alpha val="18000"/>
            </a:srgbClr>
          </a:solidFill>
          <a:ln w="12700">
            <a:solidFill>
              <a:srgbClr val="FFFFFF">
                <a:alpha val="0"/>
              </a:srgbClr>
            </a:solidFill>
            <a:prstDash val="solid"/>
          </a:ln>
        </p:spPr>
      </p:sp>
      <p:sp>
        <p:nvSpPr>
          <p:cNvPr id="79" name="Shape 77"/>
          <p:cNvSpPr/>
          <p:nvPr/>
        </p:nvSpPr>
        <p:spPr>
          <a:xfrm>
            <a:off x="6117336" y="3108960"/>
            <a:ext cx="2697480" cy="50292"/>
          </a:xfrm>
          <a:prstGeom prst="rect">
            <a:avLst/>
          </a:prstGeom>
          <a:solidFill>
            <a:srgbClr val="F5C518"/>
          </a:solidFill>
          <a:ln w="12700">
            <a:solidFill>
              <a:srgbClr val="F5C518"/>
            </a:solidFill>
            <a:prstDash val="solid"/>
          </a:ln>
        </p:spPr>
      </p:sp>
      <p:sp>
        <p:nvSpPr>
          <p:cNvPr id="80" name="Text 78"/>
          <p:cNvSpPr/>
          <p:nvPr/>
        </p:nvSpPr>
        <p:spPr>
          <a:xfrm>
            <a:off x="6117336" y="3218688"/>
            <a:ext cx="2697480" cy="38404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81" name="Text 79"/>
          <p:cNvSpPr/>
          <p:nvPr/>
        </p:nvSpPr>
        <p:spPr>
          <a:xfrm>
            <a:off x="6208776" y="3621024"/>
            <a:ext cx="2514600" cy="274320"/>
          </a:xfrm>
          <a:prstGeom prst="rect">
            <a:avLst/>
          </a:prstGeom>
          <a:noFill/>
          <a:ln/>
        </p:spPr>
        <p:txBody>
          <a:bodyPr wrap="square" lIns="0" tIns="0" rIns="0" bIns="0" rtlCol="0" anchor="ctr"/>
          <a:lstStyle/>
          <a:p>
            <a:pPr marL="0" indent="0" algn="ctr">
              <a:buNone/>
            </a:pPr>
            <a:r>
              <a:rPr lang="en-US" sz="1050" b="1" dirty="0">
                <a:solidFill>
                  <a:srgbClr val="F5C518"/>
                </a:solidFill>
              </a:rPr>
              <a:t>Channel Dominance</a:t>
            </a:r>
            <a:endParaRPr lang="en-US" sz="1050" dirty="0"/>
          </a:p>
        </p:txBody>
      </p:sp>
      <p:sp>
        <p:nvSpPr>
          <p:cNvPr id="82" name="Shape 80"/>
          <p:cNvSpPr/>
          <p:nvPr/>
        </p:nvSpPr>
        <p:spPr>
          <a:xfrm>
            <a:off x="6665976" y="3931920"/>
            <a:ext cx="1600200" cy="27432"/>
          </a:xfrm>
          <a:prstGeom prst="rect">
            <a:avLst/>
          </a:prstGeom>
          <a:solidFill>
            <a:srgbClr val="1A2E45"/>
          </a:solidFill>
          <a:ln w="12700">
            <a:solidFill>
              <a:srgbClr val="1A2E45"/>
            </a:solidFill>
            <a:prstDash val="solid"/>
          </a:ln>
        </p:spPr>
      </p:sp>
      <p:sp>
        <p:nvSpPr>
          <p:cNvPr id="83" name="Text 81"/>
          <p:cNvSpPr/>
          <p:nvPr/>
        </p:nvSpPr>
        <p:spPr>
          <a:xfrm>
            <a:off x="6227064" y="3995928"/>
            <a:ext cx="2478024" cy="731520"/>
          </a:xfrm>
          <a:prstGeom prst="rect">
            <a:avLst/>
          </a:prstGeom>
          <a:noFill/>
          <a:ln/>
        </p:spPr>
        <p:txBody>
          <a:bodyPr wrap="square" lIns="0" tIns="0" rIns="0" bIns="0" rtlCol="0" anchor="ctr"/>
          <a:lstStyle/>
          <a:p>
            <a:pPr marL="0" indent="0">
              <a:buNone/>
            </a:pPr>
            <a:r>
              <a:rPr lang="en-US" sz="850" dirty="0">
                <a:solidFill>
                  <a:srgbClr val="D4E6F1"/>
                </a:solidFill>
              </a:rPr>
              <a:t>Online Travel Agents drive 82% of bookings and the highest revenue share. Investing in OTA visibility and guest reviews is critical for growth.</a:t>
            </a:r>
            <a:endParaRPr lang="en-US" sz="850" dirty="0"/>
          </a:p>
        </p:txBody>
      </p:sp>
      <p:sp>
        <p:nvSpPr>
          <p:cNvPr id="84" name="Shape 82"/>
          <p:cNvSpPr/>
          <p:nvPr/>
        </p:nvSpPr>
        <p:spPr>
          <a:xfrm>
            <a:off x="0" y="4983480"/>
            <a:ext cx="9144000" cy="160020"/>
          </a:xfrm>
          <a:prstGeom prst="rect">
            <a:avLst/>
          </a:prstGeom>
          <a:solidFill>
            <a:srgbClr val="1A2E45"/>
          </a:solidFill>
          <a:ln w="12700">
            <a:solidFill>
              <a:srgbClr val="1A2E45"/>
            </a:solidFill>
            <a:prstDash val="solid"/>
          </a:ln>
        </p:spPr>
      </p:sp>
      <p:sp>
        <p:nvSpPr>
          <p:cNvPr id="85" name="Shape 83"/>
          <p:cNvSpPr/>
          <p:nvPr/>
        </p:nvSpPr>
        <p:spPr>
          <a:xfrm>
            <a:off x="0" y="4983480"/>
            <a:ext cx="36576" cy="160020"/>
          </a:xfrm>
          <a:prstGeom prst="rect">
            <a:avLst/>
          </a:prstGeom>
          <a:solidFill>
            <a:srgbClr val="F5C518"/>
          </a:solidFill>
          <a:ln w="12700">
            <a:solidFill>
              <a:srgbClr val="F5C518"/>
            </a:solidFill>
            <a:prstDash val="solid"/>
          </a:ln>
        </p:spPr>
      </p:sp>
      <p:sp>
        <p:nvSpPr>
          <p:cNvPr id="86" name="Text 84"/>
          <p:cNvSpPr/>
          <p:nvPr/>
        </p:nvSpPr>
        <p:spPr>
          <a:xfrm>
            <a:off x="137160" y="4983480"/>
            <a:ext cx="8229600" cy="160020"/>
          </a:xfrm>
          <a:prstGeom prst="rect">
            <a:avLst/>
          </a:prstGeom>
          <a:noFill/>
          <a:ln/>
        </p:spPr>
        <p:txBody>
          <a:bodyPr wrap="square" lIns="0" tIns="0" rIns="0" bIns="0" rtlCol="0" anchor="ctr"/>
          <a:lstStyle/>
          <a:p>
            <a:pPr marL="0" indent="0">
              <a:buNone/>
            </a:pPr>
            <a:r>
              <a:rPr lang="en-US" sz="750" dirty="0">
                <a:solidFill>
                  <a:srgbClr val="6B8CAE"/>
                </a:solidFill>
              </a:rPr>
              <a:t>HotelRevAI  ·  Infosys Springboard Internship 6.0  ·  Batch 13 — Group 2, Team D</a:t>
            </a:r>
            <a:endParaRPr lang="en-US" sz="750" dirty="0"/>
          </a:p>
        </p:txBody>
      </p:sp>
      <p:sp>
        <p:nvSpPr>
          <p:cNvPr id="87" name="Text 85"/>
          <p:cNvSpPr/>
          <p:nvPr/>
        </p:nvSpPr>
        <p:spPr>
          <a:xfrm>
            <a:off x="8686800" y="4983480"/>
            <a:ext cx="411480" cy="160020"/>
          </a:xfrm>
          <a:prstGeom prst="rect">
            <a:avLst/>
          </a:prstGeom>
          <a:noFill/>
          <a:ln/>
        </p:spPr>
        <p:txBody>
          <a:bodyPr wrap="square" lIns="0" tIns="0" rIns="0" bIns="0" rtlCol="0" anchor="ctr"/>
          <a:lstStyle/>
          <a:p>
            <a:pPr marL="0" indent="0" algn="r">
              <a:buNone/>
            </a:pPr>
            <a:r>
              <a:rPr lang="en-US" sz="750" b="1" dirty="0">
                <a:solidFill>
                  <a:srgbClr val="F5C518"/>
                </a:solidFill>
              </a:rPr>
              <a:t>13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50A14"/>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0D2137"/>
            </a:solidFill>
            <a:prstDash val="solid"/>
          </a:ln>
        </p:spPr>
      </p:sp>
      <p:sp>
        <p:nvSpPr>
          <p:cNvPr id="3" name="Shape 1"/>
          <p:cNvSpPr/>
          <p:nvPr/>
        </p:nvSpPr>
        <p:spPr>
          <a:xfrm>
            <a:off x="914400" y="0"/>
            <a:ext cx="0" cy="5143500"/>
          </a:xfrm>
          <a:prstGeom prst="line">
            <a:avLst/>
          </a:prstGeom>
          <a:noFill/>
          <a:ln w="6350">
            <a:solidFill>
              <a:srgbClr val="0D2137"/>
            </a:solidFill>
            <a:prstDash val="solid"/>
          </a:ln>
        </p:spPr>
      </p:sp>
      <p:sp>
        <p:nvSpPr>
          <p:cNvPr id="4" name="Shape 2"/>
          <p:cNvSpPr/>
          <p:nvPr/>
        </p:nvSpPr>
        <p:spPr>
          <a:xfrm>
            <a:off x="1828800" y="0"/>
            <a:ext cx="0" cy="5143500"/>
          </a:xfrm>
          <a:prstGeom prst="line">
            <a:avLst/>
          </a:prstGeom>
          <a:noFill/>
          <a:ln w="6350">
            <a:solidFill>
              <a:srgbClr val="0D2137"/>
            </a:solidFill>
            <a:prstDash val="solid"/>
          </a:ln>
        </p:spPr>
      </p:sp>
      <p:sp>
        <p:nvSpPr>
          <p:cNvPr id="5" name="Shape 3"/>
          <p:cNvSpPr/>
          <p:nvPr/>
        </p:nvSpPr>
        <p:spPr>
          <a:xfrm>
            <a:off x="2743200" y="0"/>
            <a:ext cx="0" cy="5143500"/>
          </a:xfrm>
          <a:prstGeom prst="line">
            <a:avLst/>
          </a:prstGeom>
          <a:noFill/>
          <a:ln w="6350">
            <a:solidFill>
              <a:srgbClr val="0D2137"/>
            </a:solidFill>
            <a:prstDash val="solid"/>
          </a:ln>
        </p:spPr>
      </p:sp>
      <p:sp>
        <p:nvSpPr>
          <p:cNvPr id="6" name="Shape 4"/>
          <p:cNvSpPr/>
          <p:nvPr/>
        </p:nvSpPr>
        <p:spPr>
          <a:xfrm>
            <a:off x="3657600" y="0"/>
            <a:ext cx="0" cy="5143500"/>
          </a:xfrm>
          <a:prstGeom prst="line">
            <a:avLst/>
          </a:prstGeom>
          <a:noFill/>
          <a:ln w="6350">
            <a:solidFill>
              <a:srgbClr val="0D2137"/>
            </a:solidFill>
            <a:prstDash val="solid"/>
          </a:ln>
        </p:spPr>
      </p:sp>
      <p:sp>
        <p:nvSpPr>
          <p:cNvPr id="7" name="Shape 5"/>
          <p:cNvSpPr/>
          <p:nvPr/>
        </p:nvSpPr>
        <p:spPr>
          <a:xfrm>
            <a:off x="4572000" y="0"/>
            <a:ext cx="0" cy="5143500"/>
          </a:xfrm>
          <a:prstGeom prst="line">
            <a:avLst/>
          </a:prstGeom>
          <a:noFill/>
          <a:ln w="6350">
            <a:solidFill>
              <a:srgbClr val="0D2137"/>
            </a:solidFill>
            <a:prstDash val="solid"/>
          </a:ln>
        </p:spPr>
      </p:sp>
      <p:sp>
        <p:nvSpPr>
          <p:cNvPr id="8" name="Shape 6"/>
          <p:cNvSpPr/>
          <p:nvPr/>
        </p:nvSpPr>
        <p:spPr>
          <a:xfrm>
            <a:off x="5486400" y="0"/>
            <a:ext cx="0" cy="5143500"/>
          </a:xfrm>
          <a:prstGeom prst="line">
            <a:avLst/>
          </a:prstGeom>
          <a:noFill/>
          <a:ln w="6350">
            <a:solidFill>
              <a:srgbClr val="0D2137"/>
            </a:solidFill>
            <a:prstDash val="solid"/>
          </a:ln>
        </p:spPr>
      </p:sp>
      <p:sp>
        <p:nvSpPr>
          <p:cNvPr id="9" name="Shape 7"/>
          <p:cNvSpPr/>
          <p:nvPr/>
        </p:nvSpPr>
        <p:spPr>
          <a:xfrm>
            <a:off x="6400800" y="0"/>
            <a:ext cx="0" cy="5143500"/>
          </a:xfrm>
          <a:prstGeom prst="line">
            <a:avLst/>
          </a:prstGeom>
          <a:noFill/>
          <a:ln w="6350">
            <a:solidFill>
              <a:srgbClr val="0D2137"/>
            </a:solidFill>
            <a:prstDash val="solid"/>
          </a:ln>
        </p:spPr>
      </p:sp>
      <p:sp>
        <p:nvSpPr>
          <p:cNvPr id="10" name="Shape 8"/>
          <p:cNvSpPr/>
          <p:nvPr/>
        </p:nvSpPr>
        <p:spPr>
          <a:xfrm>
            <a:off x="7315200" y="0"/>
            <a:ext cx="0" cy="5143500"/>
          </a:xfrm>
          <a:prstGeom prst="line">
            <a:avLst/>
          </a:prstGeom>
          <a:noFill/>
          <a:ln w="6350">
            <a:solidFill>
              <a:srgbClr val="0D2137"/>
            </a:solidFill>
            <a:prstDash val="solid"/>
          </a:ln>
        </p:spPr>
      </p:sp>
      <p:sp>
        <p:nvSpPr>
          <p:cNvPr id="11" name="Shape 9"/>
          <p:cNvSpPr/>
          <p:nvPr/>
        </p:nvSpPr>
        <p:spPr>
          <a:xfrm>
            <a:off x="8229600" y="0"/>
            <a:ext cx="0" cy="5143500"/>
          </a:xfrm>
          <a:prstGeom prst="line">
            <a:avLst/>
          </a:prstGeom>
          <a:noFill/>
          <a:ln w="6350">
            <a:solidFill>
              <a:srgbClr val="0D2137"/>
            </a:solidFill>
            <a:prstDash val="solid"/>
          </a:ln>
        </p:spPr>
      </p:sp>
      <p:sp>
        <p:nvSpPr>
          <p:cNvPr id="12" name="Shape 10"/>
          <p:cNvSpPr/>
          <p:nvPr/>
        </p:nvSpPr>
        <p:spPr>
          <a:xfrm>
            <a:off x="9144000" y="0"/>
            <a:ext cx="0" cy="5143500"/>
          </a:xfrm>
          <a:prstGeom prst="line">
            <a:avLst/>
          </a:prstGeom>
          <a:noFill/>
          <a:ln w="6350">
            <a:solidFill>
              <a:srgbClr val="0D2137"/>
            </a:solidFill>
            <a:prstDash val="solid"/>
          </a:ln>
        </p:spPr>
      </p:sp>
      <p:sp>
        <p:nvSpPr>
          <p:cNvPr id="13" name="Shape 11"/>
          <p:cNvSpPr/>
          <p:nvPr/>
        </p:nvSpPr>
        <p:spPr>
          <a:xfrm>
            <a:off x="0" y="0"/>
            <a:ext cx="9144000" cy="0"/>
          </a:xfrm>
          <a:prstGeom prst="line">
            <a:avLst/>
          </a:prstGeom>
          <a:noFill/>
          <a:ln w="6350">
            <a:solidFill>
              <a:srgbClr val="0D2137"/>
            </a:solidFill>
            <a:prstDash val="solid"/>
          </a:ln>
        </p:spPr>
      </p:sp>
      <p:sp>
        <p:nvSpPr>
          <p:cNvPr id="14" name="Shape 12"/>
          <p:cNvSpPr/>
          <p:nvPr/>
        </p:nvSpPr>
        <p:spPr>
          <a:xfrm>
            <a:off x="0" y="859536"/>
            <a:ext cx="9144000" cy="0"/>
          </a:xfrm>
          <a:prstGeom prst="line">
            <a:avLst/>
          </a:prstGeom>
          <a:noFill/>
          <a:ln w="6350">
            <a:solidFill>
              <a:srgbClr val="0D2137"/>
            </a:solidFill>
            <a:prstDash val="solid"/>
          </a:ln>
        </p:spPr>
      </p:sp>
      <p:sp>
        <p:nvSpPr>
          <p:cNvPr id="15" name="Shape 13"/>
          <p:cNvSpPr/>
          <p:nvPr/>
        </p:nvSpPr>
        <p:spPr>
          <a:xfrm>
            <a:off x="0" y="1719072"/>
            <a:ext cx="9144000" cy="0"/>
          </a:xfrm>
          <a:prstGeom prst="line">
            <a:avLst/>
          </a:prstGeom>
          <a:noFill/>
          <a:ln w="6350">
            <a:solidFill>
              <a:srgbClr val="0D2137"/>
            </a:solidFill>
            <a:prstDash val="solid"/>
          </a:ln>
        </p:spPr>
      </p:sp>
      <p:sp>
        <p:nvSpPr>
          <p:cNvPr id="16" name="Shape 14"/>
          <p:cNvSpPr/>
          <p:nvPr/>
        </p:nvSpPr>
        <p:spPr>
          <a:xfrm>
            <a:off x="0" y="2578608"/>
            <a:ext cx="9144000" cy="0"/>
          </a:xfrm>
          <a:prstGeom prst="line">
            <a:avLst/>
          </a:prstGeom>
          <a:noFill/>
          <a:ln w="6350">
            <a:solidFill>
              <a:srgbClr val="0D2137"/>
            </a:solidFill>
            <a:prstDash val="solid"/>
          </a:ln>
        </p:spPr>
      </p:sp>
      <p:sp>
        <p:nvSpPr>
          <p:cNvPr id="17" name="Shape 15"/>
          <p:cNvSpPr/>
          <p:nvPr/>
        </p:nvSpPr>
        <p:spPr>
          <a:xfrm>
            <a:off x="0" y="3438144"/>
            <a:ext cx="9144000" cy="0"/>
          </a:xfrm>
          <a:prstGeom prst="line">
            <a:avLst/>
          </a:prstGeom>
          <a:noFill/>
          <a:ln w="6350">
            <a:solidFill>
              <a:srgbClr val="0D2137"/>
            </a:solidFill>
            <a:prstDash val="solid"/>
          </a:ln>
        </p:spPr>
      </p:sp>
      <p:sp>
        <p:nvSpPr>
          <p:cNvPr id="18" name="Shape 16"/>
          <p:cNvSpPr/>
          <p:nvPr/>
        </p:nvSpPr>
        <p:spPr>
          <a:xfrm>
            <a:off x="0" y="4297680"/>
            <a:ext cx="9144000" cy="0"/>
          </a:xfrm>
          <a:prstGeom prst="line">
            <a:avLst/>
          </a:prstGeom>
          <a:noFill/>
          <a:ln w="6350">
            <a:solidFill>
              <a:srgbClr val="0D2137"/>
            </a:solidFill>
            <a:prstDash val="solid"/>
          </a:ln>
        </p:spPr>
      </p:sp>
      <p:sp>
        <p:nvSpPr>
          <p:cNvPr id="19" name="Shape 17"/>
          <p:cNvSpPr/>
          <p:nvPr/>
        </p:nvSpPr>
        <p:spPr>
          <a:xfrm>
            <a:off x="0" y="5157216"/>
            <a:ext cx="9144000" cy="0"/>
          </a:xfrm>
          <a:prstGeom prst="line">
            <a:avLst/>
          </a:prstGeom>
          <a:noFill/>
          <a:ln w="6350">
            <a:solidFill>
              <a:srgbClr val="0D2137"/>
            </a:solidFill>
            <a:prstDash val="solid"/>
          </a:ln>
        </p:spPr>
      </p:sp>
      <p:sp>
        <p:nvSpPr>
          <p:cNvPr id="20" name="Shape 18"/>
          <p:cNvSpPr/>
          <p:nvPr/>
        </p:nvSpPr>
        <p:spPr>
          <a:xfrm>
            <a:off x="2286000" y="914400"/>
            <a:ext cx="4572000" cy="4572000"/>
          </a:xfrm>
          <a:prstGeom prst="ellipse">
            <a:avLst/>
          </a:prstGeom>
          <a:solidFill>
            <a:srgbClr val="00B4FF">
              <a:alpha val="8000"/>
            </a:srgbClr>
          </a:solidFill>
          <a:ln w="12700">
            <a:solidFill>
              <a:srgbClr val="00B4FF">
                <a:alpha val="5000"/>
              </a:srgbClr>
            </a:solidFill>
            <a:prstDash val="solid"/>
          </a:ln>
        </p:spPr>
      </p:sp>
      <p:sp>
        <p:nvSpPr>
          <p:cNvPr id="21" name="Shape 19"/>
          <p:cNvSpPr/>
          <p:nvPr/>
        </p:nvSpPr>
        <p:spPr>
          <a:xfrm>
            <a:off x="3429000" y="2057400"/>
            <a:ext cx="2286000" cy="2286000"/>
          </a:xfrm>
          <a:prstGeom prst="ellipse">
            <a:avLst/>
          </a:prstGeom>
          <a:solidFill>
            <a:srgbClr val="00B4FF">
              <a:alpha val="0"/>
            </a:srgbClr>
          </a:solidFill>
          <a:ln w="12700">
            <a:solidFill>
              <a:srgbClr val="00B4FF">
                <a:alpha val="0"/>
              </a:srgbClr>
            </a:solidFill>
            <a:prstDash val="solid"/>
          </a:ln>
        </p:spPr>
      </p:sp>
      <p:sp>
        <p:nvSpPr>
          <p:cNvPr id="22" name="Shape 20"/>
          <p:cNvSpPr/>
          <p:nvPr/>
        </p:nvSpPr>
        <p:spPr>
          <a:xfrm>
            <a:off x="0" y="0"/>
            <a:ext cx="9144000" cy="50292"/>
          </a:xfrm>
          <a:prstGeom prst="rect">
            <a:avLst/>
          </a:prstGeom>
          <a:solidFill>
            <a:srgbClr val="F5C518"/>
          </a:solidFill>
          <a:ln w="12700">
            <a:solidFill>
              <a:srgbClr val="F5C518"/>
            </a:solidFill>
            <a:prstDash val="solid"/>
          </a:ln>
        </p:spPr>
      </p:sp>
      <p:sp>
        <p:nvSpPr>
          <p:cNvPr id="23" name="Shape 21"/>
          <p:cNvSpPr/>
          <p:nvPr/>
        </p:nvSpPr>
        <p:spPr>
          <a:xfrm>
            <a:off x="320040" y="182880"/>
            <a:ext cx="1737360" cy="246888"/>
          </a:xfrm>
          <a:prstGeom prst="rect">
            <a:avLst/>
          </a:prstGeom>
          <a:solidFill>
            <a:srgbClr val="003E7A"/>
          </a:solidFill>
          <a:ln w="12700">
            <a:solidFill>
              <a:srgbClr val="00B4FF"/>
            </a:solidFill>
            <a:prstDash val="solid"/>
          </a:ln>
        </p:spPr>
      </p:sp>
      <p:sp>
        <p:nvSpPr>
          <p:cNvPr id="24" name="Text 22"/>
          <p:cNvSpPr/>
          <p:nvPr/>
        </p:nvSpPr>
        <p:spPr>
          <a:xfrm>
            <a:off x="320040" y="182880"/>
            <a:ext cx="1737360" cy="246888"/>
          </a:xfrm>
          <a:prstGeom prst="rect">
            <a:avLst/>
          </a:prstGeom>
          <a:noFill/>
          <a:ln/>
        </p:spPr>
        <p:txBody>
          <a:bodyPr wrap="square" lIns="0" tIns="0" rIns="0" bIns="0" rtlCol="0" anchor="ctr"/>
          <a:lstStyle/>
          <a:p>
            <a:pPr marL="0" indent="0" algn="ctr">
              <a:buNone/>
            </a:pPr>
            <a:r>
              <a:rPr lang="en-US" sz="700" b="1" kern="0" spc="200" dirty="0">
                <a:solidFill>
                  <a:srgbClr val="00B4FF"/>
                </a:solidFill>
              </a:rPr>
              <a:t>TIMELINE</a:t>
            </a:r>
            <a:endParaRPr lang="en-US" sz="700" dirty="0"/>
          </a:p>
        </p:txBody>
      </p:sp>
      <p:sp>
        <p:nvSpPr>
          <p:cNvPr id="25" name="Text 23"/>
          <p:cNvSpPr/>
          <p:nvPr/>
        </p:nvSpPr>
        <p:spPr>
          <a:xfrm>
            <a:off x="320040" y="521208"/>
            <a:ext cx="8503920" cy="512064"/>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8-Week Project Timeline</a:t>
            </a:r>
            <a:endParaRPr lang="en-US" sz="2800" dirty="0"/>
          </a:p>
        </p:txBody>
      </p:sp>
      <p:sp>
        <p:nvSpPr>
          <p:cNvPr id="26" name="Shape 24"/>
          <p:cNvSpPr/>
          <p:nvPr/>
        </p:nvSpPr>
        <p:spPr>
          <a:xfrm>
            <a:off x="320040" y="1078992"/>
            <a:ext cx="1097280" cy="36576"/>
          </a:xfrm>
          <a:prstGeom prst="rect">
            <a:avLst/>
          </a:prstGeom>
          <a:solidFill>
            <a:srgbClr val="F5C518"/>
          </a:solidFill>
          <a:ln w="12700">
            <a:solidFill>
              <a:srgbClr val="F5C518"/>
            </a:solidFill>
            <a:prstDash val="solid"/>
          </a:ln>
        </p:spPr>
      </p:sp>
      <p:sp>
        <p:nvSpPr>
          <p:cNvPr id="27" name="Shape 25"/>
          <p:cNvSpPr/>
          <p:nvPr/>
        </p:nvSpPr>
        <p:spPr>
          <a:xfrm>
            <a:off x="1463040" y="1078992"/>
            <a:ext cx="7360920" cy="36576"/>
          </a:xfrm>
          <a:prstGeom prst="rect">
            <a:avLst/>
          </a:prstGeom>
          <a:solidFill>
            <a:srgbClr val="1A2E45"/>
          </a:solidFill>
          <a:ln w="12700">
            <a:solidFill>
              <a:srgbClr val="1A2E45"/>
            </a:solidFill>
            <a:prstDash val="solid"/>
          </a:ln>
        </p:spPr>
      </p:sp>
      <p:sp>
        <p:nvSpPr>
          <p:cNvPr id="28" name="Shape 26"/>
          <p:cNvSpPr/>
          <p:nvPr/>
        </p:nvSpPr>
        <p:spPr>
          <a:xfrm>
            <a:off x="548640" y="2670048"/>
            <a:ext cx="8046720" cy="50292"/>
          </a:xfrm>
          <a:prstGeom prst="rect">
            <a:avLst/>
          </a:prstGeom>
          <a:solidFill>
            <a:srgbClr val="1E3A5F"/>
          </a:solidFill>
          <a:ln w="12700">
            <a:solidFill>
              <a:srgbClr val="1E3A5F"/>
            </a:solidFill>
            <a:prstDash val="solid"/>
          </a:ln>
        </p:spPr>
      </p:sp>
      <p:sp>
        <p:nvSpPr>
          <p:cNvPr id="29" name="Shape 27"/>
          <p:cNvSpPr/>
          <p:nvPr/>
        </p:nvSpPr>
        <p:spPr>
          <a:xfrm>
            <a:off x="548640" y="2670048"/>
            <a:ext cx="8046720" cy="50292"/>
          </a:xfrm>
          <a:prstGeom prst="rect">
            <a:avLst/>
          </a:prstGeom>
          <a:solidFill>
            <a:srgbClr val="F5C518">
              <a:alpha val="35000"/>
            </a:srgbClr>
          </a:solidFill>
          <a:ln w="12700">
            <a:solidFill>
              <a:srgbClr val="F5C518">
                <a:alpha val="40000"/>
              </a:srgbClr>
            </a:solidFill>
            <a:prstDash val="solid"/>
          </a:ln>
        </p:spPr>
      </p:sp>
      <p:sp>
        <p:nvSpPr>
          <p:cNvPr id="30" name="Shape 28"/>
          <p:cNvSpPr/>
          <p:nvPr/>
        </p:nvSpPr>
        <p:spPr>
          <a:xfrm>
            <a:off x="438912" y="2578608"/>
            <a:ext cx="246888" cy="246888"/>
          </a:xfrm>
          <a:prstGeom prst="ellipse">
            <a:avLst/>
          </a:prstGeom>
          <a:solidFill>
            <a:srgbClr val="00B4FF"/>
          </a:solidFill>
          <a:ln w="12700">
            <a:solidFill>
              <a:srgbClr val="00B4FF"/>
            </a:solidFill>
            <a:prstDash val="solid"/>
          </a:ln>
        </p:spPr>
      </p:sp>
      <p:sp>
        <p:nvSpPr>
          <p:cNvPr id="31" name="Shape 29"/>
          <p:cNvSpPr/>
          <p:nvPr/>
        </p:nvSpPr>
        <p:spPr>
          <a:xfrm>
            <a:off x="562356" y="2377440"/>
            <a:ext cx="0" cy="201168"/>
          </a:xfrm>
          <a:prstGeom prst="line">
            <a:avLst/>
          </a:prstGeom>
          <a:noFill/>
          <a:ln w="12700">
            <a:solidFill>
              <a:srgbClr val="1E3A5F"/>
            </a:solidFill>
            <a:prstDash val="solid"/>
          </a:ln>
        </p:spPr>
      </p:sp>
      <p:sp>
        <p:nvSpPr>
          <p:cNvPr id="32" name="Text 30"/>
          <p:cNvSpPr/>
          <p:nvPr/>
        </p:nvSpPr>
        <p:spPr>
          <a:xfrm>
            <a:off x="45720" y="1261872"/>
            <a:ext cx="1097280" cy="201168"/>
          </a:xfrm>
          <a:prstGeom prst="rect">
            <a:avLst/>
          </a:prstGeom>
          <a:noFill/>
          <a:ln/>
        </p:spPr>
        <p:txBody>
          <a:bodyPr wrap="square" lIns="0" tIns="0" rIns="0" bIns="0" rtlCol="0" anchor="ctr"/>
          <a:lstStyle/>
          <a:p>
            <a:pPr marL="0" indent="0" algn="ctr">
              <a:buNone/>
            </a:pPr>
            <a:r>
              <a:rPr lang="en-US" sz="800" b="1" dirty="0">
                <a:solidFill>
                  <a:srgbClr val="00B4FF"/>
                </a:solidFill>
              </a:rPr>
              <a:t>Wk 1</a:t>
            </a:r>
            <a:endParaRPr lang="en-US" sz="800" dirty="0"/>
          </a:p>
        </p:txBody>
      </p:sp>
      <p:sp>
        <p:nvSpPr>
          <p:cNvPr id="33" name="Text 31"/>
          <p:cNvSpPr/>
          <p:nvPr/>
        </p:nvSpPr>
        <p:spPr>
          <a:xfrm>
            <a:off x="45720" y="1481328"/>
            <a:ext cx="1143000" cy="914400"/>
          </a:xfrm>
          <a:prstGeom prst="rect">
            <a:avLst/>
          </a:prstGeom>
          <a:noFill/>
          <a:ln/>
        </p:spPr>
        <p:txBody>
          <a:bodyPr wrap="square" lIns="0" tIns="0" rIns="0" bIns="0" rtlCol="0" anchor="ctr"/>
          <a:lstStyle/>
          <a:p>
            <a:pPr marL="0" indent="0" algn="ctr">
              <a:buNone/>
            </a:pPr>
            <a:r>
              <a:rPr lang="en-US" sz="750" dirty="0">
                <a:solidFill>
                  <a:srgbClr val="D4E6F1"/>
                </a:solidFill>
              </a:rPr>
              <a:t>Dataset study &amp; domain understanding</a:t>
            </a:r>
            <a:endParaRPr lang="en-US" sz="750" dirty="0"/>
          </a:p>
        </p:txBody>
      </p:sp>
      <p:sp>
        <p:nvSpPr>
          <p:cNvPr id="34" name="Shape 32"/>
          <p:cNvSpPr/>
          <p:nvPr/>
        </p:nvSpPr>
        <p:spPr>
          <a:xfrm>
            <a:off x="1472184" y="2578608"/>
            <a:ext cx="246888" cy="246888"/>
          </a:xfrm>
          <a:prstGeom prst="ellipse">
            <a:avLst/>
          </a:prstGeom>
          <a:solidFill>
            <a:srgbClr val="00B4FF"/>
          </a:solidFill>
          <a:ln w="12700">
            <a:solidFill>
              <a:srgbClr val="00B4FF"/>
            </a:solidFill>
            <a:prstDash val="solid"/>
          </a:ln>
        </p:spPr>
      </p:sp>
      <p:sp>
        <p:nvSpPr>
          <p:cNvPr id="35" name="Shape 33"/>
          <p:cNvSpPr/>
          <p:nvPr/>
        </p:nvSpPr>
        <p:spPr>
          <a:xfrm>
            <a:off x="1595628" y="2825496"/>
            <a:ext cx="0" cy="201168"/>
          </a:xfrm>
          <a:prstGeom prst="line">
            <a:avLst/>
          </a:prstGeom>
          <a:noFill/>
          <a:ln w="12700">
            <a:solidFill>
              <a:srgbClr val="1E3A5F"/>
            </a:solidFill>
            <a:prstDash val="solid"/>
          </a:ln>
        </p:spPr>
      </p:sp>
      <p:sp>
        <p:nvSpPr>
          <p:cNvPr id="36" name="Text 34"/>
          <p:cNvSpPr/>
          <p:nvPr/>
        </p:nvSpPr>
        <p:spPr>
          <a:xfrm>
            <a:off x="1078992" y="3054096"/>
            <a:ext cx="1097280" cy="201168"/>
          </a:xfrm>
          <a:prstGeom prst="rect">
            <a:avLst/>
          </a:prstGeom>
          <a:noFill/>
          <a:ln/>
        </p:spPr>
        <p:txBody>
          <a:bodyPr wrap="square" lIns="0" tIns="0" rIns="0" bIns="0" rtlCol="0" anchor="ctr"/>
          <a:lstStyle/>
          <a:p>
            <a:pPr marL="0" indent="0" algn="ctr">
              <a:buNone/>
            </a:pPr>
            <a:r>
              <a:rPr lang="en-US" sz="800" b="1" dirty="0">
                <a:solidFill>
                  <a:srgbClr val="00B4FF"/>
                </a:solidFill>
              </a:rPr>
              <a:t>Wk 2</a:t>
            </a:r>
            <a:endParaRPr lang="en-US" sz="800" dirty="0"/>
          </a:p>
        </p:txBody>
      </p:sp>
      <p:sp>
        <p:nvSpPr>
          <p:cNvPr id="37" name="Text 35"/>
          <p:cNvSpPr/>
          <p:nvPr/>
        </p:nvSpPr>
        <p:spPr>
          <a:xfrm>
            <a:off x="1078992" y="3273552"/>
            <a:ext cx="1143000" cy="914400"/>
          </a:xfrm>
          <a:prstGeom prst="rect">
            <a:avLst/>
          </a:prstGeom>
          <a:noFill/>
          <a:ln/>
        </p:spPr>
        <p:txBody>
          <a:bodyPr wrap="square" lIns="0" tIns="0" rIns="0" bIns="0" rtlCol="0" anchor="ctr"/>
          <a:lstStyle/>
          <a:p>
            <a:pPr marL="0" indent="0" algn="ctr">
              <a:buNone/>
            </a:pPr>
            <a:r>
              <a:rPr lang="en-US" sz="750" dirty="0">
                <a:solidFill>
                  <a:srgbClr val="D4E6F1"/>
                </a:solidFill>
              </a:rPr>
              <a:t>Power BI setup, data loading &amp; null handling</a:t>
            </a:r>
            <a:endParaRPr lang="en-US" sz="750" dirty="0"/>
          </a:p>
        </p:txBody>
      </p:sp>
      <p:sp>
        <p:nvSpPr>
          <p:cNvPr id="38" name="Shape 36"/>
          <p:cNvSpPr/>
          <p:nvPr/>
        </p:nvSpPr>
        <p:spPr>
          <a:xfrm>
            <a:off x="2505456" y="2578608"/>
            <a:ext cx="246888" cy="246888"/>
          </a:xfrm>
          <a:prstGeom prst="ellipse">
            <a:avLst/>
          </a:prstGeom>
          <a:solidFill>
            <a:srgbClr val="F5C518"/>
          </a:solidFill>
          <a:ln w="12700">
            <a:solidFill>
              <a:srgbClr val="F5C518"/>
            </a:solidFill>
            <a:prstDash val="solid"/>
          </a:ln>
        </p:spPr>
      </p:sp>
      <p:sp>
        <p:nvSpPr>
          <p:cNvPr id="39" name="Shape 37"/>
          <p:cNvSpPr/>
          <p:nvPr/>
        </p:nvSpPr>
        <p:spPr>
          <a:xfrm>
            <a:off x="2450592" y="2523744"/>
            <a:ext cx="356616" cy="356616"/>
          </a:xfrm>
          <a:prstGeom prst="ellipse">
            <a:avLst/>
          </a:prstGeom>
          <a:solidFill>
            <a:srgbClr val="F5C518">
              <a:alpha val="25000"/>
            </a:srgbClr>
          </a:solidFill>
          <a:ln w="12700">
            <a:solidFill>
              <a:srgbClr val="F5C518">
                <a:alpha val="40000"/>
              </a:srgbClr>
            </a:solidFill>
            <a:prstDash val="solid"/>
          </a:ln>
        </p:spPr>
      </p:sp>
      <p:sp>
        <p:nvSpPr>
          <p:cNvPr id="40" name="Shape 38"/>
          <p:cNvSpPr/>
          <p:nvPr/>
        </p:nvSpPr>
        <p:spPr>
          <a:xfrm>
            <a:off x="2628900" y="2377440"/>
            <a:ext cx="0" cy="201168"/>
          </a:xfrm>
          <a:prstGeom prst="line">
            <a:avLst/>
          </a:prstGeom>
          <a:noFill/>
          <a:ln w="12700">
            <a:solidFill>
              <a:srgbClr val="1E3A5F"/>
            </a:solidFill>
            <a:prstDash val="solid"/>
          </a:ln>
        </p:spPr>
      </p:sp>
      <p:sp>
        <p:nvSpPr>
          <p:cNvPr id="41" name="Text 39"/>
          <p:cNvSpPr/>
          <p:nvPr/>
        </p:nvSpPr>
        <p:spPr>
          <a:xfrm>
            <a:off x="2112264" y="1261872"/>
            <a:ext cx="1097280" cy="201168"/>
          </a:xfrm>
          <a:prstGeom prst="rect">
            <a:avLst/>
          </a:prstGeom>
          <a:noFill/>
          <a:ln/>
        </p:spPr>
        <p:txBody>
          <a:bodyPr wrap="square" lIns="0" tIns="0" rIns="0" bIns="0" rtlCol="0" anchor="ctr"/>
          <a:lstStyle/>
          <a:p>
            <a:pPr marL="0" indent="0" algn="ctr">
              <a:buNone/>
            </a:pPr>
            <a:r>
              <a:rPr lang="en-US" sz="800" b="1" dirty="0">
                <a:solidFill>
                  <a:srgbClr val="F5C518"/>
                </a:solidFill>
              </a:rPr>
              <a:t>Wk 3</a:t>
            </a:r>
            <a:endParaRPr lang="en-US" sz="800" dirty="0"/>
          </a:p>
        </p:txBody>
      </p:sp>
      <p:sp>
        <p:nvSpPr>
          <p:cNvPr id="42" name="Text 40"/>
          <p:cNvSpPr/>
          <p:nvPr/>
        </p:nvSpPr>
        <p:spPr>
          <a:xfrm>
            <a:off x="2112264" y="1481328"/>
            <a:ext cx="1143000" cy="914400"/>
          </a:xfrm>
          <a:prstGeom prst="rect">
            <a:avLst/>
          </a:prstGeom>
          <a:noFill/>
          <a:ln/>
        </p:spPr>
        <p:txBody>
          <a:bodyPr wrap="square" lIns="0" tIns="0" rIns="0" bIns="0" rtlCol="0" anchor="ctr"/>
          <a:lstStyle/>
          <a:p>
            <a:pPr marL="0" indent="0" algn="ctr">
              <a:buNone/>
            </a:pPr>
            <a:r>
              <a:rPr lang="en-US" sz="750" dirty="0">
                <a:solidFill>
                  <a:srgbClr val="D4E6F1"/>
                </a:solidFill>
              </a:rPr>
              <a:t>Power Query transforms &amp; custom columns</a:t>
            </a:r>
            <a:endParaRPr lang="en-US" sz="750" dirty="0"/>
          </a:p>
        </p:txBody>
      </p:sp>
      <p:sp>
        <p:nvSpPr>
          <p:cNvPr id="43" name="Shape 41"/>
          <p:cNvSpPr/>
          <p:nvPr/>
        </p:nvSpPr>
        <p:spPr>
          <a:xfrm>
            <a:off x="2139696" y="1078992"/>
            <a:ext cx="1097280" cy="201168"/>
          </a:xfrm>
          <a:prstGeom prst="rect">
            <a:avLst/>
          </a:prstGeom>
          <a:solidFill>
            <a:srgbClr val="003E7A"/>
          </a:solidFill>
          <a:ln w="12700">
            <a:solidFill>
              <a:srgbClr val="F5C518"/>
            </a:solidFill>
            <a:prstDash val="solid"/>
          </a:ln>
        </p:spPr>
      </p:sp>
      <p:sp>
        <p:nvSpPr>
          <p:cNvPr id="44" name="Text 42"/>
          <p:cNvSpPr/>
          <p:nvPr/>
        </p:nvSpPr>
        <p:spPr>
          <a:xfrm>
            <a:off x="2139696" y="1078992"/>
            <a:ext cx="1097280" cy="201168"/>
          </a:xfrm>
          <a:prstGeom prst="rect">
            <a:avLst/>
          </a:prstGeom>
          <a:noFill/>
          <a:ln/>
        </p:spPr>
        <p:txBody>
          <a:bodyPr wrap="square" lIns="0" tIns="0" rIns="0" bIns="0" rtlCol="0" anchor="ctr"/>
          <a:lstStyle/>
          <a:p>
            <a:pPr marL="0" indent="0" algn="ctr">
              <a:buNone/>
            </a:pPr>
            <a:r>
              <a:rPr lang="en-US" sz="650" b="1" dirty="0">
                <a:solidFill>
                  <a:srgbClr val="F5C518"/>
                </a:solidFill>
              </a:rPr>
              <a:t>★ Prototype Draft</a:t>
            </a:r>
            <a:endParaRPr lang="en-US" sz="650" dirty="0"/>
          </a:p>
        </p:txBody>
      </p:sp>
      <p:sp>
        <p:nvSpPr>
          <p:cNvPr id="45" name="Shape 43"/>
          <p:cNvSpPr/>
          <p:nvPr/>
        </p:nvSpPr>
        <p:spPr>
          <a:xfrm>
            <a:off x="3538728" y="2578608"/>
            <a:ext cx="246888" cy="246888"/>
          </a:xfrm>
          <a:prstGeom prst="ellipse">
            <a:avLst/>
          </a:prstGeom>
          <a:solidFill>
            <a:srgbClr val="00B4FF"/>
          </a:solidFill>
          <a:ln w="12700">
            <a:solidFill>
              <a:srgbClr val="00B4FF"/>
            </a:solidFill>
            <a:prstDash val="solid"/>
          </a:ln>
        </p:spPr>
      </p:sp>
      <p:sp>
        <p:nvSpPr>
          <p:cNvPr id="46" name="Shape 44"/>
          <p:cNvSpPr/>
          <p:nvPr/>
        </p:nvSpPr>
        <p:spPr>
          <a:xfrm>
            <a:off x="3662172" y="2825496"/>
            <a:ext cx="0" cy="201168"/>
          </a:xfrm>
          <a:prstGeom prst="line">
            <a:avLst/>
          </a:prstGeom>
          <a:noFill/>
          <a:ln w="12700">
            <a:solidFill>
              <a:srgbClr val="1E3A5F"/>
            </a:solidFill>
            <a:prstDash val="solid"/>
          </a:ln>
        </p:spPr>
      </p:sp>
      <p:sp>
        <p:nvSpPr>
          <p:cNvPr id="47" name="Text 45"/>
          <p:cNvSpPr/>
          <p:nvPr/>
        </p:nvSpPr>
        <p:spPr>
          <a:xfrm>
            <a:off x="3145536" y="3054096"/>
            <a:ext cx="1097280" cy="201168"/>
          </a:xfrm>
          <a:prstGeom prst="rect">
            <a:avLst/>
          </a:prstGeom>
          <a:noFill/>
          <a:ln/>
        </p:spPr>
        <p:txBody>
          <a:bodyPr wrap="square" lIns="0" tIns="0" rIns="0" bIns="0" rtlCol="0" anchor="ctr"/>
          <a:lstStyle/>
          <a:p>
            <a:pPr marL="0" indent="0" algn="ctr">
              <a:buNone/>
            </a:pPr>
            <a:r>
              <a:rPr lang="en-US" sz="800" b="1" dirty="0">
                <a:solidFill>
                  <a:srgbClr val="00B4FF"/>
                </a:solidFill>
              </a:rPr>
              <a:t>Wk 4</a:t>
            </a:r>
            <a:endParaRPr lang="en-US" sz="800" dirty="0"/>
          </a:p>
        </p:txBody>
      </p:sp>
      <p:sp>
        <p:nvSpPr>
          <p:cNvPr id="48" name="Text 46"/>
          <p:cNvSpPr/>
          <p:nvPr/>
        </p:nvSpPr>
        <p:spPr>
          <a:xfrm>
            <a:off x="3145536" y="3273552"/>
            <a:ext cx="1143000" cy="914400"/>
          </a:xfrm>
          <a:prstGeom prst="rect">
            <a:avLst/>
          </a:prstGeom>
          <a:noFill/>
          <a:ln/>
        </p:spPr>
        <p:txBody>
          <a:bodyPr wrap="square" lIns="0" tIns="0" rIns="0" bIns="0" rtlCol="0" anchor="ctr"/>
          <a:lstStyle/>
          <a:p>
            <a:pPr marL="0" indent="0" algn="ctr">
              <a:buNone/>
            </a:pPr>
            <a:r>
              <a:rPr lang="en-US" sz="750" dirty="0">
                <a:solidFill>
                  <a:srgbClr val="D4E6F1"/>
                </a:solidFill>
              </a:rPr>
              <a:t>13 DAX measures &amp; KPI development</a:t>
            </a:r>
            <a:endParaRPr lang="en-US" sz="750" dirty="0"/>
          </a:p>
        </p:txBody>
      </p:sp>
      <p:sp>
        <p:nvSpPr>
          <p:cNvPr id="49" name="Shape 47"/>
          <p:cNvSpPr/>
          <p:nvPr/>
        </p:nvSpPr>
        <p:spPr>
          <a:xfrm>
            <a:off x="4572000" y="2578608"/>
            <a:ext cx="246888" cy="246888"/>
          </a:xfrm>
          <a:prstGeom prst="ellipse">
            <a:avLst/>
          </a:prstGeom>
          <a:solidFill>
            <a:srgbClr val="F5C518"/>
          </a:solidFill>
          <a:ln w="12700">
            <a:solidFill>
              <a:srgbClr val="F5C518"/>
            </a:solidFill>
            <a:prstDash val="solid"/>
          </a:ln>
        </p:spPr>
      </p:sp>
      <p:sp>
        <p:nvSpPr>
          <p:cNvPr id="50" name="Shape 48"/>
          <p:cNvSpPr/>
          <p:nvPr/>
        </p:nvSpPr>
        <p:spPr>
          <a:xfrm>
            <a:off x="4517136" y="2523744"/>
            <a:ext cx="356616" cy="356616"/>
          </a:xfrm>
          <a:prstGeom prst="ellipse">
            <a:avLst/>
          </a:prstGeom>
          <a:solidFill>
            <a:srgbClr val="F5C518">
              <a:alpha val="25000"/>
            </a:srgbClr>
          </a:solidFill>
          <a:ln w="12700">
            <a:solidFill>
              <a:srgbClr val="F5C518">
                <a:alpha val="40000"/>
              </a:srgbClr>
            </a:solidFill>
            <a:prstDash val="solid"/>
          </a:ln>
        </p:spPr>
      </p:sp>
      <p:sp>
        <p:nvSpPr>
          <p:cNvPr id="51" name="Shape 49"/>
          <p:cNvSpPr/>
          <p:nvPr/>
        </p:nvSpPr>
        <p:spPr>
          <a:xfrm>
            <a:off x="4695444" y="2377440"/>
            <a:ext cx="0" cy="201168"/>
          </a:xfrm>
          <a:prstGeom prst="line">
            <a:avLst/>
          </a:prstGeom>
          <a:noFill/>
          <a:ln w="12700">
            <a:solidFill>
              <a:srgbClr val="1E3A5F"/>
            </a:solidFill>
            <a:prstDash val="solid"/>
          </a:ln>
        </p:spPr>
      </p:sp>
      <p:sp>
        <p:nvSpPr>
          <p:cNvPr id="52" name="Text 50"/>
          <p:cNvSpPr/>
          <p:nvPr/>
        </p:nvSpPr>
        <p:spPr>
          <a:xfrm>
            <a:off x="4178808" y="1261872"/>
            <a:ext cx="1097280" cy="201168"/>
          </a:xfrm>
          <a:prstGeom prst="rect">
            <a:avLst/>
          </a:prstGeom>
          <a:noFill/>
          <a:ln/>
        </p:spPr>
        <p:txBody>
          <a:bodyPr wrap="square" lIns="0" tIns="0" rIns="0" bIns="0" rtlCol="0" anchor="ctr"/>
          <a:lstStyle/>
          <a:p>
            <a:pPr marL="0" indent="0" algn="ctr">
              <a:buNone/>
            </a:pPr>
            <a:r>
              <a:rPr lang="en-US" sz="800" b="1" dirty="0">
                <a:solidFill>
                  <a:srgbClr val="F5C518"/>
                </a:solidFill>
              </a:rPr>
              <a:t>Wk 5</a:t>
            </a:r>
            <a:endParaRPr lang="en-US" sz="800" dirty="0"/>
          </a:p>
        </p:txBody>
      </p:sp>
      <p:sp>
        <p:nvSpPr>
          <p:cNvPr id="53" name="Text 51"/>
          <p:cNvSpPr/>
          <p:nvPr/>
        </p:nvSpPr>
        <p:spPr>
          <a:xfrm>
            <a:off x="4178808" y="1481328"/>
            <a:ext cx="1143000" cy="914400"/>
          </a:xfrm>
          <a:prstGeom prst="rect">
            <a:avLst/>
          </a:prstGeom>
          <a:noFill/>
          <a:ln/>
        </p:spPr>
        <p:txBody>
          <a:bodyPr wrap="square" lIns="0" tIns="0" rIns="0" bIns="0" rtlCol="0" anchor="ctr"/>
          <a:lstStyle/>
          <a:p>
            <a:pPr marL="0" indent="0" algn="ctr">
              <a:buNone/>
            </a:pPr>
            <a:r>
              <a:rPr lang="en-US" sz="750" dirty="0">
                <a:solidFill>
                  <a:srgbClr val="D4E6F1"/>
                </a:solidFill>
              </a:rPr>
              <a:t>Dashboards 1 &amp; 2 built and reviewed</a:t>
            </a:r>
            <a:endParaRPr lang="en-US" sz="750" dirty="0"/>
          </a:p>
        </p:txBody>
      </p:sp>
      <p:sp>
        <p:nvSpPr>
          <p:cNvPr id="54" name="Shape 52"/>
          <p:cNvSpPr/>
          <p:nvPr/>
        </p:nvSpPr>
        <p:spPr>
          <a:xfrm>
            <a:off x="4206240" y="1078992"/>
            <a:ext cx="1097280" cy="201168"/>
          </a:xfrm>
          <a:prstGeom prst="rect">
            <a:avLst/>
          </a:prstGeom>
          <a:solidFill>
            <a:srgbClr val="003E7A"/>
          </a:solidFill>
          <a:ln w="12700">
            <a:solidFill>
              <a:srgbClr val="F5C518"/>
            </a:solidFill>
            <a:prstDash val="solid"/>
          </a:ln>
        </p:spPr>
      </p:sp>
      <p:sp>
        <p:nvSpPr>
          <p:cNvPr id="55" name="Text 53"/>
          <p:cNvSpPr/>
          <p:nvPr/>
        </p:nvSpPr>
        <p:spPr>
          <a:xfrm>
            <a:off x="4206240" y="1078992"/>
            <a:ext cx="1097280" cy="201168"/>
          </a:xfrm>
          <a:prstGeom prst="rect">
            <a:avLst/>
          </a:prstGeom>
          <a:noFill/>
          <a:ln/>
        </p:spPr>
        <p:txBody>
          <a:bodyPr wrap="square" lIns="0" tIns="0" rIns="0" bIns="0" rtlCol="0" anchor="ctr"/>
          <a:lstStyle/>
          <a:p>
            <a:pPr marL="0" indent="0" algn="ctr">
              <a:buNone/>
            </a:pPr>
            <a:r>
              <a:rPr lang="en-US" sz="650" b="1" dirty="0">
                <a:solidFill>
                  <a:srgbClr val="F5C518"/>
                </a:solidFill>
              </a:rPr>
              <a:t>★ Mid-Term Review</a:t>
            </a:r>
            <a:endParaRPr lang="en-US" sz="650" dirty="0"/>
          </a:p>
        </p:txBody>
      </p:sp>
      <p:sp>
        <p:nvSpPr>
          <p:cNvPr id="56" name="Shape 54"/>
          <p:cNvSpPr/>
          <p:nvPr/>
        </p:nvSpPr>
        <p:spPr>
          <a:xfrm>
            <a:off x="5605272" y="2578608"/>
            <a:ext cx="246888" cy="246888"/>
          </a:xfrm>
          <a:prstGeom prst="ellipse">
            <a:avLst/>
          </a:prstGeom>
          <a:solidFill>
            <a:srgbClr val="00B4FF"/>
          </a:solidFill>
          <a:ln w="12700">
            <a:solidFill>
              <a:srgbClr val="00B4FF"/>
            </a:solidFill>
            <a:prstDash val="solid"/>
          </a:ln>
        </p:spPr>
      </p:sp>
      <p:sp>
        <p:nvSpPr>
          <p:cNvPr id="57" name="Shape 55"/>
          <p:cNvSpPr/>
          <p:nvPr/>
        </p:nvSpPr>
        <p:spPr>
          <a:xfrm>
            <a:off x="5728716" y="2825496"/>
            <a:ext cx="0" cy="201168"/>
          </a:xfrm>
          <a:prstGeom prst="line">
            <a:avLst/>
          </a:prstGeom>
          <a:noFill/>
          <a:ln w="12700">
            <a:solidFill>
              <a:srgbClr val="1E3A5F"/>
            </a:solidFill>
            <a:prstDash val="solid"/>
          </a:ln>
        </p:spPr>
      </p:sp>
      <p:sp>
        <p:nvSpPr>
          <p:cNvPr id="58" name="Text 56"/>
          <p:cNvSpPr/>
          <p:nvPr/>
        </p:nvSpPr>
        <p:spPr>
          <a:xfrm>
            <a:off x="5212080" y="3054096"/>
            <a:ext cx="1097280" cy="201168"/>
          </a:xfrm>
          <a:prstGeom prst="rect">
            <a:avLst/>
          </a:prstGeom>
          <a:noFill/>
          <a:ln/>
        </p:spPr>
        <p:txBody>
          <a:bodyPr wrap="square" lIns="0" tIns="0" rIns="0" bIns="0" rtlCol="0" anchor="ctr"/>
          <a:lstStyle/>
          <a:p>
            <a:pPr marL="0" indent="0" algn="ctr">
              <a:buNone/>
            </a:pPr>
            <a:r>
              <a:rPr lang="en-US" sz="800" b="1" dirty="0">
                <a:solidFill>
                  <a:srgbClr val="00B4FF"/>
                </a:solidFill>
              </a:rPr>
              <a:t>Wk 6</a:t>
            </a:r>
            <a:endParaRPr lang="en-US" sz="800" dirty="0"/>
          </a:p>
        </p:txBody>
      </p:sp>
      <p:sp>
        <p:nvSpPr>
          <p:cNvPr id="59" name="Text 57"/>
          <p:cNvSpPr/>
          <p:nvPr/>
        </p:nvSpPr>
        <p:spPr>
          <a:xfrm>
            <a:off x="5212080" y="3273552"/>
            <a:ext cx="1143000" cy="914400"/>
          </a:xfrm>
          <a:prstGeom prst="rect">
            <a:avLst/>
          </a:prstGeom>
          <a:noFill/>
          <a:ln/>
        </p:spPr>
        <p:txBody>
          <a:bodyPr wrap="square" lIns="0" tIns="0" rIns="0" bIns="0" rtlCol="0" anchor="ctr"/>
          <a:lstStyle/>
          <a:p>
            <a:pPr marL="0" indent="0" algn="ctr">
              <a:buNone/>
            </a:pPr>
            <a:r>
              <a:rPr lang="en-US" sz="750" dirty="0">
                <a:solidFill>
                  <a:srgbClr val="D4E6F1"/>
                </a:solidFill>
              </a:rPr>
              <a:t>Dashboards 3 &amp; 4 with map &amp; forecast</a:t>
            </a:r>
            <a:endParaRPr lang="en-US" sz="750" dirty="0"/>
          </a:p>
        </p:txBody>
      </p:sp>
      <p:sp>
        <p:nvSpPr>
          <p:cNvPr id="60" name="Shape 58"/>
          <p:cNvSpPr/>
          <p:nvPr/>
        </p:nvSpPr>
        <p:spPr>
          <a:xfrm>
            <a:off x="6638544" y="2578608"/>
            <a:ext cx="246888" cy="246888"/>
          </a:xfrm>
          <a:prstGeom prst="ellipse">
            <a:avLst/>
          </a:prstGeom>
          <a:solidFill>
            <a:srgbClr val="00B4FF"/>
          </a:solidFill>
          <a:ln w="12700">
            <a:solidFill>
              <a:srgbClr val="00B4FF"/>
            </a:solidFill>
            <a:prstDash val="solid"/>
          </a:ln>
        </p:spPr>
      </p:sp>
      <p:sp>
        <p:nvSpPr>
          <p:cNvPr id="61" name="Shape 59"/>
          <p:cNvSpPr/>
          <p:nvPr/>
        </p:nvSpPr>
        <p:spPr>
          <a:xfrm>
            <a:off x="6761988" y="2377440"/>
            <a:ext cx="0" cy="201168"/>
          </a:xfrm>
          <a:prstGeom prst="line">
            <a:avLst/>
          </a:prstGeom>
          <a:noFill/>
          <a:ln w="12700">
            <a:solidFill>
              <a:srgbClr val="1E3A5F"/>
            </a:solidFill>
            <a:prstDash val="solid"/>
          </a:ln>
        </p:spPr>
      </p:sp>
      <p:sp>
        <p:nvSpPr>
          <p:cNvPr id="62" name="Text 60"/>
          <p:cNvSpPr/>
          <p:nvPr/>
        </p:nvSpPr>
        <p:spPr>
          <a:xfrm>
            <a:off x="6245352" y="1261872"/>
            <a:ext cx="1097280" cy="201168"/>
          </a:xfrm>
          <a:prstGeom prst="rect">
            <a:avLst/>
          </a:prstGeom>
          <a:noFill/>
          <a:ln/>
        </p:spPr>
        <p:txBody>
          <a:bodyPr wrap="square" lIns="0" tIns="0" rIns="0" bIns="0" rtlCol="0" anchor="ctr"/>
          <a:lstStyle/>
          <a:p>
            <a:pPr marL="0" indent="0" algn="ctr">
              <a:buNone/>
            </a:pPr>
            <a:r>
              <a:rPr lang="en-US" sz="800" b="1" dirty="0">
                <a:solidFill>
                  <a:srgbClr val="00B4FF"/>
                </a:solidFill>
              </a:rPr>
              <a:t>Wk 7</a:t>
            </a:r>
            <a:endParaRPr lang="en-US" sz="800" dirty="0"/>
          </a:p>
        </p:txBody>
      </p:sp>
      <p:sp>
        <p:nvSpPr>
          <p:cNvPr id="63" name="Text 61"/>
          <p:cNvSpPr/>
          <p:nvPr/>
        </p:nvSpPr>
        <p:spPr>
          <a:xfrm>
            <a:off x="6245352" y="1481328"/>
            <a:ext cx="1143000" cy="914400"/>
          </a:xfrm>
          <a:prstGeom prst="rect">
            <a:avLst/>
          </a:prstGeom>
          <a:noFill/>
          <a:ln/>
        </p:spPr>
        <p:txBody>
          <a:bodyPr wrap="square" lIns="0" tIns="0" rIns="0" bIns="0" rtlCol="0" anchor="ctr"/>
          <a:lstStyle/>
          <a:p>
            <a:pPr marL="0" indent="0" algn="ctr">
              <a:buNone/>
            </a:pPr>
            <a:r>
              <a:rPr lang="en-US" sz="750" dirty="0">
                <a:solidFill>
                  <a:srgbClr val="D4E6F1"/>
                </a:solidFill>
              </a:rPr>
              <a:t>Dashboard 5 &amp; business insights derived</a:t>
            </a:r>
            <a:endParaRPr lang="en-US" sz="750" dirty="0"/>
          </a:p>
        </p:txBody>
      </p:sp>
      <p:sp>
        <p:nvSpPr>
          <p:cNvPr id="64" name="Shape 62"/>
          <p:cNvSpPr/>
          <p:nvPr/>
        </p:nvSpPr>
        <p:spPr>
          <a:xfrm>
            <a:off x="7671816" y="2578608"/>
            <a:ext cx="246888" cy="246888"/>
          </a:xfrm>
          <a:prstGeom prst="ellipse">
            <a:avLst/>
          </a:prstGeom>
          <a:solidFill>
            <a:srgbClr val="F5C518"/>
          </a:solidFill>
          <a:ln w="12700">
            <a:solidFill>
              <a:srgbClr val="F5C518"/>
            </a:solidFill>
            <a:prstDash val="solid"/>
          </a:ln>
        </p:spPr>
      </p:sp>
      <p:sp>
        <p:nvSpPr>
          <p:cNvPr id="65" name="Shape 63"/>
          <p:cNvSpPr/>
          <p:nvPr/>
        </p:nvSpPr>
        <p:spPr>
          <a:xfrm>
            <a:off x="7616952" y="2523744"/>
            <a:ext cx="356616" cy="356616"/>
          </a:xfrm>
          <a:prstGeom prst="ellipse">
            <a:avLst/>
          </a:prstGeom>
          <a:solidFill>
            <a:srgbClr val="F5C518">
              <a:alpha val="25000"/>
            </a:srgbClr>
          </a:solidFill>
          <a:ln w="12700">
            <a:solidFill>
              <a:srgbClr val="F5C518">
                <a:alpha val="40000"/>
              </a:srgbClr>
            </a:solidFill>
            <a:prstDash val="solid"/>
          </a:ln>
        </p:spPr>
      </p:sp>
      <p:sp>
        <p:nvSpPr>
          <p:cNvPr id="66" name="Shape 64"/>
          <p:cNvSpPr/>
          <p:nvPr/>
        </p:nvSpPr>
        <p:spPr>
          <a:xfrm>
            <a:off x="7795260" y="2825496"/>
            <a:ext cx="0" cy="201168"/>
          </a:xfrm>
          <a:prstGeom prst="line">
            <a:avLst/>
          </a:prstGeom>
          <a:noFill/>
          <a:ln w="12700">
            <a:solidFill>
              <a:srgbClr val="1E3A5F"/>
            </a:solidFill>
            <a:prstDash val="solid"/>
          </a:ln>
        </p:spPr>
      </p:sp>
      <p:sp>
        <p:nvSpPr>
          <p:cNvPr id="67" name="Text 65"/>
          <p:cNvSpPr/>
          <p:nvPr/>
        </p:nvSpPr>
        <p:spPr>
          <a:xfrm>
            <a:off x="7278624" y="3054096"/>
            <a:ext cx="1097280" cy="201168"/>
          </a:xfrm>
          <a:prstGeom prst="rect">
            <a:avLst/>
          </a:prstGeom>
          <a:noFill/>
          <a:ln/>
        </p:spPr>
        <p:txBody>
          <a:bodyPr wrap="square" lIns="0" tIns="0" rIns="0" bIns="0" rtlCol="0" anchor="ctr"/>
          <a:lstStyle/>
          <a:p>
            <a:pPr marL="0" indent="0" algn="ctr">
              <a:buNone/>
            </a:pPr>
            <a:r>
              <a:rPr lang="en-US" sz="800" b="1" dirty="0">
                <a:solidFill>
                  <a:srgbClr val="F5C518"/>
                </a:solidFill>
              </a:rPr>
              <a:t>Wk 8</a:t>
            </a:r>
            <a:endParaRPr lang="en-US" sz="800" dirty="0"/>
          </a:p>
        </p:txBody>
      </p:sp>
      <p:sp>
        <p:nvSpPr>
          <p:cNvPr id="68" name="Text 66"/>
          <p:cNvSpPr/>
          <p:nvPr/>
        </p:nvSpPr>
        <p:spPr>
          <a:xfrm>
            <a:off x="7278624" y="3273552"/>
            <a:ext cx="1143000" cy="914400"/>
          </a:xfrm>
          <a:prstGeom prst="rect">
            <a:avLst/>
          </a:prstGeom>
          <a:noFill/>
          <a:ln/>
        </p:spPr>
        <p:txBody>
          <a:bodyPr wrap="square" lIns="0" tIns="0" rIns="0" bIns="0" rtlCol="0" anchor="ctr"/>
          <a:lstStyle/>
          <a:p>
            <a:pPr marL="0" indent="0" algn="ctr">
              <a:buNone/>
            </a:pPr>
            <a:r>
              <a:rPr lang="en-US" sz="750" dirty="0">
                <a:solidFill>
                  <a:srgbClr val="D4E6F1"/>
                </a:solidFill>
              </a:rPr>
              <a:t>Final documentation &amp; completion report</a:t>
            </a:r>
            <a:endParaRPr lang="en-US" sz="750" dirty="0"/>
          </a:p>
        </p:txBody>
      </p:sp>
      <p:sp>
        <p:nvSpPr>
          <p:cNvPr id="69" name="Shape 67"/>
          <p:cNvSpPr/>
          <p:nvPr/>
        </p:nvSpPr>
        <p:spPr>
          <a:xfrm>
            <a:off x="7306056" y="4206240"/>
            <a:ext cx="1097280" cy="201168"/>
          </a:xfrm>
          <a:prstGeom prst="rect">
            <a:avLst/>
          </a:prstGeom>
          <a:solidFill>
            <a:srgbClr val="003E7A"/>
          </a:solidFill>
          <a:ln w="12700">
            <a:solidFill>
              <a:srgbClr val="F5C518"/>
            </a:solidFill>
            <a:prstDash val="solid"/>
          </a:ln>
        </p:spPr>
      </p:sp>
      <p:sp>
        <p:nvSpPr>
          <p:cNvPr id="70" name="Text 68"/>
          <p:cNvSpPr/>
          <p:nvPr/>
        </p:nvSpPr>
        <p:spPr>
          <a:xfrm>
            <a:off x="7306056" y="4206240"/>
            <a:ext cx="1097280" cy="201168"/>
          </a:xfrm>
          <a:prstGeom prst="rect">
            <a:avLst/>
          </a:prstGeom>
          <a:noFill/>
          <a:ln/>
        </p:spPr>
        <p:txBody>
          <a:bodyPr wrap="square" lIns="0" tIns="0" rIns="0" bIns="0" rtlCol="0" anchor="ctr"/>
          <a:lstStyle/>
          <a:p>
            <a:pPr marL="0" indent="0" algn="ctr">
              <a:buNone/>
            </a:pPr>
            <a:r>
              <a:rPr lang="en-US" sz="650" b="1" dirty="0">
                <a:solidFill>
                  <a:srgbClr val="F5C518"/>
                </a:solidFill>
              </a:rPr>
              <a:t>★ Final Submission</a:t>
            </a:r>
            <a:endParaRPr lang="en-US" sz="650" dirty="0"/>
          </a:p>
        </p:txBody>
      </p:sp>
      <p:sp>
        <p:nvSpPr>
          <p:cNvPr id="71" name="Text 69"/>
          <p:cNvSpPr/>
          <p:nvPr/>
        </p:nvSpPr>
        <p:spPr>
          <a:xfrm>
            <a:off x="320040" y="4681728"/>
            <a:ext cx="1828800" cy="182880"/>
          </a:xfrm>
          <a:prstGeom prst="rect">
            <a:avLst/>
          </a:prstGeom>
          <a:noFill/>
          <a:ln/>
        </p:spPr>
        <p:txBody>
          <a:bodyPr wrap="square" lIns="0" tIns="0" rIns="0" bIns="0" rtlCol="0" anchor="ctr"/>
          <a:lstStyle/>
          <a:p>
            <a:pPr marL="0" indent="0">
              <a:buNone/>
            </a:pPr>
            <a:r>
              <a:rPr lang="en-US" sz="800" dirty="0">
                <a:solidFill>
                  <a:srgbClr val="6B8CAE"/>
                </a:solidFill>
              </a:rPr>
              <a:t>02 Feb 2026</a:t>
            </a:r>
            <a:endParaRPr lang="en-US" sz="800" dirty="0"/>
          </a:p>
        </p:txBody>
      </p:sp>
      <p:sp>
        <p:nvSpPr>
          <p:cNvPr id="72" name="Text 70"/>
          <p:cNvSpPr/>
          <p:nvPr/>
        </p:nvSpPr>
        <p:spPr>
          <a:xfrm>
            <a:off x="7132320" y="4681728"/>
            <a:ext cx="1828800" cy="182880"/>
          </a:xfrm>
          <a:prstGeom prst="rect">
            <a:avLst/>
          </a:prstGeom>
          <a:noFill/>
          <a:ln/>
        </p:spPr>
        <p:txBody>
          <a:bodyPr wrap="square" lIns="0" tIns="0" rIns="0" bIns="0" rtlCol="0" anchor="ctr"/>
          <a:lstStyle/>
          <a:p>
            <a:pPr marL="0" indent="0" algn="r">
              <a:buNone/>
            </a:pPr>
            <a:r>
              <a:rPr lang="en-US" sz="800" dirty="0">
                <a:solidFill>
                  <a:srgbClr val="6B8CAE"/>
                </a:solidFill>
              </a:rPr>
              <a:t>24 Feb 2026</a:t>
            </a:r>
            <a:endParaRPr lang="en-US" sz="800" dirty="0"/>
          </a:p>
        </p:txBody>
      </p:sp>
      <p:sp>
        <p:nvSpPr>
          <p:cNvPr id="73" name="Shape 71"/>
          <p:cNvSpPr/>
          <p:nvPr/>
        </p:nvSpPr>
        <p:spPr>
          <a:xfrm>
            <a:off x="0" y="4983480"/>
            <a:ext cx="9144000" cy="160020"/>
          </a:xfrm>
          <a:prstGeom prst="rect">
            <a:avLst/>
          </a:prstGeom>
          <a:solidFill>
            <a:srgbClr val="1A2E45"/>
          </a:solidFill>
          <a:ln w="12700">
            <a:solidFill>
              <a:srgbClr val="1A2E45"/>
            </a:solidFill>
            <a:prstDash val="solid"/>
          </a:ln>
        </p:spPr>
      </p:sp>
      <p:sp>
        <p:nvSpPr>
          <p:cNvPr id="74" name="Shape 72"/>
          <p:cNvSpPr/>
          <p:nvPr/>
        </p:nvSpPr>
        <p:spPr>
          <a:xfrm>
            <a:off x="0" y="4983480"/>
            <a:ext cx="36576" cy="160020"/>
          </a:xfrm>
          <a:prstGeom prst="rect">
            <a:avLst/>
          </a:prstGeom>
          <a:solidFill>
            <a:srgbClr val="F5C518"/>
          </a:solidFill>
          <a:ln w="12700">
            <a:solidFill>
              <a:srgbClr val="F5C518"/>
            </a:solidFill>
            <a:prstDash val="solid"/>
          </a:ln>
        </p:spPr>
      </p:sp>
      <p:sp>
        <p:nvSpPr>
          <p:cNvPr id="75" name="Text 73"/>
          <p:cNvSpPr/>
          <p:nvPr/>
        </p:nvSpPr>
        <p:spPr>
          <a:xfrm>
            <a:off x="137160" y="4983480"/>
            <a:ext cx="8229600" cy="160020"/>
          </a:xfrm>
          <a:prstGeom prst="rect">
            <a:avLst/>
          </a:prstGeom>
          <a:noFill/>
          <a:ln/>
        </p:spPr>
        <p:txBody>
          <a:bodyPr wrap="square" lIns="0" tIns="0" rIns="0" bIns="0" rtlCol="0" anchor="ctr"/>
          <a:lstStyle/>
          <a:p>
            <a:pPr marL="0" indent="0">
              <a:buNone/>
            </a:pPr>
            <a:r>
              <a:rPr lang="en-US" sz="750" dirty="0">
                <a:solidFill>
                  <a:srgbClr val="6B8CAE"/>
                </a:solidFill>
              </a:rPr>
              <a:t>HotelRevAI  ·  Infosys Springboard Internship 6.0  ·  Batch 13 — Group 2, Team D</a:t>
            </a:r>
            <a:endParaRPr lang="en-US" sz="750" dirty="0"/>
          </a:p>
        </p:txBody>
      </p:sp>
      <p:sp>
        <p:nvSpPr>
          <p:cNvPr id="76" name="Text 74"/>
          <p:cNvSpPr/>
          <p:nvPr/>
        </p:nvSpPr>
        <p:spPr>
          <a:xfrm>
            <a:off x="8686800" y="4983480"/>
            <a:ext cx="411480" cy="160020"/>
          </a:xfrm>
          <a:prstGeom prst="rect">
            <a:avLst/>
          </a:prstGeom>
          <a:noFill/>
          <a:ln/>
        </p:spPr>
        <p:txBody>
          <a:bodyPr wrap="square" lIns="0" tIns="0" rIns="0" bIns="0" rtlCol="0" anchor="ctr"/>
          <a:lstStyle/>
          <a:p>
            <a:pPr marL="0" indent="0" algn="r">
              <a:buNone/>
            </a:pPr>
            <a:r>
              <a:rPr lang="en-US" sz="750" b="1" dirty="0">
                <a:solidFill>
                  <a:srgbClr val="F5C518"/>
                </a:solidFill>
              </a:rPr>
              <a:t>14</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50A14"/>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0D2137"/>
            </a:solidFill>
            <a:prstDash val="solid"/>
          </a:ln>
        </p:spPr>
      </p:sp>
      <p:sp>
        <p:nvSpPr>
          <p:cNvPr id="3" name="Shape 1"/>
          <p:cNvSpPr/>
          <p:nvPr/>
        </p:nvSpPr>
        <p:spPr>
          <a:xfrm>
            <a:off x="914400" y="0"/>
            <a:ext cx="0" cy="5143500"/>
          </a:xfrm>
          <a:prstGeom prst="line">
            <a:avLst/>
          </a:prstGeom>
          <a:noFill/>
          <a:ln w="6350">
            <a:solidFill>
              <a:srgbClr val="0D2137"/>
            </a:solidFill>
            <a:prstDash val="solid"/>
          </a:ln>
        </p:spPr>
      </p:sp>
      <p:sp>
        <p:nvSpPr>
          <p:cNvPr id="4" name="Shape 2"/>
          <p:cNvSpPr/>
          <p:nvPr/>
        </p:nvSpPr>
        <p:spPr>
          <a:xfrm>
            <a:off x="1828800" y="0"/>
            <a:ext cx="0" cy="5143500"/>
          </a:xfrm>
          <a:prstGeom prst="line">
            <a:avLst/>
          </a:prstGeom>
          <a:noFill/>
          <a:ln w="6350">
            <a:solidFill>
              <a:srgbClr val="0D2137"/>
            </a:solidFill>
            <a:prstDash val="solid"/>
          </a:ln>
        </p:spPr>
      </p:sp>
      <p:sp>
        <p:nvSpPr>
          <p:cNvPr id="5" name="Shape 3"/>
          <p:cNvSpPr/>
          <p:nvPr/>
        </p:nvSpPr>
        <p:spPr>
          <a:xfrm>
            <a:off x="2743200" y="0"/>
            <a:ext cx="0" cy="5143500"/>
          </a:xfrm>
          <a:prstGeom prst="line">
            <a:avLst/>
          </a:prstGeom>
          <a:noFill/>
          <a:ln w="6350">
            <a:solidFill>
              <a:srgbClr val="0D2137"/>
            </a:solidFill>
            <a:prstDash val="solid"/>
          </a:ln>
        </p:spPr>
      </p:sp>
      <p:sp>
        <p:nvSpPr>
          <p:cNvPr id="6" name="Shape 4"/>
          <p:cNvSpPr/>
          <p:nvPr/>
        </p:nvSpPr>
        <p:spPr>
          <a:xfrm>
            <a:off x="3657600" y="0"/>
            <a:ext cx="0" cy="5143500"/>
          </a:xfrm>
          <a:prstGeom prst="line">
            <a:avLst/>
          </a:prstGeom>
          <a:noFill/>
          <a:ln w="6350">
            <a:solidFill>
              <a:srgbClr val="0D2137"/>
            </a:solidFill>
            <a:prstDash val="solid"/>
          </a:ln>
        </p:spPr>
      </p:sp>
      <p:sp>
        <p:nvSpPr>
          <p:cNvPr id="7" name="Shape 5"/>
          <p:cNvSpPr/>
          <p:nvPr/>
        </p:nvSpPr>
        <p:spPr>
          <a:xfrm>
            <a:off x="4572000" y="0"/>
            <a:ext cx="0" cy="5143500"/>
          </a:xfrm>
          <a:prstGeom prst="line">
            <a:avLst/>
          </a:prstGeom>
          <a:noFill/>
          <a:ln w="6350">
            <a:solidFill>
              <a:srgbClr val="0D2137"/>
            </a:solidFill>
            <a:prstDash val="solid"/>
          </a:ln>
        </p:spPr>
      </p:sp>
      <p:sp>
        <p:nvSpPr>
          <p:cNvPr id="8" name="Shape 6"/>
          <p:cNvSpPr/>
          <p:nvPr/>
        </p:nvSpPr>
        <p:spPr>
          <a:xfrm>
            <a:off x="5486400" y="0"/>
            <a:ext cx="0" cy="5143500"/>
          </a:xfrm>
          <a:prstGeom prst="line">
            <a:avLst/>
          </a:prstGeom>
          <a:noFill/>
          <a:ln w="6350">
            <a:solidFill>
              <a:srgbClr val="0D2137"/>
            </a:solidFill>
            <a:prstDash val="solid"/>
          </a:ln>
        </p:spPr>
      </p:sp>
      <p:sp>
        <p:nvSpPr>
          <p:cNvPr id="9" name="Shape 7"/>
          <p:cNvSpPr/>
          <p:nvPr/>
        </p:nvSpPr>
        <p:spPr>
          <a:xfrm>
            <a:off x="6400800" y="0"/>
            <a:ext cx="0" cy="5143500"/>
          </a:xfrm>
          <a:prstGeom prst="line">
            <a:avLst/>
          </a:prstGeom>
          <a:noFill/>
          <a:ln w="6350">
            <a:solidFill>
              <a:srgbClr val="0D2137"/>
            </a:solidFill>
            <a:prstDash val="solid"/>
          </a:ln>
        </p:spPr>
      </p:sp>
      <p:sp>
        <p:nvSpPr>
          <p:cNvPr id="10" name="Shape 8"/>
          <p:cNvSpPr/>
          <p:nvPr/>
        </p:nvSpPr>
        <p:spPr>
          <a:xfrm>
            <a:off x="7315200" y="0"/>
            <a:ext cx="0" cy="5143500"/>
          </a:xfrm>
          <a:prstGeom prst="line">
            <a:avLst/>
          </a:prstGeom>
          <a:noFill/>
          <a:ln w="6350">
            <a:solidFill>
              <a:srgbClr val="0D2137"/>
            </a:solidFill>
            <a:prstDash val="solid"/>
          </a:ln>
        </p:spPr>
      </p:sp>
      <p:sp>
        <p:nvSpPr>
          <p:cNvPr id="11" name="Shape 9"/>
          <p:cNvSpPr/>
          <p:nvPr/>
        </p:nvSpPr>
        <p:spPr>
          <a:xfrm>
            <a:off x="8229600" y="0"/>
            <a:ext cx="0" cy="5143500"/>
          </a:xfrm>
          <a:prstGeom prst="line">
            <a:avLst/>
          </a:prstGeom>
          <a:noFill/>
          <a:ln w="6350">
            <a:solidFill>
              <a:srgbClr val="0D2137"/>
            </a:solidFill>
            <a:prstDash val="solid"/>
          </a:ln>
        </p:spPr>
      </p:sp>
      <p:sp>
        <p:nvSpPr>
          <p:cNvPr id="12" name="Shape 10"/>
          <p:cNvSpPr/>
          <p:nvPr/>
        </p:nvSpPr>
        <p:spPr>
          <a:xfrm>
            <a:off x="9144000" y="0"/>
            <a:ext cx="0" cy="5143500"/>
          </a:xfrm>
          <a:prstGeom prst="line">
            <a:avLst/>
          </a:prstGeom>
          <a:noFill/>
          <a:ln w="6350">
            <a:solidFill>
              <a:srgbClr val="0D2137"/>
            </a:solidFill>
            <a:prstDash val="solid"/>
          </a:ln>
        </p:spPr>
      </p:sp>
      <p:sp>
        <p:nvSpPr>
          <p:cNvPr id="13" name="Shape 11"/>
          <p:cNvSpPr/>
          <p:nvPr/>
        </p:nvSpPr>
        <p:spPr>
          <a:xfrm>
            <a:off x="0" y="0"/>
            <a:ext cx="9144000" cy="0"/>
          </a:xfrm>
          <a:prstGeom prst="line">
            <a:avLst/>
          </a:prstGeom>
          <a:noFill/>
          <a:ln w="6350">
            <a:solidFill>
              <a:srgbClr val="0D2137"/>
            </a:solidFill>
            <a:prstDash val="solid"/>
          </a:ln>
        </p:spPr>
      </p:sp>
      <p:sp>
        <p:nvSpPr>
          <p:cNvPr id="14" name="Shape 12"/>
          <p:cNvSpPr/>
          <p:nvPr/>
        </p:nvSpPr>
        <p:spPr>
          <a:xfrm>
            <a:off x="0" y="859536"/>
            <a:ext cx="9144000" cy="0"/>
          </a:xfrm>
          <a:prstGeom prst="line">
            <a:avLst/>
          </a:prstGeom>
          <a:noFill/>
          <a:ln w="6350">
            <a:solidFill>
              <a:srgbClr val="0D2137"/>
            </a:solidFill>
            <a:prstDash val="solid"/>
          </a:ln>
        </p:spPr>
      </p:sp>
      <p:sp>
        <p:nvSpPr>
          <p:cNvPr id="15" name="Shape 13"/>
          <p:cNvSpPr/>
          <p:nvPr/>
        </p:nvSpPr>
        <p:spPr>
          <a:xfrm>
            <a:off x="0" y="1719072"/>
            <a:ext cx="9144000" cy="0"/>
          </a:xfrm>
          <a:prstGeom prst="line">
            <a:avLst/>
          </a:prstGeom>
          <a:noFill/>
          <a:ln w="6350">
            <a:solidFill>
              <a:srgbClr val="0D2137"/>
            </a:solidFill>
            <a:prstDash val="solid"/>
          </a:ln>
        </p:spPr>
      </p:sp>
      <p:sp>
        <p:nvSpPr>
          <p:cNvPr id="16" name="Shape 14"/>
          <p:cNvSpPr/>
          <p:nvPr/>
        </p:nvSpPr>
        <p:spPr>
          <a:xfrm>
            <a:off x="0" y="2578608"/>
            <a:ext cx="9144000" cy="0"/>
          </a:xfrm>
          <a:prstGeom prst="line">
            <a:avLst/>
          </a:prstGeom>
          <a:noFill/>
          <a:ln w="6350">
            <a:solidFill>
              <a:srgbClr val="0D2137"/>
            </a:solidFill>
            <a:prstDash val="solid"/>
          </a:ln>
        </p:spPr>
      </p:sp>
      <p:sp>
        <p:nvSpPr>
          <p:cNvPr id="17" name="Shape 15"/>
          <p:cNvSpPr/>
          <p:nvPr/>
        </p:nvSpPr>
        <p:spPr>
          <a:xfrm>
            <a:off x="0" y="3438144"/>
            <a:ext cx="9144000" cy="0"/>
          </a:xfrm>
          <a:prstGeom prst="line">
            <a:avLst/>
          </a:prstGeom>
          <a:noFill/>
          <a:ln w="6350">
            <a:solidFill>
              <a:srgbClr val="0D2137"/>
            </a:solidFill>
            <a:prstDash val="solid"/>
          </a:ln>
        </p:spPr>
      </p:sp>
      <p:sp>
        <p:nvSpPr>
          <p:cNvPr id="18" name="Shape 16"/>
          <p:cNvSpPr/>
          <p:nvPr/>
        </p:nvSpPr>
        <p:spPr>
          <a:xfrm>
            <a:off x="0" y="4297680"/>
            <a:ext cx="9144000" cy="0"/>
          </a:xfrm>
          <a:prstGeom prst="line">
            <a:avLst/>
          </a:prstGeom>
          <a:noFill/>
          <a:ln w="6350">
            <a:solidFill>
              <a:srgbClr val="0D2137"/>
            </a:solidFill>
            <a:prstDash val="solid"/>
          </a:ln>
        </p:spPr>
      </p:sp>
      <p:sp>
        <p:nvSpPr>
          <p:cNvPr id="19" name="Shape 17"/>
          <p:cNvSpPr/>
          <p:nvPr/>
        </p:nvSpPr>
        <p:spPr>
          <a:xfrm>
            <a:off x="0" y="5157216"/>
            <a:ext cx="9144000" cy="0"/>
          </a:xfrm>
          <a:prstGeom prst="line">
            <a:avLst/>
          </a:prstGeom>
          <a:noFill/>
          <a:ln w="6350">
            <a:solidFill>
              <a:srgbClr val="0D2137"/>
            </a:solidFill>
            <a:prstDash val="solid"/>
          </a:ln>
        </p:spPr>
      </p:sp>
      <p:sp>
        <p:nvSpPr>
          <p:cNvPr id="20" name="Shape 18"/>
          <p:cNvSpPr/>
          <p:nvPr/>
        </p:nvSpPr>
        <p:spPr>
          <a:xfrm>
            <a:off x="-640080" y="0"/>
            <a:ext cx="2743200" cy="2743200"/>
          </a:xfrm>
          <a:prstGeom prst="ellipse">
            <a:avLst/>
          </a:prstGeom>
          <a:solidFill>
            <a:srgbClr val="00B4FF">
              <a:alpha val="12000"/>
            </a:srgbClr>
          </a:solidFill>
          <a:ln w="12700">
            <a:solidFill>
              <a:srgbClr val="00B4FF">
                <a:alpha val="5000"/>
              </a:srgbClr>
            </a:solidFill>
            <a:prstDash val="solid"/>
          </a:ln>
        </p:spPr>
      </p:sp>
      <p:sp>
        <p:nvSpPr>
          <p:cNvPr id="21" name="Shape 19"/>
          <p:cNvSpPr/>
          <p:nvPr/>
        </p:nvSpPr>
        <p:spPr>
          <a:xfrm>
            <a:off x="45720" y="685800"/>
            <a:ext cx="1371600" cy="1371600"/>
          </a:xfrm>
          <a:prstGeom prst="ellipse">
            <a:avLst/>
          </a:prstGeom>
          <a:solidFill>
            <a:srgbClr val="00B4FF">
              <a:alpha val="4000"/>
            </a:srgbClr>
          </a:solidFill>
          <a:ln w="12700">
            <a:solidFill>
              <a:srgbClr val="00B4FF">
                <a:alpha val="0"/>
              </a:srgbClr>
            </a:solidFill>
            <a:prstDash val="solid"/>
          </a:ln>
        </p:spPr>
      </p:sp>
      <p:sp>
        <p:nvSpPr>
          <p:cNvPr id="22" name="Shape 20"/>
          <p:cNvSpPr/>
          <p:nvPr/>
        </p:nvSpPr>
        <p:spPr>
          <a:xfrm>
            <a:off x="7315200" y="2286000"/>
            <a:ext cx="2743200" cy="2743200"/>
          </a:xfrm>
          <a:prstGeom prst="ellipse">
            <a:avLst/>
          </a:prstGeom>
          <a:solidFill>
            <a:srgbClr val="F5C518">
              <a:alpha val="12000"/>
            </a:srgbClr>
          </a:solidFill>
          <a:ln w="12700">
            <a:solidFill>
              <a:srgbClr val="F5C518">
                <a:alpha val="5000"/>
              </a:srgbClr>
            </a:solidFill>
            <a:prstDash val="solid"/>
          </a:ln>
        </p:spPr>
      </p:sp>
      <p:sp>
        <p:nvSpPr>
          <p:cNvPr id="23" name="Shape 21"/>
          <p:cNvSpPr/>
          <p:nvPr/>
        </p:nvSpPr>
        <p:spPr>
          <a:xfrm>
            <a:off x="8001000" y="2971800"/>
            <a:ext cx="1371600" cy="1371600"/>
          </a:xfrm>
          <a:prstGeom prst="ellipse">
            <a:avLst/>
          </a:prstGeom>
          <a:solidFill>
            <a:srgbClr val="F5C518">
              <a:alpha val="4000"/>
            </a:srgbClr>
          </a:solidFill>
          <a:ln w="12700">
            <a:solidFill>
              <a:srgbClr val="F5C518">
                <a:alpha val="0"/>
              </a:srgbClr>
            </a:solidFill>
            <a:prstDash val="solid"/>
          </a:ln>
        </p:spPr>
      </p:sp>
      <p:sp>
        <p:nvSpPr>
          <p:cNvPr id="24" name="Shape 22"/>
          <p:cNvSpPr/>
          <p:nvPr/>
        </p:nvSpPr>
        <p:spPr>
          <a:xfrm>
            <a:off x="0" y="0"/>
            <a:ext cx="9144000" cy="50292"/>
          </a:xfrm>
          <a:prstGeom prst="rect">
            <a:avLst/>
          </a:prstGeom>
          <a:solidFill>
            <a:srgbClr val="F5C518"/>
          </a:solidFill>
          <a:ln w="12700">
            <a:solidFill>
              <a:srgbClr val="F5C518"/>
            </a:solidFill>
            <a:prstDash val="solid"/>
          </a:ln>
        </p:spPr>
      </p:sp>
      <p:sp>
        <p:nvSpPr>
          <p:cNvPr id="25" name="Shape 23"/>
          <p:cNvSpPr/>
          <p:nvPr/>
        </p:nvSpPr>
        <p:spPr>
          <a:xfrm>
            <a:off x="320040" y="182880"/>
            <a:ext cx="1737360" cy="246888"/>
          </a:xfrm>
          <a:prstGeom prst="rect">
            <a:avLst/>
          </a:prstGeom>
          <a:solidFill>
            <a:srgbClr val="003E7A"/>
          </a:solidFill>
          <a:ln w="12700">
            <a:solidFill>
              <a:srgbClr val="00B4FF"/>
            </a:solidFill>
            <a:prstDash val="solid"/>
          </a:ln>
        </p:spPr>
      </p:sp>
      <p:sp>
        <p:nvSpPr>
          <p:cNvPr id="26" name="Text 24"/>
          <p:cNvSpPr/>
          <p:nvPr/>
        </p:nvSpPr>
        <p:spPr>
          <a:xfrm>
            <a:off x="320040" y="182880"/>
            <a:ext cx="1737360" cy="246888"/>
          </a:xfrm>
          <a:prstGeom prst="rect">
            <a:avLst/>
          </a:prstGeom>
          <a:noFill/>
          <a:ln/>
        </p:spPr>
        <p:txBody>
          <a:bodyPr wrap="square" lIns="0" tIns="0" rIns="0" bIns="0" rtlCol="0" anchor="ctr"/>
          <a:lstStyle/>
          <a:p>
            <a:pPr marL="0" indent="0" algn="ctr">
              <a:buNone/>
            </a:pPr>
            <a:r>
              <a:rPr lang="en-US" sz="700" b="1" kern="0" spc="200" dirty="0">
                <a:solidFill>
                  <a:srgbClr val="00B4FF"/>
                </a:solidFill>
              </a:rPr>
              <a:t>IMPACT</a:t>
            </a:r>
            <a:endParaRPr lang="en-US" sz="700" dirty="0"/>
          </a:p>
        </p:txBody>
      </p:sp>
      <p:sp>
        <p:nvSpPr>
          <p:cNvPr id="27" name="Text 25"/>
          <p:cNvSpPr/>
          <p:nvPr/>
        </p:nvSpPr>
        <p:spPr>
          <a:xfrm>
            <a:off x="320040" y="521208"/>
            <a:ext cx="8503920" cy="512064"/>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Real-World Impact</a:t>
            </a:r>
            <a:endParaRPr lang="en-US" sz="2800" dirty="0"/>
          </a:p>
        </p:txBody>
      </p:sp>
      <p:sp>
        <p:nvSpPr>
          <p:cNvPr id="28" name="Shape 26"/>
          <p:cNvSpPr/>
          <p:nvPr/>
        </p:nvSpPr>
        <p:spPr>
          <a:xfrm>
            <a:off x="320040" y="1078992"/>
            <a:ext cx="1097280" cy="36576"/>
          </a:xfrm>
          <a:prstGeom prst="rect">
            <a:avLst/>
          </a:prstGeom>
          <a:solidFill>
            <a:srgbClr val="F5C518"/>
          </a:solidFill>
          <a:ln w="12700">
            <a:solidFill>
              <a:srgbClr val="F5C518"/>
            </a:solidFill>
            <a:prstDash val="solid"/>
          </a:ln>
        </p:spPr>
      </p:sp>
      <p:sp>
        <p:nvSpPr>
          <p:cNvPr id="29" name="Shape 27"/>
          <p:cNvSpPr/>
          <p:nvPr/>
        </p:nvSpPr>
        <p:spPr>
          <a:xfrm>
            <a:off x="1463040" y="1078992"/>
            <a:ext cx="7360920" cy="36576"/>
          </a:xfrm>
          <a:prstGeom prst="rect">
            <a:avLst/>
          </a:prstGeom>
          <a:solidFill>
            <a:srgbClr val="1A2E45"/>
          </a:solidFill>
          <a:ln w="12700">
            <a:solidFill>
              <a:srgbClr val="1A2E45"/>
            </a:solidFill>
            <a:prstDash val="solid"/>
          </a:ln>
        </p:spPr>
      </p:sp>
      <p:sp>
        <p:nvSpPr>
          <p:cNvPr id="30" name="Shape 28"/>
          <p:cNvSpPr/>
          <p:nvPr/>
        </p:nvSpPr>
        <p:spPr>
          <a:xfrm>
            <a:off x="356616" y="1243584"/>
            <a:ext cx="4069080" cy="3547872"/>
          </a:xfrm>
          <a:prstGeom prst="rect">
            <a:avLst/>
          </a:prstGeom>
          <a:solidFill>
            <a:srgbClr val="000000">
              <a:alpha val="28000"/>
            </a:srgbClr>
          </a:solidFill>
          <a:ln w="12700">
            <a:solidFill>
              <a:srgbClr val="000000">
                <a:alpha val="0"/>
              </a:srgbClr>
            </a:solidFill>
            <a:prstDash val="solid"/>
          </a:ln>
        </p:spPr>
      </p:sp>
      <p:sp>
        <p:nvSpPr>
          <p:cNvPr id="31" name="Shape 29"/>
          <p:cNvSpPr/>
          <p:nvPr/>
        </p:nvSpPr>
        <p:spPr>
          <a:xfrm>
            <a:off x="320040" y="1207008"/>
            <a:ext cx="4069080" cy="3547872"/>
          </a:xfrm>
          <a:prstGeom prst="rect">
            <a:avLst/>
          </a:prstGeom>
          <a:solidFill>
            <a:srgbClr val="0A1628">
              <a:alpha val="82000"/>
            </a:srgbClr>
          </a:solidFill>
          <a:ln w="12700">
            <a:solidFill>
              <a:srgbClr val="1E3A5F"/>
            </a:solidFill>
            <a:prstDash val="solid"/>
          </a:ln>
        </p:spPr>
      </p:sp>
      <p:sp>
        <p:nvSpPr>
          <p:cNvPr id="32" name="Shape 30"/>
          <p:cNvSpPr/>
          <p:nvPr/>
        </p:nvSpPr>
        <p:spPr>
          <a:xfrm>
            <a:off x="320040" y="1207008"/>
            <a:ext cx="4069080" cy="27432"/>
          </a:xfrm>
          <a:prstGeom prst="rect">
            <a:avLst/>
          </a:prstGeom>
          <a:solidFill>
            <a:srgbClr val="FFFFFF">
              <a:alpha val="26000"/>
            </a:srgbClr>
          </a:solidFill>
          <a:ln w="12700">
            <a:solidFill>
              <a:srgbClr val="FFFFFF">
                <a:alpha val="0"/>
              </a:srgbClr>
            </a:solidFill>
            <a:prstDash val="solid"/>
          </a:ln>
        </p:spPr>
      </p:sp>
      <p:sp>
        <p:nvSpPr>
          <p:cNvPr id="33" name="Shape 31"/>
          <p:cNvSpPr/>
          <p:nvPr/>
        </p:nvSpPr>
        <p:spPr>
          <a:xfrm>
            <a:off x="320040" y="1207008"/>
            <a:ext cx="27432" cy="3547872"/>
          </a:xfrm>
          <a:prstGeom prst="rect">
            <a:avLst/>
          </a:prstGeom>
          <a:solidFill>
            <a:srgbClr val="FFFFFF">
              <a:alpha val="18000"/>
            </a:srgbClr>
          </a:solidFill>
          <a:ln w="12700">
            <a:solidFill>
              <a:srgbClr val="FFFFFF">
                <a:alpha val="0"/>
              </a:srgbClr>
            </a:solidFill>
            <a:prstDash val="solid"/>
          </a:ln>
        </p:spPr>
      </p:sp>
      <p:sp>
        <p:nvSpPr>
          <p:cNvPr id="34" name="Shape 32"/>
          <p:cNvSpPr/>
          <p:nvPr/>
        </p:nvSpPr>
        <p:spPr>
          <a:xfrm>
            <a:off x="320040" y="1207008"/>
            <a:ext cx="50292" cy="3547872"/>
          </a:xfrm>
          <a:prstGeom prst="rect">
            <a:avLst/>
          </a:prstGeom>
          <a:solidFill>
            <a:srgbClr val="00B4FF"/>
          </a:solidFill>
          <a:ln w="12700">
            <a:solidFill>
              <a:srgbClr val="00B4FF"/>
            </a:solidFill>
            <a:prstDash val="solid"/>
          </a:ln>
        </p:spPr>
      </p:sp>
      <p:sp>
        <p:nvSpPr>
          <p:cNvPr id="35" name="Text 33"/>
          <p:cNvSpPr/>
          <p:nvPr/>
        </p:nvSpPr>
        <p:spPr>
          <a:xfrm>
            <a:off x="320040" y="1261872"/>
            <a:ext cx="4069080" cy="274320"/>
          </a:xfrm>
          <a:prstGeom prst="rect">
            <a:avLst/>
          </a:prstGeom>
          <a:noFill/>
          <a:ln/>
        </p:spPr>
        <p:txBody>
          <a:bodyPr wrap="square" lIns="0" tIns="0" rIns="0" bIns="0" rtlCol="0" anchor="ctr"/>
          <a:lstStyle/>
          <a:p>
            <a:pPr marL="0" indent="0" algn="ctr">
              <a:buNone/>
            </a:pPr>
            <a:r>
              <a:rPr lang="en-US" sz="1100" b="1" dirty="0">
                <a:solidFill>
                  <a:srgbClr val="00B4FF"/>
                </a:solidFill>
              </a:rPr>
              <a:t>BEFORE  vs  AFTER</a:t>
            </a:r>
            <a:endParaRPr lang="en-US" sz="1100" dirty="0"/>
          </a:p>
        </p:txBody>
      </p:sp>
      <p:sp>
        <p:nvSpPr>
          <p:cNvPr id="36" name="Shape 34"/>
          <p:cNvSpPr/>
          <p:nvPr/>
        </p:nvSpPr>
        <p:spPr>
          <a:xfrm>
            <a:off x="411480" y="1645920"/>
            <a:ext cx="1664208" cy="402336"/>
          </a:xfrm>
          <a:prstGeom prst="rect">
            <a:avLst/>
          </a:prstGeom>
          <a:solidFill>
            <a:srgbClr val="1A0505"/>
          </a:solidFill>
          <a:ln w="12700">
            <a:solidFill>
              <a:srgbClr val="4A1515"/>
            </a:solidFill>
            <a:prstDash val="solid"/>
          </a:ln>
        </p:spPr>
      </p:sp>
      <p:sp>
        <p:nvSpPr>
          <p:cNvPr id="37" name="Text 35"/>
          <p:cNvSpPr/>
          <p:nvPr/>
        </p:nvSpPr>
        <p:spPr>
          <a:xfrm>
            <a:off x="411480" y="1645920"/>
            <a:ext cx="1664208" cy="402336"/>
          </a:xfrm>
          <a:prstGeom prst="rect">
            <a:avLst/>
          </a:prstGeom>
          <a:noFill/>
          <a:ln/>
        </p:spPr>
        <p:txBody>
          <a:bodyPr wrap="square" lIns="63500" tIns="63500" rIns="63500" bIns="63500" rtlCol="0" anchor="ctr"/>
          <a:lstStyle/>
          <a:p>
            <a:pPr marL="0" indent="0">
              <a:buNone/>
            </a:pPr>
            <a:r>
              <a:rPr lang="en-US" sz="800" dirty="0">
                <a:solidFill>
                  <a:srgbClr val="FF6B6B"/>
                </a:solidFill>
              </a:rPr>
              <a:t>✗  Static Excel Reports</a:t>
            </a:r>
            <a:endParaRPr lang="en-US" sz="800" dirty="0"/>
          </a:p>
        </p:txBody>
      </p:sp>
      <p:sp>
        <p:nvSpPr>
          <p:cNvPr id="38" name="Shape 36"/>
          <p:cNvSpPr/>
          <p:nvPr/>
        </p:nvSpPr>
        <p:spPr>
          <a:xfrm>
            <a:off x="2194560" y="1645920"/>
            <a:ext cx="2057400" cy="402336"/>
          </a:xfrm>
          <a:prstGeom prst="rect">
            <a:avLst/>
          </a:prstGeom>
          <a:solidFill>
            <a:srgbClr val="051A0F"/>
          </a:solidFill>
          <a:ln w="12700">
            <a:solidFill>
              <a:srgbClr val="155A30"/>
            </a:solidFill>
            <a:prstDash val="solid"/>
          </a:ln>
        </p:spPr>
      </p:sp>
      <p:sp>
        <p:nvSpPr>
          <p:cNvPr id="39" name="Text 37"/>
          <p:cNvSpPr/>
          <p:nvPr/>
        </p:nvSpPr>
        <p:spPr>
          <a:xfrm>
            <a:off x="2194560" y="1645920"/>
            <a:ext cx="2057400" cy="402336"/>
          </a:xfrm>
          <a:prstGeom prst="rect">
            <a:avLst/>
          </a:prstGeom>
          <a:noFill/>
          <a:ln/>
        </p:spPr>
        <p:txBody>
          <a:bodyPr wrap="square" lIns="63500" tIns="63500" rIns="63500" bIns="63500" rtlCol="0" anchor="ctr"/>
          <a:lstStyle/>
          <a:p>
            <a:pPr marL="0" indent="0">
              <a:buNone/>
            </a:pPr>
            <a:r>
              <a:rPr lang="en-US" sz="800" dirty="0">
                <a:solidFill>
                  <a:srgbClr val="00D4AA"/>
                </a:solidFill>
              </a:rPr>
              <a:t>✓  5 Interactive Dashboards</a:t>
            </a:r>
            <a:endParaRPr lang="en-US" sz="800" dirty="0"/>
          </a:p>
        </p:txBody>
      </p:sp>
      <p:sp>
        <p:nvSpPr>
          <p:cNvPr id="40" name="Shape 38"/>
          <p:cNvSpPr/>
          <p:nvPr/>
        </p:nvSpPr>
        <p:spPr>
          <a:xfrm>
            <a:off x="411480" y="2157984"/>
            <a:ext cx="1664208" cy="402336"/>
          </a:xfrm>
          <a:prstGeom prst="rect">
            <a:avLst/>
          </a:prstGeom>
          <a:solidFill>
            <a:srgbClr val="1A0505"/>
          </a:solidFill>
          <a:ln w="12700">
            <a:solidFill>
              <a:srgbClr val="4A1515"/>
            </a:solidFill>
            <a:prstDash val="solid"/>
          </a:ln>
        </p:spPr>
      </p:sp>
      <p:sp>
        <p:nvSpPr>
          <p:cNvPr id="41" name="Text 39"/>
          <p:cNvSpPr/>
          <p:nvPr/>
        </p:nvSpPr>
        <p:spPr>
          <a:xfrm>
            <a:off x="411480" y="2157984"/>
            <a:ext cx="1664208" cy="402336"/>
          </a:xfrm>
          <a:prstGeom prst="rect">
            <a:avLst/>
          </a:prstGeom>
          <a:noFill/>
          <a:ln/>
        </p:spPr>
        <p:txBody>
          <a:bodyPr wrap="square" lIns="63500" tIns="63500" rIns="63500" bIns="63500" rtlCol="0" anchor="ctr"/>
          <a:lstStyle/>
          <a:p>
            <a:pPr marL="0" indent="0">
              <a:buNone/>
            </a:pPr>
            <a:r>
              <a:rPr lang="en-US" sz="800" dirty="0">
                <a:solidFill>
                  <a:srgbClr val="FF6B6B"/>
                </a:solidFill>
              </a:rPr>
              <a:t>✗  Hours of manual prep</a:t>
            </a:r>
            <a:endParaRPr lang="en-US" sz="800" dirty="0"/>
          </a:p>
        </p:txBody>
      </p:sp>
      <p:sp>
        <p:nvSpPr>
          <p:cNvPr id="42" name="Shape 40"/>
          <p:cNvSpPr/>
          <p:nvPr/>
        </p:nvSpPr>
        <p:spPr>
          <a:xfrm>
            <a:off x="2194560" y="2157984"/>
            <a:ext cx="2057400" cy="402336"/>
          </a:xfrm>
          <a:prstGeom prst="rect">
            <a:avLst/>
          </a:prstGeom>
          <a:solidFill>
            <a:srgbClr val="051A0F"/>
          </a:solidFill>
          <a:ln w="12700">
            <a:solidFill>
              <a:srgbClr val="155A30"/>
            </a:solidFill>
            <a:prstDash val="solid"/>
          </a:ln>
        </p:spPr>
      </p:sp>
      <p:sp>
        <p:nvSpPr>
          <p:cNvPr id="43" name="Text 41"/>
          <p:cNvSpPr/>
          <p:nvPr/>
        </p:nvSpPr>
        <p:spPr>
          <a:xfrm>
            <a:off x="2194560" y="2157984"/>
            <a:ext cx="2057400" cy="402336"/>
          </a:xfrm>
          <a:prstGeom prst="rect">
            <a:avLst/>
          </a:prstGeom>
          <a:noFill/>
          <a:ln/>
        </p:spPr>
        <p:txBody>
          <a:bodyPr wrap="square" lIns="63500" tIns="63500" rIns="63500" bIns="63500" rtlCol="0" anchor="ctr"/>
          <a:lstStyle/>
          <a:p>
            <a:pPr marL="0" indent="0">
              <a:buNone/>
            </a:pPr>
            <a:r>
              <a:rPr lang="en-US" sz="800" dirty="0">
                <a:solidFill>
                  <a:srgbClr val="00D4AA"/>
                </a:solidFill>
              </a:rPr>
              <a:t>✓  Instant cross-filtered views</a:t>
            </a:r>
            <a:endParaRPr lang="en-US" sz="800" dirty="0"/>
          </a:p>
        </p:txBody>
      </p:sp>
      <p:sp>
        <p:nvSpPr>
          <p:cNvPr id="44" name="Shape 42"/>
          <p:cNvSpPr/>
          <p:nvPr/>
        </p:nvSpPr>
        <p:spPr>
          <a:xfrm>
            <a:off x="411480" y="2670048"/>
            <a:ext cx="1664208" cy="402336"/>
          </a:xfrm>
          <a:prstGeom prst="rect">
            <a:avLst/>
          </a:prstGeom>
          <a:solidFill>
            <a:srgbClr val="1A0505"/>
          </a:solidFill>
          <a:ln w="12700">
            <a:solidFill>
              <a:srgbClr val="4A1515"/>
            </a:solidFill>
            <a:prstDash val="solid"/>
          </a:ln>
        </p:spPr>
      </p:sp>
      <p:sp>
        <p:nvSpPr>
          <p:cNvPr id="45" name="Text 43"/>
          <p:cNvSpPr/>
          <p:nvPr/>
        </p:nvSpPr>
        <p:spPr>
          <a:xfrm>
            <a:off x="411480" y="2670048"/>
            <a:ext cx="1664208" cy="402336"/>
          </a:xfrm>
          <a:prstGeom prst="rect">
            <a:avLst/>
          </a:prstGeom>
          <a:noFill/>
          <a:ln/>
        </p:spPr>
        <p:txBody>
          <a:bodyPr wrap="square" lIns="63500" tIns="63500" rIns="63500" bIns="63500" rtlCol="0" anchor="ctr"/>
          <a:lstStyle/>
          <a:p>
            <a:pPr marL="0" indent="0">
              <a:buNone/>
            </a:pPr>
            <a:r>
              <a:rPr lang="en-US" sz="800" dirty="0">
                <a:solidFill>
                  <a:srgbClr val="FF6B6B"/>
                </a:solidFill>
              </a:rPr>
              <a:t>✗  Siloed KPI tracking</a:t>
            </a:r>
            <a:endParaRPr lang="en-US" sz="800" dirty="0"/>
          </a:p>
        </p:txBody>
      </p:sp>
      <p:sp>
        <p:nvSpPr>
          <p:cNvPr id="46" name="Shape 44"/>
          <p:cNvSpPr/>
          <p:nvPr/>
        </p:nvSpPr>
        <p:spPr>
          <a:xfrm>
            <a:off x="2194560" y="2670048"/>
            <a:ext cx="2057400" cy="402336"/>
          </a:xfrm>
          <a:prstGeom prst="rect">
            <a:avLst/>
          </a:prstGeom>
          <a:solidFill>
            <a:srgbClr val="051A0F"/>
          </a:solidFill>
          <a:ln w="12700">
            <a:solidFill>
              <a:srgbClr val="155A30"/>
            </a:solidFill>
            <a:prstDash val="solid"/>
          </a:ln>
        </p:spPr>
      </p:sp>
      <p:sp>
        <p:nvSpPr>
          <p:cNvPr id="47" name="Text 45"/>
          <p:cNvSpPr/>
          <p:nvPr/>
        </p:nvSpPr>
        <p:spPr>
          <a:xfrm>
            <a:off x="2194560" y="2670048"/>
            <a:ext cx="2057400" cy="402336"/>
          </a:xfrm>
          <a:prstGeom prst="rect">
            <a:avLst/>
          </a:prstGeom>
          <a:noFill/>
          <a:ln/>
        </p:spPr>
        <p:txBody>
          <a:bodyPr wrap="square" lIns="63500" tIns="63500" rIns="63500" bIns="63500" rtlCol="0" anchor="ctr"/>
          <a:lstStyle/>
          <a:p>
            <a:pPr marL="0" indent="0">
              <a:buNone/>
            </a:pPr>
            <a:r>
              <a:rPr lang="en-US" sz="800" dirty="0">
                <a:solidFill>
                  <a:srgbClr val="00D4AA"/>
                </a:solidFill>
              </a:rPr>
              <a:t>✓  All metrics in one system</a:t>
            </a:r>
            <a:endParaRPr lang="en-US" sz="800" dirty="0"/>
          </a:p>
        </p:txBody>
      </p:sp>
      <p:sp>
        <p:nvSpPr>
          <p:cNvPr id="48" name="Shape 46"/>
          <p:cNvSpPr/>
          <p:nvPr/>
        </p:nvSpPr>
        <p:spPr>
          <a:xfrm>
            <a:off x="411480" y="3182112"/>
            <a:ext cx="1664208" cy="402336"/>
          </a:xfrm>
          <a:prstGeom prst="rect">
            <a:avLst/>
          </a:prstGeom>
          <a:solidFill>
            <a:srgbClr val="1A0505"/>
          </a:solidFill>
          <a:ln w="12700">
            <a:solidFill>
              <a:srgbClr val="4A1515"/>
            </a:solidFill>
            <a:prstDash val="solid"/>
          </a:ln>
        </p:spPr>
      </p:sp>
      <p:sp>
        <p:nvSpPr>
          <p:cNvPr id="49" name="Text 47"/>
          <p:cNvSpPr/>
          <p:nvPr/>
        </p:nvSpPr>
        <p:spPr>
          <a:xfrm>
            <a:off x="411480" y="3182112"/>
            <a:ext cx="1664208" cy="402336"/>
          </a:xfrm>
          <a:prstGeom prst="rect">
            <a:avLst/>
          </a:prstGeom>
          <a:noFill/>
          <a:ln/>
        </p:spPr>
        <p:txBody>
          <a:bodyPr wrap="square" lIns="63500" tIns="63500" rIns="63500" bIns="63500" rtlCol="0" anchor="ctr"/>
          <a:lstStyle/>
          <a:p>
            <a:pPr marL="0" indent="0">
              <a:buNone/>
            </a:pPr>
            <a:r>
              <a:rPr lang="en-US" sz="800" dirty="0">
                <a:solidFill>
                  <a:srgbClr val="FF6B6B"/>
                </a:solidFill>
              </a:rPr>
              <a:t>✗  Delayed decisions</a:t>
            </a:r>
            <a:endParaRPr lang="en-US" sz="800" dirty="0"/>
          </a:p>
        </p:txBody>
      </p:sp>
      <p:sp>
        <p:nvSpPr>
          <p:cNvPr id="50" name="Shape 48"/>
          <p:cNvSpPr/>
          <p:nvPr/>
        </p:nvSpPr>
        <p:spPr>
          <a:xfrm>
            <a:off x="2194560" y="3182112"/>
            <a:ext cx="2057400" cy="402336"/>
          </a:xfrm>
          <a:prstGeom prst="rect">
            <a:avLst/>
          </a:prstGeom>
          <a:solidFill>
            <a:srgbClr val="051A0F"/>
          </a:solidFill>
          <a:ln w="12700">
            <a:solidFill>
              <a:srgbClr val="155A30"/>
            </a:solidFill>
            <a:prstDash val="solid"/>
          </a:ln>
        </p:spPr>
      </p:sp>
      <p:sp>
        <p:nvSpPr>
          <p:cNvPr id="51" name="Text 49"/>
          <p:cNvSpPr/>
          <p:nvPr/>
        </p:nvSpPr>
        <p:spPr>
          <a:xfrm>
            <a:off x="2194560" y="3182112"/>
            <a:ext cx="2057400" cy="402336"/>
          </a:xfrm>
          <a:prstGeom prst="rect">
            <a:avLst/>
          </a:prstGeom>
          <a:noFill/>
          <a:ln/>
        </p:spPr>
        <p:txBody>
          <a:bodyPr wrap="square" lIns="63500" tIns="63500" rIns="63500" bIns="63500" rtlCol="0" anchor="ctr"/>
          <a:lstStyle/>
          <a:p>
            <a:pPr marL="0" indent="0">
              <a:buNone/>
            </a:pPr>
            <a:r>
              <a:rPr lang="en-US" sz="800" dirty="0">
                <a:solidFill>
                  <a:srgbClr val="00D4AA"/>
                </a:solidFill>
              </a:rPr>
              <a:t>✓  Real-time business answers</a:t>
            </a:r>
            <a:endParaRPr lang="en-US" sz="800" dirty="0"/>
          </a:p>
        </p:txBody>
      </p:sp>
      <p:sp>
        <p:nvSpPr>
          <p:cNvPr id="52" name="Shape 50"/>
          <p:cNvSpPr/>
          <p:nvPr/>
        </p:nvSpPr>
        <p:spPr>
          <a:xfrm>
            <a:off x="411480" y="3694176"/>
            <a:ext cx="1664208" cy="402336"/>
          </a:xfrm>
          <a:prstGeom prst="rect">
            <a:avLst/>
          </a:prstGeom>
          <a:solidFill>
            <a:srgbClr val="1A0505"/>
          </a:solidFill>
          <a:ln w="12700">
            <a:solidFill>
              <a:srgbClr val="4A1515"/>
            </a:solidFill>
            <a:prstDash val="solid"/>
          </a:ln>
        </p:spPr>
      </p:sp>
      <p:sp>
        <p:nvSpPr>
          <p:cNvPr id="53" name="Text 51"/>
          <p:cNvSpPr/>
          <p:nvPr/>
        </p:nvSpPr>
        <p:spPr>
          <a:xfrm>
            <a:off x="411480" y="3694176"/>
            <a:ext cx="1664208" cy="402336"/>
          </a:xfrm>
          <a:prstGeom prst="rect">
            <a:avLst/>
          </a:prstGeom>
          <a:noFill/>
          <a:ln/>
        </p:spPr>
        <p:txBody>
          <a:bodyPr wrap="square" lIns="63500" tIns="63500" rIns="63500" bIns="63500" rtlCol="0" anchor="ctr"/>
          <a:lstStyle/>
          <a:p>
            <a:pPr marL="0" indent="0">
              <a:buNone/>
            </a:pPr>
            <a:r>
              <a:rPr lang="en-US" sz="800" dirty="0">
                <a:solidFill>
                  <a:srgbClr val="FF6B6B"/>
                </a:solidFill>
              </a:rPr>
              <a:t>✗  No forecasting</a:t>
            </a:r>
            <a:endParaRPr lang="en-US" sz="800" dirty="0"/>
          </a:p>
        </p:txBody>
      </p:sp>
      <p:sp>
        <p:nvSpPr>
          <p:cNvPr id="54" name="Shape 52"/>
          <p:cNvSpPr/>
          <p:nvPr/>
        </p:nvSpPr>
        <p:spPr>
          <a:xfrm>
            <a:off x="2194560" y="3694176"/>
            <a:ext cx="2057400" cy="402336"/>
          </a:xfrm>
          <a:prstGeom prst="rect">
            <a:avLst/>
          </a:prstGeom>
          <a:solidFill>
            <a:srgbClr val="051A0F"/>
          </a:solidFill>
          <a:ln w="12700">
            <a:solidFill>
              <a:srgbClr val="155A30"/>
            </a:solidFill>
            <a:prstDash val="solid"/>
          </a:ln>
        </p:spPr>
      </p:sp>
      <p:sp>
        <p:nvSpPr>
          <p:cNvPr id="55" name="Text 53"/>
          <p:cNvSpPr/>
          <p:nvPr/>
        </p:nvSpPr>
        <p:spPr>
          <a:xfrm>
            <a:off x="2194560" y="3694176"/>
            <a:ext cx="2057400" cy="402336"/>
          </a:xfrm>
          <a:prstGeom prst="rect">
            <a:avLst/>
          </a:prstGeom>
          <a:noFill/>
          <a:ln/>
        </p:spPr>
        <p:txBody>
          <a:bodyPr wrap="square" lIns="63500" tIns="63500" rIns="63500" bIns="63500" rtlCol="0" anchor="ctr"/>
          <a:lstStyle/>
          <a:p>
            <a:pPr marL="0" indent="0">
              <a:buNone/>
            </a:pPr>
            <a:r>
              <a:rPr lang="en-US" sz="800" dirty="0">
                <a:solidFill>
                  <a:srgbClr val="00D4AA"/>
                </a:solidFill>
              </a:rPr>
              <a:t>✓  Booking trend forecast line</a:t>
            </a:r>
            <a:endParaRPr lang="en-US" sz="800" dirty="0"/>
          </a:p>
        </p:txBody>
      </p:sp>
      <p:sp>
        <p:nvSpPr>
          <p:cNvPr id="56" name="Shape 54"/>
          <p:cNvSpPr/>
          <p:nvPr/>
        </p:nvSpPr>
        <p:spPr>
          <a:xfrm>
            <a:off x="4608576" y="1243584"/>
            <a:ext cx="4251960" cy="3547872"/>
          </a:xfrm>
          <a:prstGeom prst="rect">
            <a:avLst/>
          </a:prstGeom>
          <a:solidFill>
            <a:srgbClr val="000000">
              <a:alpha val="28000"/>
            </a:srgbClr>
          </a:solidFill>
          <a:ln w="12700">
            <a:solidFill>
              <a:srgbClr val="000000">
                <a:alpha val="0"/>
              </a:srgbClr>
            </a:solidFill>
            <a:prstDash val="solid"/>
          </a:ln>
        </p:spPr>
      </p:sp>
      <p:sp>
        <p:nvSpPr>
          <p:cNvPr id="57" name="Shape 55"/>
          <p:cNvSpPr/>
          <p:nvPr/>
        </p:nvSpPr>
        <p:spPr>
          <a:xfrm>
            <a:off x="4572000" y="1207008"/>
            <a:ext cx="4251960" cy="3547872"/>
          </a:xfrm>
          <a:prstGeom prst="rect">
            <a:avLst/>
          </a:prstGeom>
          <a:solidFill>
            <a:srgbClr val="0A1628">
              <a:alpha val="82000"/>
            </a:srgbClr>
          </a:solidFill>
          <a:ln w="12700">
            <a:solidFill>
              <a:srgbClr val="1E3A5F"/>
            </a:solidFill>
            <a:prstDash val="solid"/>
          </a:ln>
        </p:spPr>
      </p:sp>
      <p:sp>
        <p:nvSpPr>
          <p:cNvPr id="58" name="Shape 56"/>
          <p:cNvSpPr/>
          <p:nvPr/>
        </p:nvSpPr>
        <p:spPr>
          <a:xfrm>
            <a:off x="4572000" y="1207008"/>
            <a:ext cx="4251960" cy="27432"/>
          </a:xfrm>
          <a:prstGeom prst="rect">
            <a:avLst/>
          </a:prstGeom>
          <a:solidFill>
            <a:srgbClr val="FFFFFF">
              <a:alpha val="26000"/>
            </a:srgbClr>
          </a:solidFill>
          <a:ln w="12700">
            <a:solidFill>
              <a:srgbClr val="FFFFFF">
                <a:alpha val="0"/>
              </a:srgbClr>
            </a:solidFill>
            <a:prstDash val="solid"/>
          </a:ln>
        </p:spPr>
      </p:sp>
      <p:sp>
        <p:nvSpPr>
          <p:cNvPr id="59" name="Shape 57"/>
          <p:cNvSpPr/>
          <p:nvPr/>
        </p:nvSpPr>
        <p:spPr>
          <a:xfrm>
            <a:off x="4572000" y="1207008"/>
            <a:ext cx="27432" cy="3547872"/>
          </a:xfrm>
          <a:prstGeom prst="rect">
            <a:avLst/>
          </a:prstGeom>
          <a:solidFill>
            <a:srgbClr val="FFFFFF">
              <a:alpha val="18000"/>
            </a:srgbClr>
          </a:solidFill>
          <a:ln w="12700">
            <a:solidFill>
              <a:srgbClr val="FFFFFF">
                <a:alpha val="0"/>
              </a:srgbClr>
            </a:solidFill>
            <a:prstDash val="solid"/>
          </a:ln>
        </p:spPr>
      </p:sp>
      <p:sp>
        <p:nvSpPr>
          <p:cNvPr id="60" name="Shape 58"/>
          <p:cNvSpPr/>
          <p:nvPr/>
        </p:nvSpPr>
        <p:spPr>
          <a:xfrm>
            <a:off x="4572000" y="1207008"/>
            <a:ext cx="50292" cy="3547872"/>
          </a:xfrm>
          <a:prstGeom prst="rect">
            <a:avLst/>
          </a:prstGeom>
          <a:solidFill>
            <a:srgbClr val="F5C518"/>
          </a:solidFill>
          <a:ln w="12700">
            <a:solidFill>
              <a:srgbClr val="F5C518"/>
            </a:solidFill>
            <a:prstDash val="solid"/>
          </a:ln>
        </p:spPr>
      </p:sp>
      <p:sp>
        <p:nvSpPr>
          <p:cNvPr id="61" name="Text 59"/>
          <p:cNvSpPr/>
          <p:nvPr/>
        </p:nvSpPr>
        <p:spPr>
          <a:xfrm>
            <a:off x="4709160" y="1261872"/>
            <a:ext cx="3977640" cy="292608"/>
          </a:xfrm>
          <a:prstGeom prst="rect">
            <a:avLst/>
          </a:prstGeom>
          <a:noFill/>
          <a:ln/>
        </p:spPr>
        <p:txBody>
          <a:bodyPr wrap="square" lIns="0" tIns="0" rIns="0" bIns="0" rtlCol="0" anchor="ctr"/>
          <a:lstStyle/>
          <a:p>
            <a:pPr marL="0" indent="0">
              <a:buNone/>
            </a:pPr>
            <a:r>
              <a:rPr lang="en-US" sz="1050" b="1" dirty="0">
                <a:solidFill>
                  <a:srgbClr val="F5C518"/>
                </a:solidFill>
              </a:rPr>
              <a:t>Business Questions Answered Instantly</a:t>
            </a:r>
            <a:endParaRPr lang="en-US" sz="1050" dirty="0"/>
          </a:p>
        </p:txBody>
      </p:sp>
      <p:sp>
        <p:nvSpPr>
          <p:cNvPr id="62" name="Shape 60"/>
          <p:cNvSpPr/>
          <p:nvPr/>
        </p:nvSpPr>
        <p:spPr>
          <a:xfrm>
            <a:off x="4736592" y="1719072"/>
            <a:ext cx="182880" cy="182880"/>
          </a:xfrm>
          <a:prstGeom prst="ellipse">
            <a:avLst/>
          </a:prstGeom>
          <a:solidFill>
            <a:srgbClr val="003E7A"/>
          </a:solidFill>
          <a:ln w="12700">
            <a:solidFill>
              <a:srgbClr val="F5C518"/>
            </a:solidFill>
            <a:prstDash val="solid"/>
          </a:ln>
        </p:spPr>
      </p:sp>
      <p:sp>
        <p:nvSpPr>
          <p:cNvPr id="63" name="Text 61"/>
          <p:cNvSpPr/>
          <p:nvPr/>
        </p:nvSpPr>
        <p:spPr>
          <a:xfrm>
            <a:off x="4736592" y="1719072"/>
            <a:ext cx="182880" cy="182880"/>
          </a:xfrm>
          <a:prstGeom prst="rect">
            <a:avLst/>
          </a:prstGeom>
          <a:noFill/>
          <a:ln/>
        </p:spPr>
        <p:txBody>
          <a:bodyPr wrap="square" lIns="0" tIns="0" rIns="0" bIns="0" rtlCol="0" anchor="ctr"/>
          <a:lstStyle/>
          <a:p>
            <a:pPr marL="0" indent="0" algn="ctr">
              <a:buNone/>
            </a:pPr>
            <a:r>
              <a:rPr lang="en-US" sz="800" b="1" dirty="0">
                <a:solidFill>
                  <a:srgbClr val="F5C518"/>
                </a:solidFill>
              </a:rPr>
              <a:t>?</a:t>
            </a:r>
            <a:endParaRPr lang="en-US" sz="800" dirty="0"/>
          </a:p>
        </p:txBody>
      </p:sp>
      <p:sp>
        <p:nvSpPr>
          <p:cNvPr id="64" name="Text 62"/>
          <p:cNvSpPr/>
          <p:nvPr/>
        </p:nvSpPr>
        <p:spPr>
          <a:xfrm>
            <a:off x="5010912" y="1700784"/>
            <a:ext cx="3703320" cy="274320"/>
          </a:xfrm>
          <a:prstGeom prst="rect">
            <a:avLst/>
          </a:prstGeom>
          <a:noFill/>
          <a:ln/>
        </p:spPr>
        <p:txBody>
          <a:bodyPr wrap="square" lIns="0" tIns="0" rIns="0" bIns="0" rtlCol="0" anchor="ctr"/>
          <a:lstStyle/>
          <a:p>
            <a:pPr marL="0" indent="0">
              <a:buNone/>
            </a:pPr>
            <a:r>
              <a:rPr lang="en-US" sz="900" dirty="0">
                <a:solidFill>
                  <a:srgbClr val="D4E6F1"/>
                </a:solidFill>
              </a:rPr>
              <a:t>Which months have the highest cancellation rates?</a:t>
            </a:r>
            <a:endParaRPr lang="en-US" sz="900" dirty="0"/>
          </a:p>
        </p:txBody>
      </p:sp>
      <p:sp>
        <p:nvSpPr>
          <p:cNvPr id="65" name="Shape 63"/>
          <p:cNvSpPr/>
          <p:nvPr/>
        </p:nvSpPr>
        <p:spPr>
          <a:xfrm>
            <a:off x="4736592" y="2176272"/>
            <a:ext cx="182880" cy="182880"/>
          </a:xfrm>
          <a:prstGeom prst="ellipse">
            <a:avLst/>
          </a:prstGeom>
          <a:solidFill>
            <a:srgbClr val="003E7A"/>
          </a:solidFill>
          <a:ln w="12700">
            <a:solidFill>
              <a:srgbClr val="F5C518"/>
            </a:solidFill>
            <a:prstDash val="solid"/>
          </a:ln>
        </p:spPr>
      </p:sp>
      <p:sp>
        <p:nvSpPr>
          <p:cNvPr id="66" name="Text 64"/>
          <p:cNvSpPr/>
          <p:nvPr/>
        </p:nvSpPr>
        <p:spPr>
          <a:xfrm>
            <a:off x="4736592" y="2176272"/>
            <a:ext cx="182880" cy="182880"/>
          </a:xfrm>
          <a:prstGeom prst="rect">
            <a:avLst/>
          </a:prstGeom>
          <a:noFill/>
          <a:ln/>
        </p:spPr>
        <p:txBody>
          <a:bodyPr wrap="square" lIns="0" tIns="0" rIns="0" bIns="0" rtlCol="0" anchor="ctr"/>
          <a:lstStyle/>
          <a:p>
            <a:pPr marL="0" indent="0" algn="ctr">
              <a:buNone/>
            </a:pPr>
            <a:r>
              <a:rPr lang="en-US" sz="800" b="1" dirty="0">
                <a:solidFill>
                  <a:srgbClr val="F5C518"/>
                </a:solidFill>
              </a:rPr>
              <a:t>?</a:t>
            </a:r>
            <a:endParaRPr lang="en-US" sz="800" dirty="0"/>
          </a:p>
        </p:txBody>
      </p:sp>
      <p:sp>
        <p:nvSpPr>
          <p:cNvPr id="67" name="Text 65"/>
          <p:cNvSpPr/>
          <p:nvPr/>
        </p:nvSpPr>
        <p:spPr>
          <a:xfrm>
            <a:off x="5010912" y="2157984"/>
            <a:ext cx="3703320" cy="274320"/>
          </a:xfrm>
          <a:prstGeom prst="rect">
            <a:avLst/>
          </a:prstGeom>
          <a:noFill/>
          <a:ln/>
        </p:spPr>
        <p:txBody>
          <a:bodyPr wrap="square" lIns="0" tIns="0" rIns="0" bIns="0" rtlCol="0" anchor="ctr"/>
          <a:lstStyle/>
          <a:p>
            <a:pPr marL="0" indent="0">
              <a:buNone/>
            </a:pPr>
            <a:r>
              <a:rPr lang="en-US" sz="900" dirty="0">
                <a:solidFill>
                  <a:srgbClr val="D4E6F1"/>
                </a:solidFill>
              </a:rPr>
              <a:t>Which room types &amp; seasons generate the highest ADR?</a:t>
            </a:r>
            <a:endParaRPr lang="en-US" sz="900" dirty="0"/>
          </a:p>
        </p:txBody>
      </p:sp>
      <p:sp>
        <p:nvSpPr>
          <p:cNvPr id="68" name="Shape 66"/>
          <p:cNvSpPr/>
          <p:nvPr/>
        </p:nvSpPr>
        <p:spPr>
          <a:xfrm>
            <a:off x="4736592" y="2633472"/>
            <a:ext cx="182880" cy="182880"/>
          </a:xfrm>
          <a:prstGeom prst="ellipse">
            <a:avLst/>
          </a:prstGeom>
          <a:solidFill>
            <a:srgbClr val="003E7A"/>
          </a:solidFill>
          <a:ln w="12700">
            <a:solidFill>
              <a:srgbClr val="F5C518"/>
            </a:solidFill>
            <a:prstDash val="solid"/>
          </a:ln>
        </p:spPr>
      </p:sp>
      <p:sp>
        <p:nvSpPr>
          <p:cNvPr id="69" name="Text 67"/>
          <p:cNvSpPr/>
          <p:nvPr/>
        </p:nvSpPr>
        <p:spPr>
          <a:xfrm>
            <a:off x="4736592" y="2633472"/>
            <a:ext cx="182880" cy="182880"/>
          </a:xfrm>
          <a:prstGeom prst="rect">
            <a:avLst/>
          </a:prstGeom>
          <a:noFill/>
          <a:ln/>
        </p:spPr>
        <p:txBody>
          <a:bodyPr wrap="square" lIns="0" tIns="0" rIns="0" bIns="0" rtlCol="0" anchor="ctr"/>
          <a:lstStyle/>
          <a:p>
            <a:pPr marL="0" indent="0" algn="ctr">
              <a:buNone/>
            </a:pPr>
            <a:r>
              <a:rPr lang="en-US" sz="800" b="1" dirty="0">
                <a:solidFill>
                  <a:srgbClr val="F5C518"/>
                </a:solidFill>
              </a:rPr>
              <a:t>?</a:t>
            </a:r>
            <a:endParaRPr lang="en-US" sz="800" dirty="0"/>
          </a:p>
        </p:txBody>
      </p:sp>
      <p:sp>
        <p:nvSpPr>
          <p:cNvPr id="70" name="Text 68"/>
          <p:cNvSpPr/>
          <p:nvPr/>
        </p:nvSpPr>
        <p:spPr>
          <a:xfrm>
            <a:off x="5010912" y="2615184"/>
            <a:ext cx="3703320" cy="274320"/>
          </a:xfrm>
          <a:prstGeom prst="rect">
            <a:avLst/>
          </a:prstGeom>
          <a:noFill/>
          <a:ln/>
        </p:spPr>
        <p:txBody>
          <a:bodyPr wrap="square" lIns="0" tIns="0" rIns="0" bIns="0" rtlCol="0" anchor="ctr"/>
          <a:lstStyle/>
          <a:p>
            <a:pPr marL="0" indent="0">
              <a:buNone/>
            </a:pPr>
            <a:r>
              <a:rPr lang="en-US" sz="900" dirty="0">
                <a:solidFill>
                  <a:srgbClr val="D4E6F1"/>
                </a:solidFill>
              </a:rPr>
              <a:t>Which countries send the most valuable guests?</a:t>
            </a:r>
            <a:endParaRPr lang="en-US" sz="900" dirty="0"/>
          </a:p>
        </p:txBody>
      </p:sp>
      <p:sp>
        <p:nvSpPr>
          <p:cNvPr id="71" name="Shape 69"/>
          <p:cNvSpPr/>
          <p:nvPr/>
        </p:nvSpPr>
        <p:spPr>
          <a:xfrm>
            <a:off x="4736592" y="3090672"/>
            <a:ext cx="182880" cy="182880"/>
          </a:xfrm>
          <a:prstGeom prst="ellipse">
            <a:avLst/>
          </a:prstGeom>
          <a:solidFill>
            <a:srgbClr val="003E7A"/>
          </a:solidFill>
          <a:ln w="12700">
            <a:solidFill>
              <a:srgbClr val="F5C518"/>
            </a:solidFill>
            <a:prstDash val="solid"/>
          </a:ln>
        </p:spPr>
      </p:sp>
      <p:sp>
        <p:nvSpPr>
          <p:cNvPr id="72" name="Text 70"/>
          <p:cNvSpPr/>
          <p:nvPr/>
        </p:nvSpPr>
        <p:spPr>
          <a:xfrm>
            <a:off x="4736592" y="3090672"/>
            <a:ext cx="182880" cy="182880"/>
          </a:xfrm>
          <a:prstGeom prst="rect">
            <a:avLst/>
          </a:prstGeom>
          <a:noFill/>
          <a:ln/>
        </p:spPr>
        <p:txBody>
          <a:bodyPr wrap="square" lIns="0" tIns="0" rIns="0" bIns="0" rtlCol="0" anchor="ctr"/>
          <a:lstStyle/>
          <a:p>
            <a:pPr marL="0" indent="0" algn="ctr">
              <a:buNone/>
            </a:pPr>
            <a:r>
              <a:rPr lang="en-US" sz="800" b="1" dirty="0">
                <a:solidFill>
                  <a:srgbClr val="F5C518"/>
                </a:solidFill>
              </a:rPr>
              <a:t>?</a:t>
            </a:r>
            <a:endParaRPr lang="en-US" sz="800" dirty="0"/>
          </a:p>
        </p:txBody>
      </p:sp>
      <p:sp>
        <p:nvSpPr>
          <p:cNvPr id="73" name="Text 71"/>
          <p:cNvSpPr/>
          <p:nvPr/>
        </p:nvSpPr>
        <p:spPr>
          <a:xfrm>
            <a:off x="5010912" y="3072384"/>
            <a:ext cx="3703320" cy="274320"/>
          </a:xfrm>
          <a:prstGeom prst="rect">
            <a:avLst/>
          </a:prstGeom>
          <a:noFill/>
          <a:ln/>
        </p:spPr>
        <p:txBody>
          <a:bodyPr wrap="square" lIns="0" tIns="0" rIns="0" bIns="0" rtlCol="0" anchor="ctr"/>
          <a:lstStyle/>
          <a:p>
            <a:pPr marL="0" indent="0">
              <a:buNone/>
            </a:pPr>
            <a:r>
              <a:rPr lang="en-US" sz="900" dirty="0">
                <a:solidFill>
                  <a:srgbClr val="D4E6F1"/>
                </a:solidFill>
              </a:rPr>
              <a:t>How does City Hotel compare to Resort Hotel?</a:t>
            </a:r>
            <a:endParaRPr lang="en-US" sz="900" dirty="0"/>
          </a:p>
        </p:txBody>
      </p:sp>
      <p:sp>
        <p:nvSpPr>
          <p:cNvPr id="74" name="Shape 72"/>
          <p:cNvSpPr/>
          <p:nvPr/>
        </p:nvSpPr>
        <p:spPr>
          <a:xfrm>
            <a:off x="4736592" y="3547872"/>
            <a:ext cx="182880" cy="182880"/>
          </a:xfrm>
          <a:prstGeom prst="ellipse">
            <a:avLst/>
          </a:prstGeom>
          <a:solidFill>
            <a:srgbClr val="003E7A"/>
          </a:solidFill>
          <a:ln w="12700">
            <a:solidFill>
              <a:srgbClr val="F5C518"/>
            </a:solidFill>
            <a:prstDash val="solid"/>
          </a:ln>
        </p:spPr>
      </p:sp>
      <p:sp>
        <p:nvSpPr>
          <p:cNvPr id="75" name="Text 73"/>
          <p:cNvSpPr/>
          <p:nvPr/>
        </p:nvSpPr>
        <p:spPr>
          <a:xfrm>
            <a:off x="4736592" y="3547872"/>
            <a:ext cx="182880" cy="182880"/>
          </a:xfrm>
          <a:prstGeom prst="rect">
            <a:avLst/>
          </a:prstGeom>
          <a:noFill/>
          <a:ln/>
        </p:spPr>
        <p:txBody>
          <a:bodyPr wrap="square" lIns="0" tIns="0" rIns="0" bIns="0" rtlCol="0" anchor="ctr"/>
          <a:lstStyle/>
          <a:p>
            <a:pPr marL="0" indent="0" algn="ctr">
              <a:buNone/>
            </a:pPr>
            <a:r>
              <a:rPr lang="en-US" sz="800" b="1" dirty="0">
                <a:solidFill>
                  <a:srgbClr val="F5C518"/>
                </a:solidFill>
              </a:rPr>
              <a:t>?</a:t>
            </a:r>
            <a:endParaRPr lang="en-US" sz="800" dirty="0"/>
          </a:p>
        </p:txBody>
      </p:sp>
      <p:sp>
        <p:nvSpPr>
          <p:cNvPr id="76" name="Text 74"/>
          <p:cNvSpPr/>
          <p:nvPr/>
        </p:nvSpPr>
        <p:spPr>
          <a:xfrm>
            <a:off x="5010912" y="3529584"/>
            <a:ext cx="3703320" cy="274320"/>
          </a:xfrm>
          <a:prstGeom prst="rect">
            <a:avLst/>
          </a:prstGeom>
          <a:noFill/>
          <a:ln/>
        </p:spPr>
        <p:txBody>
          <a:bodyPr wrap="square" lIns="0" tIns="0" rIns="0" bIns="0" rtlCol="0" anchor="ctr"/>
          <a:lstStyle/>
          <a:p>
            <a:pPr marL="0" indent="0">
              <a:buNone/>
            </a:pPr>
            <a:r>
              <a:rPr lang="en-US" sz="900" dirty="0">
                <a:solidFill>
                  <a:srgbClr val="D4E6F1"/>
                </a:solidFill>
              </a:rPr>
              <a:t>What is the forecasted booking trend for next 30 days?</a:t>
            </a:r>
            <a:endParaRPr lang="en-US" sz="900" dirty="0"/>
          </a:p>
        </p:txBody>
      </p:sp>
      <p:sp>
        <p:nvSpPr>
          <p:cNvPr id="77" name="Shape 75"/>
          <p:cNvSpPr/>
          <p:nvPr/>
        </p:nvSpPr>
        <p:spPr>
          <a:xfrm>
            <a:off x="4736592" y="4005072"/>
            <a:ext cx="182880" cy="182880"/>
          </a:xfrm>
          <a:prstGeom prst="ellipse">
            <a:avLst/>
          </a:prstGeom>
          <a:solidFill>
            <a:srgbClr val="003E7A"/>
          </a:solidFill>
          <a:ln w="12700">
            <a:solidFill>
              <a:srgbClr val="F5C518"/>
            </a:solidFill>
            <a:prstDash val="solid"/>
          </a:ln>
        </p:spPr>
      </p:sp>
      <p:sp>
        <p:nvSpPr>
          <p:cNvPr id="78" name="Text 76"/>
          <p:cNvSpPr/>
          <p:nvPr/>
        </p:nvSpPr>
        <p:spPr>
          <a:xfrm>
            <a:off x="4736592" y="4005072"/>
            <a:ext cx="182880" cy="182880"/>
          </a:xfrm>
          <a:prstGeom prst="rect">
            <a:avLst/>
          </a:prstGeom>
          <a:noFill/>
          <a:ln/>
        </p:spPr>
        <p:txBody>
          <a:bodyPr wrap="square" lIns="0" tIns="0" rIns="0" bIns="0" rtlCol="0" anchor="ctr"/>
          <a:lstStyle/>
          <a:p>
            <a:pPr marL="0" indent="0" algn="ctr">
              <a:buNone/>
            </a:pPr>
            <a:r>
              <a:rPr lang="en-US" sz="800" b="1" dirty="0">
                <a:solidFill>
                  <a:srgbClr val="F5C518"/>
                </a:solidFill>
              </a:rPr>
              <a:t>?</a:t>
            </a:r>
            <a:endParaRPr lang="en-US" sz="800" dirty="0"/>
          </a:p>
        </p:txBody>
      </p:sp>
      <p:sp>
        <p:nvSpPr>
          <p:cNvPr id="79" name="Text 77"/>
          <p:cNvSpPr/>
          <p:nvPr/>
        </p:nvSpPr>
        <p:spPr>
          <a:xfrm>
            <a:off x="5010912" y="3986784"/>
            <a:ext cx="3703320" cy="274320"/>
          </a:xfrm>
          <a:prstGeom prst="rect">
            <a:avLst/>
          </a:prstGeom>
          <a:noFill/>
          <a:ln/>
        </p:spPr>
        <p:txBody>
          <a:bodyPr wrap="square" lIns="0" tIns="0" rIns="0" bIns="0" rtlCol="0" anchor="ctr"/>
          <a:lstStyle/>
          <a:p>
            <a:pPr marL="0" indent="0">
              <a:buNone/>
            </a:pPr>
            <a:r>
              <a:rPr lang="en-US" sz="900" dirty="0">
                <a:solidFill>
                  <a:srgbClr val="D4E6F1"/>
                </a:solidFill>
              </a:rPr>
              <a:t>Which booking channel drives the most revenue?</a:t>
            </a:r>
            <a:endParaRPr lang="en-US" sz="900" dirty="0"/>
          </a:p>
        </p:txBody>
      </p:sp>
      <p:sp>
        <p:nvSpPr>
          <p:cNvPr id="80" name="Shape 78"/>
          <p:cNvSpPr/>
          <p:nvPr/>
        </p:nvSpPr>
        <p:spPr>
          <a:xfrm>
            <a:off x="0" y="4983480"/>
            <a:ext cx="9144000" cy="160020"/>
          </a:xfrm>
          <a:prstGeom prst="rect">
            <a:avLst/>
          </a:prstGeom>
          <a:solidFill>
            <a:srgbClr val="1A2E45"/>
          </a:solidFill>
          <a:ln w="12700">
            <a:solidFill>
              <a:srgbClr val="1A2E45"/>
            </a:solidFill>
            <a:prstDash val="solid"/>
          </a:ln>
        </p:spPr>
      </p:sp>
      <p:sp>
        <p:nvSpPr>
          <p:cNvPr id="81" name="Shape 79"/>
          <p:cNvSpPr/>
          <p:nvPr/>
        </p:nvSpPr>
        <p:spPr>
          <a:xfrm>
            <a:off x="0" y="4983480"/>
            <a:ext cx="36576" cy="160020"/>
          </a:xfrm>
          <a:prstGeom prst="rect">
            <a:avLst/>
          </a:prstGeom>
          <a:solidFill>
            <a:srgbClr val="F5C518"/>
          </a:solidFill>
          <a:ln w="12700">
            <a:solidFill>
              <a:srgbClr val="F5C518"/>
            </a:solidFill>
            <a:prstDash val="solid"/>
          </a:ln>
        </p:spPr>
      </p:sp>
      <p:sp>
        <p:nvSpPr>
          <p:cNvPr id="82" name="Text 80"/>
          <p:cNvSpPr/>
          <p:nvPr/>
        </p:nvSpPr>
        <p:spPr>
          <a:xfrm>
            <a:off x="137160" y="4983480"/>
            <a:ext cx="8229600" cy="160020"/>
          </a:xfrm>
          <a:prstGeom prst="rect">
            <a:avLst/>
          </a:prstGeom>
          <a:noFill/>
          <a:ln/>
        </p:spPr>
        <p:txBody>
          <a:bodyPr wrap="square" lIns="0" tIns="0" rIns="0" bIns="0" rtlCol="0" anchor="ctr"/>
          <a:lstStyle/>
          <a:p>
            <a:pPr marL="0" indent="0">
              <a:buNone/>
            </a:pPr>
            <a:r>
              <a:rPr lang="en-US" sz="750" dirty="0">
                <a:solidFill>
                  <a:srgbClr val="6B8CAE"/>
                </a:solidFill>
              </a:rPr>
              <a:t>HotelRevAI  ·  Infosys Springboard Internship 6.0  ·  Batch 13 — Group 2, Team D</a:t>
            </a:r>
            <a:endParaRPr lang="en-US" sz="750" dirty="0"/>
          </a:p>
        </p:txBody>
      </p:sp>
      <p:sp>
        <p:nvSpPr>
          <p:cNvPr id="83" name="Text 81"/>
          <p:cNvSpPr/>
          <p:nvPr/>
        </p:nvSpPr>
        <p:spPr>
          <a:xfrm>
            <a:off x="8686800" y="4983480"/>
            <a:ext cx="411480" cy="160020"/>
          </a:xfrm>
          <a:prstGeom prst="rect">
            <a:avLst/>
          </a:prstGeom>
          <a:noFill/>
          <a:ln/>
        </p:spPr>
        <p:txBody>
          <a:bodyPr wrap="square" lIns="0" tIns="0" rIns="0" bIns="0" rtlCol="0" anchor="ctr"/>
          <a:lstStyle/>
          <a:p>
            <a:pPr marL="0" indent="0" algn="r">
              <a:buNone/>
            </a:pPr>
            <a:r>
              <a:rPr lang="en-US" sz="750" b="1" dirty="0">
                <a:solidFill>
                  <a:srgbClr val="F5C518"/>
                </a:solidFill>
              </a:rPr>
              <a:t>15</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50A14"/>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0D2137"/>
            </a:solidFill>
            <a:prstDash val="solid"/>
          </a:ln>
        </p:spPr>
      </p:sp>
      <p:sp>
        <p:nvSpPr>
          <p:cNvPr id="3" name="Shape 1"/>
          <p:cNvSpPr/>
          <p:nvPr/>
        </p:nvSpPr>
        <p:spPr>
          <a:xfrm>
            <a:off x="914400" y="0"/>
            <a:ext cx="0" cy="5143500"/>
          </a:xfrm>
          <a:prstGeom prst="line">
            <a:avLst/>
          </a:prstGeom>
          <a:noFill/>
          <a:ln w="6350">
            <a:solidFill>
              <a:srgbClr val="0D2137"/>
            </a:solidFill>
            <a:prstDash val="solid"/>
          </a:ln>
        </p:spPr>
      </p:sp>
      <p:sp>
        <p:nvSpPr>
          <p:cNvPr id="4" name="Shape 2"/>
          <p:cNvSpPr/>
          <p:nvPr/>
        </p:nvSpPr>
        <p:spPr>
          <a:xfrm>
            <a:off x="1828800" y="0"/>
            <a:ext cx="0" cy="5143500"/>
          </a:xfrm>
          <a:prstGeom prst="line">
            <a:avLst/>
          </a:prstGeom>
          <a:noFill/>
          <a:ln w="6350">
            <a:solidFill>
              <a:srgbClr val="0D2137"/>
            </a:solidFill>
            <a:prstDash val="solid"/>
          </a:ln>
        </p:spPr>
      </p:sp>
      <p:sp>
        <p:nvSpPr>
          <p:cNvPr id="5" name="Shape 3"/>
          <p:cNvSpPr/>
          <p:nvPr/>
        </p:nvSpPr>
        <p:spPr>
          <a:xfrm>
            <a:off x="2743200" y="0"/>
            <a:ext cx="0" cy="5143500"/>
          </a:xfrm>
          <a:prstGeom prst="line">
            <a:avLst/>
          </a:prstGeom>
          <a:noFill/>
          <a:ln w="6350">
            <a:solidFill>
              <a:srgbClr val="0D2137"/>
            </a:solidFill>
            <a:prstDash val="solid"/>
          </a:ln>
        </p:spPr>
      </p:sp>
      <p:sp>
        <p:nvSpPr>
          <p:cNvPr id="6" name="Shape 4"/>
          <p:cNvSpPr/>
          <p:nvPr/>
        </p:nvSpPr>
        <p:spPr>
          <a:xfrm>
            <a:off x="3657600" y="0"/>
            <a:ext cx="0" cy="5143500"/>
          </a:xfrm>
          <a:prstGeom prst="line">
            <a:avLst/>
          </a:prstGeom>
          <a:noFill/>
          <a:ln w="6350">
            <a:solidFill>
              <a:srgbClr val="0D2137"/>
            </a:solidFill>
            <a:prstDash val="solid"/>
          </a:ln>
        </p:spPr>
      </p:sp>
      <p:sp>
        <p:nvSpPr>
          <p:cNvPr id="7" name="Shape 5"/>
          <p:cNvSpPr/>
          <p:nvPr/>
        </p:nvSpPr>
        <p:spPr>
          <a:xfrm>
            <a:off x="4572000" y="0"/>
            <a:ext cx="0" cy="5143500"/>
          </a:xfrm>
          <a:prstGeom prst="line">
            <a:avLst/>
          </a:prstGeom>
          <a:noFill/>
          <a:ln w="6350">
            <a:solidFill>
              <a:srgbClr val="0D2137"/>
            </a:solidFill>
            <a:prstDash val="solid"/>
          </a:ln>
        </p:spPr>
      </p:sp>
      <p:sp>
        <p:nvSpPr>
          <p:cNvPr id="8" name="Shape 6"/>
          <p:cNvSpPr/>
          <p:nvPr/>
        </p:nvSpPr>
        <p:spPr>
          <a:xfrm>
            <a:off x="5486400" y="0"/>
            <a:ext cx="0" cy="5143500"/>
          </a:xfrm>
          <a:prstGeom prst="line">
            <a:avLst/>
          </a:prstGeom>
          <a:noFill/>
          <a:ln w="6350">
            <a:solidFill>
              <a:srgbClr val="0D2137"/>
            </a:solidFill>
            <a:prstDash val="solid"/>
          </a:ln>
        </p:spPr>
      </p:sp>
      <p:sp>
        <p:nvSpPr>
          <p:cNvPr id="9" name="Shape 7"/>
          <p:cNvSpPr/>
          <p:nvPr/>
        </p:nvSpPr>
        <p:spPr>
          <a:xfrm>
            <a:off x="6400800" y="0"/>
            <a:ext cx="0" cy="5143500"/>
          </a:xfrm>
          <a:prstGeom prst="line">
            <a:avLst/>
          </a:prstGeom>
          <a:noFill/>
          <a:ln w="6350">
            <a:solidFill>
              <a:srgbClr val="0D2137"/>
            </a:solidFill>
            <a:prstDash val="solid"/>
          </a:ln>
        </p:spPr>
      </p:sp>
      <p:sp>
        <p:nvSpPr>
          <p:cNvPr id="10" name="Shape 8"/>
          <p:cNvSpPr/>
          <p:nvPr/>
        </p:nvSpPr>
        <p:spPr>
          <a:xfrm>
            <a:off x="7315200" y="0"/>
            <a:ext cx="0" cy="5143500"/>
          </a:xfrm>
          <a:prstGeom prst="line">
            <a:avLst/>
          </a:prstGeom>
          <a:noFill/>
          <a:ln w="6350">
            <a:solidFill>
              <a:srgbClr val="0D2137"/>
            </a:solidFill>
            <a:prstDash val="solid"/>
          </a:ln>
        </p:spPr>
      </p:sp>
      <p:sp>
        <p:nvSpPr>
          <p:cNvPr id="11" name="Shape 9"/>
          <p:cNvSpPr/>
          <p:nvPr/>
        </p:nvSpPr>
        <p:spPr>
          <a:xfrm>
            <a:off x="8229600" y="0"/>
            <a:ext cx="0" cy="5143500"/>
          </a:xfrm>
          <a:prstGeom prst="line">
            <a:avLst/>
          </a:prstGeom>
          <a:noFill/>
          <a:ln w="6350">
            <a:solidFill>
              <a:srgbClr val="0D2137"/>
            </a:solidFill>
            <a:prstDash val="solid"/>
          </a:ln>
        </p:spPr>
      </p:sp>
      <p:sp>
        <p:nvSpPr>
          <p:cNvPr id="12" name="Shape 10"/>
          <p:cNvSpPr/>
          <p:nvPr/>
        </p:nvSpPr>
        <p:spPr>
          <a:xfrm>
            <a:off x="9144000" y="0"/>
            <a:ext cx="0" cy="5143500"/>
          </a:xfrm>
          <a:prstGeom prst="line">
            <a:avLst/>
          </a:prstGeom>
          <a:noFill/>
          <a:ln w="6350">
            <a:solidFill>
              <a:srgbClr val="0D2137"/>
            </a:solidFill>
            <a:prstDash val="solid"/>
          </a:ln>
        </p:spPr>
      </p:sp>
      <p:sp>
        <p:nvSpPr>
          <p:cNvPr id="13" name="Shape 11"/>
          <p:cNvSpPr/>
          <p:nvPr/>
        </p:nvSpPr>
        <p:spPr>
          <a:xfrm>
            <a:off x="0" y="0"/>
            <a:ext cx="9144000" cy="0"/>
          </a:xfrm>
          <a:prstGeom prst="line">
            <a:avLst/>
          </a:prstGeom>
          <a:noFill/>
          <a:ln w="6350">
            <a:solidFill>
              <a:srgbClr val="0D2137"/>
            </a:solidFill>
            <a:prstDash val="solid"/>
          </a:ln>
        </p:spPr>
      </p:sp>
      <p:sp>
        <p:nvSpPr>
          <p:cNvPr id="14" name="Shape 12"/>
          <p:cNvSpPr/>
          <p:nvPr/>
        </p:nvSpPr>
        <p:spPr>
          <a:xfrm>
            <a:off x="0" y="859536"/>
            <a:ext cx="9144000" cy="0"/>
          </a:xfrm>
          <a:prstGeom prst="line">
            <a:avLst/>
          </a:prstGeom>
          <a:noFill/>
          <a:ln w="6350">
            <a:solidFill>
              <a:srgbClr val="0D2137"/>
            </a:solidFill>
            <a:prstDash val="solid"/>
          </a:ln>
        </p:spPr>
      </p:sp>
      <p:sp>
        <p:nvSpPr>
          <p:cNvPr id="15" name="Shape 13"/>
          <p:cNvSpPr/>
          <p:nvPr/>
        </p:nvSpPr>
        <p:spPr>
          <a:xfrm>
            <a:off x="0" y="1719072"/>
            <a:ext cx="9144000" cy="0"/>
          </a:xfrm>
          <a:prstGeom prst="line">
            <a:avLst/>
          </a:prstGeom>
          <a:noFill/>
          <a:ln w="6350">
            <a:solidFill>
              <a:srgbClr val="0D2137"/>
            </a:solidFill>
            <a:prstDash val="solid"/>
          </a:ln>
        </p:spPr>
      </p:sp>
      <p:sp>
        <p:nvSpPr>
          <p:cNvPr id="16" name="Shape 14"/>
          <p:cNvSpPr/>
          <p:nvPr/>
        </p:nvSpPr>
        <p:spPr>
          <a:xfrm>
            <a:off x="0" y="2578608"/>
            <a:ext cx="9144000" cy="0"/>
          </a:xfrm>
          <a:prstGeom prst="line">
            <a:avLst/>
          </a:prstGeom>
          <a:noFill/>
          <a:ln w="6350">
            <a:solidFill>
              <a:srgbClr val="0D2137"/>
            </a:solidFill>
            <a:prstDash val="solid"/>
          </a:ln>
        </p:spPr>
      </p:sp>
      <p:sp>
        <p:nvSpPr>
          <p:cNvPr id="17" name="Shape 15"/>
          <p:cNvSpPr/>
          <p:nvPr/>
        </p:nvSpPr>
        <p:spPr>
          <a:xfrm>
            <a:off x="0" y="3438144"/>
            <a:ext cx="9144000" cy="0"/>
          </a:xfrm>
          <a:prstGeom prst="line">
            <a:avLst/>
          </a:prstGeom>
          <a:noFill/>
          <a:ln w="6350">
            <a:solidFill>
              <a:srgbClr val="0D2137"/>
            </a:solidFill>
            <a:prstDash val="solid"/>
          </a:ln>
        </p:spPr>
      </p:sp>
      <p:sp>
        <p:nvSpPr>
          <p:cNvPr id="18" name="Shape 16"/>
          <p:cNvSpPr/>
          <p:nvPr/>
        </p:nvSpPr>
        <p:spPr>
          <a:xfrm>
            <a:off x="0" y="4297680"/>
            <a:ext cx="9144000" cy="0"/>
          </a:xfrm>
          <a:prstGeom prst="line">
            <a:avLst/>
          </a:prstGeom>
          <a:noFill/>
          <a:ln w="6350">
            <a:solidFill>
              <a:srgbClr val="0D2137"/>
            </a:solidFill>
            <a:prstDash val="solid"/>
          </a:ln>
        </p:spPr>
      </p:sp>
      <p:sp>
        <p:nvSpPr>
          <p:cNvPr id="19" name="Shape 17"/>
          <p:cNvSpPr/>
          <p:nvPr/>
        </p:nvSpPr>
        <p:spPr>
          <a:xfrm>
            <a:off x="0" y="5157216"/>
            <a:ext cx="9144000" cy="0"/>
          </a:xfrm>
          <a:prstGeom prst="line">
            <a:avLst/>
          </a:prstGeom>
          <a:noFill/>
          <a:ln w="6350">
            <a:solidFill>
              <a:srgbClr val="0D2137"/>
            </a:solidFill>
            <a:prstDash val="solid"/>
          </a:ln>
        </p:spPr>
      </p:sp>
      <p:sp>
        <p:nvSpPr>
          <p:cNvPr id="20" name="Shape 18"/>
          <p:cNvSpPr/>
          <p:nvPr/>
        </p:nvSpPr>
        <p:spPr>
          <a:xfrm>
            <a:off x="1371600" y="-640080"/>
            <a:ext cx="6400800" cy="6400800"/>
          </a:xfrm>
          <a:prstGeom prst="ellipse">
            <a:avLst/>
          </a:prstGeom>
          <a:solidFill>
            <a:srgbClr val="00B4FF">
              <a:alpha val="12000"/>
            </a:srgbClr>
          </a:solidFill>
          <a:ln w="12700">
            <a:solidFill>
              <a:srgbClr val="00B4FF">
                <a:alpha val="5000"/>
              </a:srgbClr>
            </a:solidFill>
            <a:prstDash val="solid"/>
          </a:ln>
        </p:spPr>
      </p:sp>
      <p:sp>
        <p:nvSpPr>
          <p:cNvPr id="21" name="Shape 19"/>
          <p:cNvSpPr/>
          <p:nvPr/>
        </p:nvSpPr>
        <p:spPr>
          <a:xfrm>
            <a:off x="2971800" y="960120"/>
            <a:ext cx="3200400" cy="3200400"/>
          </a:xfrm>
          <a:prstGeom prst="ellipse">
            <a:avLst/>
          </a:prstGeom>
          <a:solidFill>
            <a:srgbClr val="00B4FF">
              <a:alpha val="4000"/>
            </a:srgbClr>
          </a:solidFill>
          <a:ln w="12700">
            <a:solidFill>
              <a:srgbClr val="00B4FF">
                <a:alpha val="0"/>
              </a:srgbClr>
            </a:solidFill>
            <a:prstDash val="solid"/>
          </a:ln>
        </p:spPr>
      </p:sp>
      <p:sp>
        <p:nvSpPr>
          <p:cNvPr id="22" name="Shape 20"/>
          <p:cNvSpPr/>
          <p:nvPr/>
        </p:nvSpPr>
        <p:spPr>
          <a:xfrm>
            <a:off x="-1097280" y="2560320"/>
            <a:ext cx="4023360" cy="4023360"/>
          </a:xfrm>
          <a:prstGeom prst="ellipse">
            <a:avLst/>
          </a:prstGeom>
          <a:solidFill>
            <a:srgbClr val="F5C518">
              <a:alpha val="10000"/>
            </a:srgbClr>
          </a:solidFill>
          <a:ln w="12700">
            <a:solidFill>
              <a:srgbClr val="F5C518">
                <a:alpha val="5000"/>
              </a:srgbClr>
            </a:solidFill>
            <a:prstDash val="solid"/>
          </a:ln>
        </p:spPr>
      </p:sp>
      <p:sp>
        <p:nvSpPr>
          <p:cNvPr id="23" name="Shape 21"/>
          <p:cNvSpPr/>
          <p:nvPr/>
        </p:nvSpPr>
        <p:spPr>
          <a:xfrm>
            <a:off x="-91440" y="3566160"/>
            <a:ext cx="2011680" cy="2011680"/>
          </a:xfrm>
          <a:prstGeom prst="ellipse">
            <a:avLst/>
          </a:prstGeom>
          <a:solidFill>
            <a:srgbClr val="F5C518">
              <a:alpha val="2000"/>
            </a:srgbClr>
          </a:solidFill>
          <a:ln w="12700">
            <a:solidFill>
              <a:srgbClr val="F5C518">
                <a:alpha val="0"/>
              </a:srgbClr>
            </a:solidFill>
            <a:prstDash val="solid"/>
          </a:ln>
        </p:spPr>
      </p:sp>
      <p:sp>
        <p:nvSpPr>
          <p:cNvPr id="24" name="Shape 22"/>
          <p:cNvSpPr/>
          <p:nvPr/>
        </p:nvSpPr>
        <p:spPr>
          <a:xfrm>
            <a:off x="6583680" y="-1097280"/>
            <a:ext cx="3657600" cy="3657600"/>
          </a:xfrm>
          <a:prstGeom prst="ellipse">
            <a:avLst/>
          </a:prstGeom>
          <a:solidFill>
            <a:srgbClr val="F5C518">
              <a:alpha val="10000"/>
            </a:srgbClr>
          </a:solidFill>
          <a:ln w="12700">
            <a:solidFill>
              <a:srgbClr val="F5C518">
                <a:alpha val="5000"/>
              </a:srgbClr>
            </a:solidFill>
            <a:prstDash val="solid"/>
          </a:ln>
        </p:spPr>
      </p:sp>
      <p:sp>
        <p:nvSpPr>
          <p:cNvPr id="25" name="Shape 23"/>
          <p:cNvSpPr/>
          <p:nvPr/>
        </p:nvSpPr>
        <p:spPr>
          <a:xfrm>
            <a:off x="7498080" y="-182880"/>
            <a:ext cx="1828800" cy="1828800"/>
          </a:xfrm>
          <a:prstGeom prst="ellipse">
            <a:avLst/>
          </a:prstGeom>
          <a:solidFill>
            <a:srgbClr val="F5C518">
              <a:alpha val="2000"/>
            </a:srgbClr>
          </a:solidFill>
          <a:ln w="12700">
            <a:solidFill>
              <a:srgbClr val="F5C518">
                <a:alpha val="0"/>
              </a:srgbClr>
            </a:solidFill>
            <a:prstDash val="solid"/>
          </a:ln>
        </p:spPr>
      </p:sp>
      <p:sp>
        <p:nvSpPr>
          <p:cNvPr id="26" name="Shape 24"/>
          <p:cNvSpPr/>
          <p:nvPr/>
        </p:nvSpPr>
        <p:spPr>
          <a:xfrm>
            <a:off x="0" y="0"/>
            <a:ext cx="9144000" cy="50292"/>
          </a:xfrm>
          <a:prstGeom prst="rect">
            <a:avLst/>
          </a:prstGeom>
          <a:solidFill>
            <a:srgbClr val="F5C518"/>
          </a:solidFill>
          <a:ln w="12700">
            <a:solidFill>
              <a:srgbClr val="F5C518"/>
            </a:solidFill>
            <a:prstDash val="solid"/>
          </a:ln>
        </p:spPr>
      </p:sp>
      <p:sp>
        <p:nvSpPr>
          <p:cNvPr id="27" name="Text 25"/>
          <p:cNvSpPr/>
          <p:nvPr/>
        </p:nvSpPr>
        <p:spPr>
          <a:xfrm>
            <a:off x="457200" y="502920"/>
            <a:ext cx="8229600" cy="777240"/>
          </a:xfrm>
          <a:prstGeom prst="rect">
            <a:avLst/>
          </a:prstGeom>
          <a:noFill/>
          <a:ln/>
        </p:spPr>
        <p:txBody>
          <a:bodyPr wrap="square" lIns="0" tIns="0" rIns="0" bIns="0" rtlCol="0" anchor="ctr"/>
          <a:lstStyle/>
          <a:p>
            <a:pPr marL="0" indent="0" algn="ctr">
              <a:buNone/>
            </a:pPr>
            <a:r>
              <a:rPr lang="en-US" sz="6200" b="1" kern="0" spc="400" dirty="0">
                <a:solidFill>
                  <a:srgbClr val="FFFFFF"/>
                </a:solidFill>
              </a:rPr>
              <a:t>Thank</a:t>
            </a:r>
            <a:endParaRPr lang="en-US" sz="6200" dirty="0"/>
          </a:p>
        </p:txBody>
      </p:sp>
      <p:sp>
        <p:nvSpPr>
          <p:cNvPr id="28" name="Text 26"/>
          <p:cNvSpPr/>
          <p:nvPr/>
        </p:nvSpPr>
        <p:spPr>
          <a:xfrm>
            <a:off x="457200" y="1234440"/>
            <a:ext cx="8229600" cy="777240"/>
          </a:xfrm>
          <a:prstGeom prst="rect">
            <a:avLst/>
          </a:prstGeom>
          <a:noFill/>
          <a:ln/>
        </p:spPr>
        <p:txBody>
          <a:bodyPr wrap="square" lIns="0" tIns="0" rIns="0" bIns="0" rtlCol="0" anchor="ctr"/>
          <a:lstStyle/>
          <a:p>
            <a:pPr marL="0" indent="0" algn="ctr">
              <a:buNone/>
            </a:pPr>
            <a:r>
              <a:rPr lang="en-US" sz="6200" b="1" kern="0" spc="400" dirty="0">
                <a:solidFill>
                  <a:srgbClr val="00B4FF"/>
                </a:solidFill>
              </a:rPr>
              <a:t>You</a:t>
            </a:r>
            <a:endParaRPr lang="en-US" sz="6200" dirty="0"/>
          </a:p>
        </p:txBody>
      </p:sp>
      <p:sp>
        <p:nvSpPr>
          <p:cNvPr id="29" name="Shape 27"/>
          <p:cNvSpPr/>
          <p:nvPr/>
        </p:nvSpPr>
        <p:spPr>
          <a:xfrm>
            <a:off x="3200400" y="2103120"/>
            <a:ext cx="2743200" cy="50292"/>
          </a:xfrm>
          <a:prstGeom prst="rect">
            <a:avLst/>
          </a:prstGeom>
          <a:solidFill>
            <a:srgbClr val="F5C518"/>
          </a:solidFill>
          <a:ln w="12700">
            <a:solidFill>
              <a:srgbClr val="F5C518"/>
            </a:solidFill>
            <a:prstDash val="solid"/>
          </a:ln>
        </p:spPr>
      </p:sp>
      <p:sp>
        <p:nvSpPr>
          <p:cNvPr id="30" name="Text 28"/>
          <p:cNvSpPr/>
          <p:nvPr/>
        </p:nvSpPr>
        <p:spPr>
          <a:xfrm>
            <a:off x="457200" y="2212848"/>
            <a:ext cx="8229600" cy="347472"/>
          </a:xfrm>
          <a:prstGeom prst="rect">
            <a:avLst/>
          </a:prstGeom>
          <a:noFill/>
          <a:ln/>
        </p:spPr>
        <p:txBody>
          <a:bodyPr wrap="square" lIns="0" tIns="0" rIns="0" bIns="0" rtlCol="0" anchor="ctr"/>
          <a:lstStyle/>
          <a:p>
            <a:pPr marL="0" indent="0" algn="ctr">
              <a:buNone/>
            </a:pPr>
            <a:r>
              <a:rPr lang="en-US" sz="1300" i="1" dirty="0">
                <a:solidFill>
                  <a:srgbClr val="D4E6F1"/>
                </a:solidFill>
              </a:rPr>
              <a:t>HotelRevAI — AI Driven Revenue Analysis for Hotels</a:t>
            </a:r>
            <a:endParaRPr lang="en-US" sz="1300" dirty="0"/>
          </a:p>
        </p:txBody>
      </p:sp>
      <p:sp>
        <p:nvSpPr>
          <p:cNvPr id="31" name="Shape 29"/>
          <p:cNvSpPr/>
          <p:nvPr/>
        </p:nvSpPr>
        <p:spPr>
          <a:xfrm>
            <a:off x="493776" y="2734056"/>
            <a:ext cx="4160520" cy="658368"/>
          </a:xfrm>
          <a:prstGeom prst="rect">
            <a:avLst/>
          </a:prstGeom>
          <a:solidFill>
            <a:srgbClr val="000000">
              <a:alpha val="28000"/>
            </a:srgbClr>
          </a:solidFill>
          <a:ln w="12700">
            <a:solidFill>
              <a:srgbClr val="000000">
                <a:alpha val="0"/>
              </a:srgbClr>
            </a:solidFill>
            <a:prstDash val="solid"/>
          </a:ln>
        </p:spPr>
      </p:sp>
      <p:sp>
        <p:nvSpPr>
          <p:cNvPr id="32" name="Shape 30"/>
          <p:cNvSpPr/>
          <p:nvPr/>
        </p:nvSpPr>
        <p:spPr>
          <a:xfrm>
            <a:off x="457200" y="2697480"/>
            <a:ext cx="4160520" cy="658368"/>
          </a:xfrm>
          <a:prstGeom prst="rect">
            <a:avLst/>
          </a:prstGeom>
          <a:solidFill>
            <a:srgbClr val="0A1628">
              <a:alpha val="82000"/>
            </a:srgbClr>
          </a:solidFill>
          <a:ln w="12700">
            <a:solidFill>
              <a:srgbClr val="1E3A5F"/>
            </a:solidFill>
            <a:prstDash val="solid"/>
          </a:ln>
        </p:spPr>
      </p:sp>
      <p:sp>
        <p:nvSpPr>
          <p:cNvPr id="33" name="Shape 31"/>
          <p:cNvSpPr/>
          <p:nvPr/>
        </p:nvSpPr>
        <p:spPr>
          <a:xfrm>
            <a:off x="457200" y="2697480"/>
            <a:ext cx="4160520" cy="27432"/>
          </a:xfrm>
          <a:prstGeom prst="rect">
            <a:avLst/>
          </a:prstGeom>
          <a:solidFill>
            <a:srgbClr val="FFFFFF">
              <a:alpha val="26000"/>
            </a:srgbClr>
          </a:solidFill>
          <a:ln w="12700">
            <a:solidFill>
              <a:srgbClr val="FFFFFF">
                <a:alpha val="0"/>
              </a:srgbClr>
            </a:solidFill>
            <a:prstDash val="solid"/>
          </a:ln>
        </p:spPr>
      </p:sp>
      <p:sp>
        <p:nvSpPr>
          <p:cNvPr id="34" name="Shape 32"/>
          <p:cNvSpPr/>
          <p:nvPr/>
        </p:nvSpPr>
        <p:spPr>
          <a:xfrm>
            <a:off x="457200" y="2697480"/>
            <a:ext cx="27432" cy="658368"/>
          </a:xfrm>
          <a:prstGeom prst="rect">
            <a:avLst/>
          </a:prstGeom>
          <a:solidFill>
            <a:srgbClr val="FFFFFF">
              <a:alpha val="18000"/>
            </a:srgbClr>
          </a:solidFill>
          <a:ln w="12700">
            <a:solidFill>
              <a:srgbClr val="FFFFFF">
                <a:alpha val="0"/>
              </a:srgbClr>
            </a:solidFill>
            <a:prstDash val="solid"/>
          </a:ln>
        </p:spPr>
      </p:sp>
      <p:sp>
        <p:nvSpPr>
          <p:cNvPr id="35" name="Shape 33"/>
          <p:cNvSpPr/>
          <p:nvPr/>
        </p:nvSpPr>
        <p:spPr>
          <a:xfrm>
            <a:off x="457200" y="2697480"/>
            <a:ext cx="50292" cy="658368"/>
          </a:xfrm>
          <a:prstGeom prst="rect">
            <a:avLst/>
          </a:prstGeom>
          <a:solidFill>
            <a:srgbClr val="00B4FF"/>
          </a:solidFill>
          <a:ln w="12700">
            <a:solidFill>
              <a:srgbClr val="00B4FF"/>
            </a:solidFill>
            <a:prstDash val="solid"/>
          </a:ln>
        </p:spPr>
      </p:sp>
      <p:sp>
        <p:nvSpPr>
          <p:cNvPr id="36" name="Text 34"/>
          <p:cNvSpPr/>
          <p:nvPr/>
        </p:nvSpPr>
        <p:spPr>
          <a:xfrm>
            <a:off x="457200" y="2697480"/>
            <a:ext cx="640080" cy="65836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7" name="Text 35"/>
          <p:cNvSpPr/>
          <p:nvPr/>
        </p:nvSpPr>
        <p:spPr>
          <a:xfrm>
            <a:off x="1115568" y="2697480"/>
            <a:ext cx="3383280" cy="658368"/>
          </a:xfrm>
          <a:prstGeom prst="rect">
            <a:avLst/>
          </a:prstGeom>
          <a:noFill/>
          <a:ln/>
        </p:spPr>
        <p:txBody>
          <a:bodyPr wrap="square" lIns="0" tIns="0" rIns="0" bIns="0" rtlCol="0" anchor="ctr"/>
          <a:lstStyle/>
          <a:p>
            <a:pPr marL="0" indent="0">
              <a:buNone/>
            </a:pPr>
            <a:r>
              <a:rPr lang="en-US" sz="900" dirty="0">
                <a:solidFill>
                  <a:srgbClr val="D4E6F1"/>
                </a:solidFill>
              </a:rPr>
              <a:t>End-to-end Power BI project from raw data to 5 production dashboards</a:t>
            </a:r>
            <a:endParaRPr lang="en-US" sz="900" dirty="0"/>
          </a:p>
        </p:txBody>
      </p:sp>
      <p:sp>
        <p:nvSpPr>
          <p:cNvPr id="38" name="Shape 36"/>
          <p:cNvSpPr/>
          <p:nvPr/>
        </p:nvSpPr>
        <p:spPr>
          <a:xfrm>
            <a:off x="4928616" y="2734056"/>
            <a:ext cx="4160520" cy="658368"/>
          </a:xfrm>
          <a:prstGeom prst="rect">
            <a:avLst/>
          </a:prstGeom>
          <a:solidFill>
            <a:srgbClr val="000000">
              <a:alpha val="28000"/>
            </a:srgbClr>
          </a:solidFill>
          <a:ln w="12700">
            <a:solidFill>
              <a:srgbClr val="000000">
                <a:alpha val="0"/>
              </a:srgbClr>
            </a:solidFill>
            <a:prstDash val="solid"/>
          </a:ln>
        </p:spPr>
      </p:sp>
      <p:sp>
        <p:nvSpPr>
          <p:cNvPr id="39" name="Shape 37"/>
          <p:cNvSpPr/>
          <p:nvPr/>
        </p:nvSpPr>
        <p:spPr>
          <a:xfrm>
            <a:off x="4892040" y="2697480"/>
            <a:ext cx="4160520" cy="658368"/>
          </a:xfrm>
          <a:prstGeom prst="rect">
            <a:avLst/>
          </a:prstGeom>
          <a:solidFill>
            <a:srgbClr val="0A1628">
              <a:alpha val="82000"/>
            </a:srgbClr>
          </a:solidFill>
          <a:ln w="12700">
            <a:solidFill>
              <a:srgbClr val="1E3A5F"/>
            </a:solidFill>
            <a:prstDash val="solid"/>
          </a:ln>
        </p:spPr>
      </p:sp>
      <p:sp>
        <p:nvSpPr>
          <p:cNvPr id="40" name="Shape 38"/>
          <p:cNvSpPr/>
          <p:nvPr/>
        </p:nvSpPr>
        <p:spPr>
          <a:xfrm>
            <a:off x="4892040" y="2697480"/>
            <a:ext cx="4160520" cy="27432"/>
          </a:xfrm>
          <a:prstGeom prst="rect">
            <a:avLst/>
          </a:prstGeom>
          <a:solidFill>
            <a:srgbClr val="FFFFFF">
              <a:alpha val="26000"/>
            </a:srgbClr>
          </a:solidFill>
          <a:ln w="12700">
            <a:solidFill>
              <a:srgbClr val="FFFFFF">
                <a:alpha val="0"/>
              </a:srgbClr>
            </a:solidFill>
            <a:prstDash val="solid"/>
          </a:ln>
        </p:spPr>
      </p:sp>
      <p:sp>
        <p:nvSpPr>
          <p:cNvPr id="41" name="Shape 39"/>
          <p:cNvSpPr/>
          <p:nvPr/>
        </p:nvSpPr>
        <p:spPr>
          <a:xfrm>
            <a:off x="4892040" y="2697480"/>
            <a:ext cx="27432" cy="658368"/>
          </a:xfrm>
          <a:prstGeom prst="rect">
            <a:avLst/>
          </a:prstGeom>
          <a:solidFill>
            <a:srgbClr val="FFFFFF">
              <a:alpha val="18000"/>
            </a:srgbClr>
          </a:solidFill>
          <a:ln w="12700">
            <a:solidFill>
              <a:srgbClr val="FFFFFF">
                <a:alpha val="0"/>
              </a:srgbClr>
            </a:solidFill>
            <a:prstDash val="solid"/>
          </a:ln>
        </p:spPr>
      </p:sp>
      <p:sp>
        <p:nvSpPr>
          <p:cNvPr id="42" name="Shape 40"/>
          <p:cNvSpPr/>
          <p:nvPr/>
        </p:nvSpPr>
        <p:spPr>
          <a:xfrm>
            <a:off x="4892040" y="2697480"/>
            <a:ext cx="50292" cy="658368"/>
          </a:xfrm>
          <a:prstGeom prst="rect">
            <a:avLst/>
          </a:prstGeom>
          <a:solidFill>
            <a:srgbClr val="F5C518"/>
          </a:solidFill>
          <a:ln w="12700">
            <a:solidFill>
              <a:srgbClr val="F5C518"/>
            </a:solidFill>
            <a:prstDash val="solid"/>
          </a:ln>
        </p:spPr>
      </p:sp>
      <p:sp>
        <p:nvSpPr>
          <p:cNvPr id="43" name="Text 41"/>
          <p:cNvSpPr/>
          <p:nvPr/>
        </p:nvSpPr>
        <p:spPr>
          <a:xfrm>
            <a:off x="4892040" y="2697480"/>
            <a:ext cx="640080" cy="65836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44" name="Text 42"/>
          <p:cNvSpPr/>
          <p:nvPr/>
        </p:nvSpPr>
        <p:spPr>
          <a:xfrm>
            <a:off x="5550408" y="2697480"/>
            <a:ext cx="3383280" cy="658368"/>
          </a:xfrm>
          <a:prstGeom prst="rect">
            <a:avLst/>
          </a:prstGeom>
          <a:noFill/>
          <a:ln/>
        </p:spPr>
        <p:txBody>
          <a:bodyPr wrap="square" lIns="0" tIns="0" rIns="0" bIns="0" rtlCol="0" anchor="ctr"/>
          <a:lstStyle/>
          <a:p>
            <a:pPr marL="0" indent="0">
              <a:buNone/>
            </a:pPr>
            <a:r>
              <a:rPr lang="en-US" sz="900" dirty="0">
                <a:solidFill>
                  <a:srgbClr val="D4E6F1"/>
                </a:solidFill>
              </a:rPr>
              <a:t>Mastered 13 DAX measures &amp; hospitality KPIs: ADR, RevPAR, Occupancy %</a:t>
            </a:r>
            <a:endParaRPr lang="en-US" sz="900" dirty="0"/>
          </a:p>
        </p:txBody>
      </p:sp>
      <p:sp>
        <p:nvSpPr>
          <p:cNvPr id="45" name="Shape 43"/>
          <p:cNvSpPr/>
          <p:nvPr/>
        </p:nvSpPr>
        <p:spPr>
          <a:xfrm>
            <a:off x="493776" y="3502152"/>
            <a:ext cx="4160520" cy="658368"/>
          </a:xfrm>
          <a:prstGeom prst="rect">
            <a:avLst/>
          </a:prstGeom>
          <a:solidFill>
            <a:srgbClr val="000000">
              <a:alpha val="28000"/>
            </a:srgbClr>
          </a:solidFill>
          <a:ln w="12700">
            <a:solidFill>
              <a:srgbClr val="000000">
                <a:alpha val="0"/>
              </a:srgbClr>
            </a:solidFill>
            <a:prstDash val="solid"/>
          </a:ln>
        </p:spPr>
      </p:sp>
      <p:sp>
        <p:nvSpPr>
          <p:cNvPr id="46" name="Shape 44"/>
          <p:cNvSpPr/>
          <p:nvPr/>
        </p:nvSpPr>
        <p:spPr>
          <a:xfrm>
            <a:off x="457200" y="3465576"/>
            <a:ext cx="4160520" cy="658368"/>
          </a:xfrm>
          <a:prstGeom prst="rect">
            <a:avLst/>
          </a:prstGeom>
          <a:solidFill>
            <a:srgbClr val="0A1628">
              <a:alpha val="82000"/>
            </a:srgbClr>
          </a:solidFill>
          <a:ln w="12700">
            <a:solidFill>
              <a:srgbClr val="1E3A5F"/>
            </a:solidFill>
            <a:prstDash val="solid"/>
          </a:ln>
        </p:spPr>
      </p:sp>
      <p:sp>
        <p:nvSpPr>
          <p:cNvPr id="47" name="Shape 45"/>
          <p:cNvSpPr/>
          <p:nvPr/>
        </p:nvSpPr>
        <p:spPr>
          <a:xfrm>
            <a:off x="457200" y="3465576"/>
            <a:ext cx="4160520" cy="27432"/>
          </a:xfrm>
          <a:prstGeom prst="rect">
            <a:avLst/>
          </a:prstGeom>
          <a:solidFill>
            <a:srgbClr val="FFFFFF">
              <a:alpha val="26000"/>
            </a:srgbClr>
          </a:solidFill>
          <a:ln w="12700">
            <a:solidFill>
              <a:srgbClr val="FFFFFF">
                <a:alpha val="0"/>
              </a:srgbClr>
            </a:solidFill>
            <a:prstDash val="solid"/>
          </a:ln>
        </p:spPr>
      </p:sp>
      <p:sp>
        <p:nvSpPr>
          <p:cNvPr id="48" name="Shape 46"/>
          <p:cNvSpPr/>
          <p:nvPr/>
        </p:nvSpPr>
        <p:spPr>
          <a:xfrm>
            <a:off x="457200" y="3465576"/>
            <a:ext cx="27432" cy="658368"/>
          </a:xfrm>
          <a:prstGeom prst="rect">
            <a:avLst/>
          </a:prstGeom>
          <a:solidFill>
            <a:srgbClr val="FFFFFF">
              <a:alpha val="18000"/>
            </a:srgbClr>
          </a:solidFill>
          <a:ln w="12700">
            <a:solidFill>
              <a:srgbClr val="FFFFFF">
                <a:alpha val="0"/>
              </a:srgbClr>
            </a:solidFill>
            <a:prstDash val="solid"/>
          </a:ln>
        </p:spPr>
      </p:sp>
      <p:sp>
        <p:nvSpPr>
          <p:cNvPr id="49" name="Shape 47"/>
          <p:cNvSpPr/>
          <p:nvPr/>
        </p:nvSpPr>
        <p:spPr>
          <a:xfrm>
            <a:off x="457200" y="3465576"/>
            <a:ext cx="50292" cy="658368"/>
          </a:xfrm>
          <a:prstGeom prst="rect">
            <a:avLst/>
          </a:prstGeom>
          <a:solidFill>
            <a:srgbClr val="00B4FF"/>
          </a:solidFill>
          <a:ln w="12700">
            <a:solidFill>
              <a:srgbClr val="00B4FF"/>
            </a:solidFill>
            <a:prstDash val="solid"/>
          </a:ln>
        </p:spPr>
      </p:sp>
      <p:sp>
        <p:nvSpPr>
          <p:cNvPr id="50" name="Text 48"/>
          <p:cNvSpPr/>
          <p:nvPr/>
        </p:nvSpPr>
        <p:spPr>
          <a:xfrm>
            <a:off x="457200" y="3465576"/>
            <a:ext cx="640080" cy="65836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51" name="Text 49"/>
          <p:cNvSpPr/>
          <p:nvPr/>
        </p:nvSpPr>
        <p:spPr>
          <a:xfrm>
            <a:off x="1115568" y="3465576"/>
            <a:ext cx="3383280" cy="658368"/>
          </a:xfrm>
          <a:prstGeom prst="rect">
            <a:avLst/>
          </a:prstGeom>
          <a:noFill/>
          <a:ln/>
        </p:spPr>
        <p:txBody>
          <a:bodyPr wrap="square" lIns="0" tIns="0" rIns="0" bIns="0" rtlCol="0" anchor="ctr"/>
          <a:lstStyle/>
          <a:p>
            <a:pPr marL="0" indent="0">
              <a:buNone/>
            </a:pPr>
            <a:r>
              <a:rPr lang="en-US" sz="900" dirty="0">
                <a:solidFill>
                  <a:srgbClr val="D4E6F1"/>
                </a:solidFill>
              </a:rPr>
              <a:t>Real-world data cleaning: nulls, noise removal, M language engineering</a:t>
            </a:r>
            <a:endParaRPr lang="en-US" sz="900" dirty="0"/>
          </a:p>
        </p:txBody>
      </p:sp>
      <p:sp>
        <p:nvSpPr>
          <p:cNvPr id="52" name="Shape 50"/>
          <p:cNvSpPr/>
          <p:nvPr/>
        </p:nvSpPr>
        <p:spPr>
          <a:xfrm>
            <a:off x="4928616" y="3502152"/>
            <a:ext cx="4160520" cy="658368"/>
          </a:xfrm>
          <a:prstGeom prst="rect">
            <a:avLst/>
          </a:prstGeom>
          <a:solidFill>
            <a:srgbClr val="000000">
              <a:alpha val="28000"/>
            </a:srgbClr>
          </a:solidFill>
          <a:ln w="12700">
            <a:solidFill>
              <a:srgbClr val="000000">
                <a:alpha val="0"/>
              </a:srgbClr>
            </a:solidFill>
            <a:prstDash val="solid"/>
          </a:ln>
        </p:spPr>
      </p:sp>
      <p:sp>
        <p:nvSpPr>
          <p:cNvPr id="53" name="Shape 51"/>
          <p:cNvSpPr/>
          <p:nvPr/>
        </p:nvSpPr>
        <p:spPr>
          <a:xfrm>
            <a:off x="4892040" y="3465576"/>
            <a:ext cx="4160520" cy="658368"/>
          </a:xfrm>
          <a:prstGeom prst="rect">
            <a:avLst/>
          </a:prstGeom>
          <a:solidFill>
            <a:srgbClr val="0A1628">
              <a:alpha val="82000"/>
            </a:srgbClr>
          </a:solidFill>
          <a:ln w="12700">
            <a:solidFill>
              <a:srgbClr val="1E3A5F"/>
            </a:solidFill>
            <a:prstDash val="solid"/>
          </a:ln>
        </p:spPr>
      </p:sp>
      <p:sp>
        <p:nvSpPr>
          <p:cNvPr id="54" name="Shape 52"/>
          <p:cNvSpPr/>
          <p:nvPr/>
        </p:nvSpPr>
        <p:spPr>
          <a:xfrm>
            <a:off x="4892040" y="3465576"/>
            <a:ext cx="4160520" cy="27432"/>
          </a:xfrm>
          <a:prstGeom prst="rect">
            <a:avLst/>
          </a:prstGeom>
          <a:solidFill>
            <a:srgbClr val="FFFFFF">
              <a:alpha val="26000"/>
            </a:srgbClr>
          </a:solidFill>
          <a:ln w="12700">
            <a:solidFill>
              <a:srgbClr val="FFFFFF">
                <a:alpha val="0"/>
              </a:srgbClr>
            </a:solidFill>
            <a:prstDash val="solid"/>
          </a:ln>
        </p:spPr>
      </p:sp>
      <p:sp>
        <p:nvSpPr>
          <p:cNvPr id="55" name="Shape 53"/>
          <p:cNvSpPr/>
          <p:nvPr/>
        </p:nvSpPr>
        <p:spPr>
          <a:xfrm>
            <a:off x="4892040" y="3465576"/>
            <a:ext cx="27432" cy="658368"/>
          </a:xfrm>
          <a:prstGeom prst="rect">
            <a:avLst/>
          </a:prstGeom>
          <a:solidFill>
            <a:srgbClr val="FFFFFF">
              <a:alpha val="18000"/>
            </a:srgbClr>
          </a:solidFill>
          <a:ln w="12700">
            <a:solidFill>
              <a:srgbClr val="FFFFFF">
                <a:alpha val="0"/>
              </a:srgbClr>
            </a:solidFill>
            <a:prstDash val="solid"/>
          </a:ln>
        </p:spPr>
      </p:sp>
      <p:sp>
        <p:nvSpPr>
          <p:cNvPr id="56" name="Shape 54"/>
          <p:cNvSpPr/>
          <p:nvPr/>
        </p:nvSpPr>
        <p:spPr>
          <a:xfrm>
            <a:off x="4892040" y="3465576"/>
            <a:ext cx="50292" cy="658368"/>
          </a:xfrm>
          <a:prstGeom prst="rect">
            <a:avLst/>
          </a:prstGeom>
          <a:solidFill>
            <a:srgbClr val="F5C518"/>
          </a:solidFill>
          <a:ln w="12700">
            <a:solidFill>
              <a:srgbClr val="F5C518"/>
            </a:solidFill>
            <a:prstDash val="solid"/>
          </a:ln>
        </p:spPr>
      </p:sp>
      <p:sp>
        <p:nvSpPr>
          <p:cNvPr id="57" name="Text 55"/>
          <p:cNvSpPr/>
          <p:nvPr/>
        </p:nvSpPr>
        <p:spPr>
          <a:xfrm>
            <a:off x="4892040" y="3465576"/>
            <a:ext cx="640080" cy="65836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58" name="Text 56"/>
          <p:cNvSpPr/>
          <p:nvPr/>
        </p:nvSpPr>
        <p:spPr>
          <a:xfrm>
            <a:off x="5550408" y="3465576"/>
            <a:ext cx="3383280" cy="658368"/>
          </a:xfrm>
          <a:prstGeom prst="rect">
            <a:avLst/>
          </a:prstGeom>
          <a:noFill/>
          <a:ln/>
        </p:spPr>
        <p:txBody>
          <a:bodyPr wrap="square" lIns="0" tIns="0" rIns="0" bIns="0" rtlCol="0" anchor="ctr"/>
          <a:lstStyle/>
          <a:p>
            <a:pPr marL="0" indent="0">
              <a:buNone/>
            </a:pPr>
            <a:r>
              <a:rPr lang="en-US" sz="900" dirty="0">
                <a:solidFill>
                  <a:srgbClr val="D4E6F1"/>
                </a:solidFill>
              </a:rPr>
              <a:t>Business storytelling: translating patterns into actionable hotel strategy</a:t>
            </a:r>
            <a:endParaRPr lang="en-US" sz="900" dirty="0"/>
          </a:p>
        </p:txBody>
      </p:sp>
      <p:sp>
        <p:nvSpPr>
          <p:cNvPr id="59" name="Shape 57"/>
          <p:cNvSpPr/>
          <p:nvPr/>
        </p:nvSpPr>
        <p:spPr>
          <a:xfrm>
            <a:off x="1408176" y="4379976"/>
            <a:ext cx="6400800" cy="502920"/>
          </a:xfrm>
          <a:prstGeom prst="rect">
            <a:avLst/>
          </a:prstGeom>
          <a:solidFill>
            <a:srgbClr val="000000">
              <a:alpha val="28000"/>
            </a:srgbClr>
          </a:solidFill>
          <a:ln w="12700">
            <a:solidFill>
              <a:srgbClr val="000000">
                <a:alpha val="0"/>
              </a:srgbClr>
            </a:solidFill>
            <a:prstDash val="solid"/>
          </a:ln>
        </p:spPr>
      </p:sp>
      <p:sp>
        <p:nvSpPr>
          <p:cNvPr id="60" name="Shape 58"/>
          <p:cNvSpPr/>
          <p:nvPr/>
        </p:nvSpPr>
        <p:spPr>
          <a:xfrm>
            <a:off x="1371600" y="4343400"/>
            <a:ext cx="6400800" cy="502920"/>
          </a:xfrm>
          <a:prstGeom prst="rect">
            <a:avLst/>
          </a:prstGeom>
          <a:solidFill>
            <a:srgbClr val="0A1628">
              <a:alpha val="82000"/>
            </a:srgbClr>
          </a:solidFill>
          <a:ln w="12700">
            <a:solidFill>
              <a:srgbClr val="1E3A5F"/>
            </a:solidFill>
            <a:prstDash val="solid"/>
          </a:ln>
        </p:spPr>
      </p:sp>
      <p:sp>
        <p:nvSpPr>
          <p:cNvPr id="61" name="Shape 59"/>
          <p:cNvSpPr/>
          <p:nvPr/>
        </p:nvSpPr>
        <p:spPr>
          <a:xfrm>
            <a:off x="1371600" y="4343400"/>
            <a:ext cx="6400800" cy="27432"/>
          </a:xfrm>
          <a:prstGeom prst="rect">
            <a:avLst/>
          </a:prstGeom>
          <a:solidFill>
            <a:srgbClr val="FFFFFF">
              <a:alpha val="26000"/>
            </a:srgbClr>
          </a:solidFill>
          <a:ln w="12700">
            <a:solidFill>
              <a:srgbClr val="FFFFFF">
                <a:alpha val="0"/>
              </a:srgbClr>
            </a:solidFill>
            <a:prstDash val="solid"/>
          </a:ln>
        </p:spPr>
      </p:sp>
      <p:sp>
        <p:nvSpPr>
          <p:cNvPr id="62" name="Shape 60"/>
          <p:cNvSpPr/>
          <p:nvPr/>
        </p:nvSpPr>
        <p:spPr>
          <a:xfrm>
            <a:off x="1371600" y="4343400"/>
            <a:ext cx="27432" cy="502920"/>
          </a:xfrm>
          <a:prstGeom prst="rect">
            <a:avLst/>
          </a:prstGeom>
          <a:solidFill>
            <a:srgbClr val="FFFFFF">
              <a:alpha val="18000"/>
            </a:srgbClr>
          </a:solidFill>
          <a:ln w="12700">
            <a:solidFill>
              <a:srgbClr val="FFFFFF">
                <a:alpha val="0"/>
              </a:srgbClr>
            </a:solidFill>
            <a:prstDash val="solid"/>
          </a:ln>
        </p:spPr>
      </p:sp>
      <p:sp>
        <p:nvSpPr>
          <p:cNvPr id="63" name="Shape 61"/>
          <p:cNvSpPr/>
          <p:nvPr/>
        </p:nvSpPr>
        <p:spPr>
          <a:xfrm>
            <a:off x="1371600" y="4343400"/>
            <a:ext cx="6400800" cy="50292"/>
          </a:xfrm>
          <a:prstGeom prst="rect">
            <a:avLst/>
          </a:prstGeom>
          <a:solidFill>
            <a:srgbClr val="F5C518"/>
          </a:solidFill>
          <a:ln w="12700">
            <a:solidFill>
              <a:srgbClr val="F5C518"/>
            </a:solidFill>
            <a:prstDash val="solid"/>
          </a:ln>
        </p:spPr>
      </p:sp>
      <p:sp>
        <p:nvSpPr>
          <p:cNvPr id="64" name="Text 62"/>
          <p:cNvSpPr/>
          <p:nvPr/>
        </p:nvSpPr>
        <p:spPr>
          <a:xfrm>
            <a:off x="1371600" y="4343400"/>
            <a:ext cx="6400800" cy="502920"/>
          </a:xfrm>
          <a:prstGeom prst="rect">
            <a:avLst/>
          </a:prstGeom>
          <a:noFill/>
          <a:ln/>
        </p:spPr>
        <p:txBody>
          <a:bodyPr wrap="square" lIns="0" tIns="0" rIns="0" bIns="0" rtlCol="0" anchor="ctr"/>
          <a:lstStyle/>
          <a:p>
            <a:pPr marL="0" indent="0" algn="ctr">
              <a:buNone/>
            </a:pPr>
            <a:r>
              <a:rPr lang="en-US" sz="1000" b="1" dirty="0">
                <a:solidFill>
                  <a:srgbClr val="6B8CAE"/>
                </a:solidFill>
              </a:rPr>
              <a:t>Mentor: </a:t>
            </a:r>
            <a:r>
              <a:rPr lang="en-US" sz="1000" dirty="0">
                <a:solidFill>
                  <a:srgbClr val="FFFFFF"/>
                </a:solidFill>
              </a:rPr>
              <a:t>Selciya</a:t>
            </a:r>
            <a:r>
              <a:rPr lang="en-US" sz="1000" dirty="0">
                <a:solidFill>
                  <a:srgbClr val="1A2E45"/>
                </a:solidFill>
              </a:rPr>
              <a:t>   ·   </a:t>
            </a:r>
            <a:r>
              <a:rPr lang="en-US" sz="1000" dirty="0">
                <a:solidFill>
                  <a:srgbClr val="FFFFFF"/>
                </a:solidFill>
              </a:rPr>
              <a:t>Infosys Springboard Virtual Internship 6.0</a:t>
            </a:r>
            <a:r>
              <a:rPr lang="en-US" sz="1000" dirty="0">
                <a:solidFill>
                  <a:srgbClr val="1A2E45"/>
                </a:solidFill>
              </a:rPr>
              <a:t>   ·   </a:t>
            </a:r>
            <a:r>
              <a:rPr lang="en-US" sz="1000" dirty="0">
                <a:solidFill>
                  <a:srgbClr val="FFFFFF"/>
                </a:solidFill>
              </a:rPr>
              <a:t>Batch 13, Group 2, Team D</a:t>
            </a:r>
            <a:endParaRPr lang="en-US" sz="1000" dirty="0"/>
          </a:p>
        </p:txBody>
      </p:sp>
      <p:sp>
        <p:nvSpPr>
          <p:cNvPr id="65" name="Shape 63"/>
          <p:cNvSpPr/>
          <p:nvPr/>
        </p:nvSpPr>
        <p:spPr>
          <a:xfrm>
            <a:off x="0" y="4983480"/>
            <a:ext cx="9144000" cy="160020"/>
          </a:xfrm>
          <a:prstGeom prst="rect">
            <a:avLst/>
          </a:prstGeom>
          <a:solidFill>
            <a:srgbClr val="1A2E45"/>
          </a:solidFill>
          <a:ln w="12700">
            <a:solidFill>
              <a:srgbClr val="1A2E45"/>
            </a:solidFill>
            <a:prstDash val="solid"/>
          </a:ln>
        </p:spPr>
      </p:sp>
      <p:sp>
        <p:nvSpPr>
          <p:cNvPr id="66" name="Shape 64"/>
          <p:cNvSpPr/>
          <p:nvPr/>
        </p:nvSpPr>
        <p:spPr>
          <a:xfrm>
            <a:off x="0" y="4983480"/>
            <a:ext cx="36576" cy="160020"/>
          </a:xfrm>
          <a:prstGeom prst="rect">
            <a:avLst/>
          </a:prstGeom>
          <a:solidFill>
            <a:srgbClr val="F5C518"/>
          </a:solidFill>
          <a:ln w="12700">
            <a:solidFill>
              <a:srgbClr val="F5C518"/>
            </a:solidFill>
            <a:prstDash val="solid"/>
          </a:ln>
        </p:spPr>
      </p:sp>
      <p:sp>
        <p:nvSpPr>
          <p:cNvPr id="67" name="Text 65"/>
          <p:cNvSpPr/>
          <p:nvPr/>
        </p:nvSpPr>
        <p:spPr>
          <a:xfrm>
            <a:off x="137160" y="4983480"/>
            <a:ext cx="8229600" cy="160020"/>
          </a:xfrm>
          <a:prstGeom prst="rect">
            <a:avLst/>
          </a:prstGeom>
          <a:noFill/>
          <a:ln/>
        </p:spPr>
        <p:txBody>
          <a:bodyPr wrap="square" lIns="0" tIns="0" rIns="0" bIns="0" rtlCol="0" anchor="ctr"/>
          <a:lstStyle/>
          <a:p>
            <a:pPr marL="0" indent="0">
              <a:buNone/>
            </a:pPr>
            <a:r>
              <a:rPr lang="en-US" sz="750" dirty="0">
                <a:solidFill>
                  <a:srgbClr val="6B8CAE"/>
                </a:solidFill>
              </a:rPr>
              <a:t>HotelRevAI  ·  Infosys Springboard Internship 6.0  ·  Batch 13 — Group 2, Team D</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1742</Words>
  <Application>Microsoft Office PowerPoint</Application>
  <PresentationFormat>On-screen Show (16:9)</PresentationFormat>
  <Paragraphs>350</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HotelRevAI — AI Driven Revenue Analysis for Hotels</dc:title>
  <dc:subject>PptxGenJS Presentation</dc:subject>
  <dc:creator>PptxGenJS</dc:creator>
  <cp:lastModifiedBy>Harshal Chelikani</cp:lastModifiedBy>
  <cp:revision>3</cp:revision>
  <dcterms:created xsi:type="dcterms:W3CDTF">2026-03-30T06:46:46Z</dcterms:created>
  <dcterms:modified xsi:type="dcterms:W3CDTF">2026-03-30T07:08:03Z</dcterms:modified>
</cp:coreProperties>
</file>